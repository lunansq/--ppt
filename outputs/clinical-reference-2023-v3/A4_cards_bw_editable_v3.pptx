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  <a:p>
            <a:r>
              <a:t>每张A4含4份同内容A6卡，正反面位置一致。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  <a:p>
            <a:r>
              <a:t>每张A4含4份同内容A6卡，正反面位置一致。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可编辑卡片 1-1"/>
          <p:cNvGrpSpPr/>
          <p:nvPr/>
        </p:nvGrpSpPr>
        <p:grpSpPr>
          <a:xfrm>
            <a:off x="198000" y="216000"/>
            <a:ext cx="3384000" cy="4944700"/>
            <a:chOff x="198000" y="216000"/>
            <a:chExt cx="3384000" cy="4944700"/>
          </a:xfrm>
        </p:grpSpPr>
        <p:sp>
          <p:nvSpPr>
            <p:cNvPr id="3" name="Rectangle 29"/>
            <p:cNvSpPr/>
            <p:nvPr/>
          </p:nvSpPr>
          <p:spPr>
            <a:xfrm>
              <a:off x="175564" y="358322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28"/>
            <p:cNvSpPr/>
            <p:nvPr/>
          </p:nvSpPr>
          <p:spPr>
            <a:xfrm>
              <a:off x="141732" y="3583226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27"/>
            <p:cNvSpPr/>
            <p:nvPr/>
          </p:nvSpPr>
          <p:spPr>
            <a:xfrm>
              <a:off x="141732" y="3583226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26"/>
            <p:cNvSpPr/>
            <p:nvPr/>
          </p:nvSpPr>
          <p:spPr>
            <a:xfrm>
              <a:off x="175564" y="263072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25"/>
            <p:cNvSpPr/>
            <p:nvPr/>
          </p:nvSpPr>
          <p:spPr>
            <a:xfrm>
              <a:off x="141732" y="2630726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24"/>
            <p:cNvSpPr/>
            <p:nvPr/>
          </p:nvSpPr>
          <p:spPr>
            <a:xfrm>
              <a:off x="141732" y="2630726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23"/>
            <p:cNvSpPr/>
            <p:nvPr/>
          </p:nvSpPr>
          <p:spPr>
            <a:xfrm>
              <a:off x="175564" y="18204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22"/>
            <p:cNvSpPr/>
            <p:nvPr/>
          </p:nvSpPr>
          <p:spPr>
            <a:xfrm>
              <a:off x="141732" y="1820467"/>
              <a:ext cx="25603" cy="80954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21"/>
            <p:cNvSpPr/>
            <p:nvPr/>
          </p:nvSpPr>
          <p:spPr>
            <a:xfrm>
              <a:off x="141732" y="1820467"/>
              <a:ext cx="3438144" cy="80954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20"/>
            <p:cNvSpPr/>
            <p:nvPr/>
          </p:nvSpPr>
          <p:spPr>
            <a:xfrm>
              <a:off x="175564" y="8679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9"/>
            <p:cNvSpPr/>
            <p:nvPr/>
          </p:nvSpPr>
          <p:spPr>
            <a:xfrm>
              <a:off x="141732" y="867967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8"/>
            <p:cNvSpPr/>
            <p:nvPr/>
          </p:nvSpPr>
          <p:spPr>
            <a:xfrm>
              <a:off x="141732" y="867967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7"/>
            <p:cNvSpPr/>
            <p:nvPr/>
          </p:nvSpPr>
          <p:spPr>
            <a:xfrm>
              <a:off x="118872" y="136872"/>
              <a:ext cx="3538728" cy="66751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可编辑文字 00 | 病毒性角膜内皮炎"/>
            <p:cNvSpPr txBox="1"/>
            <p:nvPr/>
          </p:nvSpPr>
          <p:spPr>
            <a:xfrm>
              <a:off x="19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17" name="可编辑文字 01 | 2023共识 · 眼科临床速查"/>
            <p:cNvSpPr txBox="1"/>
            <p:nvPr/>
          </p:nvSpPr>
          <p:spPr>
            <a:xfrm>
              <a:off x="19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18" name="可编辑文字 02 | 正面 · 诊断与处置"/>
            <p:cNvSpPr txBox="1"/>
            <p:nvPr/>
          </p:nvSpPr>
          <p:spPr>
            <a:xfrm>
              <a:off x="19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19" name="卡片分隔线 03"/>
            <p:cNvCxnSpPr/>
            <p:nvPr/>
          </p:nvCxnSpPr>
          <p:spPr>
            <a:xfrm>
              <a:off x="19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可编辑文字 04 | 诊断与病原检查〔2023 p14–15〕"/>
            <p:cNvSpPr txBox="1"/>
            <p:nvPr/>
          </p:nvSpPr>
          <p:spPr>
            <a:xfrm>
              <a:off x="19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21" name="可编辑文字 05 | 临床：依据1（急性起病；感染史/免疫下降诱因可有）＋3（"/>
            <p:cNvSpPr txBox="1"/>
            <p:nvPr/>
          </p:nvSpPr>
          <p:spPr>
            <a:xfrm>
              <a:off x="198000" y="1056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22" name="可编辑文字 06 | 重点风险与鉴别〔2023 p15–16〕"/>
            <p:cNvSpPr txBox="1"/>
            <p:nvPr/>
          </p:nvSpPr>
          <p:spPr>
            <a:xfrm>
              <a:off x="198000" y="1831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23" name="可编辑文字 07 | 线状型内皮丢失最快、易失代偿；关注眼压和内皮变化。鉴别前"/>
            <p:cNvSpPr txBox="1"/>
            <p:nvPr/>
          </p:nvSpPr>
          <p:spPr>
            <a:xfrm>
              <a:off x="198000" y="2009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24" name="可编辑文字 08 | 病原与局部抗病毒〔2023 p16–17〕"/>
            <p:cNvSpPr txBox="1"/>
            <p:nvPr/>
          </p:nvSpPr>
          <p:spPr>
            <a:xfrm>
              <a:off x="198000" y="2641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25" name="可编辑文字 09 | HSV：阿昔洛韦或更昔洛韦；CMV：首选更昔洛韦，阿昔洛"/>
            <p:cNvSpPr txBox="1"/>
            <p:nvPr/>
          </p:nvSpPr>
          <p:spPr>
            <a:xfrm>
              <a:off x="198000" y="2819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26" name="可编辑文字 10 | 激素、眼压、手术〔2023 p17〕"/>
            <p:cNvSpPr txBox="1"/>
            <p:nvPr/>
          </p:nvSpPr>
          <p:spPr>
            <a:xfrm>
              <a:off x="198000" y="3594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27" name="可编辑文字 11 | 在有效抗病毒基础上联合：1%醋酸泼尼松龙或妥布霉素地塞米"/>
            <p:cNvSpPr txBox="1"/>
            <p:nvPr/>
          </p:nvSpPr>
          <p:spPr>
            <a:xfrm>
              <a:off x="198000" y="3772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28" name="卡片分隔线 12"/>
            <p:cNvCxnSpPr/>
            <p:nvPr/>
          </p:nvCxnSpPr>
          <p:spPr>
            <a:xfrm>
              <a:off x="19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可编辑文字 13 | p为期刊页码（PDF页码=p−12）。剂量为2023原文"/>
            <p:cNvSpPr txBox="1"/>
            <p:nvPr/>
          </p:nvSpPr>
          <p:spPr>
            <a:xfrm>
              <a:off x="19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30" name="可编辑文字 14 | 对。完整证据与研究区别见提取表。"/>
            <p:cNvSpPr txBox="1"/>
            <p:nvPr/>
          </p:nvSpPr>
          <p:spPr>
            <a:xfrm>
              <a:off x="19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31" name="可编辑文字 15 | 打印：100% 原尺寸 · 双面长边翻转"/>
            <p:cNvSpPr txBox="1"/>
            <p:nvPr/>
          </p:nvSpPr>
          <p:spPr>
            <a:xfrm>
              <a:off x="19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32" name="可编辑卡片 1-2"/>
          <p:cNvGrpSpPr/>
          <p:nvPr/>
        </p:nvGrpSpPr>
        <p:grpSpPr>
          <a:xfrm>
            <a:off x="3978000" y="216000"/>
            <a:ext cx="3384000" cy="4944700"/>
            <a:chOff x="3978000" y="216000"/>
            <a:chExt cx="3384000" cy="4944700"/>
          </a:xfrm>
        </p:grpSpPr>
        <p:sp>
          <p:nvSpPr>
            <p:cNvPr id="33" name="Rectangle 29"/>
            <p:cNvSpPr/>
            <p:nvPr/>
          </p:nvSpPr>
          <p:spPr>
            <a:xfrm>
              <a:off x="3955564" y="358322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28"/>
            <p:cNvSpPr/>
            <p:nvPr/>
          </p:nvSpPr>
          <p:spPr>
            <a:xfrm>
              <a:off x="3921732" y="3583226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27"/>
            <p:cNvSpPr/>
            <p:nvPr/>
          </p:nvSpPr>
          <p:spPr>
            <a:xfrm>
              <a:off x="3921732" y="3583226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26"/>
            <p:cNvSpPr/>
            <p:nvPr/>
          </p:nvSpPr>
          <p:spPr>
            <a:xfrm>
              <a:off x="3955564" y="263072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25"/>
            <p:cNvSpPr/>
            <p:nvPr/>
          </p:nvSpPr>
          <p:spPr>
            <a:xfrm>
              <a:off x="3921732" y="2630726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24"/>
            <p:cNvSpPr/>
            <p:nvPr/>
          </p:nvSpPr>
          <p:spPr>
            <a:xfrm>
              <a:off x="3921732" y="2630726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23"/>
            <p:cNvSpPr/>
            <p:nvPr/>
          </p:nvSpPr>
          <p:spPr>
            <a:xfrm>
              <a:off x="3955564" y="18204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22"/>
            <p:cNvSpPr/>
            <p:nvPr/>
          </p:nvSpPr>
          <p:spPr>
            <a:xfrm>
              <a:off x="3921732" y="1820467"/>
              <a:ext cx="25603" cy="80954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21"/>
            <p:cNvSpPr/>
            <p:nvPr/>
          </p:nvSpPr>
          <p:spPr>
            <a:xfrm>
              <a:off x="3921732" y="1820467"/>
              <a:ext cx="3438144" cy="80954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20"/>
            <p:cNvSpPr/>
            <p:nvPr/>
          </p:nvSpPr>
          <p:spPr>
            <a:xfrm>
              <a:off x="3955564" y="8679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19"/>
            <p:cNvSpPr/>
            <p:nvPr/>
          </p:nvSpPr>
          <p:spPr>
            <a:xfrm>
              <a:off x="3921732" y="867967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18"/>
            <p:cNvSpPr/>
            <p:nvPr/>
          </p:nvSpPr>
          <p:spPr>
            <a:xfrm>
              <a:off x="3921732" y="867967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17"/>
            <p:cNvSpPr/>
            <p:nvPr/>
          </p:nvSpPr>
          <p:spPr>
            <a:xfrm>
              <a:off x="3898872" y="136872"/>
              <a:ext cx="3538728" cy="66751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可编辑文字 00 | 病毒性角膜内皮炎"/>
            <p:cNvSpPr txBox="1"/>
            <p:nvPr/>
          </p:nvSpPr>
          <p:spPr>
            <a:xfrm>
              <a:off x="397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47" name="可编辑文字 01 | 2023共识 · 眼科临床速查"/>
            <p:cNvSpPr txBox="1"/>
            <p:nvPr/>
          </p:nvSpPr>
          <p:spPr>
            <a:xfrm>
              <a:off x="397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48" name="可编辑文字 02 | 正面 · 诊断与处置"/>
            <p:cNvSpPr txBox="1"/>
            <p:nvPr/>
          </p:nvSpPr>
          <p:spPr>
            <a:xfrm>
              <a:off x="397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49" name="卡片分隔线 03"/>
            <p:cNvCxnSpPr/>
            <p:nvPr/>
          </p:nvCxnSpPr>
          <p:spPr>
            <a:xfrm>
              <a:off x="397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可编辑文字 04 | 诊断与病原检查〔2023 p14–15〕"/>
            <p:cNvSpPr txBox="1"/>
            <p:nvPr/>
          </p:nvSpPr>
          <p:spPr>
            <a:xfrm>
              <a:off x="397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51" name="可编辑文字 05 | 临床：依据1（急性起病；感染史/免疫下降诱因可有）＋3（"/>
            <p:cNvSpPr txBox="1"/>
            <p:nvPr/>
          </p:nvSpPr>
          <p:spPr>
            <a:xfrm>
              <a:off x="3978000" y="1056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52" name="可编辑文字 06 | 重点风险与鉴别〔2023 p15–16〕"/>
            <p:cNvSpPr txBox="1"/>
            <p:nvPr/>
          </p:nvSpPr>
          <p:spPr>
            <a:xfrm>
              <a:off x="3978000" y="1831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53" name="可编辑文字 07 | 线状型内皮丢失最快、易失代偿；关注眼压和内皮变化。鉴别前"/>
            <p:cNvSpPr txBox="1"/>
            <p:nvPr/>
          </p:nvSpPr>
          <p:spPr>
            <a:xfrm>
              <a:off x="3978000" y="2009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54" name="可编辑文字 08 | 病原与局部抗病毒〔2023 p16–17〕"/>
            <p:cNvSpPr txBox="1"/>
            <p:nvPr/>
          </p:nvSpPr>
          <p:spPr>
            <a:xfrm>
              <a:off x="3978000" y="2641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55" name="可编辑文字 09 | HSV：阿昔洛韦或更昔洛韦；CMV：首选更昔洛韦，阿昔洛"/>
            <p:cNvSpPr txBox="1"/>
            <p:nvPr/>
          </p:nvSpPr>
          <p:spPr>
            <a:xfrm>
              <a:off x="3978000" y="2819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56" name="可编辑文字 10 | 激素、眼压、手术〔2023 p17〕"/>
            <p:cNvSpPr txBox="1"/>
            <p:nvPr/>
          </p:nvSpPr>
          <p:spPr>
            <a:xfrm>
              <a:off x="3978000" y="3594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57" name="可编辑文字 11 | 在有效抗病毒基础上联合：1%醋酸泼尼松龙或妥布霉素地塞米"/>
            <p:cNvSpPr txBox="1"/>
            <p:nvPr/>
          </p:nvSpPr>
          <p:spPr>
            <a:xfrm>
              <a:off x="3978000" y="3772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58" name="卡片分隔线 12"/>
            <p:cNvCxnSpPr/>
            <p:nvPr/>
          </p:nvCxnSpPr>
          <p:spPr>
            <a:xfrm>
              <a:off x="397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可编辑文字 13 | p为期刊页码（PDF页码=p−12）。剂量为2023原文"/>
            <p:cNvSpPr txBox="1"/>
            <p:nvPr/>
          </p:nvSpPr>
          <p:spPr>
            <a:xfrm>
              <a:off x="397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60" name="可编辑文字 14 | 对。完整证据与研究区别见提取表。"/>
            <p:cNvSpPr txBox="1"/>
            <p:nvPr/>
          </p:nvSpPr>
          <p:spPr>
            <a:xfrm>
              <a:off x="397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61" name="可编辑文字 15 | 打印：100% 原尺寸 · 双面长边翻转"/>
            <p:cNvSpPr txBox="1"/>
            <p:nvPr/>
          </p:nvSpPr>
          <p:spPr>
            <a:xfrm>
              <a:off x="397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62" name="可编辑卡片 2-1"/>
          <p:cNvGrpSpPr/>
          <p:nvPr/>
        </p:nvGrpSpPr>
        <p:grpSpPr>
          <a:xfrm>
            <a:off x="198000" y="5544000"/>
            <a:ext cx="3384000" cy="4944700"/>
            <a:chOff x="198000" y="5544000"/>
            <a:chExt cx="3384000" cy="4944700"/>
          </a:xfrm>
        </p:grpSpPr>
        <p:sp>
          <p:nvSpPr>
            <p:cNvPr id="63" name="Rectangle 29"/>
            <p:cNvSpPr/>
            <p:nvPr/>
          </p:nvSpPr>
          <p:spPr>
            <a:xfrm>
              <a:off x="175564" y="891122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28"/>
            <p:cNvSpPr/>
            <p:nvPr/>
          </p:nvSpPr>
          <p:spPr>
            <a:xfrm>
              <a:off x="141732" y="8911226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27"/>
            <p:cNvSpPr/>
            <p:nvPr/>
          </p:nvSpPr>
          <p:spPr>
            <a:xfrm>
              <a:off x="141732" y="8911226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26"/>
            <p:cNvSpPr/>
            <p:nvPr/>
          </p:nvSpPr>
          <p:spPr>
            <a:xfrm>
              <a:off x="175564" y="795872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25"/>
            <p:cNvSpPr/>
            <p:nvPr/>
          </p:nvSpPr>
          <p:spPr>
            <a:xfrm>
              <a:off x="141732" y="7958726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24"/>
            <p:cNvSpPr/>
            <p:nvPr/>
          </p:nvSpPr>
          <p:spPr>
            <a:xfrm>
              <a:off x="141732" y="7958726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23"/>
            <p:cNvSpPr/>
            <p:nvPr/>
          </p:nvSpPr>
          <p:spPr>
            <a:xfrm>
              <a:off x="175564" y="71484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22"/>
            <p:cNvSpPr/>
            <p:nvPr/>
          </p:nvSpPr>
          <p:spPr>
            <a:xfrm>
              <a:off x="141732" y="7148467"/>
              <a:ext cx="25603" cy="80954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21"/>
            <p:cNvSpPr/>
            <p:nvPr/>
          </p:nvSpPr>
          <p:spPr>
            <a:xfrm>
              <a:off x="141732" y="7148467"/>
              <a:ext cx="3438144" cy="80954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20"/>
            <p:cNvSpPr/>
            <p:nvPr/>
          </p:nvSpPr>
          <p:spPr>
            <a:xfrm>
              <a:off x="175564" y="61959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19"/>
            <p:cNvSpPr/>
            <p:nvPr/>
          </p:nvSpPr>
          <p:spPr>
            <a:xfrm>
              <a:off x="141732" y="6195967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18"/>
            <p:cNvSpPr/>
            <p:nvPr/>
          </p:nvSpPr>
          <p:spPr>
            <a:xfrm>
              <a:off x="141732" y="6195967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17"/>
            <p:cNvSpPr/>
            <p:nvPr/>
          </p:nvSpPr>
          <p:spPr>
            <a:xfrm>
              <a:off x="118872" y="5464872"/>
              <a:ext cx="3538728" cy="66751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可编辑文字 00 | 病毒性角膜内皮炎"/>
            <p:cNvSpPr txBox="1"/>
            <p:nvPr/>
          </p:nvSpPr>
          <p:spPr>
            <a:xfrm>
              <a:off x="19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77" name="可编辑文字 01 | 2023共识 · 眼科临床速查"/>
            <p:cNvSpPr txBox="1"/>
            <p:nvPr/>
          </p:nvSpPr>
          <p:spPr>
            <a:xfrm>
              <a:off x="19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78" name="可编辑文字 02 | 正面 · 诊断与处置"/>
            <p:cNvSpPr txBox="1"/>
            <p:nvPr/>
          </p:nvSpPr>
          <p:spPr>
            <a:xfrm>
              <a:off x="19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79" name="卡片分隔线 03"/>
            <p:cNvCxnSpPr/>
            <p:nvPr/>
          </p:nvCxnSpPr>
          <p:spPr>
            <a:xfrm>
              <a:off x="19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可编辑文字 04 | 诊断与病原检查〔2023 p14–15〕"/>
            <p:cNvSpPr txBox="1"/>
            <p:nvPr/>
          </p:nvSpPr>
          <p:spPr>
            <a:xfrm>
              <a:off x="19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81" name="可编辑文字 05 | 临床：依据1（急性起病；感染史/免疫下降诱因可有）＋3（"/>
            <p:cNvSpPr txBox="1"/>
            <p:nvPr/>
          </p:nvSpPr>
          <p:spPr>
            <a:xfrm>
              <a:off x="198000" y="6384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82" name="可编辑文字 06 | 重点风险与鉴别〔2023 p15–16〕"/>
            <p:cNvSpPr txBox="1"/>
            <p:nvPr/>
          </p:nvSpPr>
          <p:spPr>
            <a:xfrm>
              <a:off x="198000" y="7159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83" name="可编辑文字 07 | 线状型内皮丢失最快、易失代偿；关注眼压和内皮变化。鉴别前"/>
            <p:cNvSpPr txBox="1"/>
            <p:nvPr/>
          </p:nvSpPr>
          <p:spPr>
            <a:xfrm>
              <a:off x="198000" y="7337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84" name="可编辑文字 08 | 病原与局部抗病毒〔2023 p16–17〕"/>
            <p:cNvSpPr txBox="1"/>
            <p:nvPr/>
          </p:nvSpPr>
          <p:spPr>
            <a:xfrm>
              <a:off x="198000" y="7969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85" name="可编辑文字 09 | HSV：阿昔洛韦或更昔洛韦；CMV：首选更昔洛韦，阿昔洛"/>
            <p:cNvSpPr txBox="1"/>
            <p:nvPr/>
          </p:nvSpPr>
          <p:spPr>
            <a:xfrm>
              <a:off x="198000" y="8147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86" name="可编辑文字 10 | 激素、眼压、手术〔2023 p17〕"/>
            <p:cNvSpPr txBox="1"/>
            <p:nvPr/>
          </p:nvSpPr>
          <p:spPr>
            <a:xfrm>
              <a:off x="198000" y="8922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87" name="可编辑文字 11 | 在有效抗病毒基础上联合：1%醋酸泼尼松龙或妥布霉素地塞米"/>
            <p:cNvSpPr txBox="1"/>
            <p:nvPr/>
          </p:nvSpPr>
          <p:spPr>
            <a:xfrm>
              <a:off x="198000" y="9100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88" name="卡片分隔线 12"/>
            <p:cNvCxnSpPr/>
            <p:nvPr/>
          </p:nvCxnSpPr>
          <p:spPr>
            <a:xfrm>
              <a:off x="19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可编辑文字 13 | p为期刊页码（PDF页码=p−12）。剂量为2023原文"/>
            <p:cNvSpPr txBox="1"/>
            <p:nvPr/>
          </p:nvSpPr>
          <p:spPr>
            <a:xfrm>
              <a:off x="19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90" name="可编辑文字 14 | 对。完整证据与研究区别见提取表。"/>
            <p:cNvSpPr txBox="1"/>
            <p:nvPr/>
          </p:nvSpPr>
          <p:spPr>
            <a:xfrm>
              <a:off x="19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91" name="可编辑文字 15 | 打印：100% 原尺寸 · 双面长边翻转"/>
            <p:cNvSpPr txBox="1"/>
            <p:nvPr/>
          </p:nvSpPr>
          <p:spPr>
            <a:xfrm>
              <a:off x="19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92" name="可编辑卡片 2-2"/>
          <p:cNvGrpSpPr/>
          <p:nvPr/>
        </p:nvGrpSpPr>
        <p:grpSpPr>
          <a:xfrm>
            <a:off x="3978000" y="5544000"/>
            <a:ext cx="3384000" cy="4944700"/>
            <a:chOff x="3978000" y="5544000"/>
            <a:chExt cx="3384000" cy="4944700"/>
          </a:xfrm>
        </p:grpSpPr>
        <p:sp>
          <p:nvSpPr>
            <p:cNvPr id="93" name="Rectangle 29"/>
            <p:cNvSpPr/>
            <p:nvPr/>
          </p:nvSpPr>
          <p:spPr>
            <a:xfrm>
              <a:off x="3955564" y="891122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28"/>
            <p:cNvSpPr/>
            <p:nvPr/>
          </p:nvSpPr>
          <p:spPr>
            <a:xfrm>
              <a:off x="3921732" y="8911226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ectangle 27"/>
            <p:cNvSpPr/>
            <p:nvPr/>
          </p:nvSpPr>
          <p:spPr>
            <a:xfrm>
              <a:off x="3921732" y="8911226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26"/>
            <p:cNvSpPr/>
            <p:nvPr/>
          </p:nvSpPr>
          <p:spPr>
            <a:xfrm>
              <a:off x="3955564" y="795872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Rectangle 25"/>
            <p:cNvSpPr/>
            <p:nvPr/>
          </p:nvSpPr>
          <p:spPr>
            <a:xfrm>
              <a:off x="3921732" y="7958726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24"/>
            <p:cNvSpPr/>
            <p:nvPr/>
          </p:nvSpPr>
          <p:spPr>
            <a:xfrm>
              <a:off x="3921732" y="7958726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23"/>
            <p:cNvSpPr/>
            <p:nvPr/>
          </p:nvSpPr>
          <p:spPr>
            <a:xfrm>
              <a:off x="3955564" y="71484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Rectangle 22"/>
            <p:cNvSpPr/>
            <p:nvPr/>
          </p:nvSpPr>
          <p:spPr>
            <a:xfrm>
              <a:off x="3921732" y="7148467"/>
              <a:ext cx="25603" cy="80954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Rectangle 21"/>
            <p:cNvSpPr/>
            <p:nvPr/>
          </p:nvSpPr>
          <p:spPr>
            <a:xfrm>
              <a:off x="3921732" y="7148467"/>
              <a:ext cx="3438144" cy="80954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Rectangle 20"/>
            <p:cNvSpPr/>
            <p:nvPr/>
          </p:nvSpPr>
          <p:spPr>
            <a:xfrm>
              <a:off x="3955564" y="61959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9"/>
            <p:cNvSpPr/>
            <p:nvPr/>
          </p:nvSpPr>
          <p:spPr>
            <a:xfrm>
              <a:off x="3921732" y="6195967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8"/>
            <p:cNvSpPr/>
            <p:nvPr/>
          </p:nvSpPr>
          <p:spPr>
            <a:xfrm>
              <a:off x="3921732" y="6195967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Rectangle 17"/>
            <p:cNvSpPr/>
            <p:nvPr/>
          </p:nvSpPr>
          <p:spPr>
            <a:xfrm>
              <a:off x="3898872" y="5464872"/>
              <a:ext cx="3538728" cy="66751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可编辑文字 00 | 病毒性角膜内皮炎"/>
            <p:cNvSpPr txBox="1"/>
            <p:nvPr/>
          </p:nvSpPr>
          <p:spPr>
            <a:xfrm>
              <a:off x="397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107" name="可编辑文字 01 | 2023共识 · 眼科临床速查"/>
            <p:cNvSpPr txBox="1"/>
            <p:nvPr/>
          </p:nvSpPr>
          <p:spPr>
            <a:xfrm>
              <a:off x="397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108" name="可编辑文字 02 | 正面 · 诊断与处置"/>
            <p:cNvSpPr txBox="1"/>
            <p:nvPr/>
          </p:nvSpPr>
          <p:spPr>
            <a:xfrm>
              <a:off x="397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正面 · 诊断与处置</a:t>
              </a:r>
            </a:p>
          </p:txBody>
        </p:sp>
        <p:cxnSp>
          <p:nvCxnSpPr>
            <p:cNvPr id="109" name="卡片分隔线 03"/>
            <p:cNvCxnSpPr/>
            <p:nvPr/>
          </p:nvCxnSpPr>
          <p:spPr>
            <a:xfrm>
              <a:off x="397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可编辑文字 04 | 诊断与病原检查〔2023 p14–15〕"/>
            <p:cNvSpPr txBox="1"/>
            <p:nvPr/>
          </p:nvSpPr>
          <p:spPr>
            <a:xfrm>
              <a:off x="397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诊断与病原检查〔2023 p14–15〕</a:t>
              </a:r>
            </a:p>
          </p:txBody>
        </p:sp>
        <p:sp>
          <p:nvSpPr>
            <p:cNvPr id="111" name="可编辑文字 05 | 临床：依据1（急性起病；感染史/免疫下降诱因可有）＋3（"/>
            <p:cNvSpPr txBox="1"/>
            <p:nvPr/>
          </p:nvSpPr>
          <p:spPr>
            <a:xfrm>
              <a:off x="3978000" y="638474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PCR阴性不能排除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，必要时补充房水特异抗体/G-W。</a:t>
              </a:r>
            </a:p>
          </p:txBody>
        </p:sp>
        <p:sp>
          <p:nvSpPr>
            <p:cNvPr id="112" name="可编辑文字 06 | 重点风险与鉴别〔2023 p15–16〕"/>
            <p:cNvSpPr txBox="1"/>
            <p:nvPr/>
          </p:nvSpPr>
          <p:spPr>
            <a:xfrm>
              <a:off x="3978000" y="71594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重点风险与鉴别〔2023 p15–16〕</a:t>
              </a:r>
            </a:p>
          </p:txBody>
        </p:sp>
        <p:sp>
          <p:nvSpPr>
            <p:cNvPr id="113" name="可编辑文字 07 | 线状型内皮丢失最快、易失代偿；关注眼压和内皮变化。鉴别前"/>
            <p:cNvSpPr txBox="1"/>
            <p:nvPr/>
          </p:nvSpPr>
          <p:spPr>
            <a:xfrm>
              <a:off x="3978000" y="733724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线状型内皮丢失最快、易失代偿；关注眼压和内皮变化。鉴别前葡萄膜炎、基质炎、Fuchs/Chandler、移植排斥及急闭。正式危险分层、PCR和眼压处置阈值：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114" name="可编辑文字 08 | 病原与局部抗病毒〔2023 p16–17〕"/>
            <p:cNvSpPr txBox="1"/>
            <p:nvPr/>
          </p:nvSpPr>
          <p:spPr>
            <a:xfrm>
              <a:off x="3978000" y="79697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病原与局部抗病毒〔2023 p16–17〕</a:t>
              </a:r>
            </a:p>
          </p:txBody>
        </p:sp>
        <p:sp>
          <p:nvSpPr>
            <p:cNvPr id="115" name="可编辑文字 09 | HSV：阿昔洛韦或更昔洛韦；CMV：首选更昔洛韦，阿昔洛"/>
            <p:cNvSpPr txBox="1"/>
            <p:nvPr/>
          </p:nvSpPr>
          <p:spPr>
            <a:xfrm>
              <a:off x="3978000" y="81475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HSV：阿昔洛韦或更昔洛韦；CMV：首选更昔洛韦，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阿昔洛韦无效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；VZV：全身更昔洛韦/泛昔洛韦或更高剂量阿昔洛韦（确切量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），局部更昔洛韦。0.15%凝胶或0.1%更昔洛韦滴眼液4~6次/d；痊愈后2次/d，2~4周。</a:t>
              </a:r>
            </a:p>
          </p:txBody>
        </p:sp>
        <p:sp>
          <p:nvSpPr>
            <p:cNvPr id="116" name="可编辑文字 10 | 激素、眼压、手术〔2023 p17〕"/>
            <p:cNvSpPr txBox="1"/>
            <p:nvPr/>
          </p:nvSpPr>
          <p:spPr>
            <a:xfrm>
              <a:off x="3978000" y="892220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激素、眼压、手术〔2023 p17〕</a:t>
              </a:r>
            </a:p>
          </p:txBody>
        </p:sp>
        <p:sp>
          <p:nvSpPr>
            <p:cNvPr id="117" name="可编辑文字 11 | 在有效抗病毒基础上联合：1%醋酸泼尼松龙或妥布霉素地塞米"/>
            <p:cNvSpPr txBox="1"/>
            <p:nvPr/>
          </p:nvSpPr>
          <p:spPr>
            <a:xfrm>
              <a:off x="3978000" y="910000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在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有效抗病毒基础上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联合：1%醋酸泼尼松龙或妥布霉素地塞米松滴眼液4次/d。羊脂/尘状KP消退后，每周减1次，至1次/d后按炎症调整。关注眼压；升高需降压，正常后减停，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慎用前列腺素类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。严重失代偿评估移植；术前后充分抗病毒，术后全身用药通常3~6个月。</a:t>
              </a:r>
            </a:p>
          </p:txBody>
        </p:sp>
        <p:cxnSp>
          <p:nvCxnSpPr>
            <p:cNvPr id="118" name="卡片分隔线 12"/>
            <p:cNvCxnSpPr/>
            <p:nvPr/>
          </p:nvCxnSpPr>
          <p:spPr>
            <a:xfrm>
              <a:off x="397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可编辑文字 13 | p为期刊页码（PDF页码=p−12）。剂量为2023原文"/>
            <p:cNvSpPr txBox="1"/>
            <p:nvPr/>
          </p:nvSpPr>
          <p:spPr>
            <a:xfrm>
              <a:off x="397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120" name="可编辑文字 14 | 对。完整证据与研究区别见提取表。"/>
            <p:cNvSpPr txBox="1"/>
            <p:nvPr/>
          </p:nvSpPr>
          <p:spPr>
            <a:xfrm>
              <a:off x="397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121" name="可编辑文字 15 | 打印：100% 原尺寸 · 双面长边翻转"/>
            <p:cNvSpPr txBox="1"/>
            <p:nvPr/>
          </p:nvSpPr>
          <p:spPr>
            <a:xfrm>
              <a:off x="397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cxnSp>
        <p:nvCxnSpPr>
          <p:cNvPr id="122" name="中间竖向裁切线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横向裁切线 1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横向裁切线 2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横向裁切线 3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可编辑卡片 1-1"/>
          <p:cNvGrpSpPr/>
          <p:nvPr/>
        </p:nvGrpSpPr>
        <p:grpSpPr>
          <a:xfrm>
            <a:off x="198000" y="216000"/>
            <a:ext cx="3384000" cy="4944700"/>
            <a:chOff x="198000" y="216000"/>
            <a:chExt cx="3384000" cy="4944700"/>
          </a:xfrm>
        </p:grpSpPr>
        <p:sp>
          <p:nvSpPr>
            <p:cNvPr id="3" name="Rectangle 29"/>
            <p:cNvSpPr/>
            <p:nvPr/>
          </p:nvSpPr>
          <p:spPr>
            <a:xfrm>
              <a:off x="175564" y="386770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28"/>
            <p:cNvSpPr/>
            <p:nvPr/>
          </p:nvSpPr>
          <p:spPr>
            <a:xfrm>
              <a:off x="141732" y="3867706"/>
              <a:ext cx="25603" cy="790873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27"/>
            <p:cNvSpPr/>
            <p:nvPr/>
          </p:nvSpPr>
          <p:spPr>
            <a:xfrm>
              <a:off x="141732" y="3867706"/>
              <a:ext cx="3438144" cy="790873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26"/>
            <p:cNvSpPr/>
            <p:nvPr/>
          </p:nvSpPr>
          <p:spPr>
            <a:xfrm>
              <a:off x="175564" y="291520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25"/>
            <p:cNvSpPr/>
            <p:nvPr/>
          </p:nvSpPr>
          <p:spPr>
            <a:xfrm>
              <a:off x="141732" y="2915207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24"/>
            <p:cNvSpPr/>
            <p:nvPr/>
          </p:nvSpPr>
          <p:spPr>
            <a:xfrm>
              <a:off x="141732" y="2915207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23"/>
            <p:cNvSpPr/>
            <p:nvPr/>
          </p:nvSpPr>
          <p:spPr>
            <a:xfrm>
              <a:off x="175564" y="196270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22"/>
            <p:cNvSpPr/>
            <p:nvPr/>
          </p:nvSpPr>
          <p:spPr>
            <a:xfrm>
              <a:off x="141732" y="1962706"/>
              <a:ext cx="25603" cy="95178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21"/>
            <p:cNvSpPr/>
            <p:nvPr/>
          </p:nvSpPr>
          <p:spPr>
            <a:xfrm>
              <a:off x="141732" y="1962706"/>
              <a:ext cx="3438144" cy="95178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20"/>
            <p:cNvSpPr/>
            <p:nvPr/>
          </p:nvSpPr>
          <p:spPr>
            <a:xfrm>
              <a:off x="175564" y="8679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9"/>
            <p:cNvSpPr/>
            <p:nvPr/>
          </p:nvSpPr>
          <p:spPr>
            <a:xfrm>
              <a:off x="141732" y="867967"/>
              <a:ext cx="25603" cy="109402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8"/>
            <p:cNvSpPr/>
            <p:nvPr/>
          </p:nvSpPr>
          <p:spPr>
            <a:xfrm>
              <a:off x="141732" y="867967"/>
              <a:ext cx="3438144" cy="109402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7"/>
            <p:cNvSpPr/>
            <p:nvPr/>
          </p:nvSpPr>
          <p:spPr>
            <a:xfrm>
              <a:off x="118872" y="136872"/>
              <a:ext cx="3538728" cy="66751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可编辑文字 00 | 病毒性角膜内皮炎"/>
            <p:cNvSpPr txBox="1"/>
            <p:nvPr/>
          </p:nvSpPr>
          <p:spPr>
            <a:xfrm>
              <a:off x="19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17" name="可编辑文字 01 | 2023共识 · 眼科临床速查"/>
            <p:cNvSpPr txBox="1"/>
            <p:nvPr/>
          </p:nvSpPr>
          <p:spPr>
            <a:xfrm>
              <a:off x="19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18" name="可编辑文字 02 | 背面 · 用药与随访"/>
            <p:cNvSpPr txBox="1"/>
            <p:nvPr/>
          </p:nvSpPr>
          <p:spPr>
            <a:xfrm>
              <a:off x="19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19" name="卡片分隔线 03"/>
            <p:cNvCxnSpPr/>
            <p:nvPr/>
          </p:nvCxnSpPr>
          <p:spPr>
            <a:xfrm>
              <a:off x="19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可编辑文字 04 | 成人全身剂量摘录〔2023 p16〕"/>
            <p:cNvSpPr txBox="1"/>
            <p:nvPr/>
          </p:nvSpPr>
          <p:spPr>
            <a:xfrm>
              <a:off x="19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21" name="可编辑文字 05 | 阿昔洛韦200 mg/次，5次/d，7 d；缓解后400"/>
            <p:cNvSpPr txBox="1"/>
            <p:nvPr/>
          </p:nvSpPr>
          <p:spPr>
            <a:xfrm>
              <a:off x="198000" y="1056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22" name="可编辑文字 06 | 更昔洛韦监测与停药〔2023 p16〕"/>
            <p:cNvSpPr txBox="1"/>
            <p:nvPr/>
          </p:nvSpPr>
          <p:spPr>
            <a:xfrm>
              <a:off x="198000" y="1973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23" name="可编辑文字 07 | 用前血常规/肝肾。诱导：血常规每3 d、肝肾每周；维持："/>
            <p:cNvSpPr txBox="1"/>
            <p:nvPr/>
          </p:nvSpPr>
          <p:spPr>
            <a:xfrm>
              <a:off x="198000" y="2151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24" name="可编辑文字 08 | 特殊人群与慎用〔2023 p16〕"/>
            <p:cNvSpPr txBox="1"/>
            <p:nvPr/>
          </p:nvSpPr>
          <p:spPr>
            <a:xfrm>
              <a:off x="198000" y="2926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25" name="可编辑文字 09 | 儿童：阿昔洛韦10~15 mg/(kg·d)，分3~5次"/>
            <p:cNvSpPr txBox="1"/>
            <p:nvPr/>
          </p:nvSpPr>
          <p:spPr>
            <a:xfrm>
              <a:off x="198000" y="3103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26" name="可编辑文字 10 | 随访缺项〔2023 p14、17〕"/>
            <p:cNvSpPr txBox="1"/>
            <p:nvPr/>
          </p:nvSpPr>
          <p:spPr>
            <a:xfrm>
              <a:off x="198000" y="3878679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27" name="可编辑文字 11 | 关注KP/炎症、眼压、内皮细胞变化及药物化验。统一复诊间"/>
            <p:cNvSpPr txBox="1"/>
            <p:nvPr/>
          </p:nvSpPr>
          <p:spPr>
            <a:xfrm>
              <a:off x="198000" y="4056479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28" name="卡片分隔线 12"/>
            <p:cNvCxnSpPr/>
            <p:nvPr/>
          </p:nvCxnSpPr>
          <p:spPr>
            <a:xfrm>
              <a:off x="19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可编辑文字 13 | p为期刊页码（PDF页码=p−12）。剂量为2023原文"/>
            <p:cNvSpPr txBox="1"/>
            <p:nvPr/>
          </p:nvSpPr>
          <p:spPr>
            <a:xfrm>
              <a:off x="19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30" name="可编辑文字 14 | 对。完整证据与研究区别见提取表。"/>
            <p:cNvSpPr txBox="1"/>
            <p:nvPr/>
          </p:nvSpPr>
          <p:spPr>
            <a:xfrm>
              <a:off x="19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31" name="可编辑文字 15 | 打印：100% 原尺寸 · 双面长边翻转"/>
            <p:cNvSpPr txBox="1"/>
            <p:nvPr/>
          </p:nvSpPr>
          <p:spPr>
            <a:xfrm>
              <a:off x="19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32" name="可编辑卡片 1-2"/>
          <p:cNvGrpSpPr/>
          <p:nvPr/>
        </p:nvGrpSpPr>
        <p:grpSpPr>
          <a:xfrm>
            <a:off x="3978000" y="216000"/>
            <a:ext cx="3384000" cy="4944700"/>
            <a:chOff x="3978000" y="216000"/>
            <a:chExt cx="3384000" cy="4944700"/>
          </a:xfrm>
        </p:grpSpPr>
        <p:sp>
          <p:nvSpPr>
            <p:cNvPr id="33" name="Rectangle 29"/>
            <p:cNvSpPr/>
            <p:nvPr/>
          </p:nvSpPr>
          <p:spPr>
            <a:xfrm>
              <a:off x="3955564" y="386770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28"/>
            <p:cNvSpPr/>
            <p:nvPr/>
          </p:nvSpPr>
          <p:spPr>
            <a:xfrm>
              <a:off x="3921732" y="3867706"/>
              <a:ext cx="25603" cy="790873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27"/>
            <p:cNvSpPr/>
            <p:nvPr/>
          </p:nvSpPr>
          <p:spPr>
            <a:xfrm>
              <a:off x="3921732" y="3867706"/>
              <a:ext cx="3438144" cy="790873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26"/>
            <p:cNvSpPr/>
            <p:nvPr/>
          </p:nvSpPr>
          <p:spPr>
            <a:xfrm>
              <a:off x="3955564" y="291520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25"/>
            <p:cNvSpPr/>
            <p:nvPr/>
          </p:nvSpPr>
          <p:spPr>
            <a:xfrm>
              <a:off x="3921732" y="2915207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24"/>
            <p:cNvSpPr/>
            <p:nvPr/>
          </p:nvSpPr>
          <p:spPr>
            <a:xfrm>
              <a:off x="3921732" y="2915207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23"/>
            <p:cNvSpPr/>
            <p:nvPr/>
          </p:nvSpPr>
          <p:spPr>
            <a:xfrm>
              <a:off x="3955564" y="196270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22"/>
            <p:cNvSpPr/>
            <p:nvPr/>
          </p:nvSpPr>
          <p:spPr>
            <a:xfrm>
              <a:off x="3921732" y="1962706"/>
              <a:ext cx="25603" cy="95178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21"/>
            <p:cNvSpPr/>
            <p:nvPr/>
          </p:nvSpPr>
          <p:spPr>
            <a:xfrm>
              <a:off x="3921732" y="1962706"/>
              <a:ext cx="3438144" cy="95178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20"/>
            <p:cNvSpPr/>
            <p:nvPr/>
          </p:nvSpPr>
          <p:spPr>
            <a:xfrm>
              <a:off x="3955564" y="8679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19"/>
            <p:cNvSpPr/>
            <p:nvPr/>
          </p:nvSpPr>
          <p:spPr>
            <a:xfrm>
              <a:off x="3921732" y="867967"/>
              <a:ext cx="25603" cy="109402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18"/>
            <p:cNvSpPr/>
            <p:nvPr/>
          </p:nvSpPr>
          <p:spPr>
            <a:xfrm>
              <a:off x="3921732" y="867967"/>
              <a:ext cx="3438144" cy="109402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17"/>
            <p:cNvSpPr/>
            <p:nvPr/>
          </p:nvSpPr>
          <p:spPr>
            <a:xfrm>
              <a:off x="3898872" y="136872"/>
              <a:ext cx="3538728" cy="66751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可编辑文字 00 | 病毒性角膜内皮炎"/>
            <p:cNvSpPr txBox="1"/>
            <p:nvPr/>
          </p:nvSpPr>
          <p:spPr>
            <a:xfrm>
              <a:off x="3978000" y="216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47" name="可编辑文字 01 | 2023共识 · 眼科临床速查"/>
            <p:cNvSpPr txBox="1"/>
            <p:nvPr/>
          </p:nvSpPr>
          <p:spPr>
            <a:xfrm>
              <a:off x="3978000" y="434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48" name="可编辑文字 02 | 背面 · 用药与随访"/>
            <p:cNvSpPr txBox="1"/>
            <p:nvPr/>
          </p:nvSpPr>
          <p:spPr>
            <a:xfrm>
              <a:off x="3978000" y="624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49" name="卡片分隔线 03"/>
            <p:cNvCxnSpPr/>
            <p:nvPr/>
          </p:nvCxnSpPr>
          <p:spPr>
            <a:xfrm>
              <a:off x="3978000" y="802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可编辑文字 04 | 成人全身剂量摘录〔2023 p16〕"/>
            <p:cNvSpPr txBox="1"/>
            <p:nvPr/>
          </p:nvSpPr>
          <p:spPr>
            <a:xfrm>
              <a:off x="3978000" y="878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51" name="可编辑文字 05 | 阿昔洛韦200 mg/次，5次/d，7 d；缓解后400"/>
            <p:cNvSpPr txBox="1"/>
            <p:nvPr/>
          </p:nvSpPr>
          <p:spPr>
            <a:xfrm>
              <a:off x="3978000" y="1056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52" name="可编辑文字 06 | 更昔洛韦监测与停药〔2023 p16〕"/>
            <p:cNvSpPr txBox="1"/>
            <p:nvPr/>
          </p:nvSpPr>
          <p:spPr>
            <a:xfrm>
              <a:off x="3978000" y="1973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53" name="可编辑文字 07 | 用前血常规/肝肾。诱导：血常规每3 d、肝肾每周；维持："/>
            <p:cNvSpPr txBox="1"/>
            <p:nvPr/>
          </p:nvSpPr>
          <p:spPr>
            <a:xfrm>
              <a:off x="3978000" y="2151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54" name="可编辑文字 08 | 特殊人群与慎用〔2023 p16〕"/>
            <p:cNvSpPr txBox="1"/>
            <p:nvPr/>
          </p:nvSpPr>
          <p:spPr>
            <a:xfrm>
              <a:off x="3978000" y="2926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55" name="可编辑文字 09 | 儿童：阿昔洛韦10~15 mg/(kg·d)，分3~5次"/>
            <p:cNvSpPr txBox="1"/>
            <p:nvPr/>
          </p:nvSpPr>
          <p:spPr>
            <a:xfrm>
              <a:off x="3978000" y="3103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56" name="可编辑文字 10 | 随访缺项〔2023 p14、17〕"/>
            <p:cNvSpPr txBox="1"/>
            <p:nvPr/>
          </p:nvSpPr>
          <p:spPr>
            <a:xfrm>
              <a:off x="3978000" y="3878679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57" name="可编辑文字 11 | 关注KP/炎症、眼压、内皮细胞变化及药物化验。统一复诊间"/>
            <p:cNvSpPr txBox="1"/>
            <p:nvPr/>
          </p:nvSpPr>
          <p:spPr>
            <a:xfrm>
              <a:off x="3978000" y="4056479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58" name="卡片分隔线 12"/>
            <p:cNvCxnSpPr/>
            <p:nvPr/>
          </p:nvCxnSpPr>
          <p:spPr>
            <a:xfrm>
              <a:off x="3978000" y="4660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可编辑文字 13 | p为期刊页码（PDF页码=p−12）。剂量为2023原文"/>
            <p:cNvSpPr txBox="1"/>
            <p:nvPr/>
          </p:nvSpPr>
          <p:spPr>
            <a:xfrm>
              <a:off x="3978000" y="4711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60" name="可编辑文字 14 | 对。完整证据与研究区别见提取表。"/>
            <p:cNvSpPr txBox="1"/>
            <p:nvPr/>
          </p:nvSpPr>
          <p:spPr>
            <a:xfrm>
              <a:off x="3978000" y="4848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61" name="可编辑文字 15 | 打印：100% 原尺寸 · 双面长边翻转"/>
            <p:cNvSpPr txBox="1"/>
            <p:nvPr/>
          </p:nvSpPr>
          <p:spPr>
            <a:xfrm>
              <a:off x="3978000" y="4985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62" name="可编辑卡片 2-1"/>
          <p:cNvGrpSpPr/>
          <p:nvPr/>
        </p:nvGrpSpPr>
        <p:grpSpPr>
          <a:xfrm>
            <a:off x="198000" y="5544000"/>
            <a:ext cx="3384000" cy="4944700"/>
            <a:chOff x="198000" y="5544000"/>
            <a:chExt cx="3384000" cy="4944700"/>
          </a:xfrm>
        </p:grpSpPr>
        <p:sp>
          <p:nvSpPr>
            <p:cNvPr id="63" name="Rectangle 29"/>
            <p:cNvSpPr/>
            <p:nvPr/>
          </p:nvSpPr>
          <p:spPr>
            <a:xfrm>
              <a:off x="175564" y="919570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28"/>
            <p:cNvSpPr/>
            <p:nvPr/>
          </p:nvSpPr>
          <p:spPr>
            <a:xfrm>
              <a:off x="141732" y="9195706"/>
              <a:ext cx="25603" cy="790873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27"/>
            <p:cNvSpPr/>
            <p:nvPr/>
          </p:nvSpPr>
          <p:spPr>
            <a:xfrm>
              <a:off x="141732" y="9195706"/>
              <a:ext cx="3438144" cy="790873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26"/>
            <p:cNvSpPr/>
            <p:nvPr/>
          </p:nvSpPr>
          <p:spPr>
            <a:xfrm>
              <a:off x="175564" y="824320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25"/>
            <p:cNvSpPr/>
            <p:nvPr/>
          </p:nvSpPr>
          <p:spPr>
            <a:xfrm>
              <a:off x="141732" y="8243207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24"/>
            <p:cNvSpPr/>
            <p:nvPr/>
          </p:nvSpPr>
          <p:spPr>
            <a:xfrm>
              <a:off x="141732" y="8243207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23"/>
            <p:cNvSpPr/>
            <p:nvPr/>
          </p:nvSpPr>
          <p:spPr>
            <a:xfrm>
              <a:off x="175564" y="729070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22"/>
            <p:cNvSpPr/>
            <p:nvPr/>
          </p:nvSpPr>
          <p:spPr>
            <a:xfrm>
              <a:off x="141732" y="7290706"/>
              <a:ext cx="25603" cy="95178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21"/>
            <p:cNvSpPr/>
            <p:nvPr/>
          </p:nvSpPr>
          <p:spPr>
            <a:xfrm>
              <a:off x="141732" y="7290706"/>
              <a:ext cx="3438144" cy="95178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20"/>
            <p:cNvSpPr/>
            <p:nvPr/>
          </p:nvSpPr>
          <p:spPr>
            <a:xfrm>
              <a:off x="175564" y="61959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19"/>
            <p:cNvSpPr/>
            <p:nvPr/>
          </p:nvSpPr>
          <p:spPr>
            <a:xfrm>
              <a:off x="141732" y="6195967"/>
              <a:ext cx="25603" cy="109402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18"/>
            <p:cNvSpPr/>
            <p:nvPr/>
          </p:nvSpPr>
          <p:spPr>
            <a:xfrm>
              <a:off x="141732" y="6195967"/>
              <a:ext cx="3438144" cy="109402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17"/>
            <p:cNvSpPr/>
            <p:nvPr/>
          </p:nvSpPr>
          <p:spPr>
            <a:xfrm>
              <a:off x="118872" y="5464872"/>
              <a:ext cx="3538728" cy="66751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可编辑文字 00 | 病毒性角膜内皮炎"/>
            <p:cNvSpPr txBox="1"/>
            <p:nvPr/>
          </p:nvSpPr>
          <p:spPr>
            <a:xfrm>
              <a:off x="19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77" name="可编辑文字 01 | 2023共识 · 眼科临床速查"/>
            <p:cNvSpPr txBox="1"/>
            <p:nvPr/>
          </p:nvSpPr>
          <p:spPr>
            <a:xfrm>
              <a:off x="19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78" name="可编辑文字 02 | 背面 · 用药与随访"/>
            <p:cNvSpPr txBox="1"/>
            <p:nvPr/>
          </p:nvSpPr>
          <p:spPr>
            <a:xfrm>
              <a:off x="19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79" name="卡片分隔线 03"/>
            <p:cNvCxnSpPr/>
            <p:nvPr/>
          </p:nvCxnSpPr>
          <p:spPr>
            <a:xfrm>
              <a:off x="19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可编辑文字 04 | 成人全身剂量摘录〔2023 p16〕"/>
            <p:cNvSpPr txBox="1"/>
            <p:nvPr/>
          </p:nvSpPr>
          <p:spPr>
            <a:xfrm>
              <a:off x="19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81" name="可编辑文字 05 | 阿昔洛韦200 mg/次，5次/d，7 d；缓解后400"/>
            <p:cNvSpPr txBox="1"/>
            <p:nvPr/>
          </p:nvSpPr>
          <p:spPr>
            <a:xfrm>
              <a:off x="198000" y="6384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82" name="可编辑文字 06 | 更昔洛韦监测与停药〔2023 p16〕"/>
            <p:cNvSpPr txBox="1"/>
            <p:nvPr/>
          </p:nvSpPr>
          <p:spPr>
            <a:xfrm>
              <a:off x="198000" y="7301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83" name="可编辑文字 07 | 用前血常规/肝肾。诱导：血常规每3 d、肝肾每周；维持："/>
            <p:cNvSpPr txBox="1"/>
            <p:nvPr/>
          </p:nvSpPr>
          <p:spPr>
            <a:xfrm>
              <a:off x="198000" y="7479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84" name="可编辑文字 08 | 特殊人群与慎用〔2023 p16〕"/>
            <p:cNvSpPr txBox="1"/>
            <p:nvPr/>
          </p:nvSpPr>
          <p:spPr>
            <a:xfrm>
              <a:off x="198000" y="8254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85" name="可编辑文字 09 | 儿童：阿昔洛韦10~15 mg/(kg·d)，分3~5次"/>
            <p:cNvSpPr txBox="1"/>
            <p:nvPr/>
          </p:nvSpPr>
          <p:spPr>
            <a:xfrm>
              <a:off x="198000" y="8431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86" name="可编辑文字 10 | 随访缺项〔2023 p14、17〕"/>
            <p:cNvSpPr txBox="1"/>
            <p:nvPr/>
          </p:nvSpPr>
          <p:spPr>
            <a:xfrm>
              <a:off x="198000" y="9206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87" name="可编辑文字 11 | 关注KP/炎症、眼压、内皮细胞变化及药物化验。统一复诊间"/>
            <p:cNvSpPr txBox="1"/>
            <p:nvPr/>
          </p:nvSpPr>
          <p:spPr>
            <a:xfrm>
              <a:off x="198000" y="938448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88" name="卡片分隔线 12"/>
            <p:cNvCxnSpPr/>
            <p:nvPr/>
          </p:nvCxnSpPr>
          <p:spPr>
            <a:xfrm>
              <a:off x="19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可编辑文字 13 | p为期刊页码（PDF页码=p−12）。剂量为2023原文"/>
            <p:cNvSpPr txBox="1"/>
            <p:nvPr/>
          </p:nvSpPr>
          <p:spPr>
            <a:xfrm>
              <a:off x="19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90" name="可编辑文字 14 | 对。完整证据与研究区别见提取表。"/>
            <p:cNvSpPr txBox="1"/>
            <p:nvPr/>
          </p:nvSpPr>
          <p:spPr>
            <a:xfrm>
              <a:off x="19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91" name="可编辑文字 15 | 打印：100% 原尺寸 · 双面长边翻转"/>
            <p:cNvSpPr txBox="1"/>
            <p:nvPr/>
          </p:nvSpPr>
          <p:spPr>
            <a:xfrm>
              <a:off x="19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grpSp>
        <p:nvGrpSpPr>
          <p:cNvPr id="92" name="可编辑卡片 2-2"/>
          <p:cNvGrpSpPr/>
          <p:nvPr/>
        </p:nvGrpSpPr>
        <p:grpSpPr>
          <a:xfrm>
            <a:off x="3978000" y="5544000"/>
            <a:ext cx="3384000" cy="4944700"/>
            <a:chOff x="3978000" y="5544000"/>
            <a:chExt cx="3384000" cy="4944700"/>
          </a:xfrm>
        </p:grpSpPr>
        <p:sp>
          <p:nvSpPr>
            <p:cNvPr id="93" name="Rectangle 29"/>
            <p:cNvSpPr/>
            <p:nvPr/>
          </p:nvSpPr>
          <p:spPr>
            <a:xfrm>
              <a:off x="3955564" y="919570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28"/>
            <p:cNvSpPr/>
            <p:nvPr/>
          </p:nvSpPr>
          <p:spPr>
            <a:xfrm>
              <a:off x="3921732" y="9195706"/>
              <a:ext cx="25603" cy="790873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ectangle 27"/>
            <p:cNvSpPr/>
            <p:nvPr/>
          </p:nvSpPr>
          <p:spPr>
            <a:xfrm>
              <a:off x="3921732" y="9195706"/>
              <a:ext cx="3438144" cy="790873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26"/>
            <p:cNvSpPr/>
            <p:nvPr/>
          </p:nvSpPr>
          <p:spPr>
            <a:xfrm>
              <a:off x="3955564" y="824320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Rectangle 25"/>
            <p:cNvSpPr/>
            <p:nvPr/>
          </p:nvSpPr>
          <p:spPr>
            <a:xfrm>
              <a:off x="3921732" y="8243207"/>
              <a:ext cx="25603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24"/>
            <p:cNvSpPr/>
            <p:nvPr/>
          </p:nvSpPr>
          <p:spPr>
            <a:xfrm>
              <a:off x="3921732" y="8243207"/>
              <a:ext cx="3438144" cy="9517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23"/>
            <p:cNvSpPr/>
            <p:nvPr/>
          </p:nvSpPr>
          <p:spPr>
            <a:xfrm>
              <a:off x="3955564" y="7290706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Rectangle 22"/>
            <p:cNvSpPr/>
            <p:nvPr/>
          </p:nvSpPr>
          <p:spPr>
            <a:xfrm>
              <a:off x="3921732" y="7290706"/>
              <a:ext cx="25603" cy="95178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Rectangle 21"/>
            <p:cNvSpPr/>
            <p:nvPr/>
          </p:nvSpPr>
          <p:spPr>
            <a:xfrm>
              <a:off x="3921732" y="7290706"/>
              <a:ext cx="3438144" cy="95178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Rectangle 20"/>
            <p:cNvSpPr/>
            <p:nvPr/>
          </p:nvSpPr>
          <p:spPr>
            <a:xfrm>
              <a:off x="3955564" y="6195967"/>
              <a:ext cx="3401568" cy="19019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9"/>
            <p:cNvSpPr/>
            <p:nvPr/>
          </p:nvSpPr>
          <p:spPr>
            <a:xfrm>
              <a:off x="3921732" y="6195967"/>
              <a:ext cx="25603" cy="109402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8"/>
            <p:cNvSpPr/>
            <p:nvPr/>
          </p:nvSpPr>
          <p:spPr>
            <a:xfrm>
              <a:off x="3921732" y="6195967"/>
              <a:ext cx="3438144" cy="109402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Rectangle 17"/>
            <p:cNvSpPr/>
            <p:nvPr/>
          </p:nvSpPr>
          <p:spPr>
            <a:xfrm>
              <a:off x="3898872" y="5464872"/>
              <a:ext cx="3538728" cy="66751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可编辑文字 00 | 病毒性角膜内皮炎"/>
            <p:cNvSpPr txBox="1"/>
            <p:nvPr/>
          </p:nvSpPr>
          <p:spPr>
            <a:xfrm>
              <a:off x="3978000" y="5544000"/>
              <a:ext cx="3384000" cy="2311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病毒性角膜内皮炎</a:t>
              </a:r>
            </a:p>
          </p:txBody>
        </p:sp>
        <p:sp>
          <p:nvSpPr>
            <p:cNvPr id="107" name="可编辑文字 01 | 2023共识 · 眼科临床速查"/>
            <p:cNvSpPr txBox="1"/>
            <p:nvPr/>
          </p:nvSpPr>
          <p:spPr>
            <a:xfrm>
              <a:off x="3978000" y="5762440"/>
              <a:ext cx="3384000" cy="1841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2023共识 · 眼科临床速查</a:t>
              </a:r>
            </a:p>
          </p:txBody>
        </p:sp>
        <p:sp>
          <p:nvSpPr>
            <p:cNvPr id="108" name="可编辑文字 02 | 背面 · 用药与随访"/>
            <p:cNvSpPr txBox="1"/>
            <p:nvPr/>
          </p:nvSpPr>
          <p:spPr>
            <a:xfrm>
              <a:off x="3978000" y="5952940"/>
              <a:ext cx="338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背面 · 用药与随访</a:t>
              </a:r>
            </a:p>
          </p:txBody>
        </p:sp>
        <p:cxnSp>
          <p:nvCxnSpPr>
            <p:cNvPr id="109" name="卡片分隔线 03"/>
            <p:cNvCxnSpPr/>
            <p:nvPr/>
          </p:nvCxnSpPr>
          <p:spPr>
            <a:xfrm>
              <a:off x="3978000" y="6130740"/>
              <a:ext cx="3384000" cy="0"/>
            </a:xfrm>
            <a:prstGeom prst="line">
              <a:avLst/>
            </a:prstGeom>
            <a:ln w="762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可编辑文字 04 | 成人全身剂量摘录〔2023 p16〕"/>
            <p:cNvSpPr txBox="1"/>
            <p:nvPr/>
          </p:nvSpPr>
          <p:spPr>
            <a:xfrm>
              <a:off x="3978000" y="620694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成人全身剂量摘录〔2023 p16〕</a:t>
              </a:r>
            </a:p>
          </p:txBody>
        </p:sp>
        <p:sp>
          <p:nvSpPr>
            <p:cNvPr id="111" name="可编辑文字 05 | 阿昔洛韦200 mg/次，5次/d，7 d；缓解后400"/>
            <p:cNvSpPr txBox="1"/>
            <p:nvPr/>
          </p:nvSpPr>
          <p:spPr>
            <a:xfrm>
              <a:off x="3978000" y="6384740"/>
              <a:ext cx="3155400" cy="8915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  </a:r>
            </a:p>
          </p:txBody>
        </p:sp>
        <p:sp>
          <p:nvSpPr>
            <p:cNvPr id="112" name="可编辑文字 06 | 更昔洛韦监测与停药〔2023 p16〕"/>
            <p:cNvSpPr txBox="1"/>
            <p:nvPr/>
          </p:nvSpPr>
          <p:spPr>
            <a:xfrm>
              <a:off x="3978000" y="7301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更昔洛韦监测与停药〔2023 p16〕</a:t>
              </a:r>
            </a:p>
          </p:txBody>
        </p:sp>
        <p:sp>
          <p:nvSpPr>
            <p:cNvPr id="113" name="可编辑文字 07 | 用前血常规/肝肾。诱导：血常规每3 d、肝肾每周；维持："/>
            <p:cNvSpPr txBox="1"/>
            <p:nvPr/>
          </p:nvSpPr>
          <p:spPr>
            <a:xfrm>
              <a:off x="3978000" y="74794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用前血常规/肝肾。诱导：血常规每3 d、肝肾每周；维持：血常规每周、肝肾每2~4周。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停药：肝肾恶化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血小板≤25×10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粒细胞≤0.5×10</a:t>
              </a:r>
              <a:r>
                <a:rPr sz="950" b="1" lang="zh-CN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⁹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/L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或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降至用前50%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。3周无效考虑耐药，改膦甲酸钠（二线、肾毒性，剂量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）。</a:t>
              </a:r>
            </a:p>
          </p:txBody>
        </p:sp>
        <p:sp>
          <p:nvSpPr>
            <p:cNvPr id="114" name="可编辑文字 08 | 特殊人群与慎用〔2023 p16〕"/>
            <p:cNvSpPr txBox="1"/>
            <p:nvPr/>
          </p:nvSpPr>
          <p:spPr>
            <a:xfrm>
              <a:off x="3978000" y="82541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特殊人群与慎用〔2023 p16〕</a:t>
              </a:r>
            </a:p>
          </p:txBody>
        </p:sp>
        <p:sp>
          <p:nvSpPr>
            <p:cNvPr id="115" name="可编辑文字 09 | 儿童：阿昔洛韦10~15 mg/(kg·d)，分3~5次"/>
            <p:cNvSpPr txBox="1"/>
            <p:nvPr/>
          </p:nvSpPr>
          <p:spPr>
            <a:xfrm>
              <a:off x="3978000" y="8431980"/>
              <a:ext cx="3155400" cy="7493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儿童：阿昔洛韦10~15 mg/(kg·d)，分3~5次、7 d；更昔洛韦5 mg/(kg·次)，诱导2次/d、14 d，维持1次/d、2个月；儿童途径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肾损伤避免阿昔洛韦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；泛昔洛韦按肾功能调整（分档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）；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骨髓移植慎用更昔洛韦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116" name="可编辑文字 10 | 随访缺项〔2023 p14、17〕"/>
            <p:cNvSpPr txBox="1"/>
            <p:nvPr/>
          </p:nvSpPr>
          <p:spPr>
            <a:xfrm>
              <a:off x="3978000" y="9206680"/>
              <a:ext cx="3384000" cy="2032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随访缺项〔2023 p14、17〕</a:t>
              </a:r>
            </a:p>
          </p:txBody>
        </p:sp>
        <p:sp>
          <p:nvSpPr>
            <p:cNvPr id="117" name="可编辑文字 11 | 关注KP/炎症、眼压、内皮细胞变化及药物化验。统一复诊间"/>
            <p:cNvSpPr txBox="1"/>
            <p:nvPr/>
          </p:nvSpPr>
          <p:spPr>
            <a:xfrm>
              <a:off x="3978000" y="9384480"/>
              <a:ext cx="3155400" cy="6070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hangingPunct="0" eaLnBrk="1" latinLnBrk="1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关注KP/炎症、眼压、内皮细胞变化及药物化验。统一复诊间隔、妊娠/哺乳方案、正式推荐等级：</a:t>
              </a:r>
              <a:r>
                <a:rPr sz="950" b="1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原文未明确</a:t>
              </a:r>
              <a:r>
                <a:rPr sz="9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。CMV易复发者适当延长治疗；避免劳累、感冒，加强锻炼。</a:t>
              </a:r>
            </a:p>
          </p:txBody>
        </p:sp>
        <p:cxnSp>
          <p:nvCxnSpPr>
            <p:cNvPr id="118" name="卡片分隔线 12"/>
            <p:cNvCxnSpPr/>
            <p:nvPr/>
          </p:nvCxnSpPr>
          <p:spPr>
            <a:xfrm>
              <a:off x="3978000" y="9988320"/>
              <a:ext cx="3384000" cy="0"/>
            </a:xfrm>
            <a:prstGeom prst="line">
              <a:avLst/>
            </a:prstGeom>
            <a:ln w="571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可编辑文字 13 | p为期刊页码（PDF页码=p−12）。剂量为2023原文"/>
            <p:cNvSpPr txBox="1"/>
            <p:nvPr/>
          </p:nvSpPr>
          <p:spPr>
            <a:xfrm>
              <a:off x="3978000" y="1003912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p为期刊页码（PDF页码=p−12）。剂量为2023原文摘录，开药前核</a:t>
              </a:r>
            </a:p>
          </p:txBody>
        </p:sp>
        <p:sp>
          <p:nvSpPr>
            <p:cNvPr id="120" name="可编辑文字 14 | 对。完整证据与研究区别见提取表。"/>
            <p:cNvSpPr txBox="1"/>
            <p:nvPr/>
          </p:nvSpPr>
          <p:spPr>
            <a:xfrm>
              <a:off x="3978000" y="1017628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对。完整证据与研究区别见提取表。</a:t>
              </a:r>
            </a:p>
          </p:txBody>
        </p:sp>
        <p:sp>
          <p:nvSpPr>
            <p:cNvPr id="121" name="可编辑文字 15 | 打印：100% 原尺寸 · 双面长边翻转"/>
            <p:cNvSpPr txBox="1"/>
            <p:nvPr/>
          </p:nvSpPr>
          <p:spPr>
            <a:xfrm>
              <a:off x="3978000" y="10313440"/>
              <a:ext cx="3384000" cy="1752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hangingPunct="0" eaLnBrk="1" latinLnBrk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 spc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打印：100% 原尺寸 · 双面长边翻转</a:t>
              </a:r>
            </a:p>
          </p:txBody>
        </p:sp>
      </p:grpSp>
      <p:cxnSp>
        <p:nvCxnSpPr>
          <p:cNvPr id="122" name="中间竖向裁切线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横向裁切线 1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横向裁切线 2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横向裁切线 3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病毒性角膜内皮炎｜A4四卡拼版（可编辑）</dc:title>
  <dc:subject>2023共识原文摘录；原生可编辑文本和线条</dc:subject>
  <dc:creator>临床资料整理</dc:creator>
  <cp:keywords/>
  <dc:description>字体：Noto Sans CJK SC / Noto Sans。原尺寸打印100%，双面长边翻转。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