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692000" cy="7560000"/>
  <p:notesSz cx="7560000" cy="106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E04 临床诊断：符合诊断依据1（病史和诱因）和3（临床体征），可进行临床诊断。
来源：共识2023，期刊p15／PDF第3页。依据1描述急性起病及可能存在病毒感染/病史/免疫下降诱因
E05 病因诊断：符合依据1、3和4或5：4为IVCM辅助检查；5为PCR病毒阳性。原文称发现猫头鹰眼样改变可明确诊断CMV角膜内皮炎。
来源：共识2023，期刊p15／PDF第3页。按原文保留IVCM表述；不是把所有IVCM异常都视为病原确证
E06 临床分型与风险：盘状最常见；弥漫性较少见；线状罕见、内皮细胞丢失最快、最严重，易内皮失代偿；扇形界限清楚，无进展性线状KP。
来源：共识2023，期刊p15／PDF第3页。正式危险分层、内皮细胞密度切点、转诊时限：原文未明确
E09 房水PCR：检测房水病毒DNA/RNA、明确病毒种类。缓解期阳性率不高，阴性不能排除病毒感染，应结合临床。
来源：共识2023，期刊p14／PDF第2页。跨至p15；病毒载量/Ct阈值及重复采样间隔：原文未明确
E10 抗体补充：房水病毒特异性抗体为PCR的重要补充；IgM提示近期感染，IgG提示远期感染；必要时结合Goldmann-Witmer系数。
来源：共识2023，期刊p15／PDF第3页。G-W系数数值切点：原文未明确
E11 鉴别诊断：病毒性前葡萄膜炎、基质炎、内皮失代偿、Fuchs、Chandler、移植后排斥、急闭发作。移植排斥线多在植片内，病毒性KP可跨植片/植床交界。
来源：共识2023，期刊p15／PDF第3页。跨至p16。急闭描述50~60 mmHg为鉴别线索，并非本病治疗阈值
E19 按病原选药：HSV以全身/眼部阿昔洛韦或更昔洛韦为主；CMV全身和眼部首选更昔洛韦、易复发者适当延长；VZV全身更昔洛韦/泛昔洛韦或更高剂量阿昔洛韦，局部更昔洛韦。
来源：共识2023，期刊p16／PDF第4页。跨至p17；VZV更高阿昔洛韦的确切剂量：原文未明确
E22 更昔洛韦实验室监测：用前查血常规和肝肾功能。诱导期血常规每隔3 d、肝肾每周；维持期血常规每周、肝肾每2~4周。
来源：共识2023，期刊p16／PDF第4页。须使用粒细胞而非把阈值写成白细胞
E23 更昔洛韦停药阈值：肝肾功能恶化；血小板≤25×10</a:t>
            </a:r>
            <a:r>
              <a:rPr lang="en-US" dirty="0">
                <a:latin typeface="Arial"/>
                <a:ea typeface="Arial"/>
                <a:cs typeface="Arial"/>
              </a:rPr>
              <a:t>⁹</a:t>
            </a:r>
            <a:r>
              <a:rPr lang="en-US" dirty="0"/>
              <a:t>/L；粒细胞≤0.5×10</a:t>
            </a:r>
            <a:r>
              <a:rPr lang="en-US" dirty="0">
                <a:latin typeface="Arial"/>
                <a:ea typeface="Arial"/>
                <a:cs typeface="Arial"/>
              </a:rPr>
              <a:t>⁹</a:t>
            </a:r>
            <a:r>
              <a:rPr lang="en-US" dirty="0"/>
              <a:t>/L，或降至用药前的50%。骨髓移植患者慎用。
来源：共识2023，期刊p16／PDF第4页。原文未明确肝肾恶化的数值定义
E24 无效/耐药与二线：更昔洛韦治疗3周无效，考虑耐药毒株感染或继发耐药，改用膦甲酸钠。膦甲酸钠为耐药疱疹二线，需静脉给药、可有严重肾不良反应，充分水化降低肾毒性。
来源：共识2023，期刊p16／PDF第4页。膦甲酸钠剂量、疗程、水化量：原文未明确
E25 眼部激素：有效抗病毒基础上，1%醋酸泼尼松龙滴眼液或妥布霉素地塞米松滴眼液4次/d；必要时夜用妥布霉素地塞米松眼膏。羊脂状/尘状KP消退后渐减，每周减少1次，减至1次/d后按炎症决定低浓度激素。监测眼压。
来源：共识2023，期刊p17／PDF第5页。低浓度例：氯替泼诺或0.1%氟米龙；具体后续频次/疗程：原文未明确
E26 眼压管理：伴眼压升高需降眼压，恢复正常后减量/停药；慎用前列腺素类，以免加剧前房炎症和增加复发风险，并注意各药禁忌。
来源：共识2023，期刊p17／PDF第5页。干预阈值、目标眼压、具体降眼压药剂量及完整禁忌清单：原文未明确
E27 移植及复发：严重内皮失代偿需角膜移植/内皮移植；围手术期充分抗病毒，术后全身抗病毒通常3~6个月，定期血常规/肝肾复查。避免劳累、感冒，加强锻炼。
来源：共识2023，期刊p17／PDF第5页。手术具体时机和非药物预防强度：原文未明确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/>
          <p:cNvSpPr/>
          <p:nvPr/>
        </p:nvSpPr>
        <p:spPr>
          <a:xfrm>
            <a:off x="0" y="0"/>
            <a:ext cx="10692000" cy="749808"/>
          </a:xfrm>
          <a:prstGeom prst="rect">
            <a:avLst/>
          </a:prstGeom>
          <a:solidFill>
            <a:srgbClr val="17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347472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病毒性角膜内皮炎｜诊疗流程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E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中国专家共识2023 · 条件、阈值与下一步 · p为期刊页码（PDF页码=p−12）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207008"/>
            <a:ext cx="9948672" cy="749808"/>
          </a:xfrm>
          <a:prstGeom prst="rect">
            <a:avLst/>
          </a:prstGeom>
          <a:solidFill>
            <a:srgbClr val="EDF4FB"/>
          </a:solidFill>
          <a:ln w="8890">
            <a:solidFill>
              <a:srgbClr val="245A91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1316736"/>
            <a:ext cx="9674352" cy="566928"/>
          </a:xfrm>
          <a:prstGeom prst="rect">
            <a:avLst/>
          </a:prstGeom>
          <a:solidFill>
            <a:srgbClr val="EDF4FB"/>
          </a:solidFill>
          <a:ln w="8890">
            <a:solidFill>
              <a:srgbClr val="245A91"/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E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依据1：急性起病，感染史/诱因可有；依据3：基质水肿、水肿区KP、后弹力层皱褶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E2E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符合1和3 → 临床诊断；不符合 → 鉴别前葡萄膜炎、基质炎、失代偿、Fuchs/Chandler、排斥、急闭〔2023 p15–16〕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349240" y="1956816"/>
            <a:ext cx="0" cy="237744"/>
          </a:xfrm>
          <a:prstGeom prst="line">
            <a:avLst/>
          </a:prstGeom>
          <a:noFill/>
          <a:ln w="16510">
            <a:solidFill>
              <a:srgbClr val="333333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65760" y="2240280"/>
            <a:ext cx="9948672" cy="768096"/>
          </a:xfrm>
          <a:prstGeom prst="rect">
            <a:avLst/>
          </a:prstGeom>
          <a:solidFill>
            <a:srgbClr val="EBF7F5"/>
          </a:solidFill>
          <a:ln w="8890">
            <a:solidFill>
              <a:srgbClr val="14746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02920" y="2350008"/>
            <a:ext cx="9674352" cy="585216"/>
          </a:xfrm>
          <a:prstGeom prst="rect">
            <a:avLst/>
          </a:prstGeom>
          <a:solidFill>
            <a:srgbClr val="EBF7F5"/>
          </a:solidFill>
          <a:ln w="8890">
            <a:solidFill>
              <a:srgbClr val="14746F"/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E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IVCM + 房水PCR；必要时特异抗体／G-W系数 → 依据1、3和4或5作病因诊断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E2E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PCR阳性 → 确认所检病毒；猫头鹰眼 → 原文CMV依据；PCR阴性 → 不能排除，结合临床〔2023 p14–15〕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349240" y="3008376"/>
            <a:ext cx="0" cy="256032"/>
          </a:xfrm>
          <a:prstGeom prst="line">
            <a:avLst/>
          </a:prstGeom>
          <a:noFill/>
          <a:ln w="16510">
            <a:solidFill>
              <a:srgbClr val="333333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965960" y="3264408"/>
            <a:ext cx="6766560" cy="0"/>
          </a:xfrm>
          <a:prstGeom prst="line">
            <a:avLst/>
          </a:prstGeom>
          <a:noFill/>
          <a:ln w="7620">
            <a:solidFill>
              <a:srgbClr val="C8C8C8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965960" y="3264408"/>
            <a:ext cx="0" cy="155448"/>
          </a:xfrm>
          <a:prstGeom prst="line">
            <a:avLst/>
          </a:prstGeom>
          <a:noFill/>
          <a:ln w="16510">
            <a:solidFill>
              <a:srgbClr val="333333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5349240" y="3264408"/>
            <a:ext cx="0" cy="155448"/>
          </a:xfrm>
          <a:prstGeom prst="line">
            <a:avLst/>
          </a:prstGeom>
          <a:noFill/>
          <a:ln w="16510">
            <a:solidFill>
              <a:srgbClr val="333333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732520" y="3264408"/>
            <a:ext cx="0" cy="155448"/>
          </a:xfrm>
          <a:prstGeom prst="line">
            <a:avLst/>
          </a:prstGeom>
          <a:noFill/>
          <a:ln w="16510">
            <a:solidFill>
              <a:srgbClr val="333333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365760" y="3465576"/>
            <a:ext cx="3200400" cy="777240"/>
          </a:xfrm>
          <a:prstGeom prst="rect">
            <a:avLst/>
          </a:prstGeom>
          <a:solidFill>
            <a:srgbClr val="FFF4E8"/>
          </a:solidFill>
          <a:ln w="8890">
            <a:solidFill>
              <a:srgbClr val="A95612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02920" y="3575304"/>
            <a:ext cx="2926080" cy="594360"/>
          </a:xfrm>
          <a:prstGeom prst="rect">
            <a:avLst/>
          </a:prstGeom>
          <a:solidFill>
            <a:srgbClr val="FFF4E8"/>
          </a:solidFill>
          <a:ln w="8890">
            <a:solidFill>
              <a:srgbClr val="A95612"/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E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HSV〔2023 p16〕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E2E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全身／眼部阿昔洛韦或更昔洛韦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739896" y="3465576"/>
            <a:ext cx="3200400" cy="777240"/>
          </a:xfrm>
          <a:prstGeom prst="rect">
            <a:avLst/>
          </a:prstGeom>
          <a:solidFill>
            <a:srgbClr val="FFF4E8"/>
          </a:solidFill>
          <a:ln w="8890">
            <a:solidFill>
              <a:srgbClr val="A95612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877056" y="3575304"/>
            <a:ext cx="2926080" cy="594360"/>
          </a:xfrm>
          <a:prstGeom prst="rect">
            <a:avLst/>
          </a:prstGeom>
          <a:solidFill>
            <a:srgbClr val="FFF4E8"/>
          </a:solidFill>
          <a:ln w="8890">
            <a:solidFill>
              <a:srgbClr val="A95612"/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E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CMV〔2023 p16–17〕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E2E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首选更昔洛韦；阿昔洛韦无效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114032" y="3465576"/>
            <a:ext cx="3200400" cy="777240"/>
          </a:xfrm>
          <a:prstGeom prst="rect">
            <a:avLst/>
          </a:prstGeom>
          <a:solidFill>
            <a:srgbClr val="FFF4E8"/>
          </a:solidFill>
          <a:ln w="8890">
            <a:solidFill>
              <a:srgbClr val="A95612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251192" y="3575304"/>
            <a:ext cx="2926080" cy="594360"/>
          </a:xfrm>
          <a:prstGeom prst="rect">
            <a:avLst/>
          </a:prstGeom>
          <a:solidFill>
            <a:srgbClr val="FFF4E8"/>
          </a:solidFill>
          <a:ln w="8890">
            <a:solidFill>
              <a:srgbClr val="A95612"/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E2E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VZV〔2023 p17〕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E2E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全身更昔洛韦/泛昔洛韦等；局部更昔洛韦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1965960" y="4242816"/>
            <a:ext cx="0" cy="164592"/>
          </a:xfrm>
          <a:prstGeom prst="line">
            <a:avLst/>
          </a:prstGeom>
          <a:noFill/>
          <a:ln w="16510">
            <a:solidFill>
              <a:srgbClr val="333333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5349240" y="4242816"/>
            <a:ext cx="0" cy="164592"/>
          </a:xfrm>
          <a:prstGeom prst="line">
            <a:avLst/>
          </a:prstGeom>
          <a:noFill/>
          <a:ln w="16510">
            <a:solidFill>
              <a:srgbClr val="333333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8732520" y="4242816"/>
            <a:ext cx="0" cy="164592"/>
          </a:xfrm>
          <a:prstGeom prst="line">
            <a:avLst/>
          </a:prstGeom>
          <a:noFill/>
          <a:ln w="16510">
            <a:solidFill>
              <a:srgbClr val="333333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1965960" y="4407408"/>
            <a:ext cx="6766560" cy="0"/>
          </a:xfrm>
          <a:prstGeom prst="line">
            <a:avLst/>
          </a:prstGeom>
          <a:noFill/>
          <a:ln w="7620">
            <a:solidFill>
              <a:srgbClr val="C8C8C8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5349240" y="4407408"/>
            <a:ext cx="0" cy="146304"/>
          </a:xfrm>
          <a:prstGeom prst="line">
            <a:avLst/>
          </a:prstGeom>
          <a:noFill/>
          <a:ln w="16510">
            <a:solidFill>
              <a:srgbClr val="333333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365760" y="4599432"/>
            <a:ext cx="9948672" cy="694944"/>
          </a:xfrm>
          <a:prstGeom prst="rect">
            <a:avLst/>
          </a:prstGeom>
          <a:solidFill>
            <a:srgbClr val="F3EFF8"/>
          </a:solidFill>
          <a:ln w="8890">
            <a:solidFill>
              <a:srgbClr val="695292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502920" y="4709160"/>
            <a:ext cx="9674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E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按伴随情况分支〔2023 p17〕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E2E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在有效抗病毒基础上 → 联合眼部激素；眼压升高 → 降压（慎用前列腺素）；严重内皮失代偿 → 移植及围术期抗病毒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779776" y="5294376"/>
            <a:ext cx="0" cy="237744"/>
          </a:xfrm>
          <a:prstGeom prst="line">
            <a:avLst/>
          </a:prstGeom>
          <a:noFill/>
          <a:ln w="16510">
            <a:solidFill>
              <a:srgbClr val="333333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7882128" y="5294376"/>
            <a:ext cx="0" cy="237744"/>
          </a:xfrm>
          <a:prstGeom prst="line">
            <a:avLst/>
          </a:prstGeom>
          <a:noFill/>
          <a:ln w="16510">
            <a:solidFill>
              <a:srgbClr val="333333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365760" y="5577840"/>
            <a:ext cx="4818888" cy="1371600"/>
          </a:xfrm>
          <a:prstGeom prst="rect">
            <a:avLst/>
          </a:prstGeom>
          <a:solidFill>
            <a:srgbClr val="FCEFF0"/>
          </a:solidFill>
          <a:ln w="8890">
            <a:solidFill>
              <a:srgbClr val="A13438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502920" y="5687568"/>
            <a:ext cx="4544568" cy="1188720"/>
          </a:xfrm>
          <a:prstGeom prst="rect">
            <a:avLst/>
          </a:prstGeom>
          <a:solidFill>
            <a:srgbClr val="FCEFF0"/>
          </a:solidFill>
          <a:ln w="8890">
            <a:solidFill>
              <a:srgbClr val="A13438"/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80" dirty="0">
                <a:solidFill>
                  <a:srgbClr val="1E2E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更昔洛韦安全监测〔2023 p16〕</a:t>
            </a:r>
            <a:endParaRPr lang="en-US" sz="1280" dirty="0"/>
          </a:p>
          <a:p>
            <a:pPr algn="l" indent="0" marL="0">
              <a:buNone/>
            </a:pPr>
            <a:r>
              <a:rPr lang="en-US" sz="1280" dirty="0">
                <a:solidFill>
                  <a:srgbClr val="1E2E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用前血常规/肝肾；诱导血常规每3 d、肝肾每周；维持血常规每周、肝肾每2~4周。</a:t>
            </a:r>
            <a:endParaRPr lang="en-US" sz="1280" dirty="0"/>
          </a:p>
          <a:p>
            <a:pPr algn="l" indent="0" marL="0">
              <a:buNone/>
            </a:pPr>
            <a:r>
              <a:rPr lang="en-US" sz="1280" dirty="0">
                <a:solidFill>
                  <a:srgbClr val="1E2E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肝肾恶化／血小板≤25×10</a:t>
            </a:r>
            <a:r>
              <a:rPr lang="en-US" sz="1280" dirty="0">
                <a:solidFill>
                  <a:srgbClr val="1E2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⁹</a:t>
            </a:r>
            <a:r>
              <a:rPr lang="en-US" sz="1280" dirty="0">
                <a:solidFill>
                  <a:srgbClr val="1E2E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/L／粒细胞≤0.5×10</a:t>
            </a:r>
            <a:r>
              <a:rPr lang="en-US" sz="1280" dirty="0">
                <a:solidFill>
                  <a:srgbClr val="1E2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⁹</a:t>
            </a:r>
            <a:r>
              <a:rPr lang="en-US" sz="1280" dirty="0">
                <a:solidFill>
                  <a:srgbClr val="1E2E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/L或降至用前50% → 停药。</a:t>
            </a:r>
            <a:endParaRPr lang="en-US" sz="1280" dirty="0"/>
          </a:p>
          <a:p>
            <a:pPr algn="l" indent="0" marL="0">
              <a:buNone/>
            </a:pPr>
            <a:r>
              <a:rPr lang="en-US" sz="1280" dirty="0">
                <a:solidFill>
                  <a:srgbClr val="1E2E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治疗3周无效 → 考虑耐药，改膦甲酸钠。</a:t>
            </a:r>
            <a:endParaRPr lang="en-US" sz="1280" dirty="0"/>
          </a:p>
        </p:txBody>
      </p:sp>
      <p:sp>
        <p:nvSpPr>
          <p:cNvPr id="31" name="Shape 29"/>
          <p:cNvSpPr/>
          <p:nvPr/>
        </p:nvSpPr>
        <p:spPr>
          <a:xfrm>
            <a:off x="5495544" y="5577840"/>
            <a:ext cx="4818888" cy="1371600"/>
          </a:xfrm>
          <a:prstGeom prst="rect">
            <a:avLst/>
          </a:prstGeom>
          <a:solidFill>
            <a:srgbClr val="F3EFF8"/>
          </a:solidFill>
          <a:ln w="8890">
            <a:solidFill>
              <a:srgbClr val="695292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5632704" y="5687568"/>
            <a:ext cx="4544568" cy="1188720"/>
          </a:xfrm>
          <a:prstGeom prst="rect">
            <a:avLst/>
          </a:prstGeom>
          <a:solidFill>
            <a:srgbClr val="F3EFF8"/>
          </a:solidFill>
          <a:ln w="8890">
            <a:solidFill>
              <a:srgbClr val="695292"/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80" dirty="0">
                <a:solidFill>
                  <a:srgbClr val="1E2E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恢复与复发管理〔2023 p14、17〕</a:t>
            </a:r>
            <a:endParaRPr lang="en-US" sz="1280" dirty="0"/>
          </a:p>
          <a:p>
            <a:pPr algn="l" indent="0" marL="0">
              <a:buNone/>
            </a:pPr>
            <a:r>
              <a:rPr lang="en-US" sz="1280" dirty="0">
                <a:solidFill>
                  <a:srgbClr val="1E2E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羊脂/尘状KP消退 → 激素每周减1次，至1次/d后按炎症调整。</a:t>
            </a:r>
            <a:endParaRPr lang="en-US" sz="1280" dirty="0"/>
          </a:p>
          <a:p>
            <a:pPr algn="l" indent="0" marL="0">
              <a:buNone/>
            </a:pPr>
            <a:r>
              <a:rPr lang="en-US" sz="1280" dirty="0">
                <a:solidFill>
                  <a:srgbClr val="1E2E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眼压正常 → 降压药减停；术后全身抗病毒通常3~6个月。</a:t>
            </a:r>
            <a:endParaRPr lang="en-US" sz="1280" dirty="0"/>
          </a:p>
          <a:p>
            <a:pPr algn="l" indent="0" marL="0">
              <a:buNone/>
            </a:pPr>
            <a:r>
              <a:rPr lang="en-US" sz="1280" dirty="0">
                <a:solidFill>
                  <a:srgbClr val="1E2E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监测KP/炎症、眼压与内皮；CMV易复发者适当延长治疗。</a:t>
            </a:r>
            <a:endParaRPr lang="en-US" sz="1280" dirty="0"/>
          </a:p>
        </p:txBody>
      </p:sp>
      <p:sp>
        <p:nvSpPr>
          <p:cNvPr id="33" name="Text 31"/>
          <p:cNvSpPr/>
          <p:nvPr/>
        </p:nvSpPr>
        <p:spPr>
          <a:xfrm>
            <a:off x="365760" y="7104888"/>
            <a:ext cx="9966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E2E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原文未明确：PCR/G-W/眼压处置阈值、正式危险评分、统一复诊间隔、VZV“更高剂量”阿昔洛韦及膦甲酸钠剂量。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 panose="020F0302020204030204"/>
        <a:ea typeface=""/>
        <a:cs typeface="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Microsoft YaHei"/>
        <a:font script="Hebr" typeface="Microsoft YaHei"/>
        <a:font script="Thai" typeface="Microsoft YaHei"/>
        <a:font script="Ethi" typeface="Microsoft YaHei"/>
        <a:font script="Beng" typeface="Microsoft YaHei"/>
        <a:font script="Gujr" typeface="Microsoft YaHei"/>
        <a:font script="Khmr" typeface="Microsoft YaHei"/>
        <a:font script="Knda" typeface="Microsoft YaHei"/>
        <a:font script="Guru" typeface="Microsoft YaHei"/>
        <a:font script="Cans" typeface="Microsoft YaHei"/>
        <a:font script="Cher" typeface="Microsoft YaHei"/>
        <a:font script="Yiii" typeface="Microsoft YaHei"/>
        <a:font script="Tibt" typeface="Microsoft YaHei"/>
        <a:font script="Thaa" typeface="Microsoft YaHei"/>
        <a:font script="Deva" typeface="Microsoft YaHei"/>
        <a:font script="Telu" typeface="Microsoft YaHei"/>
        <a:font script="Taml" typeface="Microsoft YaHei"/>
        <a:font script="Syrc" typeface="Microsoft YaHei"/>
        <a:font script="Orya" typeface="Microsoft YaHei"/>
        <a:font script="Mlym" typeface="Microsoft YaHei"/>
        <a:font script="Laoo" typeface="Microsoft YaHei"/>
        <a:font script="Sinh" typeface="Microsoft YaHei"/>
        <a:font script="Mong" typeface="Microsoft YaHei"/>
        <a:font script="Viet" typeface="Microsoft YaHei"/>
        <a:font script="Uigh" typeface="Microsoft YaHei"/>
        <a:font script="Geor" typeface="Microsoft YaHei"/>
        <a:font script="Armn" typeface="Arial"/>
        <a:font script="Bugi" typeface="Microsoft YaHei"/>
        <a:font script="Bopo" typeface="Microsoft YaHei"/>
        <a:font script="Java" typeface="Microsoft YaHei"/>
        <a:font script="Lisu" typeface="Microsoft YaHei"/>
        <a:font script="Mymr" typeface="Microsoft YaHei"/>
        <a:font script="Nkoo" typeface="Microsoft YaHei"/>
        <a:font script="Olck" typeface="Microsoft YaHei"/>
        <a:font script="Osma" typeface="Microsoft YaHei"/>
        <a:font script="Phag" typeface="Microsoft YaHei"/>
        <a:font script="Syrn" typeface="Microsoft YaHei"/>
        <a:font script="Syrj" typeface="Microsoft YaHei"/>
        <a:font script="Syre" typeface="Microsoft YaHei"/>
        <a:font script="Sora" typeface="Microsoft YaHei"/>
        <a:font script="Tale" typeface="Microsoft YaHei"/>
        <a:font script="Talu" typeface="Microsoft YaHei"/>
        <a:font script="Tfng" typeface="Microsoft YaHei"/>
      </a:majorFont>
      <a:minorFont>
        <a:latin typeface="Arial" panose="020F0502020204030204"/>
        <a:ea typeface=""/>
        <a:cs typeface="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Microsoft YaHei"/>
        <a:font script="Ethi" typeface="Microsoft YaHei"/>
        <a:font script="Beng" typeface="Microsoft YaHei"/>
        <a:font script="Gujr" typeface="Microsoft YaHei"/>
        <a:font script="Khmr" typeface="Microsoft YaHei"/>
        <a:font script="Knda" typeface="Microsoft YaHei"/>
        <a:font script="Guru" typeface="Microsoft YaHei"/>
        <a:font script="Cans" typeface="Microsoft YaHei"/>
        <a:font script="Cher" typeface="Microsoft YaHei"/>
        <a:font script="Yiii" typeface="Microsoft YaHei"/>
        <a:font script="Tibt" typeface="Microsoft YaHei"/>
        <a:font script="Thaa" typeface="Microsoft YaHei"/>
        <a:font script="Deva" typeface="Microsoft YaHei"/>
        <a:font script="Telu" typeface="Microsoft YaHei"/>
        <a:font script="Taml" typeface="Microsoft YaHei"/>
        <a:font script="Syrc" typeface="Microsoft YaHei"/>
        <a:font script="Orya" typeface="Microsoft YaHei"/>
        <a:font script="Mlym" typeface="Microsoft YaHei"/>
        <a:font script="Laoo" typeface="Microsoft YaHei"/>
        <a:font script="Sinh" typeface="Microsoft YaHei"/>
        <a:font script="Mong" typeface="Microsoft YaHei"/>
        <a:font script="Viet" typeface="Arial"/>
        <a:font script="Uigh" typeface="Microsoft YaHei"/>
        <a:font script="Geor" typeface="Microsoft YaHei"/>
        <a:font script="Armn" typeface="Arial"/>
        <a:font script="Bugi" typeface="Microsoft YaHei"/>
        <a:font script="Bopo" typeface="Microsoft YaHei"/>
        <a:font script="Java" typeface="Microsoft YaHei"/>
        <a:font script="Lisu" typeface="Microsoft YaHei"/>
        <a:font script="Mymr" typeface="Microsoft YaHei"/>
        <a:font script="Nkoo" typeface="Microsoft YaHei"/>
        <a:font script="Olck" typeface="Microsoft YaHei"/>
        <a:font script="Osma" typeface="Microsoft YaHei"/>
        <a:font script="Phag" typeface="Microsoft YaHei"/>
        <a:font script="Syrn" typeface="Microsoft YaHei"/>
        <a:font script="Syrj" typeface="Microsoft YaHei"/>
        <a:font script="Syre" typeface="Microsoft YaHei"/>
        <a:font script="Sora" typeface="Microsoft YaHei"/>
        <a:font script="Tale" typeface="Microsoft YaHei"/>
        <a:font script="Talu" typeface="Microsoft YaHei"/>
        <a:font script="Tfng" typeface="Microsoft Ya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病毒性角膜内皮炎诊疗流程</dc:title>
  <dc:subject>PptxGenJS Presentation</dc:subject>
  <dc:creator>临床资料整理</dc:creator>
  <cp:lastModifiedBy>临床资料整理</cp:lastModifiedBy>
  <cp:revision>1</cp:revision>
  <dcterms:created xsi:type="dcterms:W3CDTF">2026-10-11T09:47:12Z</dcterms:created>
  <dcterms:modified xsi:type="dcterms:W3CDTF">2026-10-11T09:47:12Z</dcterms:modified>
</cp:coreProperties>
</file>