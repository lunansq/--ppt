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E01 适用范围：病毒性角膜内皮炎的临床诊疗；常见病原为HSV、VZV、CMV。原文不是适用于所有情形的强制医疗标准。
来源：共识2023，期刊p14／PDF第2页。明确年龄适用边界：原文未明确；专家意见适用性声明见p17
E03 临床表现：多为单眼。角膜基质水肿、水肿区域KP、后弹力层皱褶最常见，可有轻度前房反应、虹膜改变、眼压升高、角膜知觉减退。
来源：共识2023，期刊p14／PDF第2页。不能仅凭眼红确诊
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E06 临床分型与风险：盘状最常见；弥漫性较少见；线状罕见、内皮细胞丢失最快、最严重，易内皮失代偿；扇形界限清楚，无进展性线状KP。
来源：共识2023，期刊p15／PDF第3页。正式危险分层、内皮细胞密度切点、转诊时限：原文未明确
E11 鉴别诊断：病毒性前葡萄膜炎、基质炎、内皮失代偿、Fuchs、Chandler、移植后排斥、急闭发作。移植排斥线多在植片内，病毒性KP可跨植片/植床交界。
来源：共识2023，期刊p15／PDF第3页。跨至p16。急闭描述50~60 mmHg为鉴别线索，并非本病治疗阈值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E07 病原线索：CMV多为线状/扇形、钱币样KP、常眼压高，IVCM可见猫头鹰眼；HSV多盘状，也可弥漫、伴基质水肿/虹膜炎；VZV四型均可、皮损可有可无、虹膜萎缩/瞳孔变形。
来源：共识2023，期刊p15／PDF第3页。线索不能代替病因标准
E08 IVCM与内皮评估：IVCM提供形态和内皮细胞计数，用于评价密度变化、监测进展和预后；CMV猫头鹰眼多位于钱币样KP处。
来源：共识2023，期刊p14／PDF第2页。计数阈值：原文未明确
E09 房水PCR：检测房水病毒DNA/RNA、明确病毒种类。缓解期阳性率不高，阴性不能排除病毒感染，应结合临床。
来源：共识2023，期刊p14／PDF第2页。跨至p15；病毒载量/Ct阈值及重复采样间隔：原文未明确
E10 抗体补充：房水病毒特异性抗体为PCR的重要补充；IgM提示近期感染，IgG提示远期感染；必要时结合Goldmann-Witmer系数。
来源：共识2023，期刊p15／PDF第3页。G-W系数数值切点：原文未明确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E09 房水PCR：检测房水病毒DNA/RNA、明确病毒种类。缓解期阳性率不高，阴性不能排除病毒感染，应结合临床。
来源：共识2023，期刊p14／PDF第2页。跨至p15；病毒载量/Ct阈值及重复采样间隔：原文未明确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/L；粒细胞≤0.5×10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E12 治疗原则：眼部及全身抗病毒，联合眼部糖皮质激素抗炎；按伴随情况对症，目标为控病毒、控炎症、减损伤、保护视功能。
来源：共识2023，期刊p16／PDF第4页。不得将激素单独作为该治疗原则
E13 局部更昔洛韦：0.15%眼用凝胶或0.1%滴眼液，治疗4~6次/d；病变痊愈后巩固2次/d，持续2~4周。阿昔洛韦滴眼液对CMV无效。
来源：共识2023，期刊p16／PDF第4页。阿昔洛韦滴眼液具体浓度/频次：原文未明确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E20 2%更昔洛韦研究：共识引述文献[36]称2%更昔洛韦滴眼液可增加房水有效药物浓度、主要用于CMV；文献[36]为Keorochana与Choontanom（2017）关于临时配制2%更昔洛韦滴眼液用于CMV前葡萄膜炎的研究（参考文献列于p19）。原文称国内尚无高浓度成品。
来源：共识2023，期刊p16／PDF第4页。仅为共识转述，未独立核验该研究全文；不补浓度配制方案/频次
参考[36]：Keorochana N, Choontanom R. BMJ Open Ophthalmol 2017;2:e000061。仅核对共识参考条目，未独立核验该研究全文。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E14 成人阿昔洛韦：200 mg/次，5次/d，共7 d；缓解后原句为“可减少至诱导剂量，400 mg/d，共4~6个月”。
来源：共识2023，期刊p16／PDF第4页。原文“诱导剂量”措辞照录；不能改为400 mg/次
E15 成人伐昔洛韦：500 mg/次，2次/d，共7 d。
来源：共识2023，期刊p16／PDF第4页。儿童方案：原文未明确
E16 成人更昔洛韦：诱导：口服1 g/次，3次/d，共14 d；或慢速静滴250 mg/次，1次/12 h，共14 d。维持：口服0.5 g/次，3次/d，共2个月。
来源：共识2023，期刊p16／PDF第4页。仅按本共识原文；未另行替换或补足个体方案
E17 成人泛昔洛韦：口服0.25 g/次，3次/d，共7 d；肾功能不全按肾功能调整用法用量。
来源：共识2023，期刊p16／PDF第4页。调整表/儿童方案：原文未明确
E21 阿昔洛韦肾脏注意：可致急性肾衰，静滴过快增加风险，应减慢滴速；肾功能损伤患者应避免使用。CMV缺少胸苷激酶，阿昔洛韦对其无治疗作用。
来源：共识2023，期刊p16／PDF第4页。成人静滴剂量/滴速及肾功能调整切点：原文未明确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E18 儿童抗病毒：阿昔洛韦诱导：10~15 mg/(kg·d)，共7 d，分3~5次。更昔洛韦诱导：5 mg/(kg·次)，2次/d，共14 d；维持：5 mg/(kg·次)，1次/d，共2个月。
来源：共识2023，期刊p16／PDF第4页。两种儿童给药途径原文未明确；不补为口服或静滴
E21 阿昔洛韦肾脏注意：可致急性肾衰，静滴过快增加风险，应减慢滴速；肾功能损伤患者应避免使用。CMV缺少胸苷激酶，阿昔洛韦对其无治疗作用。
来源：共识2023，期刊p16／PDF第4页。成人静滴剂量/滴速及肾功能调整切点：原文未明确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/L；粒细胞≤0.5×10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E28 随访与特殊人群缺项：原文给出内皮密度变化、炎症/眼压关注及药物实验室随访，但未给统一门诊复诊日程、妊娠/哺乳方案、成人肾功能调整表、正式推荐等级。
来源：共识2023，期刊p17／PDF第5页。完整原文p13~19核查；不补编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E28 随访与特殊人群缺项：原文给出内皮密度变化、炎症/眼压关注及药物实验室随访，但未给统一门诊复诊日程、妊娠/哺乳方案、成人肾功能调整表、正式推荐等级。
来源：共识2023，期刊p17／PDF第5页。完整原文p13~19核查；不补编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438912" y="5705856"/>
            <a:ext cx="41148" cy="521207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5705856"/>
            <a:ext cx="11311128" cy="521207"/>
          </a:xfrm>
          <a:prstGeom prst="rect">
            <a:avLst/>
          </a:prstGeom>
          <a:solidFill>
            <a:srgbClr val="F3F6FA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5010912"/>
            <a:ext cx="41148" cy="566928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5010912"/>
            <a:ext cx="11311128" cy="566928"/>
          </a:xfrm>
          <a:prstGeom prst="rect">
            <a:avLst/>
          </a:prstGeom>
          <a:solidFill>
            <a:srgbClr val="FFF4E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1435608"/>
            <a:ext cx="41148" cy="338328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435608"/>
            <a:ext cx="5513832" cy="3383280"/>
          </a:xfrm>
          <a:prstGeom prst="rect">
            <a:avLst/>
          </a:prstGeom>
          <a:solidFill>
            <a:srgbClr val="EBF7F5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1435608"/>
            <a:ext cx="41148" cy="3383280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1435608"/>
            <a:ext cx="5614416" cy="3383280"/>
          </a:xfrm>
          <a:prstGeom prst="rect">
            <a:avLst/>
          </a:prstGeom>
          <a:solidFill>
            <a:srgbClr val="EDF4FB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适用范围与诊断标准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面向眼科门诊与病房的速查摘录，不引入原文以外的诊疗阈值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临床识别〔2023 p14〕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多为单眼发病，常见眼红、畏光、视物模糊、眼痛。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体征：角膜基质水肿、水肿区KP、后弹力层皱褶，可伴前房轻度炎症、虹膜改变、眼压升高。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55080" y="1600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按原文诊断标准〔2023 p15〕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303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临床诊断：符合依据1（急性起病，感染史/诱因可有）和3（临床体征）。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病因诊断：符合依据1、3和4或5。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4：IVCM辅助检查；猫头鹰眼对应CMV。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5：PCR检查病毒阳性。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5120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注意：依据1中的感染病史或免疫下降诱因写作“可存在／可能存在”，不能改为人人必须具备。〔2023 p15〕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年龄适用边界、独立“疑似／确诊”分级、正式推荐等级：原文未明确。〔2023 p13–19〕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8101583" y="4507992"/>
            <a:ext cx="41148" cy="1627632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4507992"/>
            <a:ext cx="3648456" cy="1627632"/>
          </a:xfrm>
          <a:prstGeom prst="rect">
            <a:avLst/>
          </a:prstGeom>
          <a:solidFill>
            <a:srgbClr val="FFF4E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4507992"/>
            <a:ext cx="41148" cy="1627632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4507992"/>
            <a:ext cx="7543800" cy="1627632"/>
          </a:xfrm>
          <a:prstGeom prst="rect">
            <a:avLst/>
          </a:prstGeom>
          <a:solidFill>
            <a:srgbClr val="EDF4FB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分型、风险线索与鉴别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原文没有正式危险评分或住院／转诊切点；下列为临床描述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788920"/>
        </p:xfrm>
        <a:graphic>
          <a:graphicData uri="http://schemas.openxmlformats.org/drawingml/2006/table">
            <a:tbl>
              <a:tblPr/>
              <a:tblGrid>
                <a:gridCol w="2331720"/>
                <a:gridCol w="873252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临床分型〔2023 p15〕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245A91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重点特征与风险〔2023 p15〕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245A91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盘状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DF4FB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最常见；界限清晰的盘状基质水肿，水肿区大量羊脂状KP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DF4FB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弥漫性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弥漫水肿与弥散KP；严重水肿时KP可看不清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DF4FB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最严重；进展性线状KP，内皮细胞丢失最快，易失代偿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DF4FB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扇形水肿、相应区散在KP；界限清晰，无进展性线状KP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617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重点鉴别〔2023 p15–16〕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前葡萄膜炎、角膜基质炎、内皮失代偿、Fuchs、Chandler、移植后排斥、急闭发作。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移植排斥线多在植片内；病毒性KP可跨植片与植床交界。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0" y="47365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急闭“50~60 mmHg”仅是鉴别描述，不能当作本病降眼压启动阈值。〔2023 p16〕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38912" y="5449824"/>
            <a:ext cx="41148" cy="768096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5449824"/>
            <a:ext cx="11311128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1399032"/>
            <a:ext cx="41148" cy="3749039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1399032"/>
            <a:ext cx="5212080" cy="3749039"/>
          </a:xfrm>
          <a:prstGeom prst="rect">
            <a:avLst/>
          </a:prstGeom>
          <a:solidFill>
            <a:srgbClr val="EBF7F5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辅助检查与病原线索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病原线索服务于检查与鉴别，不能替代原文诊断标准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检查与解释〔2023 p14–15〕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IVCM：观察内皮形态、计数，监测细胞密度变化与预后。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房水PCR：可明确病毒；缓解期阳性率不高，阴性不能排除感染。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必要时补充房水特异抗体与G-W系数；IgM提示近期、IgG提示远期感染。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54480"/>
          <a:ext cx="5623560" cy="3383280"/>
        </p:xfrm>
        <a:graphic>
          <a:graphicData uri="http://schemas.openxmlformats.org/drawingml/2006/table">
            <a:tbl>
              <a:tblPr/>
              <a:tblGrid>
                <a:gridCol w="1051560"/>
                <a:gridCol w="4572000"/>
              </a:tblGrid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病原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14746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提示性表现〔2023 p15〕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14746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CMV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BF7F5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线状/扇形、钱币样KP、常眼压高；IVCM猫头鹰眼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BF7F5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HSV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多盘状，也可弥漫；基质水肿、虹膜炎，可有感染史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VZV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BF7F5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四型均可；皮损可有可无；虹膜萎缩、瞳孔变形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EBF7F5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67528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55504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PCR病毒载量／Ct、G-W系数切点、内皮细胞密度切点、重复采样时间：原文未明确。〔2023 p13–19〕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8375904" y="1380744"/>
            <a:ext cx="41148" cy="4681728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75904" y="1380744"/>
            <a:ext cx="3364992" cy="4681728"/>
          </a:xfrm>
          <a:prstGeom prst="rect">
            <a:avLst/>
          </a:prstGeom>
          <a:solidFill>
            <a:srgbClr val="FCEFF0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一页诊疗流程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条件与下一步均按2023共识；独立A4流程图含完整监测阈值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7406640" cy="795528"/>
          </a:xfrm>
          <a:prstGeom prst="rect">
            <a:avLst/>
          </a:prstGeom>
          <a:solidFill>
            <a:srgbClr val="EDF4FB"/>
          </a:solidFill>
          <a:ln w="8890">
            <a:solidFill>
              <a:srgbClr val="245A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54480"/>
            <a:ext cx="7132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依据1：急性起病，感染史/诱因可有；依据3：基质水肿/KP/后弹力层皱褶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符合1和3 → 临床诊断；不符合 → 核对鉴别〔2023 p15–16〕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2240280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551176"/>
            <a:ext cx="7406640" cy="804672"/>
          </a:xfrm>
          <a:prstGeom prst="rect">
            <a:avLst/>
          </a:prstGeom>
          <a:solidFill>
            <a:srgbClr val="EBF7F5"/>
          </a:solidFill>
          <a:ln w="8890">
            <a:solidFill>
              <a:srgbClr val="14746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66090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IVCM + 房水PCR；必要时特异抗体／G-W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按依据1、3和4或5作病因诊断；PCR阴性不能排除〔2023 p14–15〕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3355848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3657600"/>
            <a:ext cx="7406640" cy="804672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6732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按病原抗病毒〔2023 p16–17〕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HSV：阿昔洛韦/更昔洛韦　CMV：更昔洛韦　VZV：更昔洛韦/泛昔洛韦等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1960" y="4462272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4754880"/>
            <a:ext cx="7406640" cy="804672"/>
          </a:xfrm>
          <a:prstGeom prst="rect">
            <a:avLst/>
          </a:prstGeom>
          <a:solidFill>
            <a:srgbClr val="F3EFF8"/>
          </a:solidFill>
          <a:ln w="8890">
            <a:solidFill>
              <a:srgbClr val="69529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86460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在有效抗病毒基础上联合眼部激素；眼压升高则降压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严重内皮失代偿 → 移植及围术期抗病毒〔2023 p17〕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13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治疗前及治疗中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13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更昔洛韦监测〔2023 p16〕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4231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停药条件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肝肾功能恶化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血小板≤25×10</a:t>
            </a:r>
            <a:r>
              <a:rPr lang="en-US" sz="1700" dirty="0">
                <a:solidFill>
                  <a:srgbClr val="1E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粒细胞≤0.5×10</a:t>
            </a:r>
            <a:r>
              <a:rPr lang="en-US" sz="1700" dirty="0">
                <a:solidFill>
                  <a:srgbClr val="1E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或降至用药前50%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3周无效 → 考虑耐药，改膦甲酸钠。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复诊间隔、眼压干预阈值：原文未明确。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38912" y="5779008"/>
            <a:ext cx="41148" cy="512064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779008"/>
            <a:ext cx="11311128" cy="512064"/>
          </a:xfrm>
          <a:prstGeom prst="rect">
            <a:avLst/>
          </a:prstGeom>
          <a:solidFill>
            <a:srgbClr val="FFF4E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67144" y="3657600"/>
            <a:ext cx="41148" cy="2020824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67144" y="3657600"/>
            <a:ext cx="4882896" cy="2020824"/>
          </a:xfrm>
          <a:prstGeom prst="rect">
            <a:avLst/>
          </a:prstGeom>
          <a:solidFill>
            <a:srgbClr val="F3EFF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3657600"/>
            <a:ext cx="41148" cy="2020824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657600"/>
            <a:ext cx="6373368" cy="2020824"/>
          </a:xfrm>
          <a:prstGeom prst="rect">
            <a:avLst/>
          </a:prstGeom>
          <a:solidFill>
            <a:srgbClr val="FFF4E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按病原选择抗病毒与局部用药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所有药物方案为共识原文摘录；不要补入原文未给的剂量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103120"/>
        </p:xfrm>
        <a:graphic>
          <a:graphicData uri="http://schemas.openxmlformats.org/drawingml/2006/table">
            <a:tbl>
              <a:tblPr/>
              <a:tblGrid>
                <a:gridCol w="1280160"/>
                <a:gridCol w="978408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A95612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原文治疗方向〔2023 p16–17〕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A95612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全身与眼部阿昔洛韦或更昔洛韦为主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全身与眼部首选更昔洛韦；易复发者适当延长治疗；阿昔洛韦无效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VZV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全身更昔洛韦／泛昔洛韦或更高剂量阿昔洛韦；局部更昔洛韦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“更高剂量”的确切数值：原文未明确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764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95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局部更昔洛韦〔2023 p16〕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4279392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0.15%眼用凝胶或0.1%滴眼液：治疗4~6次/d。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病变痊愈后：2次/d，巩固2~4周。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995160" y="37764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95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单篇研究转述，单独标注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995160" y="4279392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共识引述[36]：2%更昔洛韦滴眼液研究为CMV前葡萄膜炎。原文称国内尚无高浓度成品；不提供配制方案或频次。〔2023 p16；文献p19〕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5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注意：不能把0.15%／0.1%制剂的4~6次/d自动套用到2%制剂。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38912" y="5760720"/>
            <a:ext cx="41148" cy="585216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5760720"/>
            <a:ext cx="11311128" cy="585216"/>
          </a:xfrm>
          <a:prstGeom prst="rect">
            <a:avLst/>
          </a:prstGeom>
          <a:solidFill>
            <a:srgbClr val="FCEFF0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成人全身抗病毒剂量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逐项摘录2023共识p16；不以其他指南或药品说明书的方案替换原文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/>
              <a:tblGrid>
                <a:gridCol w="1508760"/>
                <a:gridCol w="4892040"/>
                <a:gridCol w="46634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药物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A95612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治疗／诱导方案〔2023 p16〕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A95612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后续方案／限制〔2023 p16〕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A95612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mg/次，5次/d，共7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缓解后400 mg/d，共4~6个月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原文称“减少至诱导剂量”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伐昔洛韦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mg/次，2次/d，共7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其他维持方案：原文未明确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口服1 g/次，3次/d，共14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或慢速静滴250 mg/次，1次/12 h，共14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维持：口服0.5 g/次，3次/d，共2个月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泛昔洛韦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口服0.25 g/次，3次/d，共7 d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肾功能不全按肾功能调整；具体分档原文未明确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FFF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膦甲酸钠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耐药疱疹二线，需静脉给药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E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可严重肾毒性，需充分水化；剂量／疗程原文未明确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mid">
                    <a:solidFill>
                      <a:srgbClr val="FFF4E8"/>
                    </a:solidFill>
                    <a:lnL w="6350">
                      <a:solidFill>
                        <a:srgbClr val="CFDBE5"/>
                      </a:solidFill>
                    </a:lnL>
                    <a:lnR w="6350">
                      <a:solidFill>
                        <a:srgbClr val="CFDBE5"/>
                      </a:solidFill>
                    </a:lnR>
                    <a:lnT w="6350">
                      <a:solidFill>
                        <a:srgbClr val="CFDBE5"/>
                      </a:solidFill>
                    </a:lnT>
                    <a:lnB w="6350">
                      <a:solidFill>
                        <a:srgbClr val="CFDB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521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阿昔洛韦：CMV无效；肾功能损伤应避免，静滴过快增加肾损伤风险。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阿昔洛韦“400 mg/d”为每日总量，不能改成400 mg/次。〔2023 p16〕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38912" y="5779008"/>
            <a:ext cx="41148" cy="521207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779008"/>
            <a:ext cx="11311128" cy="521207"/>
          </a:xfrm>
          <a:prstGeom prst="rect">
            <a:avLst/>
          </a:prstGeom>
          <a:solidFill>
            <a:srgbClr val="F3F6FA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1380744"/>
            <a:ext cx="41148" cy="4242816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3368" y="1380744"/>
            <a:ext cx="5376672" cy="4242816"/>
          </a:xfrm>
          <a:prstGeom prst="rect">
            <a:avLst/>
          </a:prstGeom>
          <a:solidFill>
            <a:srgbClr val="F3EFF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1380744"/>
            <a:ext cx="41148" cy="4242816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1380744"/>
            <a:ext cx="5715000" cy="4242816"/>
          </a:xfrm>
          <a:prstGeom prst="rect">
            <a:avLst/>
          </a:prstGeom>
          <a:solidFill>
            <a:srgbClr val="FCEFF0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药物监测、停药阈值与儿童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更昔洛韦长期用药存在骨髓抑制及肝肾不良反应〔2023 p16〕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13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更昔洛韦实验室监测〔2023 p16〕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用前：血常规、肝肾功能。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诱导期：血常规每隔3 d，肝肾每周。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维持期：血常规每周，肝肾每2~4周。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停药：肝肾恶化；血小板≤25×10</a:t>
            </a:r>
            <a:r>
              <a:rPr lang="en-US" sz="1800" dirty="0">
                <a:solidFill>
                  <a:srgbClr val="1E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/L；粒细胞≤0.5×10</a:t>
            </a:r>
            <a:r>
              <a:rPr lang="en-US" sz="1800" dirty="0">
                <a:solidFill>
                  <a:srgbClr val="1E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/L或降至用前50%。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治疗3周无效：考虑耐药，改膦甲酸钠。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骨髓移植患者慎用。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13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儿童方案〔2023 p16〕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阿昔洛韦诱导：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每千克体重10~15 mg/d，共7 d，分3~5次给药。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更昔洛韦：每千克体重5 mg/次。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诱导2次/d，共14 d。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维持1次/d，共2个月。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儿童给药途径：原文未明确。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5879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妊娠／哺乳专用方案、儿童年龄分档与最大剂量、肾功能调整表、肝肾恶化数值界值：原文未明确。〔2023 p13–19〕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438912" y="5367528"/>
            <a:ext cx="41148" cy="603504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5367528"/>
            <a:ext cx="11311128" cy="603504"/>
          </a:xfrm>
          <a:prstGeom prst="rect">
            <a:avLst/>
          </a:prstGeom>
          <a:solidFill>
            <a:srgbClr val="F3EFF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1380744"/>
            <a:ext cx="41148" cy="3730752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380744"/>
            <a:ext cx="5614416" cy="3730752"/>
          </a:xfrm>
          <a:prstGeom prst="rect">
            <a:avLst/>
          </a:prstGeom>
          <a:solidFill>
            <a:srgbClr val="F3EFF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1380744"/>
            <a:ext cx="41148" cy="3730752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1380744"/>
            <a:ext cx="5394960" cy="3730752"/>
          </a:xfrm>
          <a:prstGeom prst="rect">
            <a:avLst/>
          </a:prstGeom>
          <a:solidFill>
            <a:srgbClr val="FFF4E8"/>
          </a:solidFill>
          <a:ln w="889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6391656"/>
            <a:ext cx="11311128" cy="9144"/>
          </a:xfrm>
          <a:prstGeom prst="rect">
            <a:avLst/>
          </a:prstGeom>
          <a:solidFill>
            <a:srgbClr val="D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77824"/>
            <a:ext cx="12191695" cy="32004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激素、眼压、手术与随访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共识建议与原文缺项分开，避免把常识补写成共识规定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5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952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激素递减〔2023 p17〕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166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前提：在有效抗病毒基础上联合眼部激素。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1%醋酸泼尼松龙或妥布霉素地塞米松滴眼液4次/d；必要时夜用后者眼膏。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羊脂状／尘状KP消退后，每周减少1次，至1次/d后按炎症决定低浓度制剂（氯替泼诺、0.1%氟米龙）。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用药中关注眼压。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5087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952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眼压与移植〔2023 p17〕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63640" y="2011680"/>
            <a:ext cx="53492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眼压升高需降压；恢复正常后减停。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慎用前列腺素类，关注各药禁忌。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严重内皮失代偿需角膜／内皮移植；术前后充分抗病毒。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术后全身抗病毒通常3~6个月，定期血常规及肝肾复查。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5468112"/>
            <a:ext cx="11064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随访：KP／炎症、眼压、IVCM内皮变化；化验频次见第7页。避免劳累、感冒，加强锻炼。〔2023 p14、16–17〕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952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统一眼科复诊间隔、目标眼压、完整禁忌清单及推荐等级：原文未明确。〔2023 p13–19〕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 panose="020F03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ajorFont>
      <a:minorFont>
        <a:latin typeface="Arial" panose="020F05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病毒性角膜内皮炎｜临床速查</dc:title>
  <dc:subject>2023共识原文摘录</dc:subject>
  <dc:creator>临床资料整理</dc:creator>
  <cp:lastModifiedBy>临床资料整理</cp:lastModifiedBy>
  <cp:revision>1</cp:revision>
  <dcterms:created xsi:type="dcterms:W3CDTF">2026-10-11T09:47:12Z</dcterms:created>
  <dcterms:modified xsi:type="dcterms:W3CDTF">2026-10-11T09:47:12Z</dcterms:modified>
</cp:coreProperties>
</file>