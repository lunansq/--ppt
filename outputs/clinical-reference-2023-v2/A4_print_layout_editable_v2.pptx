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此页所有文字与线条均为PowerPoint原生可编辑对象；双击文本框即可修改。</a:t>
            </a:r>
          </a:p>
          <a:p>
            <a:r>
              <a:t>字体：Noto Sans CJK SC；上标</a:t>
            </a:r>
            <a:r>
              <a:rPr>
                <a:latin typeface="Arial"/>
                <a:ea typeface="Arial"/>
                <a:cs typeface="Arial"/>
              </a:rPr>
              <a:t>⁹</a:t>
            </a:r>
            <a:r>
              <a:t>使用Noto Sans。字体未嵌入；其他电脑替换字体时请检查版式。</a:t>
            </a:r>
          </a:p>
          <a:p>
            <a:r>
              <a:t>医学文稿与既有PDF一致；来源年份、页码、阈值、剂量与原文缺项均保留。</a:t>
            </a:r>
          </a:p>
          <a:p>
            <a:r>
              <a:t>打印：100%实际大小，双面长边翻转。文字修改后建议使用导出PDF再检查。</a:t>
            </a:r>
          </a:p>
          <a:p>
            <a:r>
              <a:t>每张A4含4份同内容A6卡，正反面位置一致。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此页所有文字与线条均为PowerPoint原生可编辑对象；双击文本框即可修改。</a:t>
            </a:r>
          </a:p>
          <a:p>
            <a:r>
              <a:t>字体：Noto Sans CJK SC；上标</a:t>
            </a:r>
            <a:r>
              <a:rPr>
                <a:latin typeface="Arial"/>
                <a:ea typeface="Arial"/>
                <a:cs typeface="Arial"/>
              </a:rPr>
              <a:t>⁹</a:t>
            </a:r>
            <a:r>
              <a:t>使用Noto Sans。字体未嵌入；其他电脑替换字体时请检查版式。</a:t>
            </a:r>
          </a:p>
          <a:p>
            <a:r>
              <a:t>医学文稿与既有PDF一致；来源年份、页码、阈值、剂量与原文缺项均保留。</a:t>
            </a:r>
          </a:p>
          <a:p>
            <a:r>
              <a:t>打印：100%实际大小，双面长边翻转。文字修改后建议使用导出PDF再检查。</a:t>
            </a:r>
          </a:p>
          <a:p>
            <a:r>
              <a:t>每张A4含4份同内容A6卡，正反面位置一致。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可编辑卡片 1-1"/>
          <p:cNvGrpSpPr/>
          <p:nvPr/>
        </p:nvGrpSpPr>
        <p:grpSpPr>
          <a:xfrm>
            <a:off x="198000" y="216000"/>
            <a:ext cx="3384000" cy="4944700"/>
            <a:chOff x="198000" y="216000"/>
            <a:chExt cx="3384000" cy="4944700"/>
          </a:xfrm>
        </p:grpSpPr>
        <p:sp>
          <p:nvSpPr>
            <p:cNvPr id="3" name="可编辑文字 00 | 病毒性角膜内皮炎"/>
            <p:cNvSpPr txBox="1"/>
            <p:nvPr/>
          </p:nvSpPr>
          <p:spPr>
            <a:xfrm>
              <a:off x="198000" y="216000"/>
              <a:ext cx="3384000" cy="2311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5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病毒性角膜内皮炎</a:t>
              </a:r>
            </a:p>
          </p:txBody>
        </p:sp>
        <p:sp>
          <p:nvSpPr>
            <p:cNvPr id="4" name="可编辑文字 01 | 2023共识 · 眼科临床速查"/>
            <p:cNvSpPr txBox="1"/>
            <p:nvPr/>
          </p:nvSpPr>
          <p:spPr>
            <a:xfrm>
              <a:off x="198000" y="434440"/>
              <a:ext cx="3384000" cy="1841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2023共识 · 眼科临床速查</a:t>
              </a:r>
            </a:p>
          </p:txBody>
        </p:sp>
        <p:sp>
          <p:nvSpPr>
            <p:cNvPr id="5" name="可编辑文字 02 | 正面 · 诊断与处置"/>
            <p:cNvSpPr txBox="1"/>
            <p:nvPr/>
          </p:nvSpPr>
          <p:spPr>
            <a:xfrm>
              <a:off x="198000" y="624940"/>
              <a:ext cx="3384000" cy="1905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正面 · 诊断与处置</a:t>
              </a:r>
            </a:p>
          </p:txBody>
        </p:sp>
        <p:cxnSp>
          <p:nvCxnSpPr>
            <p:cNvPr id="6" name="卡片分隔线 03"/>
            <p:cNvCxnSpPr/>
            <p:nvPr/>
          </p:nvCxnSpPr>
          <p:spPr>
            <a:xfrm>
              <a:off x="198000" y="802740"/>
              <a:ext cx="3384000" cy="0"/>
            </a:xfrm>
            <a:prstGeom prst="line">
              <a:avLst/>
            </a:prstGeom>
            <a:ln w="762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可编辑文字 04 | 诊断与病原检查〔2023 p14–15〕"/>
            <p:cNvSpPr txBox="1"/>
            <p:nvPr/>
          </p:nvSpPr>
          <p:spPr>
            <a:xfrm>
              <a:off x="198000" y="8789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诊断与病原检查〔2023 p14–15〕</a:t>
              </a:r>
            </a:p>
          </p:txBody>
        </p:sp>
        <p:sp>
          <p:nvSpPr>
            <p:cNvPr id="8" name="可编辑文字 05 | 临床：依据1（急性起病；感染史/免疫下降诱因可有）＋3（"/>
            <p:cNvSpPr txBox="1"/>
            <p:nvPr/>
          </p:nvSpPr>
          <p:spPr>
            <a:xfrm>
              <a:off x="198000" y="105674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临床：依据1（急性起病；感染史/免疫下降诱因可有）＋3（基质水肿、水肿区KP、后弹力层皱褶）。病因：依据1、3及4或5。4为IVCM，猫头鹰眼对应CMV，非任意IVCM异常即可定病原；5为PCR阳性。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PCR阴性不能排除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，必要时补充房水特异抗体/G-W。</a:t>
              </a:r>
            </a:p>
          </p:txBody>
        </p:sp>
        <p:sp>
          <p:nvSpPr>
            <p:cNvPr id="9" name="可编辑文字 06 | 重点风险与鉴别〔2023 p15–16〕"/>
            <p:cNvSpPr txBox="1"/>
            <p:nvPr/>
          </p:nvSpPr>
          <p:spPr>
            <a:xfrm>
              <a:off x="198000" y="18314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重点风险与鉴别〔2023 p15–16〕</a:t>
              </a:r>
            </a:p>
          </p:txBody>
        </p:sp>
        <p:sp>
          <p:nvSpPr>
            <p:cNvPr id="10" name="可编辑文字 07 | 线状型内皮丢失最快、易失代偿；关注眼压和内皮变化。鉴别前"/>
            <p:cNvSpPr txBox="1"/>
            <p:nvPr/>
          </p:nvSpPr>
          <p:spPr>
            <a:xfrm>
              <a:off x="198000" y="2009240"/>
              <a:ext cx="3155400" cy="6070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线状型内皮丢失最快、易失代偿；关注眼压和内皮变化。鉴别前葡萄膜炎、基质炎、Fuchs/Chandler、移植排斥及急闭。正式危险分层、PCR和眼压处置阈值：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  <p:sp>
          <p:nvSpPr>
            <p:cNvPr id="11" name="可编辑文字 08 | 病原与局部抗病毒〔2023 p16–17〕"/>
            <p:cNvSpPr txBox="1"/>
            <p:nvPr/>
          </p:nvSpPr>
          <p:spPr>
            <a:xfrm>
              <a:off x="198000" y="264170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病原与局部抗病毒〔2023 p16–17〕</a:t>
              </a:r>
            </a:p>
          </p:txBody>
        </p:sp>
        <p:sp>
          <p:nvSpPr>
            <p:cNvPr id="12" name="可编辑文字 09 | HSV：阿昔洛韦或更昔洛韦；CMV：首选更昔洛韦，阿昔洛"/>
            <p:cNvSpPr txBox="1"/>
            <p:nvPr/>
          </p:nvSpPr>
          <p:spPr>
            <a:xfrm>
              <a:off x="198000" y="281950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HSV：阿昔洛韦或更昔洛韦；CMV：首选更昔洛韦，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阿昔洛韦无效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；VZV：全身更昔洛韦/泛昔洛韦或更高剂量阿昔洛韦（确切量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），局部更昔洛韦。0.15%凝胶或0.1%更昔洛韦滴眼液4~6次/d；痊愈后2次/d，2~4周。</a:t>
              </a:r>
            </a:p>
          </p:txBody>
        </p:sp>
        <p:sp>
          <p:nvSpPr>
            <p:cNvPr id="13" name="可编辑文字 10 | 激素、眼压、手术〔2023 p17〕"/>
            <p:cNvSpPr txBox="1"/>
            <p:nvPr/>
          </p:nvSpPr>
          <p:spPr>
            <a:xfrm>
              <a:off x="198000" y="359420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激素、眼压、手术〔2023 p17〕</a:t>
              </a:r>
            </a:p>
          </p:txBody>
        </p:sp>
        <p:sp>
          <p:nvSpPr>
            <p:cNvPr id="14" name="可编辑文字 11 | 在有效抗病毒基础上联合：1%醋酸泼尼松龙或妥布霉素地塞米"/>
            <p:cNvSpPr txBox="1"/>
            <p:nvPr/>
          </p:nvSpPr>
          <p:spPr>
            <a:xfrm>
              <a:off x="198000" y="377200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在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有效抗病毒基础上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联合：1%醋酸泼尼松龙或妥布霉素地塞米松滴眼液4次/d。羊脂/尘状KP消退后，每周减1次，至1次/d后按炎症调整。关注眼压；升高需降压，正常后减停，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慎用前列腺素类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。严重失代偿评估移植；术前后充分抗病毒，术后全身用药通常3~6个月。</a:t>
              </a:r>
            </a:p>
          </p:txBody>
        </p:sp>
        <p:cxnSp>
          <p:nvCxnSpPr>
            <p:cNvPr id="15" name="卡片分隔线 12"/>
            <p:cNvCxnSpPr/>
            <p:nvPr/>
          </p:nvCxnSpPr>
          <p:spPr>
            <a:xfrm>
              <a:off x="198000" y="4660320"/>
              <a:ext cx="3384000" cy="0"/>
            </a:xfrm>
            <a:prstGeom prst="line">
              <a:avLst/>
            </a:prstGeom>
            <a:ln w="571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可编辑文字 13 | p为期刊页码（PDF页码=p−12）。剂量为2023原文"/>
            <p:cNvSpPr txBox="1"/>
            <p:nvPr/>
          </p:nvSpPr>
          <p:spPr>
            <a:xfrm>
              <a:off x="198000" y="471112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p为期刊页码（PDF页码=p−12）。剂量为2023原文摘录，开药前核</a:t>
              </a:r>
            </a:p>
          </p:txBody>
        </p:sp>
        <p:sp>
          <p:nvSpPr>
            <p:cNvPr id="17" name="可编辑文字 14 | 对。完整证据与研究区别见提取表。"/>
            <p:cNvSpPr txBox="1"/>
            <p:nvPr/>
          </p:nvSpPr>
          <p:spPr>
            <a:xfrm>
              <a:off x="198000" y="484828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对。完整证据与研究区别见提取表。</a:t>
              </a:r>
            </a:p>
          </p:txBody>
        </p:sp>
        <p:sp>
          <p:nvSpPr>
            <p:cNvPr id="18" name="可编辑文字 15 | 打印：100% 原尺寸 · 双面长边翻转"/>
            <p:cNvSpPr txBox="1"/>
            <p:nvPr/>
          </p:nvSpPr>
          <p:spPr>
            <a:xfrm>
              <a:off x="198000" y="498544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打印：100% 原尺寸 · 双面长边翻转</a:t>
              </a:r>
            </a:p>
          </p:txBody>
        </p:sp>
      </p:grpSp>
      <p:grpSp>
        <p:nvGrpSpPr>
          <p:cNvPr id="19" name="可编辑卡片 1-2"/>
          <p:cNvGrpSpPr/>
          <p:nvPr/>
        </p:nvGrpSpPr>
        <p:grpSpPr>
          <a:xfrm>
            <a:off x="3978000" y="216000"/>
            <a:ext cx="3384000" cy="4944700"/>
            <a:chOff x="3978000" y="216000"/>
            <a:chExt cx="3384000" cy="4944700"/>
          </a:xfrm>
        </p:grpSpPr>
        <p:sp>
          <p:nvSpPr>
            <p:cNvPr id="20" name="可编辑文字 00 | 病毒性角膜内皮炎"/>
            <p:cNvSpPr txBox="1"/>
            <p:nvPr/>
          </p:nvSpPr>
          <p:spPr>
            <a:xfrm>
              <a:off x="3978000" y="216000"/>
              <a:ext cx="3384000" cy="2311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5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病毒性角膜内皮炎</a:t>
              </a:r>
            </a:p>
          </p:txBody>
        </p:sp>
        <p:sp>
          <p:nvSpPr>
            <p:cNvPr id="21" name="可编辑文字 01 | 2023共识 · 眼科临床速查"/>
            <p:cNvSpPr txBox="1"/>
            <p:nvPr/>
          </p:nvSpPr>
          <p:spPr>
            <a:xfrm>
              <a:off x="3978000" y="434440"/>
              <a:ext cx="3384000" cy="1841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2023共识 · 眼科临床速查</a:t>
              </a:r>
            </a:p>
          </p:txBody>
        </p:sp>
        <p:sp>
          <p:nvSpPr>
            <p:cNvPr id="22" name="可编辑文字 02 | 正面 · 诊断与处置"/>
            <p:cNvSpPr txBox="1"/>
            <p:nvPr/>
          </p:nvSpPr>
          <p:spPr>
            <a:xfrm>
              <a:off x="3978000" y="624940"/>
              <a:ext cx="3384000" cy="1905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正面 · 诊断与处置</a:t>
              </a:r>
            </a:p>
          </p:txBody>
        </p:sp>
        <p:cxnSp>
          <p:nvCxnSpPr>
            <p:cNvPr id="23" name="卡片分隔线 03"/>
            <p:cNvCxnSpPr/>
            <p:nvPr/>
          </p:nvCxnSpPr>
          <p:spPr>
            <a:xfrm>
              <a:off x="3978000" y="802740"/>
              <a:ext cx="3384000" cy="0"/>
            </a:xfrm>
            <a:prstGeom prst="line">
              <a:avLst/>
            </a:prstGeom>
            <a:ln w="762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可编辑文字 04 | 诊断与病原检查〔2023 p14–15〕"/>
            <p:cNvSpPr txBox="1"/>
            <p:nvPr/>
          </p:nvSpPr>
          <p:spPr>
            <a:xfrm>
              <a:off x="3978000" y="8789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诊断与病原检查〔2023 p14–15〕</a:t>
              </a:r>
            </a:p>
          </p:txBody>
        </p:sp>
        <p:sp>
          <p:nvSpPr>
            <p:cNvPr id="25" name="可编辑文字 05 | 临床：依据1（急性起病；感染史/免疫下降诱因可有）＋3（"/>
            <p:cNvSpPr txBox="1"/>
            <p:nvPr/>
          </p:nvSpPr>
          <p:spPr>
            <a:xfrm>
              <a:off x="3978000" y="105674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临床：依据1（急性起病；感染史/免疫下降诱因可有）＋3（基质水肿、水肿区KP、后弹力层皱褶）。病因：依据1、3及4或5。4为IVCM，猫头鹰眼对应CMV，非任意IVCM异常即可定病原；5为PCR阳性。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PCR阴性不能排除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，必要时补充房水特异抗体/G-W。</a:t>
              </a:r>
            </a:p>
          </p:txBody>
        </p:sp>
        <p:sp>
          <p:nvSpPr>
            <p:cNvPr id="26" name="可编辑文字 06 | 重点风险与鉴别〔2023 p15–16〕"/>
            <p:cNvSpPr txBox="1"/>
            <p:nvPr/>
          </p:nvSpPr>
          <p:spPr>
            <a:xfrm>
              <a:off x="3978000" y="18314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重点风险与鉴别〔2023 p15–16〕</a:t>
              </a:r>
            </a:p>
          </p:txBody>
        </p:sp>
        <p:sp>
          <p:nvSpPr>
            <p:cNvPr id="27" name="可编辑文字 07 | 线状型内皮丢失最快、易失代偿；关注眼压和内皮变化。鉴别前"/>
            <p:cNvSpPr txBox="1"/>
            <p:nvPr/>
          </p:nvSpPr>
          <p:spPr>
            <a:xfrm>
              <a:off x="3978000" y="2009240"/>
              <a:ext cx="3155400" cy="6070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线状型内皮丢失最快、易失代偿；关注眼压和内皮变化。鉴别前葡萄膜炎、基质炎、Fuchs/Chandler、移植排斥及急闭。正式危险分层、PCR和眼压处置阈值：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  <p:sp>
          <p:nvSpPr>
            <p:cNvPr id="28" name="可编辑文字 08 | 病原与局部抗病毒〔2023 p16–17〕"/>
            <p:cNvSpPr txBox="1"/>
            <p:nvPr/>
          </p:nvSpPr>
          <p:spPr>
            <a:xfrm>
              <a:off x="3978000" y="264170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病原与局部抗病毒〔2023 p16–17〕</a:t>
              </a:r>
            </a:p>
          </p:txBody>
        </p:sp>
        <p:sp>
          <p:nvSpPr>
            <p:cNvPr id="29" name="可编辑文字 09 | HSV：阿昔洛韦或更昔洛韦；CMV：首选更昔洛韦，阿昔洛"/>
            <p:cNvSpPr txBox="1"/>
            <p:nvPr/>
          </p:nvSpPr>
          <p:spPr>
            <a:xfrm>
              <a:off x="3978000" y="281950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HSV：阿昔洛韦或更昔洛韦；CMV：首选更昔洛韦，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阿昔洛韦无效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；VZV：全身更昔洛韦/泛昔洛韦或更高剂量阿昔洛韦（确切量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），局部更昔洛韦。0.15%凝胶或0.1%更昔洛韦滴眼液4~6次/d；痊愈后2次/d，2~4周。</a:t>
              </a:r>
            </a:p>
          </p:txBody>
        </p:sp>
        <p:sp>
          <p:nvSpPr>
            <p:cNvPr id="30" name="可编辑文字 10 | 激素、眼压、手术〔2023 p17〕"/>
            <p:cNvSpPr txBox="1"/>
            <p:nvPr/>
          </p:nvSpPr>
          <p:spPr>
            <a:xfrm>
              <a:off x="3978000" y="359420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激素、眼压、手术〔2023 p17〕</a:t>
              </a:r>
            </a:p>
          </p:txBody>
        </p:sp>
        <p:sp>
          <p:nvSpPr>
            <p:cNvPr id="31" name="可编辑文字 11 | 在有效抗病毒基础上联合：1%醋酸泼尼松龙或妥布霉素地塞米"/>
            <p:cNvSpPr txBox="1"/>
            <p:nvPr/>
          </p:nvSpPr>
          <p:spPr>
            <a:xfrm>
              <a:off x="3978000" y="377200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在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有效抗病毒基础上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联合：1%醋酸泼尼松龙或妥布霉素地塞米松滴眼液4次/d。羊脂/尘状KP消退后，每周减1次，至1次/d后按炎症调整。关注眼压；升高需降压，正常后减停，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慎用前列腺素类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。严重失代偿评估移植；术前后充分抗病毒，术后全身用药通常3~6个月。</a:t>
              </a:r>
            </a:p>
          </p:txBody>
        </p:sp>
        <p:cxnSp>
          <p:nvCxnSpPr>
            <p:cNvPr id="32" name="卡片分隔线 12"/>
            <p:cNvCxnSpPr/>
            <p:nvPr/>
          </p:nvCxnSpPr>
          <p:spPr>
            <a:xfrm>
              <a:off x="3978000" y="4660320"/>
              <a:ext cx="3384000" cy="0"/>
            </a:xfrm>
            <a:prstGeom prst="line">
              <a:avLst/>
            </a:prstGeom>
            <a:ln w="571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可编辑文字 13 | p为期刊页码（PDF页码=p−12）。剂量为2023原文"/>
            <p:cNvSpPr txBox="1"/>
            <p:nvPr/>
          </p:nvSpPr>
          <p:spPr>
            <a:xfrm>
              <a:off x="3978000" y="471112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p为期刊页码（PDF页码=p−12）。剂量为2023原文摘录，开药前核</a:t>
              </a:r>
            </a:p>
          </p:txBody>
        </p:sp>
        <p:sp>
          <p:nvSpPr>
            <p:cNvPr id="34" name="可编辑文字 14 | 对。完整证据与研究区别见提取表。"/>
            <p:cNvSpPr txBox="1"/>
            <p:nvPr/>
          </p:nvSpPr>
          <p:spPr>
            <a:xfrm>
              <a:off x="3978000" y="484828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对。完整证据与研究区别见提取表。</a:t>
              </a:r>
            </a:p>
          </p:txBody>
        </p:sp>
        <p:sp>
          <p:nvSpPr>
            <p:cNvPr id="35" name="可编辑文字 15 | 打印：100% 原尺寸 · 双面长边翻转"/>
            <p:cNvSpPr txBox="1"/>
            <p:nvPr/>
          </p:nvSpPr>
          <p:spPr>
            <a:xfrm>
              <a:off x="3978000" y="498544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打印：100% 原尺寸 · 双面长边翻转</a:t>
              </a:r>
            </a:p>
          </p:txBody>
        </p:sp>
      </p:grpSp>
      <p:grpSp>
        <p:nvGrpSpPr>
          <p:cNvPr id="36" name="可编辑卡片 2-1"/>
          <p:cNvGrpSpPr/>
          <p:nvPr/>
        </p:nvGrpSpPr>
        <p:grpSpPr>
          <a:xfrm>
            <a:off x="198000" y="5544000"/>
            <a:ext cx="3384000" cy="4944700"/>
            <a:chOff x="198000" y="5544000"/>
            <a:chExt cx="3384000" cy="4944700"/>
          </a:xfrm>
        </p:grpSpPr>
        <p:sp>
          <p:nvSpPr>
            <p:cNvPr id="37" name="可编辑文字 00 | 病毒性角膜内皮炎"/>
            <p:cNvSpPr txBox="1"/>
            <p:nvPr/>
          </p:nvSpPr>
          <p:spPr>
            <a:xfrm>
              <a:off x="198000" y="5544000"/>
              <a:ext cx="3384000" cy="2311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5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病毒性角膜内皮炎</a:t>
              </a:r>
            </a:p>
          </p:txBody>
        </p:sp>
        <p:sp>
          <p:nvSpPr>
            <p:cNvPr id="38" name="可编辑文字 01 | 2023共识 · 眼科临床速查"/>
            <p:cNvSpPr txBox="1"/>
            <p:nvPr/>
          </p:nvSpPr>
          <p:spPr>
            <a:xfrm>
              <a:off x="198000" y="5762440"/>
              <a:ext cx="3384000" cy="1841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2023共识 · 眼科临床速查</a:t>
              </a:r>
            </a:p>
          </p:txBody>
        </p:sp>
        <p:sp>
          <p:nvSpPr>
            <p:cNvPr id="39" name="可编辑文字 02 | 正面 · 诊断与处置"/>
            <p:cNvSpPr txBox="1"/>
            <p:nvPr/>
          </p:nvSpPr>
          <p:spPr>
            <a:xfrm>
              <a:off x="198000" y="5952940"/>
              <a:ext cx="3384000" cy="1905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正面 · 诊断与处置</a:t>
              </a:r>
            </a:p>
          </p:txBody>
        </p:sp>
        <p:cxnSp>
          <p:nvCxnSpPr>
            <p:cNvPr id="40" name="卡片分隔线 03"/>
            <p:cNvCxnSpPr/>
            <p:nvPr/>
          </p:nvCxnSpPr>
          <p:spPr>
            <a:xfrm>
              <a:off x="198000" y="6130740"/>
              <a:ext cx="3384000" cy="0"/>
            </a:xfrm>
            <a:prstGeom prst="line">
              <a:avLst/>
            </a:prstGeom>
            <a:ln w="762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可编辑文字 04 | 诊断与病原检查〔2023 p14–15〕"/>
            <p:cNvSpPr txBox="1"/>
            <p:nvPr/>
          </p:nvSpPr>
          <p:spPr>
            <a:xfrm>
              <a:off x="198000" y="62069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诊断与病原检查〔2023 p14–15〕</a:t>
              </a:r>
            </a:p>
          </p:txBody>
        </p:sp>
        <p:sp>
          <p:nvSpPr>
            <p:cNvPr id="42" name="可编辑文字 05 | 临床：依据1（急性起病；感染史/免疫下降诱因可有）＋3（"/>
            <p:cNvSpPr txBox="1"/>
            <p:nvPr/>
          </p:nvSpPr>
          <p:spPr>
            <a:xfrm>
              <a:off x="198000" y="638474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临床：依据1（急性起病；感染史/免疫下降诱因可有）＋3（基质水肿、水肿区KP、后弹力层皱褶）。病因：依据1、3及4或5。4为IVCM，猫头鹰眼对应CMV，非任意IVCM异常即可定病原；5为PCR阳性。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PCR阴性不能排除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，必要时补充房水特异抗体/G-W。</a:t>
              </a:r>
            </a:p>
          </p:txBody>
        </p:sp>
        <p:sp>
          <p:nvSpPr>
            <p:cNvPr id="43" name="可编辑文字 06 | 重点风险与鉴别〔2023 p15–16〕"/>
            <p:cNvSpPr txBox="1"/>
            <p:nvPr/>
          </p:nvSpPr>
          <p:spPr>
            <a:xfrm>
              <a:off x="198000" y="71594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重点风险与鉴别〔2023 p15–16〕</a:t>
              </a:r>
            </a:p>
          </p:txBody>
        </p:sp>
        <p:sp>
          <p:nvSpPr>
            <p:cNvPr id="44" name="可编辑文字 07 | 线状型内皮丢失最快、易失代偿；关注眼压和内皮变化。鉴别前"/>
            <p:cNvSpPr txBox="1"/>
            <p:nvPr/>
          </p:nvSpPr>
          <p:spPr>
            <a:xfrm>
              <a:off x="198000" y="7337240"/>
              <a:ext cx="3155400" cy="6070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线状型内皮丢失最快、易失代偿；关注眼压和内皮变化。鉴别前葡萄膜炎、基质炎、Fuchs/Chandler、移植排斥及急闭。正式危险分层、PCR和眼压处置阈值：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  <p:sp>
          <p:nvSpPr>
            <p:cNvPr id="45" name="可编辑文字 08 | 病原与局部抗病毒〔2023 p16–17〕"/>
            <p:cNvSpPr txBox="1"/>
            <p:nvPr/>
          </p:nvSpPr>
          <p:spPr>
            <a:xfrm>
              <a:off x="198000" y="796970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病原与局部抗病毒〔2023 p16–17〕</a:t>
              </a:r>
            </a:p>
          </p:txBody>
        </p:sp>
        <p:sp>
          <p:nvSpPr>
            <p:cNvPr id="46" name="可编辑文字 09 | HSV：阿昔洛韦或更昔洛韦；CMV：首选更昔洛韦，阿昔洛"/>
            <p:cNvSpPr txBox="1"/>
            <p:nvPr/>
          </p:nvSpPr>
          <p:spPr>
            <a:xfrm>
              <a:off x="198000" y="814750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HSV：阿昔洛韦或更昔洛韦；CMV：首选更昔洛韦，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阿昔洛韦无效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；VZV：全身更昔洛韦/泛昔洛韦或更高剂量阿昔洛韦（确切量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），局部更昔洛韦。0.15%凝胶或0.1%更昔洛韦滴眼液4~6次/d；痊愈后2次/d，2~4周。</a:t>
              </a:r>
            </a:p>
          </p:txBody>
        </p:sp>
        <p:sp>
          <p:nvSpPr>
            <p:cNvPr id="47" name="可编辑文字 10 | 激素、眼压、手术〔2023 p17〕"/>
            <p:cNvSpPr txBox="1"/>
            <p:nvPr/>
          </p:nvSpPr>
          <p:spPr>
            <a:xfrm>
              <a:off x="198000" y="892220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激素、眼压、手术〔2023 p17〕</a:t>
              </a:r>
            </a:p>
          </p:txBody>
        </p:sp>
        <p:sp>
          <p:nvSpPr>
            <p:cNvPr id="48" name="可编辑文字 11 | 在有效抗病毒基础上联合：1%醋酸泼尼松龙或妥布霉素地塞米"/>
            <p:cNvSpPr txBox="1"/>
            <p:nvPr/>
          </p:nvSpPr>
          <p:spPr>
            <a:xfrm>
              <a:off x="198000" y="910000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在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有效抗病毒基础上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联合：1%醋酸泼尼松龙或妥布霉素地塞米松滴眼液4次/d。羊脂/尘状KP消退后，每周减1次，至1次/d后按炎症调整。关注眼压；升高需降压，正常后减停，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慎用前列腺素类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。严重失代偿评估移植；术前后充分抗病毒，术后全身用药通常3~6个月。</a:t>
              </a:r>
            </a:p>
          </p:txBody>
        </p:sp>
        <p:cxnSp>
          <p:nvCxnSpPr>
            <p:cNvPr id="49" name="卡片分隔线 12"/>
            <p:cNvCxnSpPr/>
            <p:nvPr/>
          </p:nvCxnSpPr>
          <p:spPr>
            <a:xfrm>
              <a:off x="198000" y="9988320"/>
              <a:ext cx="3384000" cy="0"/>
            </a:xfrm>
            <a:prstGeom prst="line">
              <a:avLst/>
            </a:prstGeom>
            <a:ln w="571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可编辑文字 13 | p为期刊页码（PDF页码=p−12）。剂量为2023原文"/>
            <p:cNvSpPr txBox="1"/>
            <p:nvPr/>
          </p:nvSpPr>
          <p:spPr>
            <a:xfrm>
              <a:off x="198000" y="1003912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p为期刊页码（PDF页码=p−12）。剂量为2023原文摘录，开药前核</a:t>
              </a:r>
            </a:p>
          </p:txBody>
        </p:sp>
        <p:sp>
          <p:nvSpPr>
            <p:cNvPr id="51" name="可编辑文字 14 | 对。完整证据与研究区别见提取表。"/>
            <p:cNvSpPr txBox="1"/>
            <p:nvPr/>
          </p:nvSpPr>
          <p:spPr>
            <a:xfrm>
              <a:off x="198000" y="1017628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对。完整证据与研究区别见提取表。</a:t>
              </a:r>
            </a:p>
          </p:txBody>
        </p:sp>
        <p:sp>
          <p:nvSpPr>
            <p:cNvPr id="52" name="可编辑文字 15 | 打印：100% 原尺寸 · 双面长边翻转"/>
            <p:cNvSpPr txBox="1"/>
            <p:nvPr/>
          </p:nvSpPr>
          <p:spPr>
            <a:xfrm>
              <a:off x="198000" y="1031344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打印：100% 原尺寸 · 双面长边翻转</a:t>
              </a:r>
            </a:p>
          </p:txBody>
        </p:sp>
      </p:grpSp>
      <p:grpSp>
        <p:nvGrpSpPr>
          <p:cNvPr id="53" name="可编辑卡片 2-2"/>
          <p:cNvGrpSpPr/>
          <p:nvPr/>
        </p:nvGrpSpPr>
        <p:grpSpPr>
          <a:xfrm>
            <a:off x="3978000" y="5544000"/>
            <a:ext cx="3384000" cy="4944700"/>
            <a:chOff x="3978000" y="5544000"/>
            <a:chExt cx="3384000" cy="4944700"/>
          </a:xfrm>
        </p:grpSpPr>
        <p:sp>
          <p:nvSpPr>
            <p:cNvPr id="54" name="可编辑文字 00 | 病毒性角膜内皮炎"/>
            <p:cNvSpPr txBox="1"/>
            <p:nvPr/>
          </p:nvSpPr>
          <p:spPr>
            <a:xfrm>
              <a:off x="3978000" y="5544000"/>
              <a:ext cx="3384000" cy="2311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5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病毒性角膜内皮炎</a:t>
              </a:r>
            </a:p>
          </p:txBody>
        </p:sp>
        <p:sp>
          <p:nvSpPr>
            <p:cNvPr id="55" name="可编辑文字 01 | 2023共识 · 眼科临床速查"/>
            <p:cNvSpPr txBox="1"/>
            <p:nvPr/>
          </p:nvSpPr>
          <p:spPr>
            <a:xfrm>
              <a:off x="3978000" y="5762440"/>
              <a:ext cx="3384000" cy="1841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2023共识 · 眼科临床速查</a:t>
              </a:r>
            </a:p>
          </p:txBody>
        </p:sp>
        <p:sp>
          <p:nvSpPr>
            <p:cNvPr id="56" name="可编辑文字 02 | 正面 · 诊断与处置"/>
            <p:cNvSpPr txBox="1"/>
            <p:nvPr/>
          </p:nvSpPr>
          <p:spPr>
            <a:xfrm>
              <a:off x="3978000" y="5952940"/>
              <a:ext cx="3384000" cy="1905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正面 · 诊断与处置</a:t>
              </a:r>
            </a:p>
          </p:txBody>
        </p:sp>
        <p:cxnSp>
          <p:nvCxnSpPr>
            <p:cNvPr id="57" name="卡片分隔线 03"/>
            <p:cNvCxnSpPr/>
            <p:nvPr/>
          </p:nvCxnSpPr>
          <p:spPr>
            <a:xfrm>
              <a:off x="3978000" y="6130740"/>
              <a:ext cx="3384000" cy="0"/>
            </a:xfrm>
            <a:prstGeom prst="line">
              <a:avLst/>
            </a:prstGeom>
            <a:ln w="762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可编辑文字 04 | 诊断与病原检查〔2023 p14–15〕"/>
            <p:cNvSpPr txBox="1"/>
            <p:nvPr/>
          </p:nvSpPr>
          <p:spPr>
            <a:xfrm>
              <a:off x="3978000" y="62069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诊断与病原检查〔2023 p14–15〕</a:t>
              </a:r>
            </a:p>
          </p:txBody>
        </p:sp>
        <p:sp>
          <p:nvSpPr>
            <p:cNvPr id="59" name="可编辑文字 05 | 临床：依据1（急性起病；感染史/免疫下降诱因可有）＋3（"/>
            <p:cNvSpPr txBox="1"/>
            <p:nvPr/>
          </p:nvSpPr>
          <p:spPr>
            <a:xfrm>
              <a:off x="3978000" y="638474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临床：依据1（急性起病；感染史/免疫下降诱因可有）＋3（基质水肿、水肿区KP、后弹力层皱褶）。病因：依据1、3及4或5。4为IVCM，猫头鹰眼对应CMV，非任意IVCM异常即可定病原；5为PCR阳性。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PCR阴性不能排除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，必要时补充房水特异抗体/G-W。</a:t>
              </a:r>
            </a:p>
          </p:txBody>
        </p:sp>
        <p:sp>
          <p:nvSpPr>
            <p:cNvPr id="60" name="可编辑文字 06 | 重点风险与鉴别〔2023 p15–16〕"/>
            <p:cNvSpPr txBox="1"/>
            <p:nvPr/>
          </p:nvSpPr>
          <p:spPr>
            <a:xfrm>
              <a:off x="3978000" y="71594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重点风险与鉴别〔2023 p15–16〕</a:t>
              </a:r>
            </a:p>
          </p:txBody>
        </p:sp>
        <p:sp>
          <p:nvSpPr>
            <p:cNvPr id="61" name="可编辑文字 07 | 线状型内皮丢失最快、易失代偿；关注眼压和内皮变化。鉴别前"/>
            <p:cNvSpPr txBox="1"/>
            <p:nvPr/>
          </p:nvSpPr>
          <p:spPr>
            <a:xfrm>
              <a:off x="3978000" y="7337240"/>
              <a:ext cx="3155400" cy="6070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线状型内皮丢失最快、易失代偿；关注眼压和内皮变化。鉴别前葡萄膜炎、基质炎、Fuchs/Chandler、移植排斥及急闭。正式危险分层、PCR和眼压处置阈值：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  <p:sp>
          <p:nvSpPr>
            <p:cNvPr id="62" name="可编辑文字 08 | 病原与局部抗病毒〔2023 p16–17〕"/>
            <p:cNvSpPr txBox="1"/>
            <p:nvPr/>
          </p:nvSpPr>
          <p:spPr>
            <a:xfrm>
              <a:off x="3978000" y="796970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病原与局部抗病毒〔2023 p16–17〕</a:t>
              </a:r>
            </a:p>
          </p:txBody>
        </p:sp>
        <p:sp>
          <p:nvSpPr>
            <p:cNvPr id="63" name="可编辑文字 09 | HSV：阿昔洛韦或更昔洛韦；CMV：首选更昔洛韦，阿昔洛"/>
            <p:cNvSpPr txBox="1"/>
            <p:nvPr/>
          </p:nvSpPr>
          <p:spPr>
            <a:xfrm>
              <a:off x="3978000" y="814750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HSV：阿昔洛韦或更昔洛韦；CMV：首选更昔洛韦，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阿昔洛韦无效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；VZV：全身更昔洛韦/泛昔洛韦或更高剂量阿昔洛韦（确切量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），局部更昔洛韦。0.15%凝胶或0.1%更昔洛韦滴眼液4~6次/d；痊愈后2次/d，2~4周。</a:t>
              </a:r>
            </a:p>
          </p:txBody>
        </p:sp>
        <p:sp>
          <p:nvSpPr>
            <p:cNvPr id="64" name="可编辑文字 10 | 激素、眼压、手术〔2023 p17〕"/>
            <p:cNvSpPr txBox="1"/>
            <p:nvPr/>
          </p:nvSpPr>
          <p:spPr>
            <a:xfrm>
              <a:off x="3978000" y="892220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激素、眼压、手术〔2023 p17〕</a:t>
              </a:r>
            </a:p>
          </p:txBody>
        </p:sp>
        <p:sp>
          <p:nvSpPr>
            <p:cNvPr id="65" name="可编辑文字 11 | 在有效抗病毒基础上联合：1%醋酸泼尼松龙或妥布霉素地塞米"/>
            <p:cNvSpPr txBox="1"/>
            <p:nvPr/>
          </p:nvSpPr>
          <p:spPr>
            <a:xfrm>
              <a:off x="3978000" y="910000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在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有效抗病毒基础上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联合：1%醋酸泼尼松龙或妥布霉素地塞米松滴眼液4次/d。羊脂/尘状KP消退后，每周减1次，至1次/d后按炎症调整。关注眼压；升高需降压，正常后减停，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慎用前列腺素类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。严重失代偿评估移植；术前后充分抗病毒，术后全身用药通常3~6个月。</a:t>
              </a:r>
            </a:p>
          </p:txBody>
        </p:sp>
        <p:cxnSp>
          <p:nvCxnSpPr>
            <p:cNvPr id="66" name="卡片分隔线 12"/>
            <p:cNvCxnSpPr/>
            <p:nvPr/>
          </p:nvCxnSpPr>
          <p:spPr>
            <a:xfrm>
              <a:off x="3978000" y="9988320"/>
              <a:ext cx="3384000" cy="0"/>
            </a:xfrm>
            <a:prstGeom prst="line">
              <a:avLst/>
            </a:prstGeom>
            <a:ln w="571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可编辑文字 13 | p为期刊页码（PDF页码=p−12）。剂量为2023原文"/>
            <p:cNvSpPr txBox="1"/>
            <p:nvPr/>
          </p:nvSpPr>
          <p:spPr>
            <a:xfrm>
              <a:off x="3978000" y="1003912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p为期刊页码（PDF页码=p−12）。剂量为2023原文摘录，开药前核</a:t>
              </a:r>
            </a:p>
          </p:txBody>
        </p:sp>
        <p:sp>
          <p:nvSpPr>
            <p:cNvPr id="68" name="可编辑文字 14 | 对。完整证据与研究区别见提取表。"/>
            <p:cNvSpPr txBox="1"/>
            <p:nvPr/>
          </p:nvSpPr>
          <p:spPr>
            <a:xfrm>
              <a:off x="3978000" y="1017628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对。完整证据与研究区别见提取表。</a:t>
              </a:r>
            </a:p>
          </p:txBody>
        </p:sp>
        <p:sp>
          <p:nvSpPr>
            <p:cNvPr id="69" name="可编辑文字 15 | 打印：100% 原尺寸 · 双面长边翻转"/>
            <p:cNvSpPr txBox="1"/>
            <p:nvPr/>
          </p:nvSpPr>
          <p:spPr>
            <a:xfrm>
              <a:off x="3978000" y="1031344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打印：100% 原尺寸 · 双面长边翻转</a:t>
              </a:r>
            </a:p>
          </p:txBody>
        </p:sp>
      </p:grpSp>
      <p:cxnSp>
        <p:nvCxnSpPr>
          <p:cNvPr id="70" name="中间竖向裁切线"/>
          <p:cNvCxnSpPr/>
          <p:nvPr/>
        </p:nvCxnSpPr>
        <p:spPr>
          <a:xfrm>
            <a:off x="3780000" y="0"/>
            <a:ext cx="0" cy="10692000"/>
          </a:xfrm>
          <a:prstGeom prst="line">
            <a:avLst/>
          </a:prstGeom>
          <a:ln w="317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横向裁切线 1"/>
          <p:cNvCxnSpPr/>
          <p:nvPr/>
        </p:nvCxnSpPr>
        <p:spPr>
          <a:xfrm>
            <a:off x="0" y="18000"/>
            <a:ext cx="7560000" cy="0"/>
          </a:xfrm>
          <a:prstGeom prst="line">
            <a:avLst/>
          </a:prstGeom>
          <a:ln w="317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横向裁切线 2"/>
          <p:cNvCxnSpPr/>
          <p:nvPr/>
        </p:nvCxnSpPr>
        <p:spPr>
          <a:xfrm>
            <a:off x="0" y="5346000"/>
            <a:ext cx="7560000" cy="0"/>
          </a:xfrm>
          <a:prstGeom prst="line">
            <a:avLst/>
          </a:prstGeom>
          <a:ln w="317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横向裁切线 3"/>
          <p:cNvCxnSpPr/>
          <p:nvPr/>
        </p:nvCxnSpPr>
        <p:spPr>
          <a:xfrm>
            <a:off x="0" y="10674000"/>
            <a:ext cx="7560000" cy="0"/>
          </a:xfrm>
          <a:prstGeom prst="line">
            <a:avLst/>
          </a:prstGeom>
          <a:ln w="317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可编辑卡片 1-1"/>
          <p:cNvGrpSpPr/>
          <p:nvPr/>
        </p:nvGrpSpPr>
        <p:grpSpPr>
          <a:xfrm>
            <a:off x="198000" y="216000"/>
            <a:ext cx="3384000" cy="4944700"/>
            <a:chOff x="198000" y="216000"/>
            <a:chExt cx="3384000" cy="4944700"/>
          </a:xfrm>
        </p:grpSpPr>
        <p:sp>
          <p:nvSpPr>
            <p:cNvPr id="3" name="可编辑文字 00 | 病毒性角膜内皮炎"/>
            <p:cNvSpPr txBox="1"/>
            <p:nvPr/>
          </p:nvSpPr>
          <p:spPr>
            <a:xfrm>
              <a:off x="198000" y="216000"/>
              <a:ext cx="3384000" cy="2311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5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病毒性角膜内皮炎</a:t>
              </a:r>
            </a:p>
          </p:txBody>
        </p:sp>
        <p:sp>
          <p:nvSpPr>
            <p:cNvPr id="4" name="可编辑文字 01 | 2023共识 · 眼科临床速查"/>
            <p:cNvSpPr txBox="1"/>
            <p:nvPr/>
          </p:nvSpPr>
          <p:spPr>
            <a:xfrm>
              <a:off x="198000" y="434440"/>
              <a:ext cx="3384000" cy="1841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2023共识 · 眼科临床速查</a:t>
              </a:r>
            </a:p>
          </p:txBody>
        </p:sp>
        <p:sp>
          <p:nvSpPr>
            <p:cNvPr id="5" name="可编辑文字 02 | 背面 · 用药与随访"/>
            <p:cNvSpPr txBox="1"/>
            <p:nvPr/>
          </p:nvSpPr>
          <p:spPr>
            <a:xfrm>
              <a:off x="198000" y="624940"/>
              <a:ext cx="3384000" cy="1905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背面 · 用药与随访</a:t>
              </a:r>
            </a:p>
          </p:txBody>
        </p:sp>
        <p:cxnSp>
          <p:nvCxnSpPr>
            <p:cNvPr id="6" name="卡片分隔线 03"/>
            <p:cNvCxnSpPr/>
            <p:nvPr/>
          </p:nvCxnSpPr>
          <p:spPr>
            <a:xfrm>
              <a:off x="198000" y="802740"/>
              <a:ext cx="3384000" cy="0"/>
            </a:xfrm>
            <a:prstGeom prst="line">
              <a:avLst/>
            </a:prstGeom>
            <a:ln w="762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可编辑文字 04 | 成人全身剂量摘录〔2023 p16〕"/>
            <p:cNvSpPr txBox="1"/>
            <p:nvPr/>
          </p:nvSpPr>
          <p:spPr>
            <a:xfrm>
              <a:off x="198000" y="8789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成人全身剂量摘录〔2023 p16〕</a:t>
              </a:r>
            </a:p>
          </p:txBody>
        </p:sp>
        <p:sp>
          <p:nvSpPr>
            <p:cNvPr id="8" name="可编辑文字 05 | 阿昔洛韦200 mg/次，5次/d，7 d；缓解后400"/>
            <p:cNvSpPr txBox="1"/>
            <p:nvPr/>
          </p:nvSpPr>
          <p:spPr>
            <a:xfrm>
              <a:off x="198000" y="1056740"/>
              <a:ext cx="3155400" cy="89153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阿昔洛韦200 mg/次，5次/d，7 d；缓解后400 mg/d，4~6个月（原文称“诱导剂量”）。伐昔洛韦500 mg/次，2次/d，7 d。更昔洛韦诱导：口服1 g/次、3次/d或慢速静滴250 mg/次、1次/12 h，均14 d；维持口服0.5 g/次、3次/d，2个月。泛昔洛韦口服0.25 g/次、3次/d，7 d。</a:t>
              </a:r>
            </a:p>
          </p:txBody>
        </p:sp>
        <p:sp>
          <p:nvSpPr>
            <p:cNvPr id="9" name="可编辑文字 06 | 更昔洛韦监测与停药〔2023 p16〕"/>
            <p:cNvSpPr txBox="1"/>
            <p:nvPr/>
          </p:nvSpPr>
          <p:spPr>
            <a:xfrm>
              <a:off x="198000" y="197368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更昔洛韦监测与停药〔2023 p16〕</a:t>
              </a:r>
            </a:p>
          </p:txBody>
        </p:sp>
        <p:sp>
          <p:nvSpPr>
            <p:cNvPr id="10" name="可编辑文字 07 | 用前血常规/肝肾。诱导：血常规每3 d、肝肾每周；维持："/>
            <p:cNvSpPr txBox="1"/>
            <p:nvPr/>
          </p:nvSpPr>
          <p:spPr>
            <a:xfrm>
              <a:off x="198000" y="215148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用前血常规/肝肾。诱导：血常规每3 d、肝肾每周；维持：血常规每周、肝肾每2~4周。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停药：肝肾恶化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；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血小板≤25×10</a:t>
              </a:r>
              <a:r>
                <a:rPr sz="950" b="1" lang="zh-CN" spc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⁹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/L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；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粒细胞≤0.5×10</a:t>
              </a:r>
              <a:r>
                <a:rPr sz="950" b="1" lang="zh-CN" spc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⁹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/L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或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降至用前50%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。3周无效考虑耐药，改膦甲酸钠（二线、肾毒性，剂量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）。</a:t>
              </a:r>
            </a:p>
          </p:txBody>
        </p:sp>
        <p:sp>
          <p:nvSpPr>
            <p:cNvPr id="11" name="可编辑文字 08 | 特殊人群与慎用〔2023 p16〕"/>
            <p:cNvSpPr txBox="1"/>
            <p:nvPr/>
          </p:nvSpPr>
          <p:spPr>
            <a:xfrm>
              <a:off x="198000" y="292618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特殊人群与慎用〔2023 p16〕</a:t>
              </a:r>
            </a:p>
          </p:txBody>
        </p:sp>
        <p:sp>
          <p:nvSpPr>
            <p:cNvPr id="12" name="可编辑文字 09 | 儿童：阿昔洛韦10~15 mg/(kg·d)，分3~5次"/>
            <p:cNvSpPr txBox="1"/>
            <p:nvPr/>
          </p:nvSpPr>
          <p:spPr>
            <a:xfrm>
              <a:off x="198000" y="310398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儿童：阿昔洛韦10~15 mg/(kg·d)，分3~5次、7 d；更昔洛韦5 mg/(kg·次)，诱导2次/d、14 d，维持1次/d、2个月；儿童途径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肾损伤避免阿昔洛韦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；泛昔洛韦按肾功能调整（分档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）；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骨髓移植慎用更昔洛韦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  <p:sp>
          <p:nvSpPr>
            <p:cNvPr id="13" name="可编辑文字 10 | 随访缺项〔2023 p14、17〕"/>
            <p:cNvSpPr txBox="1"/>
            <p:nvPr/>
          </p:nvSpPr>
          <p:spPr>
            <a:xfrm>
              <a:off x="198000" y="3878679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随访缺项〔2023 p14、17〕</a:t>
              </a:r>
            </a:p>
          </p:txBody>
        </p:sp>
        <p:sp>
          <p:nvSpPr>
            <p:cNvPr id="14" name="可编辑文字 11 | 关注KP/炎症、眼压、内皮细胞变化及药物化验。统一复诊间"/>
            <p:cNvSpPr txBox="1"/>
            <p:nvPr/>
          </p:nvSpPr>
          <p:spPr>
            <a:xfrm>
              <a:off x="198000" y="4056479"/>
              <a:ext cx="3155400" cy="6070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关注KP/炎症、眼压、内皮细胞变化及药物化验。统一复诊间隔、妊娠/哺乳方案、正式推荐等级：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。CMV易复发者适当延长治疗；避免劳累、感冒，加强锻炼。</a:t>
              </a:r>
            </a:p>
          </p:txBody>
        </p:sp>
        <p:cxnSp>
          <p:nvCxnSpPr>
            <p:cNvPr id="15" name="卡片分隔线 12"/>
            <p:cNvCxnSpPr/>
            <p:nvPr/>
          </p:nvCxnSpPr>
          <p:spPr>
            <a:xfrm>
              <a:off x="198000" y="4660320"/>
              <a:ext cx="3384000" cy="0"/>
            </a:xfrm>
            <a:prstGeom prst="line">
              <a:avLst/>
            </a:prstGeom>
            <a:ln w="571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可编辑文字 13 | p为期刊页码（PDF页码=p−12）。剂量为2023原文"/>
            <p:cNvSpPr txBox="1"/>
            <p:nvPr/>
          </p:nvSpPr>
          <p:spPr>
            <a:xfrm>
              <a:off x="198000" y="471112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p为期刊页码（PDF页码=p−12）。剂量为2023原文摘录，开药前核</a:t>
              </a:r>
            </a:p>
          </p:txBody>
        </p:sp>
        <p:sp>
          <p:nvSpPr>
            <p:cNvPr id="17" name="可编辑文字 14 | 对。完整证据与研究区别见提取表。"/>
            <p:cNvSpPr txBox="1"/>
            <p:nvPr/>
          </p:nvSpPr>
          <p:spPr>
            <a:xfrm>
              <a:off x="198000" y="484828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对。完整证据与研究区别见提取表。</a:t>
              </a:r>
            </a:p>
          </p:txBody>
        </p:sp>
        <p:sp>
          <p:nvSpPr>
            <p:cNvPr id="18" name="可编辑文字 15 | 打印：100% 原尺寸 · 双面长边翻转"/>
            <p:cNvSpPr txBox="1"/>
            <p:nvPr/>
          </p:nvSpPr>
          <p:spPr>
            <a:xfrm>
              <a:off x="198000" y="498544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打印：100% 原尺寸 · 双面长边翻转</a:t>
              </a:r>
            </a:p>
          </p:txBody>
        </p:sp>
      </p:grpSp>
      <p:grpSp>
        <p:nvGrpSpPr>
          <p:cNvPr id="19" name="可编辑卡片 1-2"/>
          <p:cNvGrpSpPr/>
          <p:nvPr/>
        </p:nvGrpSpPr>
        <p:grpSpPr>
          <a:xfrm>
            <a:off x="3978000" y="216000"/>
            <a:ext cx="3384000" cy="4944700"/>
            <a:chOff x="3978000" y="216000"/>
            <a:chExt cx="3384000" cy="4944700"/>
          </a:xfrm>
        </p:grpSpPr>
        <p:sp>
          <p:nvSpPr>
            <p:cNvPr id="20" name="可编辑文字 00 | 病毒性角膜内皮炎"/>
            <p:cNvSpPr txBox="1"/>
            <p:nvPr/>
          </p:nvSpPr>
          <p:spPr>
            <a:xfrm>
              <a:off x="3978000" y="216000"/>
              <a:ext cx="3384000" cy="2311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5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病毒性角膜内皮炎</a:t>
              </a:r>
            </a:p>
          </p:txBody>
        </p:sp>
        <p:sp>
          <p:nvSpPr>
            <p:cNvPr id="21" name="可编辑文字 01 | 2023共识 · 眼科临床速查"/>
            <p:cNvSpPr txBox="1"/>
            <p:nvPr/>
          </p:nvSpPr>
          <p:spPr>
            <a:xfrm>
              <a:off x="3978000" y="434440"/>
              <a:ext cx="3384000" cy="1841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2023共识 · 眼科临床速查</a:t>
              </a:r>
            </a:p>
          </p:txBody>
        </p:sp>
        <p:sp>
          <p:nvSpPr>
            <p:cNvPr id="22" name="可编辑文字 02 | 背面 · 用药与随访"/>
            <p:cNvSpPr txBox="1"/>
            <p:nvPr/>
          </p:nvSpPr>
          <p:spPr>
            <a:xfrm>
              <a:off x="3978000" y="624940"/>
              <a:ext cx="3384000" cy="1905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背面 · 用药与随访</a:t>
              </a:r>
            </a:p>
          </p:txBody>
        </p:sp>
        <p:cxnSp>
          <p:nvCxnSpPr>
            <p:cNvPr id="23" name="卡片分隔线 03"/>
            <p:cNvCxnSpPr/>
            <p:nvPr/>
          </p:nvCxnSpPr>
          <p:spPr>
            <a:xfrm>
              <a:off x="3978000" y="802740"/>
              <a:ext cx="3384000" cy="0"/>
            </a:xfrm>
            <a:prstGeom prst="line">
              <a:avLst/>
            </a:prstGeom>
            <a:ln w="762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可编辑文字 04 | 成人全身剂量摘录〔2023 p16〕"/>
            <p:cNvSpPr txBox="1"/>
            <p:nvPr/>
          </p:nvSpPr>
          <p:spPr>
            <a:xfrm>
              <a:off x="3978000" y="8789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成人全身剂量摘录〔2023 p16〕</a:t>
              </a:r>
            </a:p>
          </p:txBody>
        </p:sp>
        <p:sp>
          <p:nvSpPr>
            <p:cNvPr id="25" name="可编辑文字 05 | 阿昔洛韦200 mg/次，5次/d，7 d；缓解后400"/>
            <p:cNvSpPr txBox="1"/>
            <p:nvPr/>
          </p:nvSpPr>
          <p:spPr>
            <a:xfrm>
              <a:off x="3978000" y="1056740"/>
              <a:ext cx="3155400" cy="89153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阿昔洛韦200 mg/次，5次/d，7 d；缓解后400 mg/d，4~6个月（原文称“诱导剂量”）。伐昔洛韦500 mg/次，2次/d，7 d。更昔洛韦诱导：口服1 g/次、3次/d或慢速静滴250 mg/次、1次/12 h，均14 d；维持口服0.5 g/次、3次/d，2个月。泛昔洛韦口服0.25 g/次、3次/d，7 d。</a:t>
              </a:r>
            </a:p>
          </p:txBody>
        </p:sp>
        <p:sp>
          <p:nvSpPr>
            <p:cNvPr id="26" name="可编辑文字 06 | 更昔洛韦监测与停药〔2023 p16〕"/>
            <p:cNvSpPr txBox="1"/>
            <p:nvPr/>
          </p:nvSpPr>
          <p:spPr>
            <a:xfrm>
              <a:off x="3978000" y="197368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更昔洛韦监测与停药〔2023 p16〕</a:t>
              </a:r>
            </a:p>
          </p:txBody>
        </p:sp>
        <p:sp>
          <p:nvSpPr>
            <p:cNvPr id="27" name="可编辑文字 07 | 用前血常规/肝肾。诱导：血常规每3 d、肝肾每周；维持："/>
            <p:cNvSpPr txBox="1"/>
            <p:nvPr/>
          </p:nvSpPr>
          <p:spPr>
            <a:xfrm>
              <a:off x="3978000" y="215148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用前血常规/肝肾。诱导：血常规每3 d、肝肾每周；维持：血常规每周、肝肾每2~4周。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停药：肝肾恶化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；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血小板≤25×10</a:t>
              </a:r>
              <a:r>
                <a:rPr sz="950" b="1" lang="zh-CN" spc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⁹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/L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；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粒细胞≤0.5×10</a:t>
              </a:r>
              <a:r>
                <a:rPr sz="950" b="1" lang="zh-CN" spc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⁹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/L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或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降至用前50%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。3周无效考虑耐药，改膦甲酸钠（二线、肾毒性，剂量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）。</a:t>
              </a:r>
            </a:p>
          </p:txBody>
        </p:sp>
        <p:sp>
          <p:nvSpPr>
            <p:cNvPr id="28" name="可编辑文字 08 | 特殊人群与慎用〔2023 p16〕"/>
            <p:cNvSpPr txBox="1"/>
            <p:nvPr/>
          </p:nvSpPr>
          <p:spPr>
            <a:xfrm>
              <a:off x="3978000" y="292618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特殊人群与慎用〔2023 p16〕</a:t>
              </a:r>
            </a:p>
          </p:txBody>
        </p:sp>
        <p:sp>
          <p:nvSpPr>
            <p:cNvPr id="29" name="可编辑文字 09 | 儿童：阿昔洛韦10~15 mg/(kg·d)，分3~5次"/>
            <p:cNvSpPr txBox="1"/>
            <p:nvPr/>
          </p:nvSpPr>
          <p:spPr>
            <a:xfrm>
              <a:off x="3978000" y="310398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儿童：阿昔洛韦10~15 mg/(kg·d)，分3~5次、7 d；更昔洛韦5 mg/(kg·次)，诱导2次/d、14 d，维持1次/d、2个月；儿童途径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肾损伤避免阿昔洛韦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；泛昔洛韦按肾功能调整（分档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）；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骨髓移植慎用更昔洛韦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  <p:sp>
          <p:nvSpPr>
            <p:cNvPr id="30" name="可编辑文字 10 | 随访缺项〔2023 p14、17〕"/>
            <p:cNvSpPr txBox="1"/>
            <p:nvPr/>
          </p:nvSpPr>
          <p:spPr>
            <a:xfrm>
              <a:off x="3978000" y="3878679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随访缺项〔2023 p14、17〕</a:t>
              </a:r>
            </a:p>
          </p:txBody>
        </p:sp>
        <p:sp>
          <p:nvSpPr>
            <p:cNvPr id="31" name="可编辑文字 11 | 关注KP/炎症、眼压、内皮细胞变化及药物化验。统一复诊间"/>
            <p:cNvSpPr txBox="1"/>
            <p:nvPr/>
          </p:nvSpPr>
          <p:spPr>
            <a:xfrm>
              <a:off x="3978000" y="4056479"/>
              <a:ext cx="3155400" cy="6070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关注KP/炎症、眼压、内皮细胞变化及药物化验。统一复诊间隔、妊娠/哺乳方案、正式推荐等级：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。CMV易复发者适当延长治疗；避免劳累、感冒，加强锻炼。</a:t>
              </a:r>
            </a:p>
          </p:txBody>
        </p:sp>
        <p:cxnSp>
          <p:nvCxnSpPr>
            <p:cNvPr id="32" name="卡片分隔线 12"/>
            <p:cNvCxnSpPr/>
            <p:nvPr/>
          </p:nvCxnSpPr>
          <p:spPr>
            <a:xfrm>
              <a:off x="3978000" y="4660320"/>
              <a:ext cx="3384000" cy="0"/>
            </a:xfrm>
            <a:prstGeom prst="line">
              <a:avLst/>
            </a:prstGeom>
            <a:ln w="571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可编辑文字 13 | p为期刊页码（PDF页码=p−12）。剂量为2023原文"/>
            <p:cNvSpPr txBox="1"/>
            <p:nvPr/>
          </p:nvSpPr>
          <p:spPr>
            <a:xfrm>
              <a:off x="3978000" y="471112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p为期刊页码（PDF页码=p−12）。剂量为2023原文摘录，开药前核</a:t>
              </a:r>
            </a:p>
          </p:txBody>
        </p:sp>
        <p:sp>
          <p:nvSpPr>
            <p:cNvPr id="34" name="可编辑文字 14 | 对。完整证据与研究区别见提取表。"/>
            <p:cNvSpPr txBox="1"/>
            <p:nvPr/>
          </p:nvSpPr>
          <p:spPr>
            <a:xfrm>
              <a:off x="3978000" y="484828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对。完整证据与研究区别见提取表。</a:t>
              </a:r>
            </a:p>
          </p:txBody>
        </p:sp>
        <p:sp>
          <p:nvSpPr>
            <p:cNvPr id="35" name="可编辑文字 15 | 打印：100% 原尺寸 · 双面长边翻转"/>
            <p:cNvSpPr txBox="1"/>
            <p:nvPr/>
          </p:nvSpPr>
          <p:spPr>
            <a:xfrm>
              <a:off x="3978000" y="498544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打印：100% 原尺寸 · 双面长边翻转</a:t>
              </a:r>
            </a:p>
          </p:txBody>
        </p:sp>
      </p:grpSp>
      <p:grpSp>
        <p:nvGrpSpPr>
          <p:cNvPr id="36" name="可编辑卡片 2-1"/>
          <p:cNvGrpSpPr/>
          <p:nvPr/>
        </p:nvGrpSpPr>
        <p:grpSpPr>
          <a:xfrm>
            <a:off x="198000" y="5544000"/>
            <a:ext cx="3384000" cy="4944700"/>
            <a:chOff x="198000" y="5544000"/>
            <a:chExt cx="3384000" cy="4944700"/>
          </a:xfrm>
        </p:grpSpPr>
        <p:sp>
          <p:nvSpPr>
            <p:cNvPr id="37" name="可编辑文字 00 | 病毒性角膜内皮炎"/>
            <p:cNvSpPr txBox="1"/>
            <p:nvPr/>
          </p:nvSpPr>
          <p:spPr>
            <a:xfrm>
              <a:off x="198000" y="5544000"/>
              <a:ext cx="3384000" cy="2311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5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病毒性角膜内皮炎</a:t>
              </a:r>
            </a:p>
          </p:txBody>
        </p:sp>
        <p:sp>
          <p:nvSpPr>
            <p:cNvPr id="38" name="可编辑文字 01 | 2023共识 · 眼科临床速查"/>
            <p:cNvSpPr txBox="1"/>
            <p:nvPr/>
          </p:nvSpPr>
          <p:spPr>
            <a:xfrm>
              <a:off x="198000" y="5762440"/>
              <a:ext cx="3384000" cy="1841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2023共识 · 眼科临床速查</a:t>
              </a:r>
            </a:p>
          </p:txBody>
        </p:sp>
        <p:sp>
          <p:nvSpPr>
            <p:cNvPr id="39" name="可编辑文字 02 | 背面 · 用药与随访"/>
            <p:cNvSpPr txBox="1"/>
            <p:nvPr/>
          </p:nvSpPr>
          <p:spPr>
            <a:xfrm>
              <a:off x="198000" y="5952940"/>
              <a:ext cx="3384000" cy="1905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背面 · 用药与随访</a:t>
              </a:r>
            </a:p>
          </p:txBody>
        </p:sp>
        <p:cxnSp>
          <p:nvCxnSpPr>
            <p:cNvPr id="40" name="卡片分隔线 03"/>
            <p:cNvCxnSpPr/>
            <p:nvPr/>
          </p:nvCxnSpPr>
          <p:spPr>
            <a:xfrm>
              <a:off x="198000" y="6130740"/>
              <a:ext cx="3384000" cy="0"/>
            </a:xfrm>
            <a:prstGeom prst="line">
              <a:avLst/>
            </a:prstGeom>
            <a:ln w="762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可编辑文字 04 | 成人全身剂量摘录〔2023 p16〕"/>
            <p:cNvSpPr txBox="1"/>
            <p:nvPr/>
          </p:nvSpPr>
          <p:spPr>
            <a:xfrm>
              <a:off x="198000" y="62069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成人全身剂量摘录〔2023 p16〕</a:t>
              </a:r>
            </a:p>
          </p:txBody>
        </p:sp>
        <p:sp>
          <p:nvSpPr>
            <p:cNvPr id="42" name="可编辑文字 05 | 阿昔洛韦200 mg/次，5次/d，7 d；缓解后400"/>
            <p:cNvSpPr txBox="1"/>
            <p:nvPr/>
          </p:nvSpPr>
          <p:spPr>
            <a:xfrm>
              <a:off x="198000" y="6384740"/>
              <a:ext cx="3155400" cy="89153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阿昔洛韦200 mg/次，5次/d，7 d；缓解后400 mg/d，4~6个月（原文称“诱导剂量”）。伐昔洛韦500 mg/次，2次/d，7 d。更昔洛韦诱导：口服1 g/次、3次/d或慢速静滴250 mg/次、1次/12 h，均14 d；维持口服0.5 g/次、3次/d，2个月。泛昔洛韦口服0.25 g/次、3次/d，7 d。</a:t>
              </a:r>
            </a:p>
          </p:txBody>
        </p:sp>
        <p:sp>
          <p:nvSpPr>
            <p:cNvPr id="43" name="可编辑文字 06 | 更昔洛韦监测与停药〔2023 p16〕"/>
            <p:cNvSpPr txBox="1"/>
            <p:nvPr/>
          </p:nvSpPr>
          <p:spPr>
            <a:xfrm>
              <a:off x="198000" y="730168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更昔洛韦监测与停药〔2023 p16〕</a:t>
              </a:r>
            </a:p>
          </p:txBody>
        </p:sp>
        <p:sp>
          <p:nvSpPr>
            <p:cNvPr id="44" name="可编辑文字 07 | 用前血常规/肝肾。诱导：血常规每3 d、肝肾每周；维持："/>
            <p:cNvSpPr txBox="1"/>
            <p:nvPr/>
          </p:nvSpPr>
          <p:spPr>
            <a:xfrm>
              <a:off x="198000" y="747948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用前血常规/肝肾。诱导：血常规每3 d、肝肾每周；维持：血常规每周、肝肾每2~4周。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停药：肝肾恶化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；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血小板≤25×10</a:t>
              </a:r>
              <a:r>
                <a:rPr sz="950" b="1" lang="zh-CN" spc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⁹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/L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；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粒细胞≤0.5×10</a:t>
              </a:r>
              <a:r>
                <a:rPr sz="950" b="1" lang="zh-CN" spc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⁹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/L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或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降至用前50%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。3周无效考虑耐药，改膦甲酸钠（二线、肾毒性，剂量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）。</a:t>
              </a:r>
            </a:p>
          </p:txBody>
        </p:sp>
        <p:sp>
          <p:nvSpPr>
            <p:cNvPr id="45" name="可编辑文字 08 | 特殊人群与慎用〔2023 p16〕"/>
            <p:cNvSpPr txBox="1"/>
            <p:nvPr/>
          </p:nvSpPr>
          <p:spPr>
            <a:xfrm>
              <a:off x="198000" y="825418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特殊人群与慎用〔2023 p16〕</a:t>
              </a:r>
            </a:p>
          </p:txBody>
        </p:sp>
        <p:sp>
          <p:nvSpPr>
            <p:cNvPr id="46" name="可编辑文字 09 | 儿童：阿昔洛韦10~15 mg/(kg·d)，分3~5次"/>
            <p:cNvSpPr txBox="1"/>
            <p:nvPr/>
          </p:nvSpPr>
          <p:spPr>
            <a:xfrm>
              <a:off x="198000" y="843198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儿童：阿昔洛韦10~15 mg/(kg·d)，分3~5次、7 d；更昔洛韦5 mg/(kg·次)，诱导2次/d、14 d，维持1次/d、2个月；儿童途径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肾损伤避免阿昔洛韦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；泛昔洛韦按肾功能调整（分档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）；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骨髓移植慎用更昔洛韦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  <p:sp>
          <p:nvSpPr>
            <p:cNvPr id="47" name="可编辑文字 10 | 随访缺项〔2023 p14、17〕"/>
            <p:cNvSpPr txBox="1"/>
            <p:nvPr/>
          </p:nvSpPr>
          <p:spPr>
            <a:xfrm>
              <a:off x="198000" y="920668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随访缺项〔2023 p14、17〕</a:t>
              </a:r>
            </a:p>
          </p:txBody>
        </p:sp>
        <p:sp>
          <p:nvSpPr>
            <p:cNvPr id="48" name="可编辑文字 11 | 关注KP/炎症、眼压、内皮细胞变化及药物化验。统一复诊间"/>
            <p:cNvSpPr txBox="1"/>
            <p:nvPr/>
          </p:nvSpPr>
          <p:spPr>
            <a:xfrm>
              <a:off x="198000" y="9384480"/>
              <a:ext cx="3155400" cy="6070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关注KP/炎症、眼压、内皮细胞变化及药物化验。统一复诊间隔、妊娠/哺乳方案、正式推荐等级：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。CMV易复发者适当延长治疗；避免劳累、感冒，加强锻炼。</a:t>
              </a:r>
            </a:p>
          </p:txBody>
        </p:sp>
        <p:cxnSp>
          <p:nvCxnSpPr>
            <p:cNvPr id="49" name="卡片分隔线 12"/>
            <p:cNvCxnSpPr/>
            <p:nvPr/>
          </p:nvCxnSpPr>
          <p:spPr>
            <a:xfrm>
              <a:off x="198000" y="9988320"/>
              <a:ext cx="3384000" cy="0"/>
            </a:xfrm>
            <a:prstGeom prst="line">
              <a:avLst/>
            </a:prstGeom>
            <a:ln w="571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可编辑文字 13 | p为期刊页码（PDF页码=p−12）。剂量为2023原文"/>
            <p:cNvSpPr txBox="1"/>
            <p:nvPr/>
          </p:nvSpPr>
          <p:spPr>
            <a:xfrm>
              <a:off x="198000" y="1003912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p为期刊页码（PDF页码=p−12）。剂量为2023原文摘录，开药前核</a:t>
              </a:r>
            </a:p>
          </p:txBody>
        </p:sp>
        <p:sp>
          <p:nvSpPr>
            <p:cNvPr id="51" name="可编辑文字 14 | 对。完整证据与研究区别见提取表。"/>
            <p:cNvSpPr txBox="1"/>
            <p:nvPr/>
          </p:nvSpPr>
          <p:spPr>
            <a:xfrm>
              <a:off x="198000" y="1017628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对。完整证据与研究区别见提取表。</a:t>
              </a:r>
            </a:p>
          </p:txBody>
        </p:sp>
        <p:sp>
          <p:nvSpPr>
            <p:cNvPr id="52" name="可编辑文字 15 | 打印：100% 原尺寸 · 双面长边翻转"/>
            <p:cNvSpPr txBox="1"/>
            <p:nvPr/>
          </p:nvSpPr>
          <p:spPr>
            <a:xfrm>
              <a:off x="198000" y="1031344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打印：100% 原尺寸 · 双面长边翻转</a:t>
              </a:r>
            </a:p>
          </p:txBody>
        </p:sp>
      </p:grpSp>
      <p:grpSp>
        <p:nvGrpSpPr>
          <p:cNvPr id="53" name="可编辑卡片 2-2"/>
          <p:cNvGrpSpPr/>
          <p:nvPr/>
        </p:nvGrpSpPr>
        <p:grpSpPr>
          <a:xfrm>
            <a:off x="3978000" y="5544000"/>
            <a:ext cx="3384000" cy="4944700"/>
            <a:chOff x="3978000" y="5544000"/>
            <a:chExt cx="3384000" cy="4944700"/>
          </a:xfrm>
        </p:grpSpPr>
        <p:sp>
          <p:nvSpPr>
            <p:cNvPr id="54" name="可编辑文字 00 | 病毒性角膜内皮炎"/>
            <p:cNvSpPr txBox="1"/>
            <p:nvPr/>
          </p:nvSpPr>
          <p:spPr>
            <a:xfrm>
              <a:off x="3978000" y="5544000"/>
              <a:ext cx="3384000" cy="2311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5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病毒性角膜内皮炎</a:t>
              </a:r>
            </a:p>
          </p:txBody>
        </p:sp>
        <p:sp>
          <p:nvSpPr>
            <p:cNvPr id="55" name="可编辑文字 01 | 2023共识 · 眼科临床速查"/>
            <p:cNvSpPr txBox="1"/>
            <p:nvPr/>
          </p:nvSpPr>
          <p:spPr>
            <a:xfrm>
              <a:off x="3978000" y="5762440"/>
              <a:ext cx="3384000" cy="1841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2023共识 · 眼科临床速查</a:t>
              </a:r>
            </a:p>
          </p:txBody>
        </p:sp>
        <p:sp>
          <p:nvSpPr>
            <p:cNvPr id="56" name="可编辑文字 02 | 背面 · 用药与随访"/>
            <p:cNvSpPr txBox="1"/>
            <p:nvPr/>
          </p:nvSpPr>
          <p:spPr>
            <a:xfrm>
              <a:off x="3978000" y="5952940"/>
              <a:ext cx="3384000" cy="1905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背面 · 用药与随访</a:t>
              </a:r>
            </a:p>
          </p:txBody>
        </p:sp>
        <p:cxnSp>
          <p:nvCxnSpPr>
            <p:cNvPr id="57" name="卡片分隔线 03"/>
            <p:cNvCxnSpPr/>
            <p:nvPr/>
          </p:nvCxnSpPr>
          <p:spPr>
            <a:xfrm>
              <a:off x="3978000" y="6130740"/>
              <a:ext cx="3384000" cy="0"/>
            </a:xfrm>
            <a:prstGeom prst="line">
              <a:avLst/>
            </a:prstGeom>
            <a:ln w="762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可编辑文字 04 | 成人全身剂量摘录〔2023 p16〕"/>
            <p:cNvSpPr txBox="1"/>
            <p:nvPr/>
          </p:nvSpPr>
          <p:spPr>
            <a:xfrm>
              <a:off x="3978000" y="62069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成人全身剂量摘录〔2023 p16〕</a:t>
              </a:r>
            </a:p>
          </p:txBody>
        </p:sp>
        <p:sp>
          <p:nvSpPr>
            <p:cNvPr id="59" name="可编辑文字 05 | 阿昔洛韦200 mg/次，5次/d，7 d；缓解后400"/>
            <p:cNvSpPr txBox="1"/>
            <p:nvPr/>
          </p:nvSpPr>
          <p:spPr>
            <a:xfrm>
              <a:off x="3978000" y="6384740"/>
              <a:ext cx="3155400" cy="89153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阿昔洛韦200 mg/次，5次/d，7 d；缓解后400 mg/d，4~6个月（原文称“诱导剂量”）。伐昔洛韦500 mg/次，2次/d，7 d。更昔洛韦诱导：口服1 g/次、3次/d或慢速静滴250 mg/次、1次/12 h，均14 d；维持口服0.5 g/次、3次/d，2个月。泛昔洛韦口服0.25 g/次、3次/d，7 d。</a:t>
              </a:r>
            </a:p>
          </p:txBody>
        </p:sp>
        <p:sp>
          <p:nvSpPr>
            <p:cNvPr id="60" name="可编辑文字 06 | 更昔洛韦监测与停药〔2023 p16〕"/>
            <p:cNvSpPr txBox="1"/>
            <p:nvPr/>
          </p:nvSpPr>
          <p:spPr>
            <a:xfrm>
              <a:off x="3978000" y="730168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更昔洛韦监测与停药〔2023 p16〕</a:t>
              </a:r>
            </a:p>
          </p:txBody>
        </p:sp>
        <p:sp>
          <p:nvSpPr>
            <p:cNvPr id="61" name="可编辑文字 07 | 用前血常规/肝肾。诱导：血常规每3 d、肝肾每周；维持："/>
            <p:cNvSpPr txBox="1"/>
            <p:nvPr/>
          </p:nvSpPr>
          <p:spPr>
            <a:xfrm>
              <a:off x="3978000" y="747948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用前血常规/肝肾。诱导：血常规每3 d、肝肾每周；维持：血常规每周、肝肾每2~4周。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停药：肝肾恶化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；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血小板≤25×10</a:t>
              </a:r>
              <a:r>
                <a:rPr sz="950" b="1" lang="zh-CN" spc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⁹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/L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；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粒细胞≤0.5×10</a:t>
              </a:r>
              <a:r>
                <a:rPr sz="950" b="1" lang="zh-CN" spc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⁹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/L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或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降至用前50%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。3周无效考虑耐药，改膦甲酸钠（二线、肾毒性，剂量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）。</a:t>
              </a:r>
            </a:p>
          </p:txBody>
        </p:sp>
        <p:sp>
          <p:nvSpPr>
            <p:cNvPr id="62" name="可编辑文字 08 | 特殊人群与慎用〔2023 p16〕"/>
            <p:cNvSpPr txBox="1"/>
            <p:nvPr/>
          </p:nvSpPr>
          <p:spPr>
            <a:xfrm>
              <a:off x="3978000" y="825418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特殊人群与慎用〔2023 p16〕</a:t>
              </a:r>
            </a:p>
          </p:txBody>
        </p:sp>
        <p:sp>
          <p:nvSpPr>
            <p:cNvPr id="63" name="可编辑文字 09 | 儿童：阿昔洛韦10~15 mg/(kg·d)，分3~5次"/>
            <p:cNvSpPr txBox="1"/>
            <p:nvPr/>
          </p:nvSpPr>
          <p:spPr>
            <a:xfrm>
              <a:off x="3978000" y="843198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儿童：阿昔洛韦10~15 mg/(kg·d)，分3~5次、7 d；更昔洛韦5 mg/(kg·次)，诱导2次/d、14 d，维持1次/d、2个月；儿童途径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肾损伤避免阿昔洛韦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；泛昔洛韦按肾功能调整（分档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）；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骨髓移植慎用更昔洛韦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  <p:sp>
          <p:nvSpPr>
            <p:cNvPr id="64" name="可编辑文字 10 | 随访缺项〔2023 p14、17〕"/>
            <p:cNvSpPr txBox="1"/>
            <p:nvPr/>
          </p:nvSpPr>
          <p:spPr>
            <a:xfrm>
              <a:off x="3978000" y="920668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随访缺项〔2023 p14、17〕</a:t>
              </a:r>
            </a:p>
          </p:txBody>
        </p:sp>
        <p:sp>
          <p:nvSpPr>
            <p:cNvPr id="65" name="可编辑文字 11 | 关注KP/炎症、眼压、内皮细胞变化及药物化验。统一复诊间"/>
            <p:cNvSpPr txBox="1"/>
            <p:nvPr/>
          </p:nvSpPr>
          <p:spPr>
            <a:xfrm>
              <a:off x="3978000" y="9384480"/>
              <a:ext cx="3155400" cy="6070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关注KP/炎症、眼压、内皮细胞变化及药物化验。统一复诊间隔、妊娠/哺乳方案、正式推荐等级：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。CMV易复发者适当延长治疗；避免劳累、感冒，加强锻炼。</a:t>
              </a:r>
            </a:p>
          </p:txBody>
        </p:sp>
        <p:cxnSp>
          <p:nvCxnSpPr>
            <p:cNvPr id="66" name="卡片分隔线 12"/>
            <p:cNvCxnSpPr/>
            <p:nvPr/>
          </p:nvCxnSpPr>
          <p:spPr>
            <a:xfrm>
              <a:off x="3978000" y="9988320"/>
              <a:ext cx="3384000" cy="0"/>
            </a:xfrm>
            <a:prstGeom prst="line">
              <a:avLst/>
            </a:prstGeom>
            <a:ln w="571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可编辑文字 13 | p为期刊页码（PDF页码=p−12）。剂量为2023原文"/>
            <p:cNvSpPr txBox="1"/>
            <p:nvPr/>
          </p:nvSpPr>
          <p:spPr>
            <a:xfrm>
              <a:off x="3978000" y="1003912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p为期刊页码（PDF页码=p−12）。剂量为2023原文摘录，开药前核</a:t>
              </a:r>
            </a:p>
          </p:txBody>
        </p:sp>
        <p:sp>
          <p:nvSpPr>
            <p:cNvPr id="68" name="可编辑文字 14 | 对。完整证据与研究区别见提取表。"/>
            <p:cNvSpPr txBox="1"/>
            <p:nvPr/>
          </p:nvSpPr>
          <p:spPr>
            <a:xfrm>
              <a:off x="3978000" y="1017628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对。完整证据与研究区别见提取表。</a:t>
              </a:r>
            </a:p>
          </p:txBody>
        </p:sp>
        <p:sp>
          <p:nvSpPr>
            <p:cNvPr id="69" name="可编辑文字 15 | 打印：100% 原尺寸 · 双面长边翻转"/>
            <p:cNvSpPr txBox="1"/>
            <p:nvPr/>
          </p:nvSpPr>
          <p:spPr>
            <a:xfrm>
              <a:off x="3978000" y="1031344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打印：100% 原尺寸 · 双面长边翻转</a:t>
              </a:r>
            </a:p>
          </p:txBody>
        </p:sp>
      </p:grpSp>
      <p:cxnSp>
        <p:nvCxnSpPr>
          <p:cNvPr id="70" name="中间竖向裁切线"/>
          <p:cNvCxnSpPr/>
          <p:nvPr/>
        </p:nvCxnSpPr>
        <p:spPr>
          <a:xfrm>
            <a:off x="3780000" y="0"/>
            <a:ext cx="0" cy="10692000"/>
          </a:xfrm>
          <a:prstGeom prst="line">
            <a:avLst/>
          </a:prstGeom>
          <a:ln w="317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横向裁切线 1"/>
          <p:cNvCxnSpPr/>
          <p:nvPr/>
        </p:nvCxnSpPr>
        <p:spPr>
          <a:xfrm>
            <a:off x="0" y="18000"/>
            <a:ext cx="7560000" cy="0"/>
          </a:xfrm>
          <a:prstGeom prst="line">
            <a:avLst/>
          </a:prstGeom>
          <a:ln w="317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横向裁切线 2"/>
          <p:cNvCxnSpPr/>
          <p:nvPr/>
        </p:nvCxnSpPr>
        <p:spPr>
          <a:xfrm>
            <a:off x="0" y="5346000"/>
            <a:ext cx="7560000" cy="0"/>
          </a:xfrm>
          <a:prstGeom prst="line">
            <a:avLst/>
          </a:prstGeom>
          <a:ln w="317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横向裁切线 3"/>
          <p:cNvCxnSpPr/>
          <p:nvPr/>
        </p:nvCxnSpPr>
        <p:spPr>
          <a:xfrm>
            <a:off x="0" y="10674000"/>
            <a:ext cx="7560000" cy="0"/>
          </a:xfrm>
          <a:prstGeom prst="line">
            <a:avLst/>
          </a:prstGeom>
          <a:ln w="317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ajorFont>
      <a:minorFont>
        <a:latin typeface="Arial"/>
        <a:ea typeface=""/>
        <a:cs typeface="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Arial"/>
        <a:font script="Uigh" typeface="Microsoft YaHei"/>
        <a:font script="Geor"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ajorFont>
      <a:minorFont>
        <a:latin typeface="Arial"/>
        <a:ea typeface=""/>
        <a:cs typeface="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Arial"/>
        <a:font script="Uigh" typeface="Microsoft YaHei"/>
        <a:font script="Geor"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病毒性角膜内皮炎｜A4四卡拼版（可编辑）</dc:title>
  <dc:subject>2023共识原文摘录；原生可编辑文本和线条</dc:subject>
  <dc:creator>临床资料整理</dc:creator>
  <cp:keywords/>
  <dc:description>字体：Noto Sans CJK SC / Noto Sans。原尺寸打印100%，双面长边翻转。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