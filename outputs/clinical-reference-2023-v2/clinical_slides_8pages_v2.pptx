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E01 适用范围：病毒性角膜内皮炎的临床诊疗；常见病原为HSV、VZV、CMV。原文不是适用于所有情形的强制医疗标准。
来源：共识2023，期刊p14／PDF第2页。明确年龄适用边界：原文未明确；专家意见适用性声明见p17
E03 临床表现：多为单眼。角膜基质水肿、水肿区域KP、后弹力层皱褶最常见，可有轻度前房反应、虹膜改变、眼压升高、角膜知觉减退。
来源：共识2023，期刊p14／PDF第2页。不能仅凭眼红确诊
E04 临床诊断：符合诊断依据1（病史和诱因）和3（临床体征），可进行临床诊断。
来源：共识2023，期刊p15／PDF第3页。依据1描述急性起病及可能存在病毒感染/病史/免疫下降诱因
E05 病因诊断：符合依据1、3和4或5：4为IVCM辅助检查；5为PCR病毒阳性。原文称发现猫头鹰眼样改变可明确诊断CMV角膜内皮炎。
来源：共识2023，期刊p15／PDF第3页。按原文保留IVCM表述；不是把所有IVCM异常都视为病原确证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E06 临床分型与风险：盘状最常见；弥漫性较少见；线状罕见、内皮细胞丢失最快、最严重，易内皮失代偿；扇形界限清楚，无进展性线状KP。
来源：共识2023，期刊p15／PDF第3页。正式危险分层、内皮细胞密度切点、转诊时限：原文未明确
E11 鉴别诊断：病毒性前葡萄膜炎、基质炎、内皮失代偿、Fuchs、Chandler、移植后排斥、急闭发作。移植排斥线多在植片内，病毒性KP可跨植片/植床交界。
来源：共识2023，期刊p15／PDF第3页。跨至p16。急闭描述50~60 mmHg为鉴别线索，并非本病治疗阈值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E07 病原线索：CMV多为线状/扇形、钱币样KP、常眼压高，IVCM可见猫头鹰眼；HSV多盘状，也可弥漫、伴基质水肿/虹膜炎；VZV四型均可、皮损可有可无、虹膜萎缩/瞳孔变形。
来源：共识2023，期刊p15／PDF第3页。线索不能代替病因标准
E08 IVCM与内皮评估：IVCM提供形态和内皮细胞计数，用于评价密度变化、监测进展和预后；CMV猫头鹰眼多位于钱币样KP处。
来源：共识2023，期刊p14／PDF第2页。计数阈值：原文未明确
E09 房水PCR：检测房水病毒DNA/RNA、明确病毒种类。缓解期阳性率不高，阴性不能排除病毒感染，应结合临床。
来源：共识2023，期刊p14／PDF第2页。跨至p15；病毒载量/Ct阈值及重复采样间隔：原文未明确
E10 抗体补充：房水病毒特异性抗体为PCR的重要补充；IgM提示近期感染，IgG提示远期感染；必要时结合Goldmann-Witmer系数。
来源：共识2023，期刊p15／PDF第3页。G-W系数数值切点：原文未明确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E04 临床诊断：符合诊断依据1（病史和诱因）和3（临床体征），可进行临床诊断。
来源：共识2023，期刊p15／PDF第3页。依据1描述急性起病及可能存在病毒感染/病史/免疫下降诱因
E05 病因诊断：符合依据1、3和4或5：4为IVCM辅助检查；5为PCR病毒阳性。原文称发现猫头鹰眼样改变可明确诊断CMV角膜内皮炎。
来源：共识2023，期刊p15／PDF第3页。按原文保留IVCM表述；不是把所有IVCM异常都视为病原确证
E09 房水PCR：检测房水病毒DNA/RNA、明确病毒种类。缓解期阳性率不高，阴性不能排除病毒感染，应结合临床。
来源：共识2023，期刊p14／PDF第2页。跨至p15；病毒载量/Ct阈值及重复采样间隔：原文未明确
E19 按病原选药：HSV以全身/眼部阿昔洛韦或更昔洛韦为主；CMV全身和眼部首选更昔洛韦、易复发者适当延长；VZV全身更昔洛韦/泛昔洛韦或更高剂量阿昔洛韦，局部更昔洛韦。
来源：共识2023，期刊p16／PDF第4页。跨至p17；VZV更高阿昔洛韦的确切剂量：原文未明确
E22 更昔洛韦实验室监测：用前查血常规和肝肾功能。诱导期血常规每隔3 d、肝肾每周；维持期血常规每周、肝肾每2~4周。
来源：共识2023，期刊p16／PDF第4页。须使用粒细胞而非把阈值写成白细胞
E23 更昔洛韦停药阈值：肝肾功能恶化；血小板≤25×10</a:t>
            </a:r>
            <a:r>
              <a:rPr lang="en-US" dirty="0">
                <a:latin typeface="Arial"/>
                <a:ea typeface="Arial"/>
                <a:cs typeface="Arial"/>
              </a:rPr>
              <a:t>⁹</a:t>
            </a:r>
            <a:r>
              <a:rPr lang="en-US" dirty="0"/>
              <a:t>/L；粒细胞≤0.5×10</a:t>
            </a:r>
            <a:r>
              <a:rPr lang="en-US" dirty="0">
                <a:latin typeface="Arial"/>
                <a:ea typeface="Arial"/>
                <a:cs typeface="Arial"/>
              </a:rPr>
              <a:t>⁹</a:t>
            </a:r>
            <a:r>
              <a:rPr lang="en-US" dirty="0"/>
              <a:t>/L，或降至用药前的50%。骨髓移植患者慎用。
来源：共识2023，期刊p16／PDF第4页。原文未明确肝肾恶化的数值定义
E24 无效/耐药与二线：更昔洛韦治疗3周无效，考虑耐药毒株感染或继发耐药，改用膦甲酸钠。膦甲酸钠为耐药疱疹二线，需静脉给药、可有严重肾不良反应，充分水化降低肾毒性。
来源：共识2023，期刊p16／PDF第4页。膦甲酸钠剂量、疗程、水化量：原文未明确
E25 眼部激素：有效抗病毒基础上，1%醋酸泼尼松龙滴眼液或妥布霉素地塞米松滴眼液4次/d；必要时夜用妥布霉素地塞米松眼膏。羊脂状/尘状KP消退后渐减，每周减少1次，减至1次/d后按炎症决定低浓度激素。监测眼压。
来源：共识2023，期刊p17／PDF第5页。低浓度例：氯替泼诺或0.1%氟米龙；具体后续频次/疗程：原文未明确
E26 眼压管理：伴眼压升高需降眼压，恢复正常后减量/停药；慎用前列腺素类，以免加剧前房炎症和增加复发风险，并注意各药禁忌。
来源：共识2023，期刊p17／PDF第5页。干预阈值、目标眼压、具体降眼压药剂量及完整禁忌清单：原文未明确
E27 移植及复发：严重内皮失代偿需角膜移植/内皮移植；围手术期充分抗病毒，术后全身抗病毒通常3~6个月，定期血常规/肝肾复查。避免劳累、感冒，加强锻炼。
来源：共识2023，期刊p17／PDF第5页。手术具体时机和非药物预防强度：原文未明确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E12 治疗原则：眼部及全身抗病毒，联合眼部糖皮质激素抗炎；按伴随情况对症，目标为控病毒、控炎症、减损伤、保护视功能。
来源：共识2023，期刊p16／PDF第4页。不得将激素单独作为该治疗原则
E13 局部更昔洛韦：0.15%眼用凝胶或0.1%滴眼液，治疗4~6次/d；病变痊愈后巩固2次/d，持续2~4周。阿昔洛韦滴眼液对CMV无效。
来源：共识2023，期刊p16／PDF第4页。阿昔洛韦滴眼液具体浓度/频次：原文未明确
E19 按病原选药：HSV以全身/眼部阿昔洛韦或更昔洛韦为主；CMV全身和眼部首选更昔洛韦、易复发者适当延长；VZV全身更昔洛韦/泛昔洛韦或更高剂量阿昔洛韦，局部更昔洛韦。
来源：共识2023，期刊p16／PDF第4页。跨至p17；VZV更高阿昔洛韦的确切剂量：原文未明确
E20 2%更昔洛韦研究：共识引述文献[36]称2%更昔洛韦滴眼液可增加房水有效药物浓度、主要用于CMV；文献[36]为Keorochana与Choontanom（2017）关于临时配制2%更昔洛韦滴眼液用于CMV前葡萄膜炎的研究（参考文献列于p19）。原文称国内尚无高浓度成品。
来源：共识2023，期刊p16／PDF第4页。仅为共识转述，未独立核验该研究全文；不补浓度配制方案/频次
参考[36]：Keorochana N, Choontanom R. BMJ Open Ophthalmol 2017;2:e000061。仅核对共识参考条目，未独立核验该研究全文。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E14 成人阿昔洛韦：200 mg/次，5次/d，共7 d；缓解后原句为“可减少至诱导剂量，400 mg/d，共4~6个月”。
来源：共识2023，期刊p16／PDF第4页。原文“诱导剂量”措辞照录；不能改为400 mg/次
E15 成人伐昔洛韦：500 mg/次，2次/d，共7 d。
来源：共识2023，期刊p16／PDF第4页。儿童方案：原文未明确
E16 成人更昔洛韦：诱导：口服1 g/次，3次/d，共14 d；或慢速静滴250 mg/次，1次/12 h，共14 d。维持：口服0.5 g/次，3次/d，共2个月。
来源：共识2023，期刊p16／PDF第4页。仅按本共识原文；未另行替换或补足个体方案
E17 成人泛昔洛韦：口服0.25 g/次，3次/d，共7 d；肾功能不全按肾功能调整用法用量。
来源：共识2023，期刊p16／PDF第4页。调整表/儿童方案：原文未明确
E21 阿昔洛韦肾脏注意：可致急性肾衰，静滴过快增加风险，应减慢滴速；肾功能损伤患者应避免使用。CMV缺少胸苷激酶，阿昔洛韦对其无治疗作用。
来源：共识2023，期刊p16／PDF第4页。成人静滴剂量/滴速及肾功能调整切点：原文未明确
E24 无效/耐药与二线：更昔洛韦治疗3周无效，考虑耐药毒株感染或继发耐药，改用膦甲酸钠。膦甲酸钠为耐药疱疹二线，需静脉给药、可有严重肾不良反应，充分水化降低肾毒性。
来源：共识2023，期刊p16／PDF第4页。膦甲酸钠剂量、疗程、水化量：原文未明确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E18 儿童抗病毒：阿昔洛韦诱导：10~15 mg/(kg·d)，共7 d，分3~5次。更昔洛韦诱导：5 mg/(kg·次)，2次/d，共14 d；维持：5 mg/(kg·次)，1次/d，共2个月。
来源：共识2023，期刊p16／PDF第4页。两种儿童给药途径原文未明确；不补为口服或静滴
E21 阿昔洛韦肾脏注意：可致急性肾衰，静滴过快增加风险，应减慢滴速；肾功能损伤患者应避免使用。CMV缺少胸苷激酶，阿昔洛韦对其无治疗作用。
来源：共识2023，期刊p16／PDF第4页。成人静滴剂量/滴速及肾功能调整切点：原文未明确
E22 更昔洛韦实验室监测：用前查血常规和肝肾功能。诱导期血常规每隔3 d、肝肾每周；维持期血常规每周、肝肾每2~4周。
来源：共识2023，期刊p16／PDF第4页。须使用粒细胞而非把阈值写成白细胞
E23 更昔洛韦停药阈值：肝肾功能恶化；血小板≤25×10</a:t>
            </a:r>
            <a:r>
              <a:rPr lang="en-US" dirty="0">
                <a:latin typeface="Arial"/>
                <a:ea typeface="Arial"/>
                <a:cs typeface="Arial"/>
              </a:rPr>
              <a:t>⁹</a:t>
            </a:r>
            <a:r>
              <a:rPr lang="en-US" dirty="0"/>
              <a:t>/L；粒细胞≤0.5×10</a:t>
            </a:r>
            <a:r>
              <a:rPr lang="en-US" dirty="0">
                <a:latin typeface="Arial"/>
                <a:ea typeface="Arial"/>
                <a:cs typeface="Arial"/>
              </a:rPr>
              <a:t>⁹</a:t>
            </a:r>
            <a:r>
              <a:rPr lang="en-US" dirty="0"/>
              <a:t>/L，或降至用药前的50%。骨髓移植患者慎用。
来源：共识2023，期刊p16／PDF第4页。原文未明确肝肾恶化的数值定义
E24 无效/耐药与二线：更昔洛韦治疗3周无效，考虑耐药毒株感染或继发耐药，改用膦甲酸钠。膦甲酸钠为耐药疱疹二线，需静脉给药、可有严重肾不良反应，充分水化降低肾毒性。
来源：共识2023，期刊p16／PDF第4页。膦甲酸钠剂量、疗程、水化量：原文未明确
E28 随访与特殊人群缺项：原文给出内皮密度变化、炎症/眼压关注及药物实验室随访，但未给统一门诊复诊日程、妊娠/哺乳方案、成人肾功能调整表、正式推荐等级。
来源：共识2023，期刊p17／PDF第5页。完整原文p13~19核查；不补编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E25 眼部激素：有效抗病毒基础上，1%醋酸泼尼松龙滴眼液或妥布霉素地塞米松滴眼液4次/d；必要时夜用妥布霉素地塞米松眼膏。羊脂状/尘状KP消退后渐减，每周减少1次，减至1次/d后按炎症决定低浓度激素。监测眼压。
来源：共识2023，期刊p17／PDF第5页。低浓度例：氯替泼诺或0.1%氟米龙；具体后续频次/疗程：原文未明确
E26 眼压管理：伴眼压升高需降眼压，恢复正常后减量/停药；慎用前列腺素类，以免加剧前房炎症和增加复发风险，并注意各药禁忌。
来源：共识2023，期刊p17／PDF第5页。干预阈值、目标眼压、具体降眼压药剂量及完整禁忌清单：原文未明确
E27 移植及复发：严重内皮失代偿需角膜移植/内皮移植；围手术期充分抗病毒，术后全身抗病毒通常3~6个月，定期血常规/肝肾复查。避免劳累、感冒，加强锻炼。
来源：共识2023，期刊p17／PDF第5页。手术具体时机和非药物预防强度：原文未明确
E28 随访与特殊人群缺项：原文给出内皮密度变化、炎症/眼压关注及药物实验室随访，但未给统一门诊复诊日程、妊娠/哺乳方案、成人肾功能调整表、正式推荐等级。
来源：共识2023，期刊p17／PDF第5页。完整原文p13~19核查；不补编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适用范围与诊断标准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3840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05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9144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05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面向眼科门诊与病房的速查摘录，不引入原文以外的诊疗阈值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05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来源：中国病毒性角膜内皮炎诊疗专家共识（2023）｜p为期刊页码，PDF页码=p−12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临床识别〔2023 p14〕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5394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多为单眼发病，常见眼红、畏光、视物模糊、眼痛。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体征：角膜基质水肿、水肿区KP、后弹力层皱褶，可伴前房轻度炎症、虹膜改变、眼压升高。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355080" y="160020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按原文诊断标准〔2023 p15〕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355080" y="2103120"/>
            <a:ext cx="53035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临床诊断：符合依据1（急性起病，感染史/诱因可有）和3（临床体征）。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病因诊断：符合依据1、3和4或5。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4：IVCM辅助检查；猫头鹰眼对应CMV。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5：PCR检查病毒阳性。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4892040"/>
            <a:ext cx="11064240" cy="0"/>
          </a:xfrm>
          <a:prstGeom prst="line">
            <a:avLst/>
          </a:prstGeom>
          <a:noFill/>
          <a:ln w="7620">
            <a:solidFill>
              <a:srgbClr val="C8C8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5120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注意：依据1中的感染病史或免疫下降诱因写作“可存在／可能存在”，不能改为人人必须具备。〔2023 p15〕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年龄适用边界、独立“疑似／确诊”分级、正式推荐等级：原文未明确。〔2023 p13–19〕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分型、风险线索与鉴别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3840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05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9144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05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原文没有正式危险评分或住院／转诊切点；下列为临床描述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05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来源：中国病毒性角膜内皮炎诊疗专家共识（2023）｜p为期刊页码，PDF页码=p−12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2788920"/>
        </p:xfrm>
        <a:graphic>
          <a:graphicData uri="http://schemas.openxmlformats.org/drawingml/2006/table">
            <a:tbl>
              <a:tblPr/>
              <a:tblGrid>
                <a:gridCol w="2331720"/>
                <a:gridCol w="8732520"/>
              </a:tblGrid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临床分型〔2023 p15〕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重点特征与风险〔2023 p15〕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盘状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最常见；界限清晰的盘状基质水肿，水肿区大量羊脂状KP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弥漫性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弥漫水肿与弥散KP；严重水肿时KP可看不清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线状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最严重；进展性线状KP，内皮细胞丢失最快，易失代偿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扇形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扇形水肿、相应区散在KP；界限清晰，无进展性线状KP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6177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重点鉴别〔2023 p15–16〕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48640" y="512064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前葡萄膜炎、角膜基质炎、内皮失代偿、Fuchs、Chandler、移植后排斥、急闭发作。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移植排斥线多在植片内；病毒性KP可跨植片与植床交界。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0" y="4736592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急闭“50~60 mmHg”仅是鉴别描述，不能当作本病降眼压启动阈值。〔2023 p16〕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辅助检查与病原线索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3840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05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9144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05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病原线索服务于检查与鉴别，不能替代原文诊断标准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05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来源：中国病毒性角膜内皮炎诊疗专家共识（2023）｜p为期刊页码，PDF页码=p−12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检查与解释〔2023 p14–15〕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IVCM：观察内皮形态、计数，监测细胞密度变化与预后。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房水PCR：可明确病毒；缓解期阳性率不高，阴性不能排除感染。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必要时补充房水特异抗体与G-W系数；IgM提示近期、IgG提示远期感染。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54480"/>
          <a:ext cx="5623560" cy="3383280"/>
        </p:xfrm>
        <a:graphic>
          <a:graphicData uri="http://schemas.openxmlformats.org/drawingml/2006/table">
            <a:tbl>
              <a:tblPr/>
              <a:tblGrid>
                <a:gridCol w="1051560"/>
                <a:gridCol w="4572000"/>
              </a:tblGrid>
              <a:tr h="845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病原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提示性表现〔2023 p15〕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CMV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线状/扇形、钱币样KP、常眼压高；IVCM猫头鹰眼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HSV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多盘状，也可弥漫；基质水肿、虹膜炎，可有感染史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VZV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四型均可；皮损可有可无；虹膜萎缩、瞳孔变形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5367528"/>
            <a:ext cx="11064240" cy="0"/>
          </a:xfrm>
          <a:prstGeom prst="line">
            <a:avLst/>
          </a:prstGeom>
          <a:noFill/>
          <a:ln w="7620">
            <a:solidFill>
              <a:srgbClr val="C8C8C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555040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PCR病毒载量／Ct、G-W系数切点、内皮细胞密度切点、重复采样时间：原文未明确。〔2023 p13–19〕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一页诊疗流程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3840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05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9144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05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条件与下一步均按2023共识；独立A4流程图含完整监测阈值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05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来源：中国病毒性角膜内皮炎诊疗专家共识（2023）｜p为期刊页码，PDF页码=p−12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444752"/>
            <a:ext cx="7406640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54480"/>
            <a:ext cx="7132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依据1：急性起病，感染史/诱因可有；依据3：基质水肿/KP/后弹力层皱褶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符合1和3 → 临床诊断；不符合 → 核对鉴别〔2023 p15–16〕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51960" y="2240280"/>
            <a:ext cx="0" cy="274320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94360" y="2551176"/>
            <a:ext cx="7406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660904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IVCM + 房水PCR；必要时特异抗体／G-W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按依据1、3和4或5作病因诊断；PCR阴性不能排除〔2023 p14–15〕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51960" y="3355848"/>
            <a:ext cx="0" cy="274320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94360" y="3657600"/>
            <a:ext cx="7406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767328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 按病原抗病毒〔2023 p16–17〕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HSV：阿昔洛韦/更昔洛韦　CMV：更昔洛韦　VZV：更昔洛韦/泛昔洛韦等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51960" y="4462272"/>
            <a:ext cx="0" cy="274320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94360" y="4754880"/>
            <a:ext cx="7406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864608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 在有效抗病毒基础上联合眼部激素；眼压升高则降压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严重内皮失代偿 → 移植及围术期抗病毒〔2023 p17〕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03920" y="15087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治疗前及治疗中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更昔洛韦监测〔2023 p16〕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03920" y="2423160"/>
            <a:ext cx="2971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停药条件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肝肾功能恶化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血小板≤25×10</a:t>
            </a:r>
            <a:r>
              <a:rPr lang="en-US" sz="17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⁹</a:t>
            </a:r>
            <a:r>
              <a:rPr 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粒细胞≤0.5×10</a:t>
            </a:r>
            <a:r>
              <a:rPr lang="en-US" sz="17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⁹</a:t>
            </a:r>
            <a:r>
              <a:rPr 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或降至用药前50%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3周无效 → 考虑耐药，改膦甲酸钠。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复诊间隔、眼压干预阈值：原文未明确。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按病原选择抗病毒与局部用药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3840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05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9144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05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所有药物方案为共识原文摘录；不要补入原文未给的剂量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05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来源：中国病毒性角膜内皮炎诊疗专家共识（2023）｜p为期刊页码，PDF页码=p−12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2103120"/>
        </p:xfrm>
        <a:graphic>
          <a:graphicData uri="http://schemas.openxmlformats.org/drawingml/2006/table">
            <a:tbl>
              <a:tblPr/>
              <a:tblGrid>
                <a:gridCol w="1280160"/>
                <a:gridCol w="9784080"/>
              </a:tblGrid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病原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原文治疗方向〔2023 p16–17〕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HSV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全身与眼部阿昔洛韦或更昔洛韦为主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CMV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全身与眼部首选更昔洛韦；易复发者适当延长治疗；阿昔洛韦无效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VZV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全身更昔洛韦／泛昔洛韦或更高剂量阿昔洛韦；局部更昔洛韦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“更高剂量”的确切数值：原文未明确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776472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局部更昔洛韦〔2023 p16〕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48640" y="4279392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0.15%眼用凝胶或0.1%滴眼液：治疗4~6次/d。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病变痊愈后：2次/d，巩固2~4周。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995160" y="3776472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单篇研究转述，单独标注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995160" y="4279392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共识引述[36]：2%更昔洛韦滴眼液研究为CMV前葡萄膜炎。原文称国内尚无高浓度成品；不提供配制方案或频次。〔2023 p16；文献p19〕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注意：不能把0.15%／0.1%制剂的4~6次/d自动套用到2%制剂。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成人全身抗病毒剂量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3840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05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9144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05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逐项摘录2023共识p16；不以其他指南或药品说明书的方案替换原文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05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来源：中国病毒性角膜内皮炎诊疗专家共识（2023）｜p为期刊页码，PDF页码=p−12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4279392"/>
        </p:xfrm>
        <a:graphic>
          <a:graphicData uri="http://schemas.openxmlformats.org/drawingml/2006/table">
            <a:tbl>
              <a:tblPr/>
              <a:tblGrid>
                <a:gridCol w="1508760"/>
                <a:gridCol w="4892040"/>
                <a:gridCol w="466344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药物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治疗／诱导方案〔2023 p16〕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后续方案／限制〔2023 p16〕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阿昔洛韦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 mg/次，5次/d，共7 d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缓解后400 mg/d，共4~6个月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原文称“减少至诱导剂量”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伐昔洛韦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500 mg/次，2次/d，共7 d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其他维持方案：原文未明确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更昔洛韦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口服1 g/次，3次/d，共14 d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或慢速静滴250 mg/次，1次/12 h，共14 d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维持：口服0.5 g/次，3次/d，共2个月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泛昔洛韦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口服0.25 g/次，3次/d，共7 d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肾功能不全按肾功能调整；具体分档原文未明确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膦甲酸钠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耐药疱疹二线，需静脉给药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可严重肾毒性，需充分水化；剂量／疗程原文未明确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585216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阿昔洛韦：CMV无效；肾功能损伤应避免，静滴过快增加肾损伤风险。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阿昔洛韦“400 mg/d”为每日总量，不能改成400 mg/次。〔2023 p16〕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药物监测、停药阈值与儿童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3840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05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9144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05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更昔洛韦长期用药存在骨髓抑制及肝肾不良反应〔2023 p16〕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05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来源：中国病毒性角膜内皮炎诊疗专家共识（2023）｜p为期刊页码，PDF页码=p−12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更昔洛韦实验室监测〔2023 p16〕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5486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用前：血常规、肝肾功能。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诱导期：血常规每隔3 d，肝肾每周。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维持期：血常规每周，肝肾每2~4周。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停药：肝肾恶化；血小板≤25×10</a:t>
            </a:r>
            <a:r>
              <a:rPr lang="en-US" sz="18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⁹</a:t>
            </a:r>
            <a:r>
              <a:rPr 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/L；粒细胞≤0.5×10</a:t>
            </a:r>
            <a:r>
              <a:rPr lang="en-US" sz="18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⁹</a:t>
            </a:r>
            <a:r>
              <a:rPr 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/L或降至用前50%。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治疗3周无效：考虑耐药，改膦甲酸钠。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骨髓移植患者慎用。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92240" y="150876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儿童方案〔2023 p16〕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492240" y="2011680"/>
            <a:ext cx="5120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阿昔洛韦诱导：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每千克体重10~15 mg/d，共7 d，分3~5次给药。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更昔洛韦：每千克体重5 mg/次。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诱导2次/d，共14 d。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维持1次/d，共2个月。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儿童给药途径：原文未明确。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5715000"/>
            <a:ext cx="11064240" cy="0"/>
          </a:xfrm>
          <a:prstGeom prst="line">
            <a:avLst/>
          </a:prstGeom>
          <a:noFill/>
          <a:ln w="7620">
            <a:solidFill>
              <a:srgbClr val="C8C8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58795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妊娠／哺乳专用方案、儿童年龄分档与最大剂量、肾功能调整表、肝肾恶化数值界值：原文未明确。〔2023 p13–19〕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激素、眼压、手术与随访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3840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05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9144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05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共识建议与原文缺项分开，避免把常识补写成共识规定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05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来源：中国病毒性角膜内皮炎诊疗专家共识（2023）｜p为期刊页码，PDF页码=p−12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激素递减〔2023 p17〕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516636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前提：在有效抗病毒基础上联合眼部激素。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1%醋酸泼尼松龙或妥布霉素地塞米松滴眼液4次/d；必要时夜用后者眼膏。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羊脂状／尘状KP消退后，每周减少1次，至1次/d后按炎症决定低浓度制剂（氯替泼诺、0.1%氟米龙）。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用药中关注眼压。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63640" y="150876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眼压与移植〔2023 p17〕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263640" y="2011680"/>
            <a:ext cx="534924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眼压升高需降压；恢复正常后减停。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慎用前列腺素类，关注各药禁忌。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严重内皮失代偿需角膜／内皮移植；术前后充分抗病毒。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术后全身抗病毒通常3~6个月，定期血常规及肝肾复查。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5257800"/>
            <a:ext cx="11064240" cy="0"/>
          </a:xfrm>
          <a:prstGeom prst="line">
            <a:avLst/>
          </a:prstGeom>
          <a:noFill/>
          <a:ln w="7620">
            <a:solidFill>
              <a:srgbClr val="C8C8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5468112"/>
            <a:ext cx="11064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随访：KP／炎症、眼压、IVCM内皮变化；化验频次见第7页。避免劳累、感冒，加强锻炼。〔2023 p14、16–17〕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60167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统一眼科复诊间隔、目标眼压、完整禁忌清单及推荐等级：原文未明确。〔2023 p13–19〕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 panose="020F0302020204030204"/>
        <a:ea typeface=""/>
        <a:cs typeface="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  <a:font script="Armn" typeface="Arial"/>
        <a:font script="Bugi" typeface="Microsoft YaHei"/>
        <a:font script="Bopo" typeface="Microsoft YaHei"/>
        <a:font script="Java" typeface="Microsoft YaHei"/>
        <a:font script="Lisu" typeface="Microsoft YaHei"/>
        <a:font script="Mymr" typeface="Microsoft YaHei"/>
        <a:font script="Nkoo" typeface="Microsoft YaHei"/>
        <a:font script="Olck" typeface="Microsoft YaHei"/>
        <a:font script="Osma" typeface="Microsoft YaHei"/>
        <a:font script="Phag" typeface="Microsoft YaHei"/>
        <a:font script="Syrn" typeface="Microsoft YaHei"/>
        <a:font script="Syrj" typeface="Microsoft YaHei"/>
        <a:font script="Syre" typeface="Microsoft YaHei"/>
        <a:font script="Sora" typeface="Microsoft YaHei"/>
        <a:font script="Tale" typeface="Microsoft YaHei"/>
        <a:font script="Talu" typeface="Microsoft YaHei"/>
        <a:font script="Tfng" typeface="Microsoft YaHei"/>
      </a:majorFont>
      <a:minorFont>
        <a:latin typeface="Arial" panose="020F0502020204030204"/>
        <a:ea typeface=""/>
        <a:cs typeface="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Arial"/>
        <a:font script="Uigh" typeface="Microsoft YaHei"/>
        <a:font script="Geor" typeface="Microsoft YaHei"/>
        <a:font script="Armn" typeface="Arial"/>
        <a:font script="Bugi" typeface="Microsoft YaHei"/>
        <a:font script="Bopo" typeface="Microsoft YaHei"/>
        <a:font script="Java" typeface="Microsoft YaHei"/>
        <a:font script="Lisu" typeface="Microsoft YaHei"/>
        <a:font script="Mymr" typeface="Microsoft YaHei"/>
        <a:font script="Nkoo" typeface="Microsoft YaHei"/>
        <a:font script="Olck" typeface="Microsoft YaHei"/>
        <a:font script="Osma" typeface="Microsoft YaHei"/>
        <a:font script="Phag" typeface="Microsoft YaHei"/>
        <a:font script="Syrn" typeface="Microsoft YaHei"/>
        <a:font script="Syrj" typeface="Microsoft YaHei"/>
        <a:font script="Syre" typeface="Microsoft YaHei"/>
        <a:font script="Sora" typeface="Microsoft YaHei"/>
        <a:font script="Tale" typeface="Microsoft YaHei"/>
        <a:font script="Talu" typeface="Microsoft YaHei"/>
        <a:font script="Tfng" typeface="Microsoft Ya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病毒性角膜内皮炎｜临床速查</dc:title>
  <dc:subject>2023共识原文摘录</dc:subject>
  <dc:creator>临床资料整理</dc:creator>
  <cp:lastModifiedBy>临床资料整理</cp:lastModifiedBy>
  <cp:revision>1</cp:revision>
  <dcterms:created xsi:type="dcterms:W3CDTF">2026-10-11T09:47:12Z</dcterms:created>
  <dcterms:modified xsi:type="dcterms:W3CDTF">2026-10-11T09:47:12Z</dcterms:modified>
</cp:coreProperties>
</file>