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ioi-01 适用范围：玻璃体腔、视网膜下、脉络膜上腔注药后继发SIOI；目标使用者为开展注药的眼底病专科医师。</a:t>
            </a:r>
          </a:p>
          <a:p>
            <a:r>
              <a:t>来源：2025 刊p493、495 / PDF2、4；类别：适用人群；推荐等级：原文未明确。</a:t>
            </a:r>
          </a:p>
          <a:p>
            <a:r>
              <a:t>原文锚点：共识专家组成员的遴选和组成、利益冲突管理、外部审查和组织批准均根据中华医学会眼科学分会的政策和程序进行。1.2共识使用者目标人群本共识主要适用于中国各级医疗机构中开展眼内注射治疗的眼底病专科医师，特别是涉及抗VEGF药物、糖皮质激素类药物、基因治疗类药物、抗代谢药物以及预防性抗感染药物等治疗领域的临床医师。共识内容主要针对接受上述药物眼内注射治疗后出现继发性SIOI的患者群体，旨在为临床诊疗提供规范化指导。1.3共识专家组成本共识专家组由我国眼底病领域的权威专家共同组成，核心成员包括中华医学会眼科学分会眼底病学组和</a:t>
            </a:r>
          </a:p>
          <a:p/>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ioi-03 推荐二：表现：常为轻中度前/后节炎症、视模糊/飞蚊/轻痛；万古霉素和高剂量抗VEGF可引发RV/RO，多发暗点、黄斑受累可重损视力。</a:t>
            </a:r>
          </a:p>
          <a:p>
            <a:r>
              <a:t>来源：2025 刊p497–498 / PDF6–7；类别：共识推荐；推荐等级：强推荐。</a:t>
            </a:r>
          </a:p>
          <a:p>
            <a:r>
              <a:t>原文锚点：代谢和病情自然进展，血管损伤效应会逐步显现，表现为视网膜和（或）黄斑缺血症状加重，同时视网膜出血也呈现渐进性增加的趋势。推荐意见二：糖皮质激素、低剂量抗VEGF药物、抗代谢药物及基因治疗药物等眼内注射引发的SIOI主要表现为累及眼前后节的轻中度非肉芽肿性炎症，临床症状相对轻微，以视物模糊、飞蚊症、视力年7月第41卷第7期ChinJOculFundusDis,July2025,Vol.41,No.7轻度下降和眼部疼痛等常见表现为主。而万古霉素和高剂量抗VEGF药物所导致的SIOI除前述表现外，还可引发RV和RO，同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ioi-04 推荐三：高危因素：药物、操作与个体因素共同作用；女性、自身免疫病或葡萄膜炎史、促炎药物使用者重点关注。无正式预测分数。</a:t>
            </a:r>
          </a:p>
          <a:p>
            <a:r>
              <a:t>来源：2025 刊p499 / PDF8；类别：共识推荐；推荐等级：中等推荐。</a:t>
            </a:r>
          </a:p>
          <a:p>
            <a:r>
              <a:t>原文锚点：。这一认识对临床实践具有重要指导意义，提示我们需要从更全面的角度来评估和预防SIOI风险，而非简单地归因于患者体质因素。推荐意见三：眼内注药治疗后SIOI的发生是多种因素共同作用的结果，涉及药物特性、注射操作规范以及患者个体因素的复杂交互作用。女性、有自身免疫性疾病或葡萄膜炎病史，以及使用促炎药物的患者风险较高，应予以重点关注（中等推荐）问题4：SIOI是否可被预防和预防性措施的必要性？临床研究表明，糖皮质激素在预防和治疗眼内注药治疗后SIOI方面具有一定效果。Russell等[37]在基因治疗中采用口服糖皮质激素</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ioi-06 储运与操作：原文生物制剂2～8 ℃避光储运，开封后8 h内完成注射；避免弹/剧烈摇注射器。具体药品要求需另核说明书，不将8 h当所有产品通则。</a:t>
            </a:r>
          </a:p>
          <a:p>
            <a:r>
              <a:t>来源：2025 刊p498 / PDF7；类别：操作；推荐等级：原文未明确。</a:t>
            </a:r>
          </a:p>
          <a:p>
            <a:r>
              <a:t>原文锚点：-药物复合物形成等关键环节。对于生物制剂类药物，严格的冷链管理至关重要，必须始终保存在2～8℃的避光环境中，且开封后应在8h内完成注射[7]。在药物保存和运输过程中，温度波动、光照暴露以及机械震荡等因素可能导致注射器内润滑针栓的硅油与药物成分相互作用，形成硅油-药物复合物。这种相互作用可引起蛋白质构象改变、变性甚至聚合，显著增加药物的免疫原性，从而诱发SIOI。在注射准备阶段，临床医师为排除注射器内气泡而采取的手指弹动或剧烈甩动注射器等操作，可能促进硅油释放并加速硅油-药物复合物的形成。此外，注射器内的硅油滴本身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ioi-18 RV/RO升级：RV先排RO；较广/重可全身激素，顽固考虑植入剂/免疫调节。RO更积极抗炎，广泛/累及黄斑可联合降压/血管扩张，定期FFA。</a:t>
            </a:r>
          </a:p>
          <a:p>
            <a:r>
              <a:t>来源：2025 刊p501–502 / PDF10–11；类别：治疗；推荐等级：原文未明确。</a:t>
            </a:r>
          </a:p>
          <a:p>
            <a:r>
              <a:t>原文锚点：对于轻中度患者，可考虑糖皮质激素球周或球内注射；对于范围较广或程度较重的患者，则需要采用口服糖皮质激素等系统性治疗。针对顽固性RV患者，当常规治疗难以有效控制时，可选用糖皮质激素眼内•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a:p/>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ioi-18 RV/RO升级：RV先排RO；较广/重可全身激素，顽固考虑植入剂/免疫调节。RO更积极抗炎，广泛/累及黄斑可联合降压/血管扩张，定期FFA。</a:t>
            </a:r>
          </a:p>
          <a:p>
            <a:r>
              <a:t>来源：2025 刊p501–502 / PDF10–11；类别：治疗；推荐等级：原文未明确。</a:t>
            </a:r>
          </a:p>
          <a:p>
            <a:r>
              <a:t>原文锚点：对于轻中度患者，可考虑糖皮质激素球周或球内注射；对于范围较广或程度较重的患者，则需要采用口服糖皮质激素等系统性治疗。针对顽固性RV患者，当常规治疗难以有效控制时，可选用糖皮质激素眼内•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识别时间、表现与高危人群"/>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识别时间、表现与高危人群</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39107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39107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用范围"/>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适用范围</a:t>
            </a:r>
          </a:p>
        </p:txBody>
      </p:sp>
      <p:sp>
        <p:nvSpPr>
          <p:cNvPr id="9" name="玻璃体腔、视网膜下、脉络膜上腔注药后继发SIOI；目标使用者为开展注药的眼底病专科医师。"/>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玻璃体腔、视网膜下、脉络膜上腔注药后继发SIOI；目标使用者为开展注药的眼底病专科医师。</a:t>
            </a:r>
          </a:p>
        </p:txBody>
      </p:sp>
      <p:sp>
        <p:nvSpPr>
          <p:cNvPr id="10" name="2025 刊p493、495 / PDF2、4"/>
          <p:cNvSpPr txBox="1"/>
          <p:nvPr/>
        </p:nvSpPr>
        <p:spPr>
          <a:xfrm>
            <a:off x="622300" y="257217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刊p493、495 / PDF2、4</a:t>
            </a:r>
          </a:p>
        </p:txBody>
      </p:sp>
      <p:sp>
        <p:nvSpPr>
          <p:cNvPr id="11" name="Rectangle 10"/>
          <p:cNvSpPr/>
          <p:nvPr/>
        </p:nvSpPr>
        <p:spPr>
          <a:xfrm>
            <a:off x="444500" y="2889673"/>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889673"/>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推荐一：发生时间"/>
          <p:cNvSpPr txBox="1"/>
          <p:nvPr/>
        </p:nvSpPr>
        <p:spPr>
          <a:xfrm>
            <a:off x="622300" y="299127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推荐一：发生时间</a:t>
            </a:r>
          </a:p>
        </p:txBody>
      </p:sp>
      <p:sp>
        <p:nvSpPr>
          <p:cNvPr id="14" name="多数SIOI在末次注药10 d内；高剂量抗VEGF呈双峰，第一峰末次注药1周内，第二峰首次注药约4周"/>
          <p:cNvSpPr txBox="1"/>
          <p:nvPr/>
        </p:nvSpPr>
        <p:spPr>
          <a:xfrm>
            <a:off x="622300" y="333417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多数SIOI在末次注药10 d内；高剂量抗VEGF呈双峰，第一峰末次注药1周内，第二峰首次注药约4周。</a:t>
            </a:r>
          </a:p>
          <a:p>
            <a:pPr>
              <a:lnSpc>
                <a:spcPts val="2120"/>
              </a:lnSpc>
              <a:spcBef>
                <a:spcPts val="0"/>
              </a:spcBef>
              <a:spcAft>
                <a:spcPts val="0"/>
              </a:spcAft>
            </a:pPr>
            <a:r>
              <a:rPr sz="1700" b="0" lang="zh-CN">
                <a:solidFill>
                  <a:srgbClr val="1E2E3B"/>
                </a:solidFill>
                <a:latin typeface="Microsoft YaHei"/>
                <a:ea typeface="Microsoft YaHei"/>
                <a:cs typeface="Microsoft YaHei"/>
              </a:rPr>
              <a:t>各药研究发生率为不同样本结果，不能互当预测概率。</a:t>
            </a:r>
          </a:p>
        </p:txBody>
      </p:sp>
      <p:sp>
        <p:nvSpPr>
          <p:cNvPr id="15" name="2025 刊p496–497 / PDF5–6 · 强推荐"/>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刊p496–497 / PDF5–6 · 强推荐</a:t>
            </a:r>
          </a:p>
        </p:txBody>
      </p:sp>
      <p:sp>
        <p:nvSpPr>
          <p:cNvPr id="16" name="Rectangle 15"/>
          <p:cNvSpPr/>
          <p:nvPr/>
        </p:nvSpPr>
        <p:spPr>
          <a:xfrm>
            <a:off x="444500" y="4664286"/>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推荐二：表现"/>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推荐二：表现</a:t>
            </a:r>
          </a:p>
        </p:txBody>
      </p:sp>
      <p:sp>
        <p:nvSpPr>
          <p:cNvPr id="19" name="常为轻中度前/后节炎症、视模糊/飞蚊/轻痛；万古霉素和高剂量抗VEGF可引发RV/RO，多发暗点、黄"/>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常为轻中度前/后节炎症、视模糊/飞蚊/轻痛；万古霉素和高剂量抗VEGF可引发RV/RO，多发暗点、黄</a:t>
            </a:r>
          </a:p>
          <a:p>
            <a:pPr>
              <a:lnSpc>
                <a:spcPts val="2120"/>
              </a:lnSpc>
              <a:spcBef>
                <a:spcPts val="0"/>
              </a:spcBef>
              <a:spcAft>
                <a:spcPts val="0"/>
              </a:spcAft>
            </a:pPr>
            <a:r>
              <a:rPr sz="1700" b="0" lang="zh-CN">
                <a:solidFill>
                  <a:srgbClr val="1E2E3B"/>
                </a:solidFill>
                <a:latin typeface="Microsoft YaHei"/>
                <a:ea typeface="Microsoft YaHei"/>
                <a:cs typeface="Microsoft YaHei"/>
              </a:rPr>
              <a:t>斑受累可重损视力。</a:t>
            </a:r>
          </a:p>
        </p:txBody>
      </p:sp>
      <p:sp>
        <p:nvSpPr>
          <p:cNvPr id="20" name="2025 刊p497–498 / PDF6–7 · 强推荐"/>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刊p497–498 / PDF6–7 · 强推荐</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预防、储运与固定监测"/>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预防、储运与固定监测</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三：高危因素"/>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推荐三：高危因素</a:t>
            </a:r>
          </a:p>
        </p:txBody>
      </p:sp>
      <p:sp>
        <p:nvSpPr>
          <p:cNvPr id="9" name="药物、操作与个体因素共同作用；女性、自身免疫病或葡萄膜炎史、促炎药物使用者重点关注。无正式预测分数。"/>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药物、操作与个体因素共同作用；女性、自身免疫病或葡萄膜炎史、促炎药物使用者重点关注。无正式</a:t>
            </a:r>
          </a:p>
          <a:p>
            <a:pPr>
              <a:lnSpc>
                <a:spcPts val="2120"/>
              </a:lnSpc>
              <a:spcBef>
                <a:spcPts val="0"/>
              </a:spcBef>
              <a:spcAft>
                <a:spcPts val="0"/>
              </a:spcAft>
            </a:pPr>
            <a:r>
              <a:rPr sz="1700" b="0" lang="zh-CN">
                <a:solidFill>
                  <a:srgbClr val="1E2E3B"/>
                </a:solidFill>
                <a:latin typeface="Microsoft YaHei"/>
                <a:ea typeface="Microsoft YaHei"/>
                <a:cs typeface="Microsoft YaHei"/>
              </a:rPr>
              <a:t>预测分数。</a:t>
            </a:r>
          </a:p>
        </p:txBody>
      </p:sp>
      <p:sp>
        <p:nvSpPr>
          <p:cNvPr id="10" name="2025 刊p499 / PDF8 · 中等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刊p499 / PDF8 · 中等推荐</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推荐四：预防"/>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推荐四：预防</a:t>
            </a:r>
          </a:p>
        </p:txBody>
      </p:sp>
      <p:sp>
        <p:nvSpPr>
          <p:cNvPr id="14" name="规范储运，优选无硅油/预充注射器与低免疫原性药物；不常规预防ST-TA，高危/既往SIOI可酌情；高"/>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规范储运，优选无硅油/预充注射器与低免疫原性药物；不常规预防ST-TA，高危/既往SIOI可酌情；高</a:t>
            </a:r>
          </a:p>
          <a:p>
            <a:pPr>
              <a:lnSpc>
                <a:spcPts val="2120"/>
              </a:lnSpc>
              <a:spcBef>
                <a:spcPts val="0"/>
              </a:spcBef>
              <a:spcAft>
                <a:spcPts val="0"/>
              </a:spcAft>
            </a:pPr>
            <a:r>
              <a:rPr sz="1700" b="0" lang="zh-CN">
                <a:solidFill>
                  <a:srgbClr val="1E2E3B"/>
                </a:solidFill>
                <a:latin typeface="Microsoft YaHei"/>
                <a:ea typeface="Microsoft YaHei"/>
                <a:cs typeface="Microsoft YaHei"/>
              </a:rPr>
              <a:t>危者避免双眼同期注药。</a:t>
            </a:r>
          </a:p>
        </p:txBody>
      </p:sp>
      <p:sp>
        <p:nvSpPr>
          <p:cNvPr id="15" name="2025 刊p499 / PDF8 · 中等推荐"/>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刊p499 / PDF8 · 中等推荐</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储运与操作"/>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储运与操作</a:t>
            </a:r>
          </a:p>
        </p:txBody>
      </p:sp>
      <p:sp>
        <p:nvSpPr>
          <p:cNvPr id="19" name="原文生物制剂2～8 ℃避光储运，开封后8 h内完成注射；避免弹/剧烈摇注射器。具体药品要求需另核说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原文生物制剂2～8 ℃避光储运，开封后8 h内完成注射；避免弹/剧烈摇注射器。具体药品要求需另核</a:t>
            </a:r>
          </a:p>
          <a:p>
            <a:pPr>
              <a:lnSpc>
                <a:spcPts val="2120"/>
              </a:lnSpc>
              <a:spcBef>
                <a:spcPts val="0"/>
              </a:spcBef>
              <a:spcAft>
                <a:spcPts val="0"/>
              </a:spcAft>
            </a:pPr>
            <a:r>
              <a:rPr sz="1700" b="0" lang="zh-CN">
                <a:solidFill>
                  <a:srgbClr val="1E2E3B"/>
                </a:solidFill>
                <a:latin typeface="Microsoft YaHei"/>
                <a:ea typeface="Microsoft YaHei"/>
                <a:cs typeface="Microsoft YaHei"/>
              </a:rPr>
              <a:t>说明书，不将8 h当所有产品通则。</a:t>
            </a:r>
          </a:p>
        </p:txBody>
      </p:sp>
      <p:sp>
        <p:nvSpPr>
          <p:cNvPr id="20" name="2025 刊p498 / PDF7"/>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刊p498 / PDF7</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就诊、鉴别与寻找血管病变"/>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就诊、鉴别与寻找血管病变</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五：监测体系"/>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推荐五：监测体系</a:t>
            </a:r>
          </a:p>
        </p:txBody>
      </p:sp>
      <p:sp>
        <p:nvSpPr>
          <p:cNvPr id="9" name="宣教、知情、随访、诊断四环节；高危人群重点说明SIOI表现，专项沟通通道，按药物特性个体化随访。"/>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宣教、知情、随访、诊断四环节；高危人群重点说明SIOI表现，专项沟通通道，按药物特性个体化随</a:t>
            </a:r>
          </a:p>
          <a:p>
            <a:pPr>
              <a:lnSpc>
                <a:spcPts val="2120"/>
              </a:lnSpc>
              <a:spcBef>
                <a:spcPts val="0"/>
              </a:spcBef>
              <a:spcAft>
                <a:spcPts val="0"/>
              </a:spcAft>
            </a:pPr>
            <a:r>
              <a:rPr sz="1700" b="0" lang="zh-CN">
                <a:solidFill>
                  <a:srgbClr val="1E2E3B"/>
                </a:solidFill>
                <a:latin typeface="Microsoft YaHei"/>
                <a:ea typeface="Microsoft YaHei"/>
                <a:cs typeface="Microsoft YaHei"/>
              </a:rPr>
              <a:t>访。</a:t>
            </a:r>
          </a:p>
        </p:txBody>
      </p:sp>
      <p:sp>
        <p:nvSpPr>
          <p:cNvPr id="10" name="2025 刊p500 / PDF9 · 强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 · 强推荐</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固定随访与症状"/>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固定随访与症状</a:t>
            </a:r>
          </a:p>
        </p:txBody>
      </p:sp>
      <p:sp>
        <p:nvSpPr>
          <p:cNvPr id="14" name="注药后第1天、第1周、第4周；持续2 d以上不适/飞蚊加重及时就诊；明显视力下降或畏光立即就诊。图1"/>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注药后第1天、第1周、第4周；持续2 d以上不适/飞蚊加重及时就诊；明显视力下降或畏光立即就诊。</a:t>
            </a:r>
          </a:p>
          <a:p>
            <a:pPr>
              <a:lnSpc>
                <a:spcPts val="2120"/>
              </a:lnSpc>
              <a:spcBef>
                <a:spcPts val="0"/>
              </a:spcBef>
              <a:spcAft>
                <a:spcPts val="0"/>
              </a:spcAft>
            </a:pPr>
            <a:r>
              <a:rPr sz="1700" b="0" lang="zh-CN">
                <a:solidFill>
                  <a:srgbClr val="1E2E3B"/>
                </a:solidFill>
                <a:latin typeface="Microsoft YaHei"/>
                <a:ea typeface="Microsoft YaHei"/>
                <a:cs typeface="Microsoft YaHei"/>
              </a:rPr>
              <a:t>图1写&gt;2 d，保留正文/图示差异。</a:t>
            </a:r>
          </a:p>
        </p:txBody>
      </p:sp>
      <p:sp>
        <p:nvSpPr>
          <p:cNvPr id="15" name="2025 刊p500–501 / PDF9–10"/>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刊p500–501 / PDF9–10</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诊断先鉴别"/>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诊断先鉴别</a:t>
            </a:r>
          </a:p>
        </p:txBody>
      </p:sp>
      <p:sp>
        <p:nvSpPr>
          <p:cNvPr id="19" name="排除感染性眼内炎、葡萄膜炎首发/复发、潜伏病原激活、陈旧积血、TA假性积脓及肿瘤伪装等；视力、眼压、"/>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排除感染性眼内炎、葡萄膜炎首发/复发、潜伏病原激活、陈旧积血、TA假性积脓及肿瘤伪装等；视</a:t>
            </a:r>
          </a:p>
          <a:p>
            <a:pPr>
              <a:lnSpc>
                <a:spcPts val="2120"/>
              </a:lnSpc>
              <a:spcBef>
                <a:spcPts val="0"/>
              </a:spcBef>
              <a:spcAft>
                <a:spcPts val="0"/>
              </a:spcAft>
            </a:pPr>
            <a:r>
              <a:rPr sz="1700" b="0" lang="zh-CN">
                <a:solidFill>
                  <a:srgbClr val="1E2E3B"/>
                </a:solidFill>
                <a:latin typeface="Microsoft YaHei"/>
                <a:ea typeface="Microsoft YaHei"/>
                <a:cs typeface="Microsoft YaHei"/>
              </a:rPr>
              <a:t>力、眼压、裂隙灯和散瞳眼底。</a:t>
            </a:r>
          </a:p>
        </p:txBody>
      </p:sp>
      <p:sp>
        <p:nvSpPr>
          <p:cNvPr id="20" name="2025 刊p500 / PDF9"/>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影像与阶梯治疗"/>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影像与阶梯治疗</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六：寻找RV/RO"/>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推荐六：寻找RV/RO</a:t>
            </a:r>
          </a:p>
        </p:txBody>
      </p:sp>
      <p:sp>
        <p:nvSpPr>
          <p:cNvPr id="9" name="确诊并鉴别后系统排查RV/RO；引导眼位超广角照相、超广角FFA评估周边灌注；所有确诊者强化随访至炎"/>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确诊并鉴别后系统排查RV/RO；引导眼位超广角照相、超广角FFA评估周边灌注；所有确诊者强化随访</a:t>
            </a:r>
          </a:p>
          <a:p>
            <a:pPr>
              <a:lnSpc>
                <a:spcPts val="2120"/>
              </a:lnSpc>
              <a:spcBef>
                <a:spcPts val="0"/>
              </a:spcBef>
              <a:spcAft>
                <a:spcPts val="0"/>
              </a:spcAft>
            </a:pPr>
            <a:r>
              <a:rPr sz="1700" b="0" lang="zh-CN">
                <a:solidFill>
                  <a:srgbClr val="1E2E3B"/>
                </a:solidFill>
                <a:latin typeface="Microsoft YaHei"/>
                <a:ea typeface="Microsoft YaHei"/>
                <a:cs typeface="Microsoft YaHei"/>
              </a:rPr>
              <a:t>至炎症静止。</a:t>
            </a:r>
          </a:p>
        </p:txBody>
      </p:sp>
      <p:sp>
        <p:nvSpPr>
          <p:cNvPr id="10" name="2025 刊p500 / PDF9 · 强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 · 强推荐</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影像替代与不可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影像替代与不可视</a:t>
            </a:r>
          </a:p>
        </p:txBody>
      </p:sp>
      <p:sp>
        <p:nvSpPr>
          <p:cNvPr id="14" name="FFA禁忌/拒绝可用超广角OCTA+引导眼位；有条件ICGA看脉络膜。玻璃体严重混浊，每次B超至眼底"/>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FFA禁忌/拒绝可用超广角OCTA+引导眼位；有条件ICGA看脉络膜。玻璃体严重混浊，每次B超至眼底</a:t>
            </a:r>
          </a:p>
          <a:p>
            <a:pPr>
              <a:lnSpc>
                <a:spcPts val="2120"/>
              </a:lnSpc>
              <a:spcBef>
                <a:spcPts val="0"/>
              </a:spcBef>
              <a:spcAft>
                <a:spcPts val="0"/>
              </a:spcAft>
            </a:pPr>
            <a:r>
              <a:rPr sz="1700" b="0" lang="zh-CN">
                <a:solidFill>
                  <a:srgbClr val="1E2E3B"/>
                </a:solidFill>
                <a:latin typeface="Microsoft YaHei"/>
                <a:ea typeface="Microsoft YaHei"/>
                <a:cs typeface="Microsoft YaHei"/>
              </a:rPr>
              <a:t>可视；后续重复寻找延迟RV/RO。</a:t>
            </a:r>
          </a:p>
        </p:txBody>
      </p:sp>
      <p:sp>
        <p:nvSpPr>
          <p:cNvPr id="15" name="2025 刊p500 / PDF9"/>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刊p500 / PDF9</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轻度与前节强化"/>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轻度与前节强化</a:t>
            </a:r>
          </a:p>
        </p:txBody>
      </p:sp>
      <p:sp>
        <p:nvSpPr>
          <p:cNvPr id="19" name="轻度前房/玻璃体炎可局部NSAID或激素；前节较重可激素每小时1次。充分激素后不缓解或加重 → 重新"/>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轻度前房/玻璃体炎可局部NSAID或激素；前节较重可激素每小时1次。充分激素后不缓解或加重 → 重</a:t>
            </a:r>
          </a:p>
          <a:p>
            <a:pPr>
              <a:lnSpc>
                <a:spcPts val="2120"/>
              </a:lnSpc>
              <a:spcBef>
                <a:spcPts val="0"/>
              </a:spcBef>
              <a:spcAft>
                <a:spcPts val="0"/>
              </a:spcAft>
            </a:pPr>
            <a:r>
              <a:rPr sz="1700" b="0" lang="zh-CN">
                <a:solidFill>
                  <a:srgbClr val="1E2E3B"/>
                </a:solidFill>
                <a:latin typeface="Microsoft YaHei"/>
                <a:ea typeface="Microsoft YaHei"/>
                <a:cs typeface="Microsoft YaHei"/>
              </a:rPr>
              <a:t>新鉴别感染，再决定升级。</a:t>
            </a:r>
          </a:p>
        </p:txBody>
      </p:sp>
      <p:sp>
        <p:nvSpPr>
          <p:cNvPr id="20" name="2025 刊p501 / PDF10"/>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 / PDF10</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原文剂量：局部及RV"/>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原文剂量：局部及RV</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表4：无RV/RO局部剂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表4：无RV/RO局部剂量</a:t>
            </a:r>
          </a:p>
        </p:txBody>
      </p:sp>
      <p:sp>
        <p:nvSpPr>
          <p:cNvPr id="9" name="滴眼4次/d至1次/h；TA结膜下4～8 mg、球旁20～40 mg、球内1～2 mg。球内TA标为"/>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滴眼4次/d至1次/h；TA结膜下4～8 mg、球旁20～40 mg、球内1～2 mg。球内TA标为超说明书用</a:t>
            </a:r>
          </a:p>
          <a:p>
            <a:pPr>
              <a:lnSpc>
                <a:spcPts val="2120"/>
              </a:lnSpc>
              <a:spcBef>
                <a:spcPts val="0"/>
              </a:spcBef>
              <a:spcAft>
                <a:spcPts val="0"/>
              </a:spcAft>
            </a:pPr>
            <a:r>
              <a:rPr sz="1700" b="0" lang="zh-CN">
                <a:solidFill>
                  <a:srgbClr val="1E2E3B"/>
                </a:solidFill>
                <a:latin typeface="Microsoft YaHei"/>
                <a:ea typeface="Microsoft YaHei"/>
                <a:cs typeface="Microsoft YaHei"/>
              </a:rPr>
              <a:t>药，非无条件常规方案。</a:t>
            </a:r>
          </a:p>
        </p:txBody>
      </p:sp>
      <p:sp>
        <p:nvSpPr>
          <p:cNvPr id="10" name="2025 刊p502 / PDF1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表4：RV剂量"/>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表4：RV剂量</a:t>
            </a:r>
          </a:p>
        </p:txBody>
      </p:sp>
      <p:sp>
        <p:nvSpPr>
          <p:cNvPr id="14" name="TA球旁20～40 mg；球内TA 1～2 mg或地塞米松植入剂；口服泼尼松龙0.5～1.0 mg/"/>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TA球旁20～40 mg；球内TA 1～2 mg或地塞米松植入剂；口服泼尼松龙0.5～1.0 mg/（kg·d）；甲</a:t>
            </a:r>
          </a:p>
          <a:p>
            <a:pPr>
              <a:lnSpc>
                <a:spcPts val="2120"/>
              </a:lnSpc>
              <a:spcBef>
                <a:spcPts val="0"/>
              </a:spcBef>
              <a:spcAft>
                <a:spcPts val="0"/>
              </a:spcAft>
            </a:pPr>
            <a:r>
              <a:rPr sz="1700" b="0" lang="zh-CN">
                <a:solidFill>
                  <a:srgbClr val="1E2E3B"/>
                </a:solidFill>
                <a:latin typeface="Microsoft YaHei"/>
                <a:ea typeface="Microsoft YaHei"/>
                <a:cs typeface="Microsoft YaHei"/>
              </a:rPr>
              <a:t>泼尼龙静滴500 mg、1次/d。球内TA超说明书。</a:t>
            </a:r>
          </a:p>
        </p:txBody>
      </p:sp>
      <p:sp>
        <p:nvSpPr>
          <p:cNvPr id="15" name="2025 刊p502 / PDF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药物疗程缺项"/>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药物疗程缺项</a:t>
            </a:r>
          </a:p>
        </p:txBody>
      </p:sp>
      <p:sp>
        <p:nvSpPr>
          <p:cNvPr id="19" name="表4剂量须按个体严重程度升级；统一疗程、递减方式、植入剂剂量、全部免疫调节剂方案和肝肾调整：原文未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表4剂量须按个体严重程度升级；统一疗程、递减方式、植入剂剂量、全部免疫调节剂方案和肝肾调</a:t>
            </a:r>
          </a:p>
          <a:p>
            <a:pPr>
              <a:lnSpc>
                <a:spcPts val="2120"/>
              </a:lnSpc>
              <a:spcBef>
                <a:spcPts val="0"/>
              </a:spcBef>
              <a:spcAft>
                <a:spcPts val="0"/>
              </a:spcAft>
            </a:pPr>
            <a:r>
              <a:rPr sz="1700" b="0" lang="zh-CN">
                <a:solidFill>
                  <a:srgbClr val="1E2E3B"/>
                </a:solidFill>
                <a:latin typeface="Microsoft YaHei"/>
                <a:ea typeface="Microsoft YaHei"/>
                <a:cs typeface="Microsoft YaHei"/>
              </a:rPr>
              <a:t>整：原文未明确，不能补编。</a:t>
            </a:r>
          </a:p>
        </p:txBody>
      </p:sp>
      <p:sp>
        <p:nvSpPr>
          <p:cNvPr id="20" name="2025 刊p502 / PDF1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再注药与特殊HOCRV"/>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RO、再注药与特殊HOCRV</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表4：RO剂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表4：RO剂量</a:t>
            </a:r>
          </a:p>
        </p:txBody>
      </p:sp>
      <p:sp>
        <p:nvSpPr>
          <p:cNvPr id="9" name="TA球旁20～40 mg；球内TA 1～4 mg或地塞米松植入剂；口服泼尼松龙1.0 mg/（kg·"/>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TA球旁20～40 mg；球内TA 1～4 mg或地塞米松植入剂；口服泼尼松龙1.0 mg/（kg·d）；甲泼尼龙</a:t>
            </a:r>
          </a:p>
          <a:p>
            <a:pPr>
              <a:lnSpc>
                <a:spcPts val="2120"/>
              </a:lnSpc>
              <a:spcBef>
                <a:spcPts val="0"/>
              </a:spcBef>
              <a:spcAft>
                <a:spcPts val="0"/>
              </a:spcAft>
            </a:pPr>
            <a:r>
              <a:rPr sz="1700" b="0" lang="zh-CN">
                <a:solidFill>
                  <a:srgbClr val="1E2E3B"/>
                </a:solidFill>
                <a:latin typeface="Microsoft YaHei"/>
                <a:ea typeface="Microsoft YaHei"/>
                <a:cs typeface="Microsoft YaHei"/>
              </a:rPr>
              <a:t>静滴500～750 mg、1次/d。球内TA超说明书。</a:t>
            </a:r>
          </a:p>
        </p:txBody>
      </p:sp>
      <p:sp>
        <p:nvSpPr>
          <p:cNvPr id="10" name="2025 刊p502 / PDF1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活动期与再注药"/>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活动期与再注药</a:t>
            </a:r>
          </a:p>
        </p:txBody>
      </p:sp>
      <p:sp>
        <p:nvSpPr>
          <p:cNvPr id="14" name="炎症活动期严格避免再次用相同/同类药；继续基础抗VEGF需待炎症消退或预计眼内药已清除。TA相关后节"/>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炎症活动期严格避免再次用相同/同类药；继续基础抗VEGF需待炎症消退或预计眼内药已清除。TA相</a:t>
            </a:r>
          </a:p>
          <a:p>
            <a:pPr>
              <a:lnSpc>
                <a:spcPts val="2120"/>
              </a:lnSpc>
              <a:spcBef>
                <a:spcPts val="0"/>
              </a:spcBef>
              <a:spcAft>
                <a:spcPts val="0"/>
              </a:spcAft>
            </a:pPr>
            <a:r>
              <a:rPr sz="1700" b="0" lang="zh-CN">
                <a:solidFill>
                  <a:srgbClr val="1E2E3B"/>
                </a:solidFill>
                <a:latin typeface="Microsoft YaHei"/>
                <a:ea typeface="Microsoft YaHei"/>
                <a:cs typeface="Microsoft YaHei"/>
              </a:rPr>
              <a:t>关后节SIOI避免再行TA玻璃体腔注射。</a:t>
            </a:r>
          </a:p>
        </p:txBody>
      </p:sp>
      <p:sp>
        <p:nvSpPr>
          <p:cNvPr id="15" name="2025 刊p502 / PDF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HOCRV特殊处理"/>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HOCRV特殊处理</a:t>
            </a:r>
          </a:p>
        </p:txBody>
      </p:sp>
      <p:sp>
        <p:nvSpPr>
          <p:cNvPr id="19" name="万古霉素HOCRV视网膜缺血更重，强化抗炎并尽早抗VEGF，广泛缺血可PRP；避免高剂量抗VEGF及"/>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万古霉素HOCRV视网膜缺血更重，强化抗炎并尽早抗VEGF，广泛缺血可PRP；避免高剂量抗VEGF及</a:t>
            </a:r>
          </a:p>
          <a:p>
            <a:pPr>
              <a:lnSpc>
                <a:spcPts val="2120"/>
              </a:lnSpc>
              <a:spcBef>
                <a:spcPts val="0"/>
              </a:spcBef>
              <a:spcAft>
                <a:spcPts val="0"/>
              </a:spcAft>
            </a:pPr>
            <a:r>
              <a:rPr sz="1700" b="0" lang="zh-CN">
                <a:solidFill>
                  <a:srgbClr val="1E2E3B"/>
                </a:solidFill>
                <a:latin typeface="Microsoft YaHei"/>
                <a:ea typeface="Microsoft YaHei"/>
                <a:cs typeface="Microsoft YaHei"/>
              </a:rPr>
              <a:t>基因治疗。此为特殊段落，勿套成普通SIOI早期常规激光。</a:t>
            </a:r>
          </a:p>
        </p:txBody>
      </p:sp>
      <p:sp>
        <p:nvSpPr>
          <p:cNvPr id="20" name="2025 刊p502 / PDF1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升级、推荐强度与预后"/>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升级、推荐强度与预后</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眼内注药后非感染性眼内炎症 · 2025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眼内注药后非感染性眼内炎症 · 2025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推荐七：阶梯治疗"/>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推荐七：阶梯治疗</a:t>
            </a:r>
          </a:p>
        </p:txBody>
      </p:sp>
      <p:sp>
        <p:nvSpPr>
          <p:cNvPr id="9" name="以激素为核心，按部位、严重度、RV/RO选择/升级；每次散瞳与定期FFA。玻切为混浊/残药可有理论获"/>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以激素为核心，按部位、严重度、RV/RO选择/升级；每次散瞳与定期FFA。玻切为混浊/残药可有理论</a:t>
            </a:r>
          </a:p>
          <a:p>
            <a:pPr>
              <a:lnSpc>
                <a:spcPts val="2120"/>
              </a:lnSpc>
              <a:spcBef>
                <a:spcPts val="0"/>
              </a:spcBef>
              <a:spcAft>
                <a:spcPts val="0"/>
              </a:spcAft>
            </a:pPr>
            <a:r>
              <a:rPr sz="1700" b="0" lang="zh-CN">
                <a:solidFill>
                  <a:srgbClr val="1E2E3B"/>
                </a:solidFill>
                <a:latin typeface="Microsoft YaHei"/>
                <a:ea typeface="Microsoft YaHei"/>
                <a:cs typeface="Microsoft YaHei"/>
              </a:rPr>
              <a:t>获益；激光仅用于炎症消退后的广泛无灌注/新生血管。</a:t>
            </a:r>
          </a:p>
        </p:txBody>
      </p:sp>
      <p:sp>
        <p:nvSpPr>
          <p:cNvPr id="10" name="2025 刊p502 / PDF11 · 中等推荐"/>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刊p502 / PDF11 · 中等推荐</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V/RO升级"/>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RV/RO升级</a:t>
            </a:r>
          </a:p>
        </p:txBody>
      </p:sp>
      <p:sp>
        <p:nvSpPr>
          <p:cNvPr id="14" name="RV先排RO；较广/重可全身激素，顽固考虑植入剂/免疫调节。RO更积极抗炎，广泛/累及黄斑可联合降压"/>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RV先排RO；较广/重可全身激素，顽固考虑植入剂/免疫调节。RO更积极抗炎，广泛/累及黄斑可联合</a:t>
            </a:r>
          </a:p>
          <a:p>
            <a:pPr>
              <a:lnSpc>
                <a:spcPts val="2120"/>
              </a:lnSpc>
              <a:spcBef>
                <a:spcPts val="0"/>
              </a:spcBef>
              <a:spcAft>
                <a:spcPts val="0"/>
              </a:spcAft>
            </a:pPr>
            <a:r>
              <a:rPr sz="1700" b="0" lang="zh-CN">
                <a:solidFill>
                  <a:srgbClr val="1E2E3B"/>
                </a:solidFill>
                <a:latin typeface="Microsoft YaHei"/>
                <a:ea typeface="Microsoft YaHei"/>
                <a:cs typeface="Microsoft YaHei"/>
              </a:rPr>
              <a:t>降压/血管扩张，定期FFA。</a:t>
            </a:r>
          </a:p>
        </p:txBody>
      </p:sp>
      <p:sp>
        <p:nvSpPr>
          <p:cNvPr id="15" name="2025 刊p501–502 / PDF10–1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刊p501–502 / PDF10–11</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推荐八：预后"/>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推荐八：预后</a:t>
            </a:r>
          </a:p>
        </p:txBody>
      </p:sp>
      <p:sp>
        <p:nvSpPr>
          <p:cNvPr id="19" name="多数非万古霉素SIOI轻且短；合并RV/RO时预后取决于黄斑受累、缺血程度和RO可逆性，及时积极激素"/>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多数非万古霉素SIOI轻且短；合并RV/RO时预后取决于黄斑受累、缺血程度和RO可逆性，及时积极激</a:t>
            </a:r>
          </a:p>
          <a:p>
            <a:pPr>
              <a:lnSpc>
                <a:spcPts val="2120"/>
              </a:lnSpc>
              <a:spcBef>
                <a:spcPts val="0"/>
              </a:spcBef>
              <a:spcAft>
                <a:spcPts val="0"/>
              </a:spcAft>
            </a:pPr>
            <a:r>
              <a:rPr sz="1700" b="0" lang="zh-CN">
                <a:solidFill>
                  <a:srgbClr val="1E2E3B"/>
                </a:solidFill>
                <a:latin typeface="Microsoft YaHei"/>
                <a:ea typeface="Microsoft YaHei"/>
                <a:cs typeface="Microsoft YaHei"/>
              </a:rPr>
              <a:t>素为核心。</a:t>
            </a:r>
          </a:p>
        </p:txBody>
      </p:sp>
      <p:sp>
        <p:nvSpPr>
          <p:cNvPr id="20" name="2025 刊p503 / PDF12 · 中等推荐"/>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2025 刊p503 / PDF12 · 中等推荐</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眼内注药后非感染性眼内炎症"/>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眼内注药后非感染性眼内炎症</a:t>
            </a:r>
          </a:p>
        </p:txBody>
      </p:sp>
      <p:sp>
        <p:nvSpPr>
          <p:cNvPr id="4" name="判断条件与下一步 · 按本篇原文整理 · 2025"/>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注药后动态监测"/>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注药后动态监测</a:t>
            </a:r>
          </a:p>
        </p:txBody>
      </p:sp>
      <p:sp>
        <p:nvSpPr>
          <p:cNvPr id="7" name="第1天/1周/4周；显著视降或畏光 → 立即就诊；持续2 d以上不适/飞蚊 → 及时就诊。"/>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第1天/1周/4周；显著视降或畏光 → 立即就诊；持续2 d以上不适</a:t>
            </a:r>
          </a:p>
          <a:p>
            <a:pPr>
              <a:lnSpc>
                <a:spcPts val="1630"/>
              </a:lnSpc>
              <a:spcBef>
                <a:spcPts val="0"/>
              </a:spcBef>
              <a:spcAft>
                <a:spcPts val="0"/>
              </a:spcAft>
            </a:pPr>
            <a:r>
              <a:rPr sz="1350" b="0" lang="zh-CN">
                <a:solidFill>
                  <a:srgbClr val="1E2E3B"/>
                </a:solidFill>
                <a:latin typeface="Microsoft YaHei"/>
                <a:ea typeface="Microsoft YaHei"/>
                <a:cs typeface="Microsoft YaHei"/>
              </a:rPr>
              <a:t>/飞蚊 → 及时就诊。</a:t>
            </a:r>
          </a:p>
        </p:txBody>
      </p:sp>
      <p:sp>
        <p:nvSpPr>
          <p:cNvPr id="8" name="2025 刊p500–501"/>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刊p500–501</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是否已排除感染及伪装？"/>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是否已排除感染及伪装？</a:t>
            </a:r>
          </a:p>
        </p:txBody>
      </p:sp>
      <p:sp>
        <p:nvSpPr>
          <p:cNvPr id="12" name="否/不确定 → 完成鉴别，不能直接按无菌炎症处理；完成 → 系统查RV/RO。"/>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否/不确定 → 完成鉴别，不能直接按无菌炎症处理；完成 → 系统</a:t>
            </a:r>
          </a:p>
          <a:p>
            <a:pPr>
              <a:lnSpc>
                <a:spcPts val="1630"/>
              </a:lnSpc>
              <a:spcBef>
                <a:spcPts val="0"/>
              </a:spcBef>
              <a:spcAft>
                <a:spcPts val="0"/>
              </a:spcAft>
            </a:pPr>
            <a:r>
              <a:rPr sz="1350" b="0" lang="zh-CN">
                <a:solidFill>
                  <a:srgbClr val="1E2E3B"/>
                </a:solidFill>
                <a:latin typeface="Microsoft YaHei"/>
                <a:ea typeface="Microsoft YaHei"/>
                <a:cs typeface="Microsoft YaHei"/>
              </a:rPr>
              <a:t>查RV/RO。</a:t>
            </a:r>
          </a:p>
        </p:txBody>
      </p:sp>
      <p:sp>
        <p:nvSpPr>
          <p:cNvPr id="13" name="2025 刊p500"/>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影像及分支"/>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影像及分支</a:t>
            </a:r>
          </a:p>
        </p:txBody>
      </p:sp>
      <p:sp>
        <p:nvSpPr>
          <p:cNvPr id="17" name="照相+FFA看灌注；FFA禁忌可OCTA，混浊B超。无RV/RO、RV、RO三分支按部位/严重度用药"/>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照相+FFA看灌注；FFA禁忌可OCTA，混浊B超。无RV/RO、RV、</a:t>
            </a:r>
          </a:p>
          <a:p>
            <a:pPr>
              <a:lnSpc>
                <a:spcPts val="1630"/>
              </a:lnSpc>
              <a:spcBef>
                <a:spcPts val="0"/>
              </a:spcBef>
              <a:spcAft>
                <a:spcPts val="0"/>
              </a:spcAft>
            </a:pPr>
            <a:r>
              <a:rPr sz="1350" b="0" lang="zh-CN">
                <a:solidFill>
                  <a:srgbClr val="1E2E3B"/>
                </a:solidFill>
                <a:latin typeface="Microsoft YaHei"/>
                <a:ea typeface="Microsoft YaHei"/>
                <a:cs typeface="Microsoft YaHei"/>
              </a:rPr>
              <a:t>RO三分支按部位/严重度用药。</a:t>
            </a:r>
          </a:p>
        </p:txBody>
      </p:sp>
      <p:sp>
        <p:nvSpPr>
          <p:cNvPr id="18" name="2025 刊p500、502"/>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阶梯治疗及疗效判断"/>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阶梯治疗及疗效判断</a:t>
            </a:r>
          </a:p>
        </p:txBody>
      </p:sp>
      <p:sp>
        <p:nvSpPr>
          <p:cNvPr id="22" name="激素充分治疗不缓解/加重 → 重新排感染；RV/RO → 更积极抗炎、定期FFA、按需升级。"/>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激素充分治疗不缓解/加重 → 重新排感染；RV/RO → 更积极抗</a:t>
            </a:r>
          </a:p>
          <a:p>
            <a:pPr>
              <a:lnSpc>
                <a:spcPts val="1630"/>
              </a:lnSpc>
              <a:spcBef>
                <a:spcPts val="0"/>
              </a:spcBef>
              <a:spcAft>
                <a:spcPts val="0"/>
              </a:spcAft>
            </a:pPr>
            <a:r>
              <a:rPr sz="1350" b="0" lang="zh-CN">
                <a:solidFill>
                  <a:srgbClr val="1E2E3B"/>
                </a:solidFill>
                <a:latin typeface="Microsoft YaHei"/>
                <a:ea typeface="Microsoft YaHei"/>
                <a:cs typeface="Microsoft YaHei"/>
              </a:rPr>
              <a:t>炎、定期FFA、按需升级。</a:t>
            </a:r>
          </a:p>
        </p:txBody>
      </p:sp>
      <p:sp>
        <p:nvSpPr>
          <p:cNvPr id="23" name="2025 刊p501–502"/>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刊p501–502</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炎症静止与基础病"/>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炎症静止与基础病</a:t>
            </a:r>
          </a:p>
        </p:txBody>
      </p:sp>
      <p:sp>
        <p:nvSpPr>
          <p:cNvPr id="27" name="活动期避免相同/同类再注；普通SIOI激光仅静止后广泛无灌注/新生血管，HOCRV另评估。"/>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活动期避免相同/同类再注；普通SIOI激光仅静止后广泛无灌注/</a:t>
            </a:r>
          </a:p>
          <a:p>
            <a:pPr>
              <a:lnSpc>
                <a:spcPts val="1630"/>
              </a:lnSpc>
              <a:spcBef>
                <a:spcPts val="0"/>
              </a:spcBef>
              <a:spcAft>
                <a:spcPts val="0"/>
              </a:spcAft>
            </a:pPr>
            <a:r>
              <a:rPr sz="1350" b="0" lang="zh-CN">
                <a:solidFill>
                  <a:srgbClr val="1E2E3B"/>
                </a:solidFill>
                <a:latin typeface="Microsoft YaHei"/>
                <a:ea typeface="Microsoft YaHei"/>
                <a:cs typeface="Microsoft YaHei"/>
              </a:rPr>
              <a:t>新生血管，HOCRV另评估。</a:t>
            </a:r>
          </a:p>
        </p:txBody>
      </p:sp>
      <p:sp>
        <p:nvSpPr>
          <p:cNvPr id="28" name="2025 刊p502"/>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随访至完全静止"/>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随访至完全静止</a:t>
            </a:r>
          </a:p>
        </p:txBody>
      </p:sp>
      <p:sp>
        <p:nvSpPr>
          <p:cNvPr id="32" name="所有确诊者缩短复诊，重复查延迟RV/RO；黄斑缺血影响预后，统一增频间隔/疗程未明确。"/>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所有确诊者缩短复诊，重复查延迟RV/RO；黄斑缺血影响预后，</a:t>
            </a:r>
          </a:p>
          <a:p>
            <a:pPr>
              <a:lnSpc>
                <a:spcPts val="1630"/>
              </a:lnSpc>
              <a:spcBef>
                <a:spcPts val="0"/>
              </a:spcBef>
              <a:spcAft>
                <a:spcPts val="0"/>
              </a:spcAft>
            </a:pPr>
            <a:r>
              <a:rPr sz="1350" b="0" lang="zh-CN">
                <a:solidFill>
                  <a:srgbClr val="1E2E3B"/>
                </a:solidFill>
                <a:latin typeface="Microsoft YaHei"/>
                <a:ea typeface="Microsoft YaHei"/>
                <a:cs typeface="Microsoft YaHei"/>
              </a:rPr>
              <a:t>统一增频间隔/疗程未明确。</a:t>
            </a:r>
          </a:p>
        </p:txBody>
      </p:sp>
      <p:sp>
        <p:nvSpPr>
          <p:cNvPr id="33" name="2025 刊p500、502–503"/>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刊p500、502–503</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