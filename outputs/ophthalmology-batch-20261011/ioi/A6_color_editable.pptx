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ioi-02 推荐一：发生时间：多数SIOI在末次注药10 d内；高剂量抗VEGF呈双峰，第一峰末次注药1周内，第二峰首次注药约4周。各药研究发生率为不同样本结果，不能互当预测概率。</a:t>
            </a:r>
          </a:p>
          <a:p>
            <a:r>
              <a:t>来源：2025 刊p496–497 / PDF5–6；类别：共识推荐；推荐等级：强推荐。</a:t>
            </a:r>
          </a:p>
          <a:p>
            <a:r>
              <a:t>原文锚点：疗方法安全性的临床研究进行了系统观察，结果显示在现有文献报道中，均未发现t-PA注射后继发SIOI的病例[39-40]。推荐意见一：眼内注药治疗后SIOI的发生率低，目前临床常用的各类眼内注射药物包括预防性抗感染药物、抗VEGF药物、糖皮质激素类药物、基因治疗药物以及MTX等抗代谢药物均显示出良好的安全性特中华眼底病杂志2025年7月第41卷第7期ChinJOculFundusDis,Jul表3眼内注药治疗后S给药方式药物名称发生时间玻璃体腔注射万古霉素注药后中位时间8曲安奈德注药后1～3d地塞米松植入剂尚无报告氟</a:t>
            </a:r>
          </a:p>
          <a:p/>
          <a:p>
            <a:r>
              <a:t>ioi-05 推荐四：预防：规范储运，优选无硅油/预充注射器与低免疫原性药物；不常规预防ST-TA，高危/既往SIOI可酌情；高危者避免双眼同期注药。</a:t>
            </a:r>
          </a:p>
          <a:p>
            <a:r>
              <a:t>来源：2025 刊p499 / PDF8；类别：共识推荐；推荐等级：中等推荐。</a:t>
            </a:r>
          </a:p>
          <a:p>
            <a:r>
              <a:t>原文锚点：2～8℃避光条件下储存和运输；优先选用不含硅油的专用注射器或预充式剂型；选择免疫原性低、纯化工艺成熟的药物产品[49]。推荐意见四：通过严格规范药物储存运输条件、选用不含硅油的注射器或预充式剂型以及优先采用免疫原性低且纯化工艺优良的药物，可有效降低眼内注药治疗后SIOI的发生风险。不推荐将ST-TA作为常规预防措施，但对于具有SIOI危险因素或既往发生过SIOI的患者，临床医师可酌情考虑采用该预防措施。针对存在SIOI危险因素的患者，应避免实施双眼同期注药，以最大限度降低潜在风险（中等推荐）。问题5：眼内注药治疗后</a:t>
            </a:r>
          </a:p>
          <a:p/>
          <a:p>
            <a:r>
              <a:t>ioi-07 推荐五：监测体系：宣教、知情、随访、诊断四环节；高危人群重点说明SIOI表现，专项沟通通道，按药物特性个体化随访。</a:t>
            </a:r>
          </a:p>
          <a:p>
            <a:r>
              <a:t>来源：2025 刊p500 / PDF9；类别：共识推荐；推荐等级：强推荐。</a:t>
            </a:r>
          </a:p>
          <a:p>
            <a:r>
              <a:t>原文锚点：对具有SIOI危险因素（如自身免疫性疾病史、既往SIOI发作等）的特殊人群，主治医师可根据个体风险情况酌情增加随访频次。推荐意见五：眼内注药患者的围手术期SIOI监测应当建立系统化的管理流程，重点涵盖注药前宣教、知情告知、注药后随访和SIOI诊断四个关键环节。对于存在SIOI危险因素的患者群体（包括自身免疫性疾病患者、既往非感染性葡萄膜炎病史者、使用促炎药物者以及女性患者等），应在注药前着重说明SIOI的特征性临床表现，设立专项咨询通道确保医患沟通顺畅，并根据药物特性制定个体化的随访时间表（强推荐）。年7月第41卷</a:t>
            </a:r>
          </a:p>
          <a:p/>
          <a:p>
            <a:r>
              <a:t>ioi-08 固定随访与症状：注药后第1天、第1周、第4周；持续2 d以上不适/飞蚊加重及时就诊；明显视力下降或畏光立即就诊。图1写&gt;2 d，保留正文/图示差异。</a:t>
            </a:r>
          </a:p>
          <a:p>
            <a:r>
              <a:t>来源：2025 刊p500–501 / PDF9–10；类别：随访；推荐等级：原文未明确。</a:t>
            </a:r>
          </a:p>
          <a:p>
            <a:r>
              <a:t>原文锚点：OI防控体系的核心环节，需要建立规范化的随访机制和应急响应流程。基于SIOI的发病时间特征，建议在注射后第1天、第1周和第4周设置固定随访时间点，这3个关键时间窗能够覆盖大多数药物的SIOI风险期，有助于及时发现无症状病例。要特别指导患者识别预警症状：当出现持续2d以上的眼部不适或飞蚊症加重时需及时就诊；若伴有显著视力下降或畏光等症状时应立即就诊[66]。为提升随访效率，建议设立玻璃体腔注药专线咨询电话，既便于患者症状咨询，又能快速安排疑似病例复诊[67]。对于常规患者，在3个固定随访点外不必额外增加复诊次数；但对</a:t>
            </a:r>
          </a:p>
          <a:p/>
          <a:p>
            <a:r>
              <a:t>ioi-09 诊断先鉴别：排除感染性眼内炎、葡萄膜炎首发/复发、潜伏病原激活、陈旧积血、TA假性积脓及肿瘤伪装等；视力、眼压、裂隙灯和散瞳眼底。</a:t>
            </a:r>
          </a:p>
          <a:p>
            <a:r>
              <a:t>来源：2025 刊p500 / PDF9；类别：诊断；推荐等级：原文未明确。</a:t>
            </a:r>
          </a:p>
          <a:p>
            <a:r>
              <a:t>原文锚点：ly2025,Vol.41,No.7对于疑似或确诊SIOI的患者，应立即启动全面系统的眼科评估流程，首要任务是进行准确的鉴别诊断，需排除感染性眼内炎、非感染性葡萄膜炎首发/复发、眼内潜伏病原体被激活引起的感染性葡萄膜炎以及其他类似临床表现的疾病（如陈旧性积血、TA颗粒沉积引起的假性前房积脓、肿瘤性伪装综合征等）。标准评估应包括最佳矫正视力、眼压、裂隙灯显微镜和检眼镜检查。强烈建议在引导眼位下进行超广角眼底照相，这不仅有助于全面评估视网膜状况，更为后续随访对比提供客观依据。对于眼底可见度尚可且存在RV或RO表现的患者</a:t>
            </a:r>
          </a:p>
          <a:p/>
          <a:p>
            <a:r>
              <a:t>ioi-10 推荐六：寻找RV/RO：确诊并鉴别后系统排查RV/RO；引导眼位超广角照相、超广角FFA评估周边灌注；所有确诊者强化随访至炎症静止。</a:t>
            </a:r>
          </a:p>
          <a:p>
            <a:r>
              <a:t>来源：2025 刊p500 / PDF9；类别：共识推荐；推荐等级：强推荐。</a:t>
            </a:r>
          </a:p>
          <a:p>
            <a:r>
              <a:t>原文锚点：的RV和（或）RO风险。这类患者需要在积极抗炎治疗的同时，缩短后续随访间隔，并定期重复超广角FFA或超广角OCTA检查。推荐意见六：在确诊SIOI并完成鉴别诊断后，临床评估的核心在于系统排查RV和RO的证据。推荐引导眼位下的超广角眼底照相检查以方便对比随访。强调超广角FFA检查对于评估周边部视网膜血管灌注状态的重要性。鉴于SIOI具有渐进性发展的临床特点，所有确诊患者均需实施强化随访方案，适当缩短复诊间隔，直至炎症完全静止（强推荐）。问题6：SIOI发生后如何干预？SIOI的治疗可遵循“动态管理三步法”的系统化策略</a:t>
            </a:r>
          </a:p>
          <a:p/>
          <a:p>
            <a:r>
              <a:t>ioi-11 影像替代与不可视：FFA禁忌/拒绝可用超广角OCTA+引导眼位；有条件ICGA看脉络膜。玻璃体严重混浊，每次B超至眼底可视；后续重复寻找延迟RV/RO。</a:t>
            </a:r>
          </a:p>
          <a:p>
            <a:r>
              <a:t>来源：2025 刊p500 / PDF9；类别：检查；推荐等级：原文未明确。</a:t>
            </a:r>
          </a:p>
          <a:p>
            <a:r>
              <a:t>原文锚点：受累情况，以确定后续治疗的用药种类、给药方式和积极程度。对于玻璃体混浊严重导致眼底窥视困难的患者，应在每次随访时进行眼部B型超声检查，直至玻璃体混浊改善、眼底可视。SIOI患者即使初期表现轻微，在疾病进展过程中仍可能发展为RV或RO，这一特点要求临床医师必须实施严密的随访监测。所有确诊SIOI的患者均应提高随访频率，特别是在接受治疗后仍需密切观察病情演变[31]。对于因眼前节或玻璃体炎症严重导致眼底观察困难的患者，更应警惕潜在的RV和（或）RO风险。这类患者需要在积极抗炎治疗的同时，缩短后续随访间隔，并定期重复超广</a:t>
            </a:r>
          </a:p>
          <a:p/>
          <a:p>
            <a:r>
              <a:t>ioi-12 轻度与前节强化：轻度前房/玻璃体炎可局部NSAID或激素；前节较重可激素每小时1次。充分激素后不缓解或加重 → 重新鉴别感染，再决定升级。</a:t>
            </a:r>
          </a:p>
          <a:p>
            <a:r>
              <a:t>来源：2025 刊p501 / PDF10；类别：治疗；推荐等级：原文未明确。</a:t>
            </a:r>
          </a:p>
          <a:p>
            <a:r>
              <a:t>原文锚点：甾体抗炎药或糖皮质激素滴眼液治疗通常即可促进炎症消退[19]。当炎症主要累及眼前节且程度较重时，建议采用糖皮质激素滴眼液每小时1次的强化治疗方案，并在治疗过程中密切观察炎症反应变化。每次随访检查时，必须进行充分散瞳后的全面眼底评估，特别要仔细排查RV和RO的征象，重点观察周边部视网膜血管的灌注状态。若频点糖皮质激素滴眼液治疗效果不佳，在严格排除感染性因素后，可逐步升级治疗强度，考虑联合糖皮质激素结膜下注射、球周注射甚至玻璃体腔注射等局部给药方式，必要时可加用全身糖皮质激素治疗。需要特别警惕的是，RV和ly2025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ioi-13 推荐七：阶梯治疗：以激素为核心，按部位、严重度、RV/RO选择/升级；每次散瞳与定期FFA。玻切为混浊/残药可有理论获益；激光仅用于炎症消退后的广泛无灌注/新生血管。</a:t>
            </a:r>
          </a:p>
          <a:p>
            <a:r>
              <a:t>来源：2025 刊p502 / PDF11；类别：共识推荐；推荐等级：中等推荐。</a:t>
            </a:r>
          </a:p>
          <a:p>
            <a:r>
              <a:t>原文锚点：（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FFA以准确判断视网膜缺血的范围和程度。对于严重玻璃体混浊影响观察或药物残留的患者，玻璃体切割手术可通过清除混浊和残留药物获得理论获益。视网膜激光光凝仅适用于炎症消退后仍存在广泛无灌注区或已继发</a:t>
            </a:r>
          </a:p>
          <a:p/>
          <a:p>
            <a:r>
              <a:t>ioi-14 表4：无RV/RO局部剂量：滴眼4次/d至1次/h；TA结膜下4～8 mg、球旁20～40 mg、球内1～2 mg。球内TA标为超说明书用药，非无条件常规方案。</a:t>
            </a:r>
          </a:p>
          <a:p>
            <a:r>
              <a:t>来源：2025 刊p502 / PDF11；类别：用药；推荐等级：原文未明确。</a:t>
            </a:r>
          </a:p>
          <a:p>
            <a:r>
              <a:t>原文锚点：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mg/（kg·d）静脉滴注−甲泼尼龙甲泼尼龙500mg，1次/d500～750mg，1次/d注：SIOI：非感染性眼内炎症；RV：视网膜血管炎；RO：视网膜血管</a:t>
            </a:r>
          </a:p>
          <a:p/>
          <a:p>
            <a:r>
              <a:t>ioi-15 表4：RV剂量：TA球旁20～40 mg；球内TA 1～2 mg或地塞米松植入剂；口服泼尼松龙0.5～1.0 mg/（kg·d）；甲泼尼龙静滴500 mg、1次/d。球内TA超说明书。</a:t>
            </a:r>
          </a:p>
          <a:p>
            <a:r>
              <a:t>来源：2025 刊p502 / PDF11；类别：用药；推荐等级：原文未明确。</a:t>
            </a:r>
          </a:p>
          <a:p>
            <a:r>
              <a:t>原文锚点：g球内注射TA#1～2mgTA#1～2mg；TA#1～4mg；地地塞米松玻璃塞米松玻璃体内体内植入剂植入剂口服−泼尼松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a:t>
            </a:r>
          </a:p>
          <a:p/>
          <a:p>
            <a:r>
              <a:t>ioi-16 表4：RO剂量：TA球旁20～40 mg；球内TA 1～4 mg或地塞米松植入剂；口服泼尼松龙1.0 mg/（kg·d）；甲泼尼龙静滴500～750 mg、1次/d。球内TA超说明书。</a:t>
            </a:r>
          </a:p>
          <a:p>
            <a:r>
              <a:t>来源：2025 刊p502 / PDF11；类别：用药；推荐等级：原文未明确。</a:t>
            </a:r>
          </a:p>
          <a:p>
            <a:r>
              <a:t>原文锚点：龙0.5～泼尼松龙1.0mg/（kg·d）1.0mg/（kg·d）静脉滴注−甲泼尼龙甲泼尼龙500mg，1次/d500～750mg，1次/d注：SIOI：非感染性眼内炎症；RV：视网膜血管炎；RO：视网膜血管闭塞；TA：曲安奈德；*：医师需根据病情严重程度并结合患者具体临床按需升级/升阶梯选用；#：球内注射曲安奈德为超说明书用药植入剂进行治疗，必要时联合免疫调节剂全身应用。对于确诊RO的患者，应联合ICGA评估脉络膜血管受累程度，并通过FFA精确测定视网膜无灌注区的范围和面积，尤其要重点关注周边部视网膜的灌注状态。</a:t>
            </a:r>
          </a:p>
          <a:p/>
          <a:p>
            <a:r>
              <a:t>ioi-17 药物疗程缺项：表4剂量须按个体严重程度升级；统一疗程、递减方式、植入剂剂量、全部免疫调节剂方案和肝肾调整：原文未明确，不能补编。</a:t>
            </a:r>
          </a:p>
          <a:p>
            <a:r>
              <a:t>来源：2025 刊p502 / PDF11；类别：原文未明确；推荐等级：原文未明确。</a:t>
            </a:r>
          </a:p>
          <a:p>
            <a:r>
              <a:t>原文锚点：•502•中华眼底病杂志2025表4SIOI治疗用糖皮质激素类药物可选给药途径和剂量*炎症累及眼前节/严重给药方式玻璃体炎（无RVRO程度*RV/VO）滴眼4次/d至1次/h−−结膜下注射TA4～8mg−−球旁注射TA20～40mgTA20～40mgTA20～40mg球内注射TA#1～2mgTA#1～2mg；TA#1～4mg；地地塞米松玻璃塞米松玻璃体内体内植入剂植入剂口服−泼尼松龙0.5～泼尼松龙1.0mg/（kg·d）1.0</a:t>
            </a:r>
          </a:p>
          <a:p/>
          <a:p>
            <a:r>
              <a:t>ioi-19 活动期与再注药：炎症活动期严格避免再次用相同/同类药；继续基础抗VEGF需待炎症消退或预计眼内药已清除。TA相关后节SIOI避免再行TA玻璃体腔注射。</a:t>
            </a:r>
          </a:p>
          <a:p>
            <a:r>
              <a:t>来源：2025 刊p502 / PDF11；类别：禁忌；推荐等级：原文未明确。</a:t>
            </a:r>
          </a:p>
          <a:p>
            <a:r>
              <a:t>原文锚点：质激素眼内植入剂进行治疗，但应避免再次采用TA玻璃体腔注射的治疗方案，以防止可能的药物相关性炎症反应加重。在SIOI炎症活动期，应严格避免再次使用相同或同类药物，以免加重炎症反应。对于因基础疾病（如wAMD等）仍需继续抗VEGF药物治疗的患者，须待眼内炎症完全消退，或预计眼内药物已完全代谢清除之后再启动后续治疗。推荐意见七：SIOI的治疗应采取以糖皮质激素为核心的阶梯化方案，具体用药选择和干预强度需根据炎症累及范围、严重程度以及是否合并RV和（或）RO综合决定。强调每次随访时散瞳眼底检查的重要性，推荐定期（超广角）</a:t>
            </a:r>
          </a:p>
          <a:p/>
          <a:p>
            <a:r>
              <a:t>ioi-20 HOCRV特殊处理：万古霉素HOCRV视网膜缺血更重，强化抗炎并尽早抗VEGF，广泛缺血可PRP；避免高剂量抗VEGF及基因治疗。此为特殊段落，勿套成普通SIOI早期常规激光。</a:t>
            </a:r>
          </a:p>
          <a:p>
            <a:r>
              <a:t>来源：2025 刊p502 / PDF11；类别：特殊人群；推荐等级：原文未明确。</a:t>
            </a:r>
          </a:p>
          <a:p>
            <a:r>
              <a:t>原文锚点：I完全静止后，对于炎症导致的持续性玻璃体混浊影响视力者，玻璃体切割手术可作为改善视功能的治疗选择。万古霉素眼内注射引发的HOCRV导致的视网膜缺血损害程度显著重于抗VEGF药物相关视网膜血管病变[15]。年7月第41卷第7期ChinJOculFundusDis,July2025,Vol.41,No.7针对此类重症患者，需采取更为积极的综合治疗策略。在强化抗炎治疗方面，应早期足量使用糖皮质激素，通过球周注射、玻璃体腔注射或全身给药等途径快速控制炎症反应，同时需尽早启动抗VEGF药物治疗以减轻血管渗漏和缺血性损伤。对于</a:t>
            </a:r>
          </a:p>
          <a:p/>
          <a:p>
            <a:r>
              <a:t>ioi-21 推荐八：预后：多数非万古霉素SIOI轻且短；合并RV/RO时预后取决于黄斑受累、缺血程度和RO可逆性，及时积极激素为核心。</a:t>
            </a:r>
          </a:p>
          <a:p>
            <a:r>
              <a:t>来源：2025 刊p503 / PDF12；类别：共识推荐；推荐等级：中等推荐。</a:t>
            </a:r>
          </a:p>
          <a:p>
            <a:r>
              <a:t>原文锚点：体预后相对良好，数据显示最终导致严重视力损害（视力下降＞2行）的比例约为15%，而致终末视力严重丧失者不足1%[33]。推荐意见八：除万古霉素引发的HOCRV外，大多数眼内注药治疗后SIOI具有病情轻微、病程短暂的特点。然而，当SIOI合并RV或RO时，患者的视力预后主要取决于黄斑区是否受累、缺血严重程度以及黄斑部RO是否可逆。及时而积极的糖皮质激素治疗仍是改善此类患者视力预后的核心干预措施（中等推荐）。3展望随着眼科治疗领域中眼内注射药物种类的不断丰富和给药途径的日益多元化，SIOI的临床表现呈现出越来越复杂的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 name="2025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正面</a:t>
            </a:r>
          </a:p>
        </p:txBody>
      </p:sp>
      <p:sp>
        <p:nvSpPr>
          <p:cNvPr id="5" name="Rectangle 4"/>
          <p:cNvSpPr/>
          <p:nvPr/>
        </p:nvSpPr>
        <p:spPr>
          <a:xfrm>
            <a:off x="172720" y="74422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症状与时间"/>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症状与时间</a:t>
            </a:r>
          </a:p>
        </p:txBody>
      </p:sp>
      <p:sp>
        <p:nvSpPr>
          <p:cNvPr id="7" name="多数末次10 d内，高剂量抗VEGF有末次1周内/首次约4周双峰〔强推荐〕。显著视力下降/畏光立即就"/>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多数末次10 d内，高剂量抗VEGF有末次1周内/首次约4周双</a:t>
            </a:r>
          </a:p>
          <a:p>
            <a:pPr>
              <a:lnSpc>
                <a:spcPts val="1160"/>
              </a:lnSpc>
              <a:spcBef>
                <a:spcPts val="0"/>
              </a:spcBef>
              <a:spcAft>
                <a:spcPts val="0"/>
              </a:spcAft>
            </a:pPr>
            <a:r>
              <a:rPr sz="950" b="0" lang="zh-CN">
                <a:solidFill>
                  <a:srgbClr val="1E2E3B"/>
                </a:solidFill>
                <a:latin typeface="Microsoft YaHei"/>
                <a:ea typeface="Microsoft YaHei"/>
                <a:cs typeface="Microsoft YaHei"/>
              </a:rPr>
              <a:t>峰〔强推荐〕。显著视力下降/畏光立即就诊；持续2 d以上</a:t>
            </a:r>
          </a:p>
          <a:p>
            <a:pPr>
              <a:lnSpc>
                <a:spcPts val="1160"/>
              </a:lnSpc>
              <a:spcBef>
                <a:spcPts val="0"/>
              </a:spcBef>
              <a:spcAft>
                <a:spcPts val="0"/>
              </a:spcAft>
            </a:pPr>
            <a:r>
              <a:rPr sz="950" b="0" lang="zh-CN">
                <a:solidFill>
                  <a:srgbClr val="1E2E3B"/>
                </a:solidFill>
                <a:latin typeface="Microsoft YaHei"/>
                <a:ea typeface="Microsoft YaHei"/>
                <a:cs typeface="Microsoft YaHei"/>
              </a:rPr>
              <a:t>不适或飞蚊及时就诊。</a:t>
            </a:r>
          </a:p>
        </p:txBody>
      </p:sp>
      <p:sp>
        <p:nvSpPr>
          <p:cNvPr id="8" name="2025 刊p496–497、500–501"/>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刊p496–497、500–501</a:t>
            </a:r>
          </a:p>
        </p:txBody>
      </p:sp>
      <p:sp>
        <p:nvSpPr>
          <p:cNvPr id="9" name="Rectangle 8"/>
          <p:cNvSpPr/>
          <p:nvPr/>
        </p:nvSpPr>
        <p:spPr>
          <a:xfrm>
            <a:off x="172720" y="16586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先鉴别感染"/>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先鉴别感染</a:t>
            </a:r>
          </a:p>
        </p:txBody>
      </p:sp>
      <p:sp>
        <p:nvSpPr>
          <p:cNvPr id="11" name="视力/眼压/前节/散瞳眼底；排感染及其他伪装。无明显疼痛不能据此排感染；激素无效重新排查感染。"/>
          <p:cNvSpPr txBox="1"/>
          <p:nvPr/>
        </p:nvSpPr>
        <p:spPr>
          <a:xfrm>
            <a:off x="274320" y="18491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视力/眼压/前节/散瞳眼底；排感染及其他伪装。无明显疼痛</a:t>
            </a:r>
          </a:p>
          <a:p>
            <a:pPr>
              <a:lnSpc>
                <a:spcPts val="1160"/>
              </a:lnSpc>
              <a:spcBef>
                <a:spcPts val="0"/>
              </a:spcBef>
              <a:spcAft>
                <a:spcPts val="0"/>
              </a:spcAft>
            </a:pPr>
            <a:r>
              <a:rPr sz="950" b="0" lang="zh-CN">
                <a:solidFill>
                  <a:srgbClr val="1E2E3B"/>
                </a:solidFill>
                <a:latin typeface="Microsoft YaHei"/>
                <a:ea typeface="Microsoft YaHei"/>
                <a:cs typeface="Microsoft YaHei"/>
              </a:rPr>
              <a:t>不能据此排感染；激素无效重新排查感染。</a:t>
            </a:r>
          </a:p>
        </p:txBody>
      </p:sp>
      <p:sp>
        <p:nvSpPr>
          <p:cNvPr id="12" name="2025 刊p500–501"/>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刊p500–501</a:t>
            </a:r>
          </a:p>
        </p:txBody>
      </p:sp>
      <p:sp>
        <p:nvSpPr>
          <p:cNvPr id="13" name="Rectangle 12"/>
          <p:cNvSpPr/>
          <p:nvPr/>
        </p:nvSpPr>
        <p:spPr>
          <a:xfrm>
            <a:off x="172720" y="2425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排查RV/RO"/>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排查RV/RO</a:t>
            </a:r>
          </a:p>
        </p:txBody>
      </p:sp>
      <p:sp>
        <p:nvSpPr>
          <p:cNvPr id="15" name="引导眼位超广角照相、FFA看周边灌注〔强推荐〕；FFA禁忌可OCTA，混浊每次B超。初阴性仍需找延迟"/>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引导眼位超广角照相、FFA看周边灌注〔强推荐〕；FFA禁忌</a:t>
            </a:r>
          </a:p>
          <a:p>
            <a:pPr>
              <a:lnSpc>
                <a:spcPts val="1160"/>
              </a:lnSpc>
              <a:spcBef>
                <a:spcPts val="0"/>
              </a:spcBef>
              <a:spcAft>
                <a:spcPts val="0"/>
              </a:spcAft>
            </a:pPr>
            <a:r>
              <a:rPr sz="950" b="0" lang="zh-CN">
                <a:solidFill>
                  <a:srgbClr val="1E2E3B"/>
                </a:solidFill>
                <a:latin typeface="Microsoft YaHei"/>
                <a:ea typeface="Microsoft YaHei"/>
                <a:cs typeface="Microsoft YaHei"/>
              </a:rPr>
              <a:t>可OCTA，混浊每次B超。初阴性仍需找延迟RV/RO。</a:t>
            </a:r>
          </a:p>
        </p:txBody>
      </p:sp>
      <p:sp>
        <p:nvSpPr>
          <p:cNvPr id="16" name="2025 刊p50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刊p500</a:t>
            </a:r>
          </a:p>
        </p:txBody>
      </p:sp>
      <p:sp>
        <p:nvSpPr>
          <p:cNvPr id="17" name="Rectangle 16"/>
          <p:cNvSpPr/>
          <p:nvPr/>
        </p:nvSpPr>
        <p:spPr>
          <a:xfrm>
            <a:off x="172720" y="31927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与预防"/>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随访与预防</a:t>
            </a:r>
          </a:p>
        </p:txBody>
      </p:sp>
      <p:sp>
        <p:nvSpPr>
          <p:cNvPr id="19" name="第1天/1周/4周；确诊后强化随访至炎症静止。高危避免双眼同期；ST-TA不作常规预防〔中等推荐〕。"/>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第1天/1周/4周；确诊后强化随访至炎症静止。高危避免双眼</a:t>
            </a:r>
          </a:p>
          <a:p>
            <a:pPr>
              <a:lnSpc>
                <a:spcPts val="1160"/>
              </a:lnSpc>
              <a:spcBef>
                <a:spcPts val="0"/>
              </a:spcBef>
              <a:spcAft>
                <a:spcPts val="0"/>
              </a:spcAft>
            </a:pPr>
            <a:r>
              <a:rPr sz="950" b="0" lang="zh-CN">
                <a:solidFill>
                  <a:srgbClr val="1E2E3B"/>
                </a:solidFill>
                <a:latin typeface="Microsoft YaHei"/>
                <a:ea typeface="Microsoft YaHei"/>
                <a:cs typeface="Microsoft YaHei"/>
              </a:rPr>
              <a:t>同期；ST-TA不作常规预防〔中等推荐〕。</a:t>
            </a:r>
          </a:p>
        </p:txBody>
      </p:sp>
      <p:sp>
        <p:nvSpPr>
          <p:cNvPr id="20" name="2025 刊p499–501"/>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刊p499–501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眼内注药后非感染性眼内炎症"/>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眼内注药后非感染性眼内炎症</a:t>
            </a:r>
          </a:p>
        </p:txBody>
      </p:sp>
      <p:sp>
        <p:nvSpPr>
          <p:cNvPr id="4" name="2025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专家共识 · 背面</a:t>
            </a:r>
          </a:p>
        </p:txBody>
      </p:sp>
      <p:sp>
        <p:nvSpPr>
          <p:cNvPr id="5" name="Rectangle 4"/>
          <p:cNvSpPr/>
          <p:nvPr/>
        </p:nvSpPr>
        <p:spPr>
          <a:xfrm>
            <a:off x="172720" y="7442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局部与RV剂量"/>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局部与RV剂量</a:t>
            </a:r>
          </a:p>
        </p:txBody>
      </p:sp>
      <p:sp>
        <p:nvSpPr>
          <p:cNvPr id="7" name="无RV/RO：滴眼4次/d至1次/h；TA结膜下4～8 mg、球旁20～40 mg、球内1～2 mg"/>
          <p:cNvSpPr txBox="1"/>
          <p:nvPr/>
        </p:nvSpPr>
        <p:spPr>
          <a:xfrm>
            <a:off x="274320" y="934719"/>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无RV/RO：滴眼4次/d至1次/h；TA结膜下4～8 mg、球旁</a:t>
            </a:r>
          </a:p>
          <a:p>
            <a:pPr>
              <a:lnSpc>
                <a:spcPts val="1160"/>
              </a:lnSpc>
              <a:spcBef>
                <a:spcPts val="0"/>
              </a:spcBef>
              <a:spcAft>
                <a:spcPts val="0"/>
              </a:spcAft>
            </a:pPr>
            <a:r>
              <a:rPr sz="950" b="0" lang="zh-CN">
                <a:solidFill>
                  <a:srgbClr val="1E2E3B"/>
                </a:solidFill>
                <a:latin typeface="Microsoft YaHei"/>
                <a:ea typeface="Microsoft YaHei"/>
                <a:cs typeface="Microsoft YaHei"/>
              </a:rPr>
              <a:t>20～40 mg、球内1～2 mg。RV口服泼尼松龙0.5～1.0 mg/(</a:t>
            </a:r>
          </a:p>
          <a:p>
            <a:pPr>
              <a:lnSpc>
                <a:spcPts val="1160"/>
              </a:lnSpc>
              <a:spcBef>
                <a:spcPts val="0"/>
              </a:spcBef>
              <a:spcAft>
                <a:spcPts val="0"/>
              </a:spcAft>
            </a:pPr>
            <a:r>
              <a:rPr sz="950" b="0" lang="zh-CN">
                <a:solidFill>
                  <a:srgbClr val="1E2E3B"/>
                </a:solidFill>
                <a:latin typeface="Microsoft YaHei"/>
                <a:ea typeface="Microsoft YaHei"/>
                <a:cs typeface="Microsoft YaHei"/>
              </a:rPr>
              <a:t>kg·d)。</a:t>
            </a:r>
          </a:p>
        </p:txBody>
      </p:sp>
      <p:sp>
        <p:nvSpPr>
          <p:cNvPr id="8" name="2025 刊p502"/>
          <p:cNvSpPr txBox="1"/>
          <p:nvPr/>
        </p:nvSpPr>
        <p:spPr>
          <a:xfrm>
            <a:off x="274320" y="140208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9" name="Rectangle 8"/>
          <p:cNvSpPr/>
          <p:nvPr/>
        </p:nvSpPr>
        <p:spPr>
          <a:xfrm>
            <a:off x="172720" y="1658620"/>
            <a:ext cx="3434560" cy="8636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剂量摘录"/>
          <p:cNvSpPr txBox="1"/>
          <p:nvPr/>
        </p:nvSpPr>
        <p:spPr>
          <a:xfrm>
            <a:off x="274320" y="16967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RO剂量摘录</a:t>
            </a:r>
          </a:p>
        </p:txBody>
      </p:sp>
      <p:sp>
        <p:nvSpPr>
          <p:cNvPr id="11" name="RO：泼尼松龙1.0 mg/(kg·d)，或甲泼尼龙静滴500～750 mg、1次/d；TA球旁20"/>
          <p:cNvSpPr txBox="1"/>
          <p:nvPr/>
        </p:nvSpPr>
        <p:spPr>
          <a:xfrm>
            <a:off x="274320" y="18491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RO：泼尼松龙1.0 mg/(kg·d)，或甲泼尼龙静滴500～750</a:t>
            </a:r>
          </a:p>
          <a:p>
            <a:pPr>
              <a:lnSpc>
                <a:spcPts val="1160"/>
              </a:lnSpc>
              <a:spcBef>
                <a:spcPts val="0"/>
              </a:spcBef>
              <a:spcAft>
                <a:spcPts val="0"/>
              </a:spcAft>
            </a:pPr>
            <a:r>
              <a:rPr sz="950" b="0" lang="zh-CN">
                <a:solidFill>
                  <a:srgbClr val="1E2E3B"/>
                </a:solidFill>
                <a:latin typeface="Microsoft YaHei"/>
                <a:ea typeface="Microsoft YaHei"/>
                <a:cs typeface="Microsoft YaHei"/>
              </a:rPr>
              <a:t>mg、1次/d；TA球旁20～40 mg/球内1～4 mg。须个体化，</a:t>
            </a:r>
          </a:p>
          <a:p>
            <a:pPr>
              <a:lnSpc>
                <a:spcPts val="1160"/>
              </a:lnSpc>
              <a:spcBef>
                <a:spcPts val="0"/>
              </a:spcBef>
              <a:spcAft>
                <a:spcPts val="0"/>
              </a:spcAft>
            </a:pPr>
            <a:r>
              <a:rPr sz="950" b="0" lang="zh-CN">
                <a:solidFill>
                  <a:srgbClr val="1E2E3B"/>
                </a:solidFill>
                <a:latin typeface="Microsoft YaHei"/>
                <a:ea typeface="Microsoft YaHei"/>
                <a:cs typeface="Microsoft YaHei"/>
              </a:rPr>
              <a:t>球内TA为超说明书用药。</a:t>
            </a:r>
          </a:p>
        </p:txBody>
      </p:sp>
      <p:sp>
        <p:nvSpPr>
          <p:cNvPr id="12" name="2025 刊p502"/>
          <p:cNvSpPr txBox="1"/>
          <p:nvPr/>
        </p:nvSpPr>
        <p:spPr>
          <a:xfrm>
            <a:off x="274320" y="23164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3" name="Rectangle 12"/>
          <p:cNvSpPr/>
          <p:nvPr/>
        </p:nvSpPr>
        <p:spPr>
          <a:xfrm>
            <a:off x="172720" y="257302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阶梯与禁忌"/>
          <p:cNvSpPr txBox="1"/>
          <p:nvPr/>
        </p:nvSpPr>
        <p:spPr>
          <a:xfrm>
            <a:off x="274320" y="26111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阶梯与禁忌</a:t>
            </a:r>
          </a:p>
        </p:txBody>
      </p:sp>
      <p:sp>
        <p:nvSpPr>
          <p:cNvPr id="15" name="按部位/RV/RO升级〔中等推荐〕。活动期避免相同/同类药再注；TA相关者避免再玻璃体TA。普通SI"/>
          <p:cNvSpPr txBox="1"/>
          <p:nvPr/>
        </p:nvSpPr>
        <p:spPr>
          <a:xfrm>
            <a:off x="274320" y="276352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按部位/RV/RO升级〔中等推荐〕。活动期避免相同/同类药再</a:t>
            </a:r>
          </a:p>
          <a:p>
            <a:pPr>
              <a:lnSpc>
                <a:spcPts val="1160"/>
              </a:lnSpc>
              <a:spcBef>
                <a:spcPts val="0"/>
              </a:spcBef>
              <a:spcAft>
                <a:spcPts val="0"/>
              </a:spcAft>
            </a:pPr>
            <a:r>
              <a:rPr sz="950" b="0" lang="zh-CN">
                <a:solidFill>
                  <a:srgbClr val="1E2E3B"/>
                </a:solidFill>
                <a:latin typeface="Microsoft YaHei"/>
                <a:ea typeface="Microsoft YaHei"/>
                <a:cs typeface="Microsoft YaHei"/>
              </a:rPr>
              <a:t>注；TA相关者避免再玻璃体TA。普通SIOI激光须在炎症消退</a:t>
            </a:r>
          </a:p>
          <a:p>
            <a:pPr>
              <a:lnSpc>
                <a:spcPts val="1160"/>
              </a:lnSpc>
              <a:spcBef>
                <a:spcPts val="0"/>
              </a:spcBef>
              <a:spcAft>
                <a:spcPts val="0"/>
              </a:spcAft>
            </a:pPr>
            <a:r>
              <a:rPr sz="950" b="0" lang="zh-CN">
                <a:solidFill>
                  <a:srgbClr val="1E2E3B"/>
                </a:solidFill>
                <a:latin typeface="Microsoft YaHei"/>
                <a:ea typeface="Microsoft YaHei"/>
                <a:cs typeface="Microsoft YaHei"/>
              </a:rPr>
              <a:t>后按适应证。</a:t>
            </a:r>
          </a:p>
        </p:txBody>
      </p:sp>
      <p:sp>
        <p:nvSpPr>
          <p:cNvPr id="16" name="2025 刊p502"/>
          <p:cNvSpPr txBox="1"/>
          <p:nvPr/>
        </p:nvSpPr>
        <p:spPr>
          <a:xfrm>
            <a:off x="274320" y="323087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a:t>
            </a:r>
          </a:p>
        </p:txBody>
      </p:sp>
      <p:sp>
        <p:nvSpPr>
          <p:cNvPr id="17" name="Rectangle 16"/>
          <p:cNvSpPr/>
          <p:nvPr/>
        </p:nvSpPr>
        <p:spPr>
          <a:xfrm>
            <a:off x="172720" y="34874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后与缺项"/>
          <p:cNvSpPr txBox="1"/>
          <p:nvPr/>
        </p:nvSpPr>
        <p:spPr>
          <a:xfrm>
            <a:off x="274320" y="35255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预后与缺项</a:t>
            </a:r>
          </a:p>
        </p:txBody>
      </p:sp>
      <p:sp>
        <p:nvSpPr>
          <p:cNvPr id="19" name="黄斑缺血/RO可逆性影响预后〔中等推荐〕。HOCRV另走特殊路径。统一激素疗程/递减、复诊增频间隔未"/>
          <p:cNvSpPr txBox="1"/>
          <p:nvPr/>
        </p:nvSpPr>
        <p:spPr>
          <a:xfrm>
            <a:off x="274320" y="36779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黄斑缺血/RO可逆性影响预后〔中等推荐〕。HOCRV另走特</a:t>
            </a:r>
          </a:p>
          <a:p>
            <a:pPr>
              <a:lnSpc>
                <a:spcPts val="1160"/>
              </a:lnSpc>
              <a:spcBef>
                <a:spcPts val="0"/>
              </a:spcBef>
              <a:spcAft>
                <a:spcPts val="0"/>
              </a:spcAft>
            </a:pPr>
            <a:r>
              <a:rPr sz="950" b="0" lang="zh-CN">
                <a:solidFill>
                  <a:srgbClr val="1E2E3B"/>
                </a:solidFill>
                <a:latin typeface="Microsoft YaHei"/>
                <a:ea typeface="Microsoft YaHei"/>
                <a:cs typeface="Microsoft YaHei"/>
              </a:rPr>
              <a:t>殊路径。统一激素疗程/递减、复诊增频间隔未明确。</a:t>
            </a:r>
          </a:p>
        </p:txBody>
      </p:sp>
      <p:sp>
        <p:nvSpPr>
          <p:cNvPr id="20" name="2025 刊p502–503"/>
          <p:cNvSpPr txBox="1"/>
          <p:nvPr/>
        </p:nvSpPr>
        <p:spPr>
          <a:xfrm>
            <a:off x="274320" y="39979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刊p502–503</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眼内注药后非感染性眼内炎症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