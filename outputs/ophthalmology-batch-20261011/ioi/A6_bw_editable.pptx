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44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症状与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7" name="多数末次10 d内，高剂量抗VEGF有约1周/首次4周双峰〔强推荐〕。显著视力下降/畏光立即就诊；持"/>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000000"/>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000000"/>
                </a:solidFill>
                <a:latin typeface="Microsoft YaHei"/>
                <a:ea typeface="Microsoft YaHei"/>
                <a:cs typeface="Microsoft YaHei"/>
              </a:rPr>
              <a:t>飞蚊及时就诊。</a:t>
            </a:r>
          </a:p>
        </p:txBody>
      </p:sp>
      <p:sp>
        <p:nvSpPr>
          <p:cNvPr id="8" name="2025 刊p496–497、500–501"/>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9" name="Rectangle 8"/>
          <p:cNvSpPr/>
          <p:nvPr/>
        </p:nvSpPr>
        <p:spPr>
          <a:xfrm>
            <a:off x="172720" y="1658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先鉴别感染"/>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11" name="视力/眼压/前节/散瞳眼底；排感染及其他伪装。无明显疼痛不能据此排感染；激素无效重新排查感染。"/>
          <p:cNvSpPr txBox="1"/>
          <p:nvPr/>
        </p:nvSpPr>
        <p:spPr>
          <a:xfrm>
            <a:off x="274320" y="1849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12" name="2025 刊p500–501"/>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13" name="Rectangle 12"/>
          <p:cNvSpPr/>
          <p:nvPr/>
        </p:nvSpPr>
        <p:spPr>
          <a:xfrm>
            <a:off x="172720" y="2425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排查RV/RO"/>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15" name="引导眼位超广角照相、FFA看周边灌注〔强推荐〕；FFA禁忌可OCTA，混浊每次B超。初阴性仍需找延迟"/>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16" name="2025 刊p50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17" name="Rectangle 16"/>
          <p:cNvSpPr/>
          <p:nvPr/>
        </p:nvSpPr>
        <p:spPr>
          <a:xfrm>
            <a:off x="172720" y="3192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与预防"/>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19" name="第1天/1周/4周；确诊缩短至炎症静止。高危避免双眼同期；ST-TA不作常规预防〔中等推荐〕。"/>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000000"/>
                </a:solidFill>
                <a:latin typeface="Microsoft YaHei"/>
                <a:ea typeface="Microsoft YaHei"/>
                <a:cs typeface="Microsoft YaHei"/>
              </a:rPr>
              <a:t>ST-TA不作常规预防〔中等推荐〕。</a:t>
            </a:r>
          </a:p>
        </p:txBody>
      </p:sp>
      <p:sp>
        <p:nvSpPr>
          <p:cNvPr id="20" name="2025 刊p499–501"/>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44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局部与RV剂量"/>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7" name="无RV/RO：滴眼4次/d至1次/h；TA结膜下4～8 mg、球旁20～40 mg、球内1～2 mg"/>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8" name="2025 刊p502"/>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9" name="Rectangle 8"/>
          <p:cNvSpPr/>
          <p:nvPr/>
        </p:nvSpPr>
        <p:spPr>
          <a:xfrm>
            <a:off x="172720" y="1658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剂量摘录"/>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11" name="RO：泼尼松龙1.0 mg/(kg·d)，或甲泼尼龙静滴500～750 mg、1次/d；TA球旁20"/>
          <p:cNvSpPr txBox="1"/>
          <p:nvPr/>
        </p:nvSpPr>
        <p:spPr>
          <a:xfrm>
            <a:off x="274320" y="1849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球内TA超说明书。</a:t>
            </a:r>
          </a:p>
        </p:txBody>
      </p:sp>
      <p:sp>
        <p:nvSpPr>
          <p:cNvPr id="12" name="2025 刊p502"/>
          <p:cNvSpPr txBox="1"/>
          <p:nvPr/>
        </p:nvSpPr>
        <p:spPr>
          <a:xfrm>
            <a:off x="274320" y="23164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573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阶梯与禁忌"/>
          <p:cNvSpPr txBox="1"/>
          <p:nvPr/>
        </p:nvSpPr>
        <p:spPr>
          <a:xfrm>
            <a:off x="274320" y="2611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15" name="按部位/RV/RO升级〔中等推荐〕。活动期避免相同/同类药再注；TA相关者避免再玻璃体TA。普通SI"/>
          <p:cNvSpPr txBox="1"/>
          <p:nvPr/>
        </p:nvSpPr>
        <p:spPr>
          <a:xfrm>
            <a:off x="274320" y="2763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000000"/>
                </a:solidFill>
                <a:latin typeface="Microsoft YaHei"/>
                <a:ea typeface="Microsoft YaHei"/>
                <a:cs typeface="Microsoft YaHei"/>
              </a:rPr>
              <a:t>适应证。</a:t>
            </a:r>
          </a:p>
        </p:txBody>
      </p:sp>
      <p:sp>
        <p:nvSpPr>
          <p:cNvPr id="16" name="2025 刊p502"/>
          <p:cNvSpPr txBox="1"/>
          <p:nvPr/>
        </p:nvSpPr>
        <p:spPr>
          <a:xfrm>
            <a:off x="274320" y="32308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487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后与缺项"/>
          <p:cNvSpPr txBox="1"/>
          <p:nvPr/>
        </p:nvSpPr>
        <p:spPr>
          <a:xfrm>
            <a:off x="274320" y="3525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19" name="黄斑缺血/RO可逆性影响预后〔中等推荐〕。HOCRV另走特殊路径。统一激素疗程/递减、复诊增频间隔未"/>
          <p:cNvSpPr txBox="1"/>
          <p:nvPr/>
        </p:nvSpPr>
        <p:spPr>
          <a:xfrm>
            <a:off x="274320" y="3677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20" name="2025 刊p502–503"/>
          <p:cNvSpPr txBox="1"/>
          <p:nvPr/>
        </p:nvSpPr>
        <p:spPr>
          <a:xfrm>
            <a:off x="274320" y="3997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