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a:p/>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a:p/>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a:p/>
          <a:p>
            <a:r>
              <a:t>ioi-18 RV/RO升级：RV先排RO；较广/重可全身激素，顽固考虑植入剂/免疫调节。RO更积极抗炎，广泛/累及黄斑可联合降压/血管扩张，定期FFA。</a:t>
            </a:r>
          </a:p>
          <a:p>
            <a:r>
              <a:t>来源：2025 刊p501–502 / PDF10–11；类别：治疗；推荐等级：原文未明确。</a:t>
            </a:r>
          </a:p>
          <a:p>
            <a:r>
              <a:t>原文锚点：对于轻中度患者，可考虑糖皮质激素球周或球内注射；对于范围较广或程度较重的患者，则需要采用口服糖皮质激素等系统性治疗。针对顽固性RV患者，当常规治疗难以有效控制时，可选用糖皮质激素眼内•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眼内注药后非感染性眼内炎症"/>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眼内注药后非感染性眼内炎症</a:t>
            </a:r>
          </a:p>
        </p:txBody>
      </p:sp>
      <p:sp>
        <p:nvSpPr>
          <p:cNvPr id="4" name="判断条件与下一步 · 按本篇原文整理 · 2025"/>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2025</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注药后动态监测"/>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注药后动态监测</a:t>
            </a:r>
          </a:p>
        </p:txBody>
      </p:sp>
      <p:sp>
        <p:nvSpPr>
          <p:cNvPr id="7" name="第1天/1周/4周；显著视降或畏光 → 立即就诊；持续2 d以上不适/飞蚊 → 及时就诊。"/>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第1天/1周/4周；显著视降或畏光 → 立即就诊；持续2 d</a:t>
            </a:r>
          </a:p>
          <a:p>
            <a:pPr>
              <a:lnSpc>
                <a:spcPts val="1630"/>
              </a:lnSpc>
              <a:spcBef>
                <a:spcPts val="0"/>
              </a:spcBef>
              <a:spcAft>
                <a:spcPts val="0"/>
              </a:spcAft>
            </a:pPr>
            <a:r>
              <a:rPr sz="1340" b="0" lang="zh-CN">
                <a:solidFill>
                  <a:srgbClr val="1E2E3B"/>
                </a:solidFill>
                <a:latin typeface="Microsoft YaHei"/>
                <a:ea typeface="Microsoft YaHei"/>
                <a:cs typeface="Microsoft YaHei"/>
              </a:rPr>
              <a:t>以上不适/飞蚊 → 及时就诊。</a:t>
            </a:r>
          </a:p>
        </p:txBody>
      </p:sp>
      <p:sp>
        <p:nvSpPr>
          <p:cNvPr id="8" name="2025 刊p500–501 / PDF9–10"/>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刊p500–501 / PDF9–10</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是否已排除感染及伪装？"/>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是否已排除感染及伪装？</a:t>
            </a:r>
          </a:p>
        </p:txBody>
      </p:sp>
      <p:sp>
        <p:nvSpPr>
          <p:cNvPr id="12" name="否/不确定 → 完成鉴别，不能直接按无菌炎症处理；完成 → 系统查RV/RO。"/>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否/不确定 → 完成鉴别，不能直接按无菌炎症处理；完</a:t>
            </a:r>
          </a:p>
          <a:p>
            <a:pPr>
              <a:lnSpc>
                <a:spcPts val="1630"/>
              </a:lnSpc>
              <a:spcBef>
                <a:spcPts val="0"/>
              </a:spcBef>
              <a:spcAft>
                <a:spcPts val="0"/>
              </a:spcAft>
            </a:pPr>
            <a:r>
              <a:rPr sz="1340" b="0" lang="zh-CN">
                <a:solidFill>
                  <a:srgbClr val="1E2E3B"/>
                </a:solidFill>
                <a:latin typeface="Microsoft YaHei"/>
                <a:ea typeface="Microsoft YaHei"/>
                <a:cs typeface="Microsoft YaHei"/>
              </a:rPr>
              <a:t>成 → 系统查RV/RO。</a:t>
            </a:r>
          </a:p>
        </p:txBody>
      </p:sp>
      <p:sp>
        <p:nvSpPr>
          <p:cNvPr id="13" name="2025 刊p500 / PDF9"/>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 / PDF9</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影像及分支"/>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影像及分支</a:t>
            </a:r>
          </a:p>
        </p:txBody>
      </p:sp>
      <p:sp>
        <p:nvSpPr>
          <p:cNvPr id="17" name="照相+FFA看灌注；FFA禁忌可OCTA，混浊B超。无RV/RO、RV、RO三分支按部位/严重度用药"/>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照相+FFA看灌注；FFA禁忌可OCTA，混浊B超。无</a:t>
            </a:r>
          </a:p>
          <a:p>
            <a:pPr>
              <a:lnSpc>
                <a:spcPts val="1630"/>
              </a:lnSpc>
              <a:spcBef>
                <a:spcPts val="0"/>
              </a:spcBef>
              <a:spcAft>
                <a:spcPts val="0"/>
              </a:spcAft>
            </a:pPr>
            <a:r>
              <a:rPr sz="1340" b="0" lang="zh-CN">
                <a:solidFill>
                  <a:srgbClr val="1E2E3B"/>
                </a:solidFill>
                <a:latin typeface="Microsoft YaHei"/>
                <a:ea typeface="Microsoft YaHei"/>
                <a:cs typeface="Microsoft YaHei"/>
              </a:rPr>
              <a:t>RV/RO、RV、RO三分支按部位/严重度用药。</a:t>
            </a:r>
          </a:p>
        </p:txBody>
      </p:sp>
      <p:sp>
        <p:nvSpPr>
          <p:cNvPr id="18" name="2025 刊p500、502 / PDF9、11"/>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刊p500、502 / PDF9、11</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阶梯治疗及疗效判断"/>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阶梯治疗及疗效判断</a:t>
            </a:r>
          </a:p>
        </p:txBody>
      </p:sp>
      <p:sp>
        <p:nvSpPr>
          <p:cNvPr id="22" name="激素充分治疗不缓解/加重 → 重新排感染；RV/RO → 更积极抗炎、定期FFA、按需升级。"/>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激素充分治疗不缓解/加重 → 重新排感染；RV/RO → 更</a:t>
            </a:r>
          </a:p>
          <a:p>
            <a:pPr>
              <a:lnSpc>
                <a:spcPts val="1630"/>
              </a:lnSpc>
              <a:spcBef>
                <a:spcPts val="0"/>
              </a:spcBef>
              <a:spcAft>
                <a:spcPts val="0"/>
              </a:spcAft>
            </a:pPr>
            <a:r>
              <a:rPr sz="1340" b="0" lang="zh-CN">
                <a:solidFill>
                  <a:srgbClr val="1E2E3B"/>
                </a:solidFill>
                <a:latin typeface="Microsoft YaHei"/>
                <a:ea typeface="Microsoft YaHei"/>
                <a:cs typeface="Microsoft YaHei"/>
              </a:rPr>
              <a:t>积极抗炎、定期FFA、按需升级。</a:t>
            </a:r>
          </a:p>
        </p:txBody>
      </p:sp>
      <p:sp>
        <p:nvSpPr>
          <p:cNvPr id="23" name="2025 刊p501–502 / PDF10–11"/>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刊p501–502 / PDF10–11</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炎症静止与基础病"/>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炎症静止与基础病</a:t>
            </a:r>
          </a:p>
        </p:txBody>
      </p:sp>
      <p:sp>
        <p:nvSpPr>
          <p:cNvPr id="27" name="活动期避免相同/同类再注；普通SIOI激光仅静止后广泛无灌注/新生血管，HOCRV另评估。"/>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活动期避免相同/同类再注；普通SIOI激光仅静止后广泛</a:t>
            </a:r>
          </a:p>
          <a:p>
            <a:pPr>
              <a:lnSpc>
                <a:spcPts val="1630"/>
              </a:lnSpc>
              <a:spcBef>
                <a:spcPts val="0"/>
              </a:spcBef>
              <a:spcAft>
                <a:spcPts val="0"/>
              </a:spcAft>
            </a:pPr>
            <a:r>
              <a:rPr sz="1340" b="0" lang="zh-CN">
                <a:solidFill>
                  <a:srgbClr val="1E2E3B"/>
                </a:solidFill>
                <a:latin typeface="Microsoft YaHei"/>
                <a:ea typeface="Microsoft YaHei"/>
                <a:cs typeface="Microsoft YaHei"/>
              </a:rPr>
              <a:t>无灌注/新生血管，HOCRV另评估。</a:t>
            </a:r>
          </a:p>
        </p:txBody>
      </p:sp>
      <p:sp>
        <p:nvSpPr>
          <p:cNvPr id="28" name="2025 刊p502 / PDF11"/>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 / PDF11</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随访至完全静止"/>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随访至完全静止</a:t>
            </a:r>
          </a:p>
        </p:txBody>
      </p:sp>
      <p:sp>
        <p:nvSpPr>
          <p:cNvPr id="32" name="所有确诊者缩短复诊，重复查延迟RV/RO；黄斑缺血影响预后，统一增频间隔/疗程未明确。"/>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所有确诊者缩短复诊，重复查延迟RV/RO；黄斑缺血影</a:t>
            </a:r>
          </a:p>
          <a:p>
            <a:pPr>
              <a:lnSpc>
                <a:spcPts val="1630"/>
              </a:lnSpc>
              <a:spcBef>
                <a:spcPts val="0"/>
              </a:spcBef>
              <a:spcAft>
                <a:spcPts val="0"/>
              </a:spcAft>
            </a:pPr>
            <a:r>
              <a:rPr sz="1340" b="0" lang="zh-CN">
                <a:solidFill>
                  <a:srgbClr val="1E2E3B"/>
                </a:solidFill>
                <a:latin typeface="Microsoft YaHei"/>
                <a:ea typeface="Microsoft YaHei"/>
                <a:cs typeface="Microsoft YaHei"/>
              </a:rPr>
              <a:t>响预后，统一增频间隔/疗程未明确。</a:t>
            </a:r>
          </a:p>
        </p:txBody>
      </p:sp>
      <p:sp>
        <p:nvSpPr>
          <p:cNvPr id="33" name="2025 刊p500、502–503 / PDF9、11–12"/>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刊p500、502–503 / PDF9、11–12</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眼内注药后非感染性眼内炎症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