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ioi-02 推荐一：发生时间：多数SIOI在末次注药10 d内；高剂量抗VEGF呈双峰，第一峰末次注药1周内，第二峰首次注药约4周。各药研究发生率为不同样本结果，不能互当预测概率。</a:t>
            </a:r>
          </a:p>
          <a:p>
            <a:r>
              <a:t>来源：2025 刊p496–497 / PDF5–6；类别：共识推荐；推荐等级：强推荐。</a:t>
            </a:r>
          </a:p>
          <a:p>
            <a:r>
              <a:t>原文锚点：疗方法安全性的临床研究进行了系统观察，结果显示在现有文献报道中，均未发现t-PA注射后继发SIOI的病例[39-40]。推荐意见一：眼内注药治疗后SIOI的发生率低，目前临床常用的各类眼内注射药物包括预防性抗感染药物、抗VEGF药物、糖皮质激素类药物、基因治疗药物以及MTX等抗代谢药物均显示出良好的安全性特中华眼底病杂志2025年7月第41卷第7期ChinJOculFundusDis,Jul表3眼内注药治疗后S给药方式药物名称发生时间玻璃体腔注射万古霉素注药后中位时间8曲安奈德注药后1～3d地塞米松植入剂尚无报告氟</a:t>
            </a:r>
          </a:p>
          <a:p/>
          <a:p>
            <a:r>
              <a:t>ioi-05 推荐四：预防：规范储运，优选无硅油/预充注射器与低免疫原性药物；不常规预防ST-TA，高危/既往SIOI可酌情；高危者避免双眼同期注药。</a:t>
            </a:r>
          </a:p>
          <a:p>
            <a:r>
              <a:t>来源：2025 刊p499 / PDF8；类别：共识推荐；推荐等级：中等推荐。</a:t>
            </a:r>
          </a:p>
          <a:p>
            <a:r>
              <a:t>原文锚点：2～8℃避光条件下储存和运输；优先选用不含硅油的专用注射器或预充式剂型；选择免疫原性低、纯化工艺成熟的药物产品[49]。推荐意见四：通过严格规范药物储存运输条件、选用不含硅油的注射器或预充式剂型以及优先采用免疫原性低且纯化工艺优良的药物，可有效降低眼内注药治疗后SIOI的发生风险。不推荐将ST-TA作为常规预防措施，但对于具有SIOI危险因素或既往发生过SIOI的患者，临床医师可酌情考虑采用该预防措施。针对存在SIOI危险因素的患者，应避免实施双眼同期注药，以最大限度降低潜在风险（中等推荐）。问题5：眼内注药治疗后</a:t>
            </a:r>
          </a:p>
          <a:p/>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a:p/>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4" name="2025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5" name="Rectangle 4"/>
          <p:cNvSpPr/>
          <p:nvPr/>
        </p:nvSpPr>
        <p:spPr>
          <a:xfrm>
            <a:off x="172720" y="762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症状与时间"/>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症状与时间</a:t>
            </a:r>
          </a:p>
        </p:txBody>
      </p:sp>
      <p:sp>
        <p:nvSpPr>
          <p:cNvPr id="7" name="多数末次10 d内，高剂量抗VEGF有约1周/首次4周双峰〔强推荐〕。显著视力下降/畏光立即就诊；持"/>
          <p:cNvSpPr txBox="1"/>
          <p:nvPr/>
        </p:nvSpPr>
        <p:spPr>
          <a:xfrm>
            <a:off x="27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多数末次10 d内，高剂量抗VEGF有约1周/首次4周双峰〔强</a:t>
            </a:r>
          </a:p>
          <a:p>
            <a:pPr>
              <a:lnSpc>
                <a:spcPts val="1160"/>
              </a:lnSpc>
              <a:spcBef>
                <a:spcPts val="0"/>
              </a:spcBef>
              <a:spcAft>
                <a:spcPts val="0"/>
              </a:spcAft>
            </a:pPr>
            <a:r>
              <a:rPr sz="950" b="0" lang="zh-CN">
                <a:solidFill>
                  <a:srgbClr val="1E2E3B"/>
                </a:solidFill>
                <a:latin typeface="Microsoft YaHei"/>
                <a:ea typeface="Microsoft YaHei"/>
                <a:cs typeface="Microsoft YaHei"/>
              </a:rPr>
              <a:t>推荐〕。显著视力下降/畏光立即就诊；持续2 d以上不适或</a:t>
            </a:r>
          </a:p>
          <a:p>
            <a:pPr>
              <a:lnSpc>
                <a:spcPts val="1160"/>
              </a:lnSpc>
              <a:spcBef>
                <a:spcPts val="0"/>
              </a:spcBef>
              <a:spcAft>
                <a:spcPts val="0"/>
              </a:spcAft>
            </a:pPr>
            <a:r>
              <a:rPr sz="950" b="0" lang="zh-CN">
                <a:solidFill>
                  <a:srgbClr val="1E2E3B"/>
                </a:solidFill>
                <a:latin typeface="Microsoft YaHei"/>
                <a:ea typeface="Microsoft YaHei"/>
                <a:cs typeface="Microsoft YaHei"/>
              </a:rPr>
              <a:t>飞蚊及时就诊。</a:t>
            </a:r>
          </a:p>
        </p:txBody>
      </p:sp>
      <p:sp>
        <p:nvSpPr>
          <p:cNvPr id="8" name="2025 刊p496–497、500–501"/>
          <p:cNvSpPr txBox="1"/>
          <p:nvPr/>
        </p:nvSpPr>
        <p:spPr>
          <a:xfrm>
            <a:off x="27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刊p496–497、500–501</a:t>
            </a:r>
          </a:p>
        </p:txBody>
      </p:sp>
      <p:sp>
        <p:nvSpPr>
          <p:cNvPr id="9" name="Rectangle 8"/>
          <p:cNvSpPr/>
          <p:nvPr/>
        </p:nvSpPr>
        <p:spPr>
          <a:xfrm>
            <a:off x="172720" y="16766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先鉴别感染"/>
          <p:cNvSpPr txBox="1"/>
          <p:nvPr/>
        </p:nvSpPr>
        <p:spPr>
          <a:xfrm>
            <a:off x="27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先鉴别感染</a:t>
            </a:r>
          </a:p>
        </p:txBody>
      </p:sp>
      <p:sp>
        <p:nvSpPr>
          <p:cNvPr id="11" name="视力/眼压/前节/散瞳眼底；排感染及其他伪装。无明显疼痛不能据此排感染；激素无效重新排查感染。"/>
          <p:cNvSpPr txBox="1"/>
          <p:nvPr/>
        </p:nvSpPr>
        <p:spPr>
          <a:xfrm>
            <a:off x="27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1E2E3B"/>
                </a:solidFill>
                <a:latin typeface="Microsoft YaHei"/>
                <a:ea typeface="Microsoft YaHei"/>
                <a:cs typeface="Microsoft YaHei"/>
              </a:rPr>
              <a:t>不能据此排感染；激素无效重新排查感染。</a:t>
            </a:r>
          </a:p>
        </p:txBody>
      </p:sp>
      <p:sp>
        <p:nvSpPr>
          <p:cNvPr id="12" name="2025 刊p500–501"/>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刊p500–501</a:t>
            </a:r>
          </a:p>
        </p:txBody>
      </p:sp>
      <p:sp>
        <p:nvSpPr>
          <p:cNvPr id="13" name="Rectangle 12"/>
          <p:cNvSpPr/>
          <p:nvPr/>
        </p:nvSpPr>
        <p:spPr>
          <a:xfrm>
            <a:off x="172720" y="2443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排查RV/RO"/>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排查RV/RO</a:t>
            </a:r>
          </a:p>
        </p:txBody>
      </p:sp>
      <p:sp>
        <p:nvSpPr>
          <p:cNvPr id="15" name="引导眼位超广角照相、FFA看周边灌注〔强推荐〕；FFA禁忌可OCTA，混浊每次B超。初阴性仍需找延迟"/>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1E2E3B"/>
                </a:solidFill>
                <a:latin typeface="Microsoft YaHei"/>
                <a:ea typeface="Microsoft YaHei"/>
                <a:cs typeface="Microsoft YaHei"/>
              </a:rPr>
              <a:t>可OCTA，混浊每次B超。初阴性仍需找延迟RV/RO。</a:t>
            </a:r>
          </a:p>
        </p:txBody>
      </p:sp>
      <p:sp>
        <p:nvSpPr>
          <p:cNvPr id="16" name="2025 刊p500"/>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a:t>
            </a:r>
          </a:p>
        </p:txBody>
      </p:sp>
      <p:sp>
        <p:nvSpPr>
          <p:cNvPr id="17" name="Rectangle 16"/>
          <p:cNvSpPr/>
          <p:nvPr/>
        </p:nvSpPr>
        <p:spPr>
          <a:xfrm>
            <a:off x="172720" y="32107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与预防"/>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随访与预防</a:t>
            </a:r>
          </a:p>
        </p:txBody>
      </p:sp>
      <p:sp>
        <p:nvSpPr>
          <p:cNvPr id="19" name="第1天/1周/4周；确诊缩短至炎症静止。高危避免双眼同期；ST-TA不作常规预防〔中等推荐〕。"/>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第1天/1周/4周；确诊缩短至炎症静止。高危避免双眼同期；</a:t>
            </a:r>
          </a:p>
          <a:p>
            <a:pPr>
              <a:lnSpc>
                <a:spcPts val="1160"/>
              </a:lnSpc>
              <a:spcBef>
                <a:spcPts val="0"/>
              </a:spcBef>
              <a:spcAft>
                <a:spcPts val="0"/>
              </a:spcAft>
            </a:pPr>
            <a:r>
              <a:rPr sz="950" b="0" lang="zh-CN">
                <a:solidFill>
                  <a:srgbClr val="1E2E3B"/>
                </a:solidFill>
                <a:latin typeface="Microsoft YaHei"/>
                <a:ea typeface="Microsoft YaHei"/>
                <a:cs typeface="Microsoft YaHei"/>
              </a:rPr>
              <a:t>ST-TA不作常规预防〔中等推荐〕。</a:t>
            </a:r>
          </a:p>
        </p:txBody>
      </p:sp>
      <p:sp>
        <p:nvSpPr>
          <p:cNvPr id="20" name="2025 刊p499–501"/>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刊p499–501</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眼内注药后非感染性眼内炎症"/>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24" name="2025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25" name="Rectangle 24"/>
          <p:cNvSpPr/>
          <p:nvPr/>
        </p:nvSpPr>
        <p:spPr>
          <a:xfrm>
            <a:off x="3952720" y="762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症状与时间"/>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症状与时间</a:t>
            </a:r>
          </a:p>
        </p:txBody>
      </p:sp>
      <p:sp>
        <p:nvSpPr>
          <p:cNvPr id="27" name="多数末次10 d内，高剂量抗VEGF有约1周/首次4周双峰〔强推荐〕。显著视力下降/畏光立即就诊；持"/>
          <p:cNvSpPr txBox="1"/>
          <p:nvPr/>
        </p:nvSpPr>
        <p:spPr>
          <a:xfrm>
            <a:off x="405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多数末次10 d内，高剂量抗VEGF有约1周/首次4周双峰〔强</a:t>
            </a:r>
          </a:p>
          <a:p>
            <a:pPr>
              <a:lnSpc>
                <a:spcPts val="1160"/>
              </a:lnSpc>
              <a:spcBef>
                <a:spcPts val="0"/>
              </a:spcBef>
              <a:spcAft>
                <a:spcPts val="0"/>
              </a:spcAft>
            </a:pPr>
            <a:r>
              <a:rPr sz="950" b="0" lang="zh-CN">
                <a:solidFill>
                  <a:srgbClr val="1E2E3B"/>
                </a:solidFill>
                <a:latin typeface="Microsoft YaHei"/>
                <a:ea typeface="Microsoft YaHei"/>
                <a:cs typeface="Microsoft YaHei"/>
              </a:rPr>
              <a:t>推荐〕。显著视力下降/畏光立即就诊；持续2 d以上不适或</a:t>
            </a:r>
          </a:p>
          <a:p>
            <a:pPr>
              <a:lnSpc>
                <a:spcPts val="1160"/>
              </a:lnSpc>
              <a:spcBef>
                <a:spcPts val="0"/>
              </a:spcBef>
              <a:spcAft>
                <a:spcPts val="0"/>
              </a:spcAft>
            </a:pPr>
            <a:r>
              <a:rPr sz="950" b="0" lang="zh-CN">
                <a:solidFill>
                  <a:srgbClr val="1E2E3B"/>
                </a:solidFill>
                <a:latin typeface="Microsoft YaHei"/>
                <a:ea typeface="Microsoft YaHei"/>
                <a:cs typeface="Microsoft YaHei"/>
              </a:rPr>
              <a:t>飞蚊及时就诊。</a:t>
            </a:r>
          </a:p>
        </p:txBody>
      </p:sp>
      <p:sp>
        <p:nvSpPr>
          <p:cNvPr id="28" name="2025 刊p496–497、500–501"/>
          <p:cNvSpPr txBox="1"/>
          <p:nvPr/>
        </p:nvSpPr>
        <p:spPr>
          <a:xfrm>
            <a:off x="405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刊p496–497、500–501</a:t>
            </a:r>
          </a:p>
        </p:txBody>
      </p:sp>
      <p:sp>
        <p:nvSpPr>
          <p:cNvPr id="29" name="Rectangle 28"/>
          <p:cNvSpPr/>
          <p:nvPr/>
        </p:nvSpPr>
        <p:spPr>
          <a:xfrm>
            <a:off x="3952720" y="16766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先鉴别感染"/>
          <p:cNvSpPr txBox="1"/>
          <p:nvPr/>
        </p:nvSpPr>
        <p:spPr>
          <a:xfrm>
            <a:off x="405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先鉴别感染</a:t>
            </a:r>
          </a:p>
        </p:txBody>
      </p:sp>
      <p:sp>
        <p:nvSpPr>
          <p:cNvPr id="31" name="视力/眼压/前节/散瞳眼底；排感染及其他伪装。无明显疼痛不能据此排感染；激素无效重新排查感染。"/>
          <p:cNvSpPr txBox="1"/>
          <p:nvPr/>
        </p:nvSpPr>
        <p:spPr>
          <a:xfrm>
            <a:off x="405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1E2E3B"/>
                </a:solidFill>
                <a:latin typeface="Microsoft YaHei"/>
                <a:ea typeface="Microsoft YaHei"/>
                <a:cs typeface="Microsoft YaHei"/>
              </a:rPr>
              <a:t>不能据此排感染；激素无效重新排查感染。</a:t>
            </a:r>
          </a:p>
        </p:txBody>
      </p:sp>
      <p:sp>
        <p:nvSpPr>
          <p:cNvPr id="32" name="2025 刊p500–501"/>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刊p500–501</a:t>
            </a:r>
          </a:p>
        </p:txBody>
      </p:sp>
      <p:sp>
        <p:nvSpPr>
          <p:cNvPr id="33" name="Rectangle 32"/>
          <p:cNvSpPr/>
          <p:nvPr/>
        </p:nvSpPr>
        <p:spPr>
          <a:xfrm>
            <a:off x="3952720" y="2443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排查RV/RO"/>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排查RV/RO</a:t>
            </a:r>
          </a:p>
        </p:txBody>
      </p:sp>
      <p:sp>
        <p:nvSpPr>
          <p:cNvPr id="35" name="引导眼位超广角照相、FFA看周边灌注〔强推荐〕；FFA禁忌可OCTA，混浊每次B超。初阴性仍需找延迟"/>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1E2E3B"/>
                </a:solidFill>
                <a:latin typeface="Microsoft YaHei"/>
                <a:ea typeface="Microsoft YaHei"/>
                <a:cs typeface="Microsoft YaHei"/>
              </a:rPr>
              <a:t>可OCTA，混浊每次B超。初阴性仍需找延迟RV/RO。</a:t>
            </a:r>
          </a:p>
        </p:txBody>
      </p:sp>
      <p:sp>
        <p:nvSpPr>
          <p:cNvPr id="36" name="2025 刊p500"/>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a:t>
            </a:r>
          </a:p>
        </p:txBody>
      </p:sp>
      <p:sp>
        <p:nvSpPr>
          <p:cNvPr id="37" name="Rectangle 36"/>
          <p:cNvSpPr/>
          <p:nvPr/>
        </p:nvSpPr>
        <p:spPr>
          <a:xfrm>
            <a:off x="3952720" y="32107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随访与预防"/>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随访与预防</a:t>
            </a:r>
          </a:p>
        </p:txBody>
      </p:sp>
      <p:sp>
        <p:nvSpPr>
          <p:cNvPr id="39" name="第1天/1周/4周；确诊缩短至炎症静止。高危避免双眼同期；ST-TA不作常规预防〔中等推荐〕。"/>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第1天/1周/4周；确诊缩短至炎症静止。高危避免双眼同期；</a:t>
            </a:r>
          </a:p>
          <a:p>
            <a:pPr>
              <a:lnSpc>
                <a:spcPts val="1160"/>
              </a:lnSpc>
              <a:spcBef>
                <a:spcPts val="0"/>
              </a:spcBef>
              <a:spcAft>
                <a:spcPts val="0"/>
              </a:spcAft>
            </a:pPr>
            <a:r>
              <a:rPr sz="950" b="0" lang="zh-CN">
                <a:solidFill>
                  <a:srgbClr val="1E2E3B"/>
                </a:solidFill>
                <a:latin typeface="Microsoft YaHei"/>
                <a:ea typeface="Microsoft YaHei"/>
                <a:cs typeface="Microsoft YaHei"/>
              </a:rPr>
              <a:t>ST-TA不作常规预防〔中等推荐〕。</a:t>
            </a:r>
          </a:p>
        </p:txBody>
      </p:sp>
      <p:sp>
        <p:nvSpPr>
          <p:cNvPr id="40" name="2025 刊p499–501"/>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刊p499–501</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眼内注药后非感染性眼内炎症"/>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44" name="2025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45" name="Rectangle 44"/>
          <p:cNvSpPr/>
          <p:nvPr/>
        </p:nvSpPr>
        <p:spPr>
          <a:xfrm>
            <a:off x="172720" y="6090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症状与时间"/>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症状与时间</a:t>
            </a:r>
          </a:p>
        </p:txBody>
      </p:sp>
      <p:sp>
        <p:nvSpPr>
          <p:cNvPr id="47" name="多数末次10 d内，高剂量抗VEGF有约1周/首次4周双峰〔强推荐〕。显著视力下降/畏光立即就诊；持"/>
          <p:cNvSpPr txBox="1"/>
          <p:nvPr/>
        </p:nvSpPr>
        <p:spPr>
          <a:xfrm>
            <a:off x="27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多数末次10 d内，高剂量抗VEGF有约1周/首次4周双峰〔强</a:t>
            </a:r>
          </a:p>
          <a:p>
            <a:pPr>
              <a:lnSpc>
                <a:spcPts val="1160"/>
              </a:lnSpc>
              <a:spcBef>
                <a:spcPts val="0"/>
              </a:spcBef>
              <a:spcAft>
                <a:spcPts val="0"/>
              </a:spcAft>
            </a:pPr>
            <a:r>
              <a:rPr sz="950" b="0" lang="zh-CN">
                <a:solidFill>
                  <a:srgbClr val="1E2E3B"/>
                </a:solidFill>
                <a:latin typeface="Microsoft YaHei"/>
                <a:ea typeface="Microsoft YaHei"/>
                <a:cs typeface="Microsoft YaHei"/>
              </a:rPr>
              <a:t>推荐〕。显著视力下降/畏光立即就诊；持续2 d以上不适或</a:t>
            </a:r>
          </a:p>
          <a:p>
            <a:pPr>
              <a:lnSpc>
                <a:spcPts val="1160"/>
              </a:lnSpc>
              <a:spcBef>
                <a:spcPts val="0"/>
              </a:spcBef>
              <a:spcAft>
                <a:spcPts val="0"/>
              </a:spcAft>
            </a:pPr>
            <a:r>
              <a:rPr sz="950" b="0" lang="zh-CN">
                <a:solidFill>
                  <a:srgbClr val="1E2E3B"/>
                </a:solidFill>
                <a:latin typeface="Microsoft YaHei"/>
                <a:ea typeface="Microsoft YaHei"/>
                <a:cs typeface="Microsoft YaHei"/>
              </a:rPr>
              <a:t>飞蚊及时就诊。</a:t>
            </a:r>
          </a:p>
        </p:txBody>
      </p:sp>
      <p:sp>
        <p:nvSpPr>
          <p:cNvPr id="48" name="2025 刊p496–497、500–501"/>
          <p:cNvSpPr txBox="1"/>
          <p:nvPr/>
        </p:nvSpPr>
        <p:spPr>
          <a:xfrm>
            <a:off x="27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刊p496–497、500–501</a:t>
            </a:r>
          </a:p>
        </p:txBody>
      </p:sp>
      <p:sp>
        <p:nvSpPr>
          <p:cNvPr id="49" name="Rectangle 48"/>
          <p:cNvSpPr/>
          <p:nvPr/>
        </p:nvSpPr>
        <p:spPr>
          <a:xfrm>
            <a:off x="172720" y="70046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先鉴别感染"/>
          <p:cNvSpPr txBox="1"/>
          <p:nvPr/>
        </p:nvSpPr>
        <p:spPr>
          <a:xfrm>
            <a:off x="27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先鉴别感染</a:t>
            </a:r>
          </a:p>
        </p:txBody>
      </p:sp>
      <p:sp>
        <p:nvSpPr>
          <p:cNvPr id="51" name="视力/眼压/前节/散瞳眼底；排感染及其他伪装。无明显疼痛不能据此排感染；激素无效重新排查感染。"/>
          <p:cNvSpPr txBox="1"/>
          <p:nvPr/>
        </p:nvSpPr>
        <p:spPr>
          <a:xfrm>
            <a:off x="27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1E2E3B"/>
                </a:solidFill>
                <a:latin typeface="Microsoft YaHei"/>
                <a:ea typeface="Microsoft YaHei"/>
                <a:cs typeface="Microsoft YaHei"/>
              </a:rPr>
              <a:t>不能据此排感染；激素无效重新排查感染。</a:t>
            </a:r>
          </a:p>
        </p:txBody>
      </p:sp>
      <p:sp>
        <p:nvSpPr>
          <p:cNvPr id="52" name="2025 刊p500–501"/>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刊p500–501</a:t>
            </a:r>
          </a:p>
        </p:txBody>
      </p:sp>
      <p:sp>
        <p:nvSpPr>
          <p:cNvPr id="53" name="Rectangle 52"/>
          <p:cNvSpPr/>
          <p:nvPr/>
        </p:nvSpPr>
        <p:spPr>
          <a:xfrm>
            <a:off x="172720" y="7771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排查RV/RO"/>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排查RV/RO</a:t>
            </a:r>
          </a:p>
        </p:txBody>
      </p:sp>
      <p:sp>
        <p:nvSpPr>
          <p:cNvPr id="55" name="引导眼位超广角照相、FFA看周边灌注〔强推荐〕；FFA禁忌可OCTA，混浊每次B超。初阴性仍需找延迟"/>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1E2E3B"/>
                </a:solidFill>
                <a:latin typeface="Microsoft YaHei"/>
                <a:ea typeface="Microsoft YaHei"/>
                <a:cs typeface="Microsoft YaHei"/>
              </a:rPr>
              <a:t>可OCTA，混浊每次B超。初阴性仍需找延迟RV/RO。</a:t>
            </a:r>
          </a:p>
        </p:txBody>
      </p:sp>
      <p:sp>
        <p:nvSpPr>
          <p:cNvPr id="56" name="2025 刊p500"/>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a:t>
            </a:r>
          </a:p>
        </p:txBody>
      </p:sp>
      <p:sp>
        <p:nvSpPr>
          <p:cNvPr id="57" name="Rectangle 56"/>
          <p:cNvSpPr/>
          <p:nvPr/>
        </p:nvSpPr>
        <p:spPr>
          <a:xfrm>
            <a:off x="172720" y="85387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随访与预防"/>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随访与预防</a:t>
            </a:r>
          </a:p>
        </p:txBody>
      </p:sp>
      <p:sp>
        <p:nvSpPr>
          <p:cNvPr id="59" name="第1天/1周/4周；确诊缩短至炎症静止。高危避免双眼同期；ST-TA不作常规预防〔中等推荐〕。"/>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第1天/1周/4周；确诊缩短至炎症静止。高危避免双眼同期；</a:t>
            </a:r>
          </a:p>
          <a:p>
            <a:pPr>
              <a:lnSpc>
                <a:spcPts val="1160"/>
              </a:lnSpc>
              <a:spcBef>
                <a:spcPts val="0"/>
              </a:spcBef>
              <a:spcAft>
                <a:spcPts val="0"/>
              </a:spcAft>
            </a:pPr>
            <a:r>
              <a:rPr sz="950" b="0" lang="zh-CN">
                <a:solidFill>
                  <a:srgbClr val="1E2E3B"/>
                </a:solidFill>
                <a:latin typeface="Microsoft YaHei"/>
                <a:ea typeface="Microsoft YaHei"/>
                <a:cs typeface="Microsoft YaHei"/>
              </a:rPr>
              <a:t>ST-TA不作常规预防〔中等推荐〕。</a:t>
            </a:r>
          </a:p>
        </p:txBody>
      </p:sp>
      <p:sp>
        <p:nvSpPr>
          <p:cNvPr id="60" name="2025 刊p499–501"/>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刊p499–501</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眼内注药后非感染性眼内炎症"/>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64" name="2025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65" name="Rectangle 64"/>
          <p:cNvSpPr/>
          <p:nvPr/>
        </p:nvSpPr>
        <p:spPr>
          <a:xfrm>
            <a:off x="3952720" y="6090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症状与时间"/>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症状与时间</a:t>
            </a:r>
          </a:p>
        </p:txBody>
      </p:sp>
      <p:sp>
        <p:nvSpPr>
          <p:cNvPr id="67" name="多数末次10 d内，高剂量抗VEGF有约1周/首次4周双峰〔强推荐〕。显著视力下降/畏光立即就诊；持"/>
          <p:cNvSpPr txBox="1"/>
          <p:nvPr/>
        </p:nvSpPr>
        <p:spPr>
          <a:xfrm>
            <a:off x="405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多数末次10 d内，高剂量抗VEGF有约1周/首次4周双峰〔强</a:t>
            </a:r>
          </a:p>
          <a:p>
            <a:pPr>
              <a:lnSpc>
                <a:spcPts val="1160"/>
              </a:lnSpc>
              <a:spcBef>
                <a:spcPts val="0"/>
              </a:spcBef>
              <a:spcAft>
                <a:spcPts val="0"/>
              </a:spcAft>
            </a:pPr>
            <a:r>
              <a:rPr sz="950" b="0" lang="zh-CN">
                <a:solidFill>
                  <a:srgbClr val="1E2E3B"/>
                </a:solidFill>
                <a:latin typeface="Microsoft YaHei"/>
                <a:ea typeface="Microsoft YaHei"/>
                <a:cs typeface="Microsoft YaHei"/>
              </a:rPr>
              <a:t>推荐〕。显著视力下降/畏光立即就诊；持续2 d以上不适或</a:t>
            </a:r>
          </a:p>
          <a:p>
            <a:pPr>
              <a:lnSpc>
                <a:spcPts val="1160"/>
              </a:lnSpc>
              <a:spcBef>
                <a:spcPts val="0"/>
              </a:spcBef>
              <a:spcAft>
                <a:spcPts val="0"/>
              </a:spcAft>
            </a:pPr>
            <a:r>
              <a:rPr sz="950" b="0" lang="zh-CN">
                <a:solidFill>
                  <a:srgbClr val="1E2E3B"/>
                </a:solidFill>
                <a:latin typeface="Microsoft YaHei"/>
                <a:ea typeface="Microsoft YaHei"/>
                <a:cs typeface="Microsoft YaHei"/>
              </a:rPr>
              <a:t>飞蚊及时就诊。</a:t>
            </a:r>
          </a:p>
        </p:txBody>
      </p:sp>
      <p:sp>
        <p:nvSpPr>
          <p:cNvPr id="68" name="2025 刊p496–497、500–501"/>
          <p:cNvSpPr txBox="1"/>
          <p:nvPr/>
        </p:nvSpPr>
        <p:spPr>
          <a:xfrm>
            <a:off x="405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刊p496–497、500–501</a:t>
            </a:r>
          </a:p>
        </p:txBody>
      </p:sp>
      <p:sp>
        <p:nvSpPr>
          <p:cNvPr id="69" name="Rectangle 68"/>
          <p:cNvSpPr/>
          <p:nvPr/>
        </p:nvSpPr>
        <p:spPr>
          <a:xfrm>
            <a:off x="3952720" y="70046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先鉴别感染"/>
          <p:cNvSpPr txBox="1"/>
          <p:nvPr/>
        </p:nvSpPr>
        <p:spPr>
          <a:xfrm>
            <a:off x="405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先鉴别感染</a:t>
            </a:r>
          </a:p>
        </p:txBody>
      </p:sp>
      <p:sp>
        <p:nvSpPr>
          <p:cNvPr id="71" name="视力/眼压/前节/散瞳眼底；排感染及其他伪装。无明显疼痛不能据此排感染；激素无效重新排查感染。"/>
          <p:cNvSpPr txBox="1"/>
          <p:nvPr/>
        </p:nvSpPr>
        <p:spPr>
          <a:xfrm>
            <a:off x="405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1E2E3B"/>
                </a:solidFill>
                <a:latin typeface="Microsoft YaHei"/>
                <a:ea typeface="Microsoft YaHei"/>
                <a:cs typeface="Microsoft YaHei"/>
              </a:rPr>
              <a:t>不能据此排感染；激素无效重新排查感染。</a:t>
            </a:r>
          </a:p>
        </p:txBody>
      </p:sp>
      <p:sp>
        <p:nvSpPr>
          <p:cNvPr id="72" name="2025 刊p500–501"/>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刊p500–501</a:t>
            </a:r>
          </a:p>
        </p:txBody>
      </p:sp>
      <p:sp>
        <p:nvSpPr>
          <p:cNvPr id="73" name="Rectangle 72"/>
          <p:cNvSpPr/>
          <p:nvPr/>
        </p:nvSpPr>
        <p:spPr>
          <a:xfrm>
            <a:off x="3952720" y="7771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排查RV/RO"/>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排查RV/RO</a:t>
            </a:r>
          </a:p>
        </p:txBody>
      </p:sp>
      <p:sp>
        <p:nvSpPr>
          <p:cNvPr id="75" name="引导眼位超广角照相、FFA看周边灌注〔强推荐〕；FFA禁忌可OCTA，混浊每次B超。初阴性仍需找延迟"/>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1E2E3B"/>
                </a:solidFill>
                <a:latin typeface="Microsoft YaHei"/>
                <a:ea typeface="Microsoft YaHei"/>
                <a:cs typeface="Microsoft YaHei"/>
              </a:rPr>
              <a:t>可OCTA，混浊每次B超。初阴性仍需找延迟RV/RO。</a:t>
            </a:r>
          </a:p>
        </p:txBody>
      </p:sp>
      <p:sp>
        <p:nvSpPr>
          <p:cNvPr id="76" name="2025 刊p500"/>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a:t>
            </a:r>
          </a:p>
        </p:txBody>
      </p:sp>
      <p:sp>
        <p:nvSpPr>
          <p:cNvPr id="77" name="Rectangle 76"/>
          <p:cNvSpPr/>
          <p:nvPr/>
        </p:nvSpPr>
        <p:spPr>
          <a:xfrm>
            <a:off x="3952720" y="85387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随访与预防"/>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随访与预防</a:t>
            </a:r>
          </a:p>
        </p:txBody>
      </p:sp>
      <p:sp>
        <p:nvSpPr>
          <p:cNvPr id="79" name="第1天/1周/4周；确诊缩短至炎症静止。高危避免双眼同期；ST-TA不作常规预防〔中等推荐〕。"/>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第1天/1周/4周；确诊缩短至炎症静止。高危避免双眼同期；</a:t>
            </a:r>
          </a:p>
          <a:p>
            <a:pPr>
              <a:lnSpc>
                <a:spcPts val="1160"/>
              </a:lnSpc>
              <a:spcBef>
                <a:spcPts val="0"/>
              </a:spcBef>
              <a:spcAft>
                <a:spcPts val="0"/>
              </a:spcAft>
            </a:pPr>
            <a:r>
              <a:rPr sz="950" b="0" lang="zh-CN">
                <a:solidFill>
                  <a:srgbClr val="1E2E3B"/>
                </a:solidFill>
                <a:latin typeface="Microsoft YaHei"/>
                <a:ea typeface="Microsoft YaHei"/>
                <a:cs typeface="Microsoft YaHei"/>
              </a:rPr>
              <a:t>ST-TA不作常规预防〔中等推荐〕。</a:t>
            </a:r>
          </a:p>
        </p:txBody>
      </p:sp>
      <p:sp>
        <p:nvSpPr>
          <p:cNvPr id="80" name="2025 刊p499–501"/>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刊p499–501</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4" name="2025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5" name="Rectangle 4"/>
          <p:cNvSpPr/>
          <p:nvPr/>
        </p:nvSpPr>
        <p:spPr>
          <a:xfrm>
            <a:off x="172720" y="7622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局部与RV剂量"/>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局部与RV剂量</a:t>
            </a:r>
          </a:p>
        </p:txBody>
      </p:sp>
      <p:sp>
        <p:nvSpPr>
          <p:cNvPr id="7" name="无RV/RO：滴眼4次/d至1次/h；TA结膜下4～8 mg、球旁20～40 mg、球内1～2 mg"/>
          <p:cNvSpPr txBox="1"/>
          <p:nvPr/>
        </p:nvSpPr>
        <p:spPr>
          <a:xfrm>
            <a:off x="27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1E2E3B"/>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1E2E3B"/>
                </a:solidFill>
                <a:latin typeface="Microsoft YaHei"/>
                <a:ea typeface="Microsoft YaHei"/>
                <a:cs typeface="Microsoft YaHei"/>
              </a:rPr>
              <a:t>kg·d)。</a:t>
            </a:r>
          </a:p>
        </p:txBody>
      </p:sp>
      <p:sp>
        <p:nvSpPr>
          <p:cNvPr id="8" name="2025 刊p502"/>
          <p:cNvSpPr txBox="1"/>
          <p:nvPr/>
        </p:nvSpPr>
        <p:spPr>
          <a:xfrm>
            <a:off x="27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9" name="Rectangle 8"/>
          <p:cNvSpPr/>
          <p:nvPr/>
        </p:nvSpPr>
        <p:spPr>
          <a:xfrm>
            <a:off x="172720" y="16766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剂量摘录"/>
          <p:cNvSpPr txBox="1"/>
          <p:nvPr/>
        </p:nvSpPr>
        <p:spPr>
          <a:xfrm>
            <a:off x="27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RO剂量摘录</a:t>
            </a:r>
          </a:p>
        </p:txBody>
      </p:sp>
      <p:sp>
        <p:nvSpPr>
          <p:cNvPr id="11" name="RO：泼尼松龙1.0 mg/(kg·d)，或甲泼尼龙静滴500～750 mg、1次/d；TA球旁20"/>
          <p:cNvSpPr txBox="1"/>
          <p:nvPr/>
        </p:nvSpPr>
        <p:spPr>
          <a:xfrm>
            <a:off x="274320" y="1867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1E2E3B"/>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1E2E3B"/>
                </a:solidFill>
                <a:latin typeface="Microsoft YaHei"/>
                <a:ea typeface="Microsoft YaHei"/>
                <a:cs typeface="Microsoft YaHei"/>
              </a:rPr>
              <a:t>球内TA超说明书。</a:t>
            </a:r>
          </a:p>
        </p:txBody>
      </p:sp>
      <p:sp>
        <p:nvSpPr>
          <p:cNvPr id="12" name="2025 刊p502"/>
          <p:cNvSpPr txBox="1"/>
          <p:nvPr/>
        </p:nvSpPr>
        <p:spPr>
          <a:xfrm>
            <a:off x="274320" y="2334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3" name="Rectangle 12"/>
          <p:cNvSpPr/>
          <p:nvPr/>
        </p:nvSpPr>
        <p:spPr>
          <a:xfrm>
            <a:off x="172720" y="25910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阶梯与禁忌"/>
          <p:cNvSpPr txBox="1"/>
          <p:nvPr/>
        </p:nvSpPr>
        <p:spPr>
          <a:xfrm>
            <a:off x="274320" y="2629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阶梯与禁忌</a:t>
            </a:r>
          </a:p>
        </p:txBody>
      </p:sp>
      <p:sp>
        <p:nvSpPr>
          <p:cNvPr id="15" name="按部位/RV/RO升级〔中等推荐〕。活动期避免相同/同类药再注；TA相关者避免再玻璃体TA。普通SI"/>
          <p:cNvSpPr txBox="1"/>
          <p:nvPr/>
        </p:nvSpPr>
        <p:spPr>
          <a:xfrm>
            <a:off x="274320" y="2781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1E2E3B"/>
                </a:solidFill>
                <a:latin typeface="Microsoft YaHei"/>
                <a:ea typeface="Microsoft YaHei"/>
                <a:cs typeface="Microsoft YaHei"/>
              </a:rPr>
              <a:t>注；TA相关者避免再玻璃体TA。普通SIOI激光待炎症消退后</a:t>
            </a:r>
          </a:p>
          <a:p>
            <a:pPr>
              <a:lnSpc>
                <a:spcPts val="1160"/>
              </a:lnSpc>
              <a:spcBef>
                <a:spcPts val="0"/>
              </a:spcBef>
              <a:spcAft>
                <a:spcPts val="0"/>
              </a:spcAft>
            </a:pPr>
            <a:r>
              <a:rPr sz="950" b="0" lang="zh-CN">
                <a:solidFill>
                  <a:srgbClr val="1E2E3B"/>
                </a:solidFill>
                <a:latin typeface="Microsoft YaHei"/>
                <a:ea typeface="Microsoft YaHei"/>
                <a:cs typeface="Microsoft YaHei"/>
              </a:rPr>
              <a:t>适应证。</a:t>
            </a:r>
          </a:p>
        </p:txBody>
      </p:sp>
      <p:sp>
        <p:nvSpPr>
          <p:cNvPr id="16" name="2025 刊p502"/>
          <p:cNvSpPr txBox="1"/>
          <p:nvPr/>
        </p:nvSpPr>
        <p:spPr>
          <a:xfrm>
            <a:off x="274320" y="32488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7" name="Rectangle 16"/>
          <p:cNvSpPr/>
          <p:nvPr/>
        </p:nvSpPr>
        <p:spPr>
          <a:xfrm>
            <a:off x="172720" y="35054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后与缺项"/>
          <p:cNvSpPr txBox="1"/>
          <p:nvPr/>
        </p:nvSpPr>
        <p:spPr>
          <a:xfrm>
            <a:off x="274320" y="3543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预后与缺项</a:t>
            </a:r>
          </a:p>
        </p:txBody>
      </p:sp>
      <p:sp>
        <p:nvSpPr>
          <p:cNvPr id="19" name="黄斑缺血/RO可逆性影响预后〔中等推荐〕。HOCRV另走特殊路径。统一激素疗程/递减、复诊增频间隔未"/>
          <p:cNvSpPr txBox="1"/>
          <p:nvPr/>
        </p:nvSpPr>
        <p:spPr>
          <a:xfrm>
            <a:off x="274320" y="3695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1E2E3B"/>
                </a:solidFill>
                <a:latin typeface="Microsoft YaHei"/>
                <a:ea typeface="Microsoft YaHei"/>
                <a:cs typeface="Microsoft YaHei"/>
              </a:rPr>
              <a:t>殊路径。统一激素疗程/递减、复诊增频间隔未明确。</a:t>
            </a:r>
          </a:p>
        </p:txBody>
      </p:sp>
      <p:sp>
        <p:nvSpPr>
          <p:cNvPr id="20" name="2025 刊p502–503"/>
          <p:cNvSpPr txBox="1"/>
          <p:nvPr/>
        </p:nvSpPr>
        <p:spPr>
          <a:xfrm>
            <a:off x="274320" y="4015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眼内注药后非感染性眼内炎症"/>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24" name="2025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25" name="Rectangle 24"/>
          <p:cNvSpPr/>
          <p:nvPr/>
        </p:nvSpPr>
        <p:spPr>
          <a:xfrm>
            <a:off x="3952720" y="7622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局部与RV剂量"/>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局部与RV剂量</a:t>
            </a:r>
          </a:p>
        </p:txBody>
      </p:sp>
      <p:sp>
        <p:nvSpPr>
          <p:cNvPr id="27" name="无RV/RO：滴眼4次/d至1次/h；TA结膜下4～8 mg、球旁20～40 mg、球内1～2 mg"/>
          <p:cNvSpPr txBox="1"/>
          <p:nvPr/>
        </p:nvSpPr>
        <p:spPr>
          <a:xfrm>
            <a:off x="405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1E2E3B"/>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1E2E3B"/>
                </a:solidFill>
                <a:latin typeface="Microsoft YaHei"/>
                <a:ea typeface="Microsoft YaHei"/>
                <a:cs typeface="Microsoft YaHei"/>
              </a:rPr>
              <a:t>kg·d)。</a:t>
            </a:r>
          </a:p>
        </p:txBody>
      </p:sp>
      <p:sp>
        <p:nvSpPr>
          <p:cNvPr id="28" name="2025 刊p502"/>
          <p:cNvSpPr txBox="1"/>
          <p:nvPr/>
        </p:nvSpPr>
        <p:spPr>
          <a:xfrm>
            <a:off x="405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29" name="Rectangle 28"/>
          <p:cNvSpPr/>
          <p:nvPr/>
        </p:nvSpPr>
        <p:spPr>
          <a:xfrm>
            <a:off x="3952720" y="16766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剂量摘录"/>
          <p:cNvSpPr txBox="1"/>
          <p:nvPr/>
        </p:nvSpPr>
        <p:spPr>
          <a:xfrm>
            <a:off x="405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RO剂量摘录</a:t>
            </a:r>
          </a:p>
        </p:txBody>
      </p:sp>
      <p:sp>
        <p:nvSpPr>
          <p:cNvPr id="31" name="RO：泼尼松龙1.0 mg/(kg·d)，或甲泼尼龙静滴500～750 mg、1次/d；TA球旁20"/>
          <p:cNvSpPr txBox="1"/>
          <p:nvPr/>
        </p:nvSpPr>
        <p:spPr>
          <a:xfrm>
            <a:off x="4054320" y="1867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1E2E3B"/>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1E2E3B"/>
                </a:solidFill>
                <a:latin typeface="Microsoft YaHei"/>
                <a:ea typeface="Microsoft YaHei"/>
                <a:cs typeface="Microsoft YaHei"/>
              </a:rPr>
              <a:t>球内TA超说明书。</a:t>
            </a:r>
          </a:p>
        </p:txBody>
      </p:sp>
      <p:sp>
        <p:nvSpPr>
          <p:cNvPr id="32" name="2025 刊p502"/>
          <p:cNvSpPr txBox="1"/>
          <p:nvPr/>
        </p:nvSpPr>
        <p:spPr>
          <a:xfrm>
            <a:off x="4054320" y="2334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33" name="Rectangle 32"/>
          <p:cNvSpPr/>
          <p:nvPr/>
        </p:nvSpPr>
        <p:spPr>
          <a:xfrm>
            <a:off x="3952720" y="25910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阶梯与禁忌"/>
          <p:cNvSpPr txBox="1"/>
          <p:nvPr/>
        </p:nvSpPr>
        <p:spPr>
          <a:xfrm>
            <a:off x="4054320" y="2629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阶梯与禁忌</a:t>
            </a:r>
          </a:p>
        </p:txBody>
      </p:sp>
      <p:sp>
        <p:nvSpPr>
          <p:cNvPr id="35" name="按部位/RV/RO升级〔中等推荐〕。活动期避免相同/同类药再注；TA相关者避免再玻璃体TA。普通SI"/>
          <p:cNvSpPr txBox="1"/>
          <p:nvPr/>
        </p:nvSpPr>
        <p:spPr>
          <a:xfrm>
            <a:off x="4054320" y="2781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1E2E3B"/>
                </a:solidFill>
                <a:latin typeface="Microsoft YaHei"/>
                <a:ea typeface="Microsoft YaHei"/>
                <a:cs typeface="Microsoft YaHei"/>
              </a:rPr>
              <a:t>注；TA相关者避免再玻璃体TA。普通SIOI激光待炎症消退后</a:t>
            </a:r>
          </a:p>
          <a:p>
            <a:pPr>
              <a:lnSpc>
                <a:spcPts val="1160"/>
              </a:lnSpc>
              <a:spcBef>
                <a:spcPts val="0"/>
              </a:spcBef>
              <a:spcAft>
                <a:spcPts val="0"/>
              </a:spcAft>
            </a:pPr>
            <a:r>
              <a:rPr sz="950" b="0" lang="zh-CN">
                <a:solidFill>
                  <a:srgbClr val="1E2E3B"/>
                </a:solidFill>
                <a:latin typeface="Microsoft YaHei"/>
                <a:ea typeface="Microsoft YaHei"/>
                <a:cs typeface="Microsoft YaHei"/>
              </a:rPr>
              <a:t>适应证。</a:t>
            </a:r>
          </a:p>
        </p:txBody>
      </p:sp>
      <p:sp>
        <p:nvSpPr>
          <p:cNvPr id="36" name="2025 刊p502"/>
          <p:cNvSpPr txBox="1"/>
          <p:nvPr/>
        </p:nvSpPr>
        <p:spPr>
          <a:xfrm>
            <a:off x="4054320" y="32488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37" name="Rectangle 36"/>
          <p:cNvSpPr/>
          <p:nvPr/>
        </p:nvSpPr>
        <p:spPr>
          <a:xfrm>
            <a:off x="3952720" y="35054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预后与缺项"/>
          <p:cNvSpPr txBox="1"/>
          <p:nvPr/>
        </p:nvSpPr>
        <p:spPr>
          <a:xfrm>
            <a:off x="4054320" y="3543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预后与缺项</a:t>
            </a:r>
          </a:p>
        </p:txBody>
      </p:sp>
      <p:sp>
        <p:nvSpPr>
          <p:cNvPr id="39" name="黄斑缺血/RO可逆性影响预后〔中等推荐〕。HOCRV另走特殊路径。统一激素疗程/递减、复诊增频间隔未"/>
          <p:cNvSpPr txBox="1"/>
          <p:nvPr/>
        </p:nvSpPr>
        <p:spPr>
          <a:xfrm>
            <a:off x="4054320" y="3695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1E2E3B"/>
                </a:solidFill>
                <a:latin typeface="Microsoft YaHei"/>
                <a:ea typeface="Microsoft YaHei"/>
                <a:cs typeface="Microsoft YaHei"/>
              </a:rPr>
              <a:t>殊路径。统一激素疗程/递减、复诊增频间隔未明确。</a:t>
            </a:r>
          </a:p>
        </p:txBody>
      </p:sp>
      <p:sp>
        <p:nvSpPr>
          <p:cNvPr id="40" name="2025 刊p502–503"/>
          <p:cNvSpPr txBox="1"/>
          <p:nvPr/>
        </p:nvSpPr>
        <p:spPr>
          <a:xfrm>
            <a:off x="4054320" y="4015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眼内注药后非感染性眼内炎症"/>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44" name="2025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45" name="Rectangle 44"/>
          <p:cNvSpPr/>
          <p:nvPr/>
        </p:nvSpPr>
        <p:spPr>
          <a:xfrm>
            <a:off x="172720" y="60902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局部与RV剂量"/>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局部与RV剂量</a:t>
            </a:r>
          </a:p>
        </p:txBody>
      </p:sp>
      <p:sp>
        <p:nvSpPr>
          <p:cNvPr id="47" name="无RV/RO：滴眼4次/d至1次/h；TA结膜下4～8 mg、球旁20～40 mg、球内1～2 mg"/>
          <p:cNvSpPr txBox="1"/>
          <p:nvPr/>
        </p:nvSpPr>
        <p:spPr>
          <a:xfrm>
            <a:off x="27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1E2E3B"/>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1E2E3B"/>
                </a:solidFill>
                <a:latin typeface="Microsoft YaHei"/>
                <a:ea typeface="Microsoft YaHei"/>
                <a:cs typeface="Microsoft YaHei"/>
              </a:rPr>
              <a:t>kg·d)。</a:t>
            </a:r>
          </a:p>
        </p:txBody>
      </p:sp>
      <p:sp>
        <p:nvSpPr>
          <p:cNvPr id="48" name="2025 刊p502"/>
          <p:cNvSpPr txBox="1"/>
          <p:nvPr/>
        </p:nvSpPr>
        <p:spPr>
          <a:xfrm>
            <a:off x="27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49" name="Rectangle 48"/>
          <p:cNvSpPr/>
          <p:nvPr/>
        </p:nvSpPr>
        <p:spPr>
          <a:xfrm>
            <a:off x="172720" y="70046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剂量摘录"/>
          <p:cNvSpPr txBox="1"/>
          <p:nvPr/>
        </p:nvSpPr>
        <p:spPr>
          <a:xfrm>
            <a:off x="27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RO剂量摘录</a:t>
            </a:r>
          </a:p>
        </p:txBody>
      </p:sp>
      <p:sp>
        <p:nvSpPr>
          <p:cNvPr id="51" name="RO：泼尼松龙1.0 mg/(kg·d)，或甲泼尼龙静滴500～750 mg、1次/d；TA球旁20"/>
          <p:cNvSpPr txBox="1"/>
          <p:nvPr/>
        </p:nvSpPr>
        <p:spPr>
          <a:xfrm>
            <a:off x="274320" y="7195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1E2E3B"/>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1E2E3B"/>
                </a:solidFill>
                <a:latin typeface="Microsoft YaHei"/>
                <a:ea typeface="Microsoft YaHei"/>
                <a:cs typeface="Microsoft YaHei"/>
              </a:rPr>
              <a:t>球内TA超说明书。</a:t>
            </a:r>
          </a:p>
        </p:txBody>
      </p:sp>
      <p:sp>
        <p:nvSpPr>
          <p:cNvPr id="52" name="2025 刊p502"/>
          <p:cNvSpPr txBox="1"/>
          <p:nvPr/>
        </p:nvSpPr>
        <p:spPr>
          <a:xfrm>
            <a:off x="274320" y="7662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53" name="Rectangle 52"/>
          <p:cNvSpPr/>
          <p:nvPr/>
        </p:nvSpPr>
        <p:spPr>
          <a:xfrm>
            <a:off x="172720" y="79190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阶梯与禁忌"/>
          <p:cNvSpPr txBox="1"/>
          <p:nvPr/>
        </p:nvSpPr>
        <p:spPr>
          <a:xfrm>
            <a:off x="274320" y="7957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阶梯与禁忌</a:t>
            </a:r>
          </a:p>
        </p:txBody>
      </p:sp>
      <p:sp>
        <p:nvSpPr>
          <p:cNvPr id="55" name="按部位/RV/RO升级〔中等推荐〕。活动期避免相同/同类药再注；TA相关者避免再玻璃体TA。普通SI"/>
          <p:cNvSpPr txBox="1"/>
          <p:nvPr/>
        </p:nvSpPr>
        <p:spPr>
          <a:xfrm>
            <a:off x="274320" y="8109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1E2E3B"/>
                </a:solidFill>
                <a:latin typeface="Microsoft YaHei"/>
                <a:ea typeface="Microsoft YaHei"/>
                <a:cs typeface="Microsoft YaHei"/>
              </a:rPr>
              <a:t>注；TA相关者避免再玻璃体TA。普通SIOI激光待炎症消退后</a:t>
            </a:r>
          </a:p>
          <a:p>
            <a:pPr>
              <a:lnSpc>
                <a:spcPts val="1160"/>
              </a:lnSpc>
              <a:spcBef>
                <a:spcPts val="0"/>
              </a:spcBef>
              <a:spcAft>
                <a:spcPts val="0"/>
              </a:spcAft>
            </a:pPr>
            <a:r>
              <a:rPr sz="950" b="0" lang="zh-CN">
                <a:solidFill>
                  <a:srgbClr val="1E2E3B"/>
                </a:solidFill>
                <a:latin typeface="Microsoft YaHei"/>
                <a:ea typeface="Microsoft YaHei"/>
                <a:cs typeface="Microsoft YaHei"/>
              </a:rPr>
              <a:t>适应证。</a:t>
            </a:r>
          </a:p>
        </p:txBody>
      </p:sp>
      <p:sp>
        <p:nvSpPr>
          <p:cNvPr id="56" name="2025 刊p502"/>
          <p:cNvSpPr txBox="1"/>
          <p:nvPr/>
        </p:nvSpPr>
        <p:spPr>
          <a:xfrm>
            <a:off x="274320" y="85768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57" name="Rectangle 56"/>
          <p:cNvSpPr/>
          <p:nvPr/>
        </p:nvSpPr>
        <p:spPr>
          <a:xfrm>
            <a:off x="172720" y="88334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预后与缺项"/>
          <p:cNvSpPr txBox="1"/>
          <p:nvPr/>
        </p:nvSpPr>
        <p:spPr>
          <a:xfrm>
            <a:off x="274320" y="8871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预后与缺项</a:t>
            </a:r>
          </a:p>
        </p:txBody>
      </p:sp>
      <p:sp>
        <p:nvSpPr>
          <p:cNvPr id="59" name="黄斑缺血/RO可逆性影响预后〔中等推荐〕。HOCRV另走特殊路径。统一激素疗程/递减、复诊增频间隔未"/>
          <p:cNvSpPr txBox="1"/>
          <p:nvPr/>
        </p:nvSpPr>
        <p:spPr>
          <a:xfrm>
            <a:off x="274320" y="9023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1E2E3B"/>
                </a:solidFill>
                <a:latin typeface="Microsoft YaHei"/>
                <a:ea typeface="Microsoft YaHei"/>
                <a:cs typeface="Microsoft YaHei"/>
              </a:rPr>
              <a:t>殊路径。统一激素疗程/递减、复诊增频间隔未明确。</a:t>
            </a:r>
          </a:p>
        </p:txBody>
      </p:sp>
      <p:sp>
        <p:nvSpPr>
          <p:cNvPr id="60" name="2025 刊p502–503"/>
          <p:cNvSpPr txBox="1"/>
          <p:nvPr/>
        </p:nvSpPr>
        <p:spPr>
          <a:xfrm>
            <a:off x="274320" y="9343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眼内注药后非感染性眼内炎症"/>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64" name="2025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65" name="Rectangle 64"/>
          <p:cNvSpPr/>
          <p:nvPr/>
        </p:nvSpPr>
        <p:spPr>
          <a:xfrm>
            <a:off x="3952720" y="60902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局部与RV剂量"/>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局部与RV剂量</a:t>
            </a:r>
          </a:p>
        </p:txBody>
      </p:sp>
      <p:sp>
        <p:nvSpPr>
          <p:cNvPr id="67" name="无RV/RO：滴眼4次/d至1次/h；TA结膜下4～8 mg、球旁20～40 mg、球内1～2 mg"/>
          <p:cNvSpPr txBox="1"/>
          <p:nvPr/>
        </p:nvSpPr>
        <p:spPr>
          <a:xfrm>
            <a:off x="405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1E2E3B"/>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1E2E3B"/>
                </a:solidFill>
                <a:latin typeface="Microsoft YaHei"/>
                <a:ea typeface="Microsoft YaHei"/>
                <a:cs typeface="Microsoft YaHei"/>
              </a:rPr>
              <a:t>kg·d)。</a:t>
            </a:r>
          </a:p>
        </p:txBody>
      </p:sp>
      <p:sp>
        <p:nvSpPr>
          <p:cNvPr id="68" name="2025 刊p502"/>
          <p:cNvSpPr txBox="1"/>
          <p:nvPr/>
        </p:nvSpPr>
        <p:spPr>
          <a:xfrm>
            <a:off x="405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69" name="Rectangle 68"/>
          <p:cNvSpPr/>
          <p:nvPr/>
        </p:nvSpPr>
        <p:spPr>
          <a:xfrm>
            <a:off x="3952720" y="70046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剂量摘录"/>
          <p:cNvSpPr txBox="1"/>
          <p:nvPr/>
        </p:nvSpPr>
        <p:spPr>
          <a:xfrm>
            <a:off x="405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RO剂量摘录</a:t>
            </a:r>
          </a:p>
        </p:txBody>
      </p:sp>
      <p:sp>
        <p:nvSpPr>
          <p:cNvPr id="71" name="RO：泼尼松龙1.0 mg/(kg·d)，或甲泼尼龙静滴500～750 mg、1次/d；TA球旁20"/>
          <p:cNvSpPr txBox="1"/>
          <p:nvPr/>
        </p:nvSpPr>
        <p:spPr>
          <a:xfrm>
            <a:off x="4054320" y="7195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1E2E3B"/>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1E2E3B"/>
                </a:solidFill>
                <a:latin typeface="Microsoft YaHei"/>
                <a:ea typeface="Microsoft YaHei"/>
                <a:cs typeface="Microsoft YaHei"/>
              </a:rPr>
              <a:t>球内TA超说明书。</a:t>
            </a:r>
          </a:p>
        </p:txBody>
      </p:sp>
      <p:sp>
        <p:nvSpPr>
          <p:cNvPr id="72" name="2025 刊p502"/>
          <p:cNvSpPr txBox="1"/>
          <p:nvPr/>
        </p:nvSpPr>
        <p:spPr>
          <a:xfrm>
            <a:off x="4054320" y="7662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73" name="Rectangle 72"/>
          <p:cNvSpPr/>
          <p:nvPr/>
        </p:nvSpPr>
        <p:spPr>
          <a:xfrm>
            <a:off x="3952720" y="79190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阶梯与禁忌"/>
          <p:cNvSpPr txBox="1"/>
          <p:nvPr/>
        </p:nvSpPr>
        <p:spPr>
          <a:xfrm>
            <a:off x="4054320" y="7957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阶梯与禁忌</a:t>
            </a:r>
          </a:p>
        </p:txBody>
      </p:sp>
      <p:sp>
        <p:nvSpPr>
          <p:cNvPr id="75" name="按部位/RV/RO升级〔中等推荐〕。活动期避免相同/同类药再注；TA相关者避免再玻璃体TA。普通SI"/>
          <p:cNvSpPr txBox="1"/>
          <p:nvPr/>
        </p:nvSpPr>
        <p:spPr>
          <a:xfrm>
            <a:off x="4054320" y="8109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1E2E3B"/>
                </a:solidFill>
                <a:latin typeface="Microsoft YaHei"/>
                <a:ea typeface="Microsoft YaHei"/>
                <a:cs typeface="Microsoft YaHei"/>
              </a:rPr>
              <a:t>注；TA相关者避免再玻璃体TA。普通SIOI激光待炎症消退后</a:t>
            </a:r>
          </a:p>
          <a:p>
            <a:pPr>
              <a:lnSpc>
                <a:spcPts val="1160"/>
              </a:lnSpc>
              <a:spcBef>
                <a:spcPts val="0"/>
              </a:spcBef>
              <a:spcAft>
                <a:spcPts val="0"/>
              </a:spcAft>
            </a:pPr>
            <a:r>
              <a:rPr sz="950" b="0" lang="zh-CN">
                <a:solidFill>
                  <a:srgbClr val="1E2E3B"/>
                </a:solidFill>
                <a:latin typeface="Microsoft YaHei"/>
                <a:ea typeface="Microsoft YaHei"/>
                <a:cs typeface="Microsoft YaHei"/>
              </a:rPr>
              <a:t>适应证。</a:t>
            </a:r>
          </a:p>
        </p:txBody>
      </p:sp>
      <p:sp>
        <p:nvSpPr>
          <p:cNvPr id="76" name="2025 刊p502"/>
          <p:cNvSpPr txBox="1"/>
          <p:nvPr/>
        </p:nvSpPr>
        <p:spPr>
          <a:xfrm>
            <a:off x="4054320" y="85768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77" name="Rectangle 76"/>
          <p:cNvSpPr/>
          <p:nvPr/>
        </p:nvSpPr>
        <p:spPr>
          <a:xfrm>
            <a:off x="3952720" y="88334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预后与缺项"/>
          <p:cNvSpPr txBox="1"/>
          <p:nvPr/>
        </p:nvSpPr>
        <p:spPr>
          <a:xfrm>
            <a:off x="4054320" y="8871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预后与缺项</a:t>
            </a:r>
          </a:p>
        </p:txBody>
      </p:sp>
      <p:sp>
        <p:nvSpPr>
          <p:cNvPr id="79" name="黄斑缺血/RO可逆性影响预后〔中等推荐〕。HOCRV另走特殊路径。统一激素疗程/递减、复诊增频间隔未"/>
          <p:cNvSpPr txBox="1"/>
          <p:nvPr/>
        </p:nvSpPr>
        <p:spPr>
          <a:xfrm>
            <a:off x="4054320" y="9023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1E2E3B"/>
                </a:solidFill>
                <a:latin typeface="Microsoft YaHei"/>
                <a:ea typeface="Microsoft YaHei"/>
                <a:cs typeface="Microsoft YaHei"/>
              </a:rPr>
              <a:t>殊路径。统一激素疗程/递减、复诊增频间隔未明确。</a:t>
            </a:r>
          </a:p>
        </p:txBody>
      </p:sp>
      <p:sp>
        <p:nvSpPr>
          <p:cNvPr id="80" name="2025 刊p502–503"/>
          <p:cNvSpPr txBox="1"/>
          <p:nvPr/>
        </p:nvSpPr>
        <p:spPr>
          <a:xfrm>
            <a:off x="4054320" y="9343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眼内注药后非感染性眼内炎症 A4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