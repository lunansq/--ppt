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pediatric-17 眼前节缺血预防：避免一只眼同时做3条及以上直肌；既往手术/相邻直肌等高危，可采用保血管、折叠/部分腱术、必要分期。</a:t>
            </a:r>
          </a:p>
          <a:p>
            <a:r>
              <a:t>来源：2025 刊p503 / PDF4；类别：并发症；推荐等级：原文未明确。</a:t>
            </a:r>
          </a:p>
          <a:p>
            <a:r>
              <a:t>原文锚点：。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a:t>
            </a:r>
          </a:p>
          <a:p/>
          <a:p>
            <a:r>
              <a:t>pediatric-18 肌肉滑脱识别：术后眼位异常、运动受限、扫视减慢应疑滑脱；MRI/回弹试验辅助，术探透见试验阳性确诊；二次寻找实体肌并重固定。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a:p/>
          <a:p>
            <a:r>
              <a:t>pediatric-20 药物剂量与缺项：麻醉总量/最大量、眼部激素频次递减、抗生素品种疗程、止吐与镇痛剂量、正式推荐等级原文未明确；不能用常识补作本共识要求。</a:t>
            </a:r>
          </a:p>
          <a:p>
            <a:r>
              <a:t>来源：2025 刊p501–503 / PDF2–4；类别：原文未明确；推荐等级：原文未明确。</a:t>
            </a:r>
          </a:p>
          <a:p>
            <a:r>
              <a:t>原文锚点：功能及眼球运动功能检查。重点关注是否存在眼部或全身性综合征。对于检查配合欠佳的婴幼儿，可在保证安全的前提下，酌情使用镇静药物，以获取准确的检查结果。总之，做到确保诊断准确无误，明确患儿是否具有手术指征，尽可能使患儿通过手术治疗获得最佳疗效。（二）术前准备儿童斜视矫正手术应遵循我国眼科手术管理、感染控制、消毒灭菌指南［3‑4］和《儿童麻醉评估与围版）》［5］中的指手术期风险预测中国专家共识（2024导意见，日间手术应遵循《中国眼科日间手术管理年）》中的指导意见［6］。术前应对患专家共识（2021儿及家属进行科普宣传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 name="2025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前闭环"/>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7" name="病史/全身/视功能评估；额部标眼别/肌肉，医护麻醉三方核对。儿童以全麻为主，高危联合个体化评估。"/>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8" name="2025 刊p501"/>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9" name="Rectangle 8"/>
          <p:cNvSpPr/>
          <p:nvPr/>
        </p:nvSpPr>
        <p:spPr>
          <a:xfrm>
            <a:off x="172720" y="1511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感染与用药"/>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11" name="严重眼表/疑眶感染治愈后择期。术前常规抗生素尚无定论；与2026指南分开。局麻总量未明确。"/>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12" name="2025 刊p50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13" name="Rectangle 12"/>
          <p:cNvSpPr/>
          <p:nvPr/>
        </p:nvSpPr>
        <p:spPr>
          <a:xfrm>
            <a:off x="172720" y="2278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眼心反射阈值"/>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15" name="心率降&lt;20%观察；20%~50%稳定按轻度、不稳按重度；&gt;50%移钩暂停，由麻醉/心内处理。"/>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1E2E3B"/>
                </a:solidFill>
                <a:latin typeface="Microsoft YaHei"/>
                <a:ea typeface="Microsoft YaHei"/>
                <a:cs typeface="Microsoft YaHei"/>
              </a:rPr>
              <a:t>&gt;50%移钩暂停，由麻醉/心内处理。</a:t>
            </a:r>
          </a:p>
        </p:txBody>
      </p:sp>
      <p:sp>
        <p:nvSpPr>
          <p:cNvPr id="16" name="2025 刊p502"/>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7" name="Rectangle 16"/>
          <p:cNvSpPr/>
          <p:nvPr/>
        </p:nvSpPr>
        <p:spPr>
          <a:xfrm>
            <a:off x="172720" y="3045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重度反射升级"/>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19" name="暂停后未恢复→增强局麻；仍无效静推阿托品0.1~0.3 mg，正常后继续。勿外推为通用儿童急救剂量。"/>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正常后继续。勿外推为通用儿童急救剂量。</a:t>
            </a:r>
          </a:p>
        </p:txBody>
      </p:sp>
      <p:sp>
        <p:nvSpPr>
          <p:cNvPr id="20" name="2025 刊p502"/>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 name="2025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5" name="Rectangle 4"/>
          <p:cNvSpPr/>
          <p:nvPr/>
        </p:nvSpPr>
        <p:spPr>
          <a:xfrm>
            <a:off x="172720" y="744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后用药/包眼"/>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7" name="不双眼包盖，按手术情况单眼24 h；低龄避免久包。氟米龙优先替代妥布霉素地塞米松，用药1周首测压；仅"/>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8" name="2025 刊p502–503"/>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9" name="Rectangle 8"/>
          <p:cNvSpPr/>
          <p:nvPr/>
        </p:nvSpPr>
        <p:spPr>
          <a:xfrm>
            <a:off x="172720" y="1658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后随访"/>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11" name="1天、1周、1/3/6月，后每半年；视力、屈光、眼位/运动、头位/双眼视；早期眼压/前节。"/>
          <p:cNvSpPr txBox="1"/>
          <p:nvPr/>
        </p:nvSpPr>
        <p:spPr>
          <a:xfrm>
            <a:off x="274320" y="1849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1E2E3B"/>
                </a:solidFill>
                <a:latin typeface="Microsoft YaHei"/>
                <a:ea typeface="Microsoft YaHei"/>
                <a:cs typeface="Microsoft YaHei"/>
              </a:rPr>
              <a:t>头位/双眼视；早期眼压/前节。</a:t>
            </a:r>
          </a:p>
        </p:txBody>
      </p:sp>
      <p:sp>
        <p:nvSpPr>
          <p:cNvPr id="12" name="2025 刊p502"/>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3" name="Rectangle 12"/>
          <p:cNvSpPr/>
          <p:nvPr/>
        </p:nvSpPr>
        <p:spPr>
          <a:xfrm>
            <a:off x="172720" y="2425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异常需警惕"/>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15" name="嗜睡/食欲差、红肿痛警惕眼内炎；眼位异常+运动受限/扫视慢疑滑脱。避免一眼同时≥3条直肌。"/>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16" name="2025 刊p503–504"/>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17" name="Rectangle 16"/>
          <p:cNvSpPr/>
          <p:nvPr/>
        </p:nvSpPr>
        <p:spPr>
          <a:xfrm>
            <a:off x="172720" y="3192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过矫/欠矫与缺项"/>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19" name="外斜过矫复视1~4周交替遮盖，4周仍内斜再验光；欠矫控制差6周可再手术。药物完整剂量/递减未明确。"/>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20" name="2025 刊p501–503"/>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