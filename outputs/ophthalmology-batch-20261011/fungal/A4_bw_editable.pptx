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fungal-01 研究性质：单中心回顾性研究，23例（23眼），病例来自2020年1月至2025年6月；没有随机分组或对照组。</a:t>
            </a:r>
          </a:p>
          <a:p>
            <a:r>
              <a:t>来源：2026 刊p122–123 / PDF1–2；类别：研究设计；推荐等级：原文未明确。</a:t>
            </a:r>
          </a:p>
          <a:p>
            <a:r>
              <a:t>原文锚点：切除术联合基质内注射伏立康【摘要】析2020年01月至2025年06月在成都中医药大学附属医院的采例真菌性角膜溃疡患者(23只眼)的临床资料,病灶位于角膜中央或度≤1/2角膜厚度。入院后全身及局部抗真菌治疗3~7d未见明唑治疗。记录患者术前检查结果、治疗效果及术后随访情况等。结显微镜检查诊断为真菌性角膜炎,其中男性21例,女性2例。术前0.93mm。10例(43.5%)角膜溃疡位于中央,13例(56.5%)位于旁角膜病损切除术联合未因感染加重而需接受角膜移植术。结论短治愈时间,降低应用角膜移植术的必要性,减轻患者经</a:t>
            </a:r>
          </a:p>
          <a:p/>
          <a:p>
            <a:r>
              <a:t>fungal-02 病原诊断：真菌培养、角膜涂片镜检或共焦激光显微镜任一项发现真菌菌丝或孢子，纳入真菌性角膜溃疡病例。</a:t>
            </a:r>
          </a:p>
          <a:p>
            <a:r>
              <a:t>来源：2026 刊p123 / PDF2；类别：检查；推荐等级：原文未明确。</a:t>
            </a:r>
          </a:p>
          <a:p>
            <a:r>
              <a:t>原文锚点：医眼耳鼻喉杂志2026年第16卷第2期JChinOphthalmolandOtorhi菌性角膜溃疡患者的临床疗效。1.2纳入标准及排除标准纳入标准:①行真菌培养、角膜涂片镜检或共焦激光激光显微镜检查,其中任一项发现真菌菌丝或孢子,诊断为真菌性角膜溃疡;②裂隙灯检查及前节OCT检查示病灶浸润深度≤1/2角膜厚度;③溃疡病灶位于角膜中央或旁中央;④入院后全身及局部常规抗真菌治疗3~7d未见明显好转者。排除标准:①非真菌性角膜感染;②角膜全层穿孔;③合并眼内炎;④各种出血性、凝血性疾病;⑤严重全身基础疾病,如高血压、糖尿</a:t>
            </a:r>
          </a:p>
          <a:p/>
          <a:p>
            <a:r>
              <a:t>fungal-03 入选条件：中央或旁中央病灶；裂隙灯及前节OCT示浸润深度≤1/2角膜厚度；全身及局部抗真菌治疗3~7 d未见明显好转。</a:t>
            </a:r>
          </a:p>
          <a:p>
            <a:r>
              <a:t>来源：2026 刊p123 / PDF2；类别：适用人群；推荐等级：原文未明确。</a:t>
            </a:r>
          </a:p>
          <a:p>
            <a:r>
              <a:t>原文锚点：涂片镜检或共焦激光激光显微镜检查,其中任一项发现真菌菌丝或孢子,诊断为真菌性角膜溃疡;②裂隙灯检查及前节OCT检查示病灶浸润深度≤1/2角膜厚度;③溃疡病灶位于角膜中央或旁中央;④入院后全身及局部常规抗真菌治疗3~7d未见明显好转者。排除标准:①非真菌性角膜感染;②角膜全层穿孔;③合并眼内炎;④各种出血性、凝血性疾病;⑤严重全身基础疾病,如高血压、糖尿病等控制不佳者。1.3方法1.3.1术前治疗①全身予以氟康唑注射液0.2g,静滴,一天一次。②局部予以5%那他霉素滴眼液,每氟康唑滴眼小时1次;灭菌注射用水配制的10</a:t>
            </a:r>
          </a:p>
          <a:p/>
          <a:p>
            <a:r>
              <a:t>fungal-04 排除条件：非真菌性角膜感染、全层穿孔、眼内炎、出血/凝血疾病，以及高血压、糖尿病等严重基础病控制不佳者被排除。</a:t>
            </a:r>
          </a:p>
          <a:p>
            <a:r>
              <a:t>来源：2026 刊p123 / PDF2；类别：禁忌；推荐等级：原文未明确。</a:t>
            </a:r>
          </a:p>
          <a:p>
            <a:r>
              <a:t>原文锚点：杂志2026年第16卷第2期JChinOphthalmolandOtorhi菌性角膜溃疡患者的临床疗效。1.2纳入标准及排除标准纳入标准:①行真菌培养、角膜涂片镜检或共焦激光激光显微镜检查,其中任一项发现真菌菌丝或孢子,诊断为真菌性角膜溃疡;②裂隙灯检查及前节OCT检查示病灶浸润深度≤1/2角膜厚度;③溃疡病灶位于角膜中央或旁中央;④入院后全身及局部常规抗真菌治疗3~7d未见明显好转者。排除标准:①非真菌性角膜感染;②角膜全层穿孔;③合并眼内炎;④各种出血性、凝血性疾病;⑤严重全身基础疾病,如高血压、糖尿病等控制不</a:t>
            </a:r>
          </a:p>
          <a:p/>
          <a:p>
            <a:r>
              <a:t>fungal-06 术前全身用药：本文方案：氟康唑注射液0.2 g静滴，一天一次。属于研究治疗记录，不是普适处方推荐。</a:t>
            </a:r>
          </a:p>
          <a:p>
            <a:r>
              <a:t>来源：2026 刊p123 / PDF2；类别：研究方案；推荐等级：原文未明确。</a:t>
            </a:r>
          </a:p>
          <a:p>
            <a:r>
              <a:t>原文锚点：出血性、凝血性疾病;⑤严重全身基础疾病,如高血压、糖尿病等控制不佳者。1.3方法1.3.1术前治疗①全身予以氟康唑注射液0.2g,静滴,一天一次。②局部予以5%那他霉素滴眼液,每氟康唑滴眼小时1次;灭菌注射用水配制的10g/L液,每小时1次;小牛血去蛋白提取物眼用凝胶,睡前一次。入院后药物治疗3~7d后病情无明显好转者,则行角膜病损切除术联合基质内注射伏立康唑。1.3.2手术方式①常规消毒铺巾;②术眼球后麻醉;③30G显微注射针头于患眼颞下方角膜缘内1mm图1角膜病损切除术联合基质A-C:角膜病损切除术的过程;D-</a:t>
            </a:r>
          </a:p>
          <a:p/>
          <a:p>
            <a:r>
              <a:t>fungal-07 术前局部用药：5%那他霉素滴眼液每小时1次；10 g/L氟康唑滴眼液每小时1次；小牛血去蛋白提取物眼用凝胶睡前一次。</a:t>
            </a:r>
          </a:p>
          <a:p>
            <a:r>
              <a:t>来源：2026 刊p123 / PDF2；类别：研究方案；推荐等级：原文未明确。</a:t>
            </a:r>
          </a:p>
          <a:p>
            <a:r>
              <a:t>原文锚点：如高血压、糖尿病等控制不佳者。1.3方法1.3.1术前治疗①全身予以氟康唑注射液0.2g,静滴,一天一次。②局部予以5%那他霉素滴眼液,每氟康唑滴眼小时1次;灭菌注射用水配制的10g/L液,每小时1次;小牛血去蛋白提取物眼用凝胶,睡前一次。入院后药物治疗3~7d后病情无明显好转者,则行角膜病损切除术联合基质内注射伏立康唑。1.3.2手术方式①常规消毒铺巾;②术眼球后麻醉;③30G显微注射针头于患眼颞下方角膜缘内1mm图1角膜病损切除术联合基质A-C:角膜病损切除术的过程;D-F:基质内注射伏立康唑的过程2结果2.1</a:t>
            </a:r>
          </a:p>
          <a:p/>
          <a:p>
            <a:r>
              <a:t>fungal-08 病损切除范围：标记直径略大于溃疡边缘0.5 mm；切除深度不超过角膜基质层厚度1/2，以透明无浸润为准；修剪范围超过边缘0.5 mm。</a:t>
            </a:r>
          </a:p>
          <a:p>
            <a:r>
              <a:t>来源：2026 刊p123 / PDF2；类别：研究方案；推荐等级：原文未明确。</a:t>
            </a:r>
          </a:p>
          <a:p>
            <a:r>
              <a:t>原文锚点：,Vol.16,No.2123处,平行角膜缘缓慢穿刺,放出少量房水,在放液过程中观察前房深度;④用一次性刀片沿溃疡边缘做浅切口标记,直径略大于溃疡边缘0.5mm;⑤显微有齿镊轻拉溃疡边缘,从溃疡边缘向中心逐步剥切病变角膜组织,深度不超过角膜基质层厚度的1/2,以角膜透明无浸润为准;⑥修剪边缘残留病变组织,范围超过溃疡边缘0.5mm,同时确保边缘于正常角膜平缓过渡;⑦无菌生理盐水冲洗创面,清除残留坏死组织及分泌物;显微注射针头以⑧配制10g/L伏立康唑注射液,30G较水平的角度,于角膜溃疡切除区域的基质内进针,缓慢推</a:t>
            </a:r>
          </a:p>
          <a:p/>
          <a:p>
            <a:r>
              <a:t>fungal-09 基质注射记录：原文记录10 g/L伏立康唑注射液，30G针，多点基质内缓慢推注，留针10秒，覆盖病变区域。单点体积、总量、配制细节：原文未明确。</a:t>
            </a:r>
          </a:p>
          <a:p>
            <a:r>
              <a:t>来源：2026 刊p123 / PDF2；类别：研究方案；推荐等级：原文未明确。</a:t>
            </a:r>
          </a:p>
          <a:p>
            <a:r>
              <a:t>原文锚点：以⑧配制10g/L伏立康唑注射液,30G较水平的角度,于角膜溃疡切除区域的基质内进针,缓慢推注药物,形成局部药物浸润灶,留针10秒后退出针头;采取多点注射的方式,直至药物注射范围覆盖病变区域;⑨结膜囊内涂抗生素眼膏,包扎患眼(图1)。1.3.3术后治疗术后抗真菌药物开放点眼治疗,用药同术前,局部用药频次降至每日4~6次。每日裂隙灯观察角膜创面处上皮愈合情况及是否再次出现浸润。对于再次出现角膜基质浸润者,进行结膜下注射伏立康唑注射液。出院后定期随访,复查最佳矫正视力、共焦激光显微镜检查、角膜愈合情况等。内注射伏立康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fungal-10 术后治疗：术后用药同术前，局部频次降至每日4~6次；每日裂隙灯观察上皮愈合和再浸润。再浸润者采用结膜下注射伏立康唑，剂量原文未明确。</a:t>
            </a:r>
          </a:p>
          <a:p>
            <a:r>
              <a:t>来源：2026 刊p123 / PDF2；类别：随访；推荐等级：原文未明确。</a:t>
            </a:r>
          </a:p>
          <a:p>
            <a:r>
              <a:t>原文锚点：10秒后退出针头;采取多点注射的方式,直至药物注射范围覆盖病变区域;⑨结膜囊内涂抗生素眼膏,包扎患眼(图1)。1.3.3术后治疗术后抗真菌药物开放点眼治疗,用药同术前,局部用药频次降至每日4~6次。每日裂隙灯观察角膜创面处上皮愈合情况及是否再次出现浸润。对于再次出现角膜基质浸润者,进行结膜下注射伏立康唑注射液。出院后定期随访,复查最佳矫正视力、共焦激光显微镜检查、角膜愈合情况等。内注射伏立康唑治疗的手术过程光显微镜检查发现真菌菌丝。2.2术后治疗效果经治疗后,21例(91.3%)病情得到有效控制,溃疡愈合时间5~1</a:t>
            </a:r>
          </a:p>
          <a:p/>
          <a:p>
            <a:r>
              <a:t>fungal-11 主要结果：21例（91.3%）病情有效控制，溃疡愈合时间5~17 d；2例（8.7%）再浸润，追加处理后减轻。所有病例随诊最终愈合，未因感染加重移植。</a:t>
            </a:r>
          </a:p>
          <a:p>
            <a:r>
              <a:t>来源：2026 刊p123 / PDF2；类别：研究发现；推荐等级：原文未明确。</a:t>
            </a:r>
          </a:p>
          <a:p>
            <a:r>
              <a:t>原文锚点：程;D-F:基质内注射伏立康唑的过程2结果2.1一般情况本研究选取23例真菌性角膜溃疡患例者为观察对象,其中男性21例(91.3%),女性2(8.6%)。10例(43.5%)有明确植物外伤史,其中9例为务农人员。纳入患者的临床体征包括有角膜浸润灶、伪足、前房积脓等。角膜浸润最大直径4~7mm,平均4.6±0.93mm。其中10例(43.5%)合并前房积脓。10例(43.5%)角膜溃疡位于中央,13例(56.5%)位于旁中央。入院后完善检查发现,10例(43.5%)患者真菌培养阳性,其中茄病镰刀菌4例、黄曲霉菌4例、</a:t>
            </a:r>
          </a:p>
          <a:p/>
          <a:p>
            <a:r>
              <a:t>fungal-12 恢复与不良事件：平均治疗周期约90 d；1例（4.3%）并发性白内障，2例（8.7%）远视漂移。5~17 d的溃疡愈合不能替代约90 d整体治疗周期。</a:t>
            </a:r>
          </a:p>
          <a:p>
            <a:r>
              <a:t>来源：2026 刊p123 / PDF2；类别：研究发现；推荐等级：原文未明确。</a:t>
            </a:r>
          </a:p>
          <a:p>
            <a:r>
              <a:t>原文锚点：全愈合,基质无浸润,矫正视力均较前提高。复查角膜共焦激光显微镜,18例(78.3%)未见明显真菌菌丝反光。平均治疗周期约90d。1例(4.3%)出现并发性白内障,术后1年行白内障超声乳化摘除术(图2)。2例(8.7%)出现远视漂移,均为中央区病变患者。</a:t>
            </a:r>
          </a:p>
          <a:p/>
          <a:p>
            <a:r>
              <a:t>fungal-13 随访项目：出院后复查最佳矫正视力、共焦激光显微镜与角膜愈合情况；统一复诊间隔、停药标准、特殊人群剂量：原文未明确。</a:t>
            </a:r>
          </a:p>
          <a:p>
            <a:r>
              <a:t>来源：2026 刊p123 / PDF2；类别：随访；推荐等级：原文未明确。</a:t>
            </a:r>
          </a:p>
          <a:p>
            <a:r>
              <a:t>原文锚点：6次。每日裂隙灯观察角膜创面处上皮愈合情况及是否再次出现浸润。对于再次出现角膜基质浸润者,进行结膜下注射伏立康唑注射液。出院后定期随访,复查最佳矫正视力、共焦激光显微镜检查、角膜愈合情况等。内注射伏立康唑治疗的手术过程光显微镜检查发现真菌菌丝。2.2术后治疗效果经治疗后,21例(91.3%)病情得到有效控制,溃疡愈合时间5~17d。2例(8.7%)术后再次出现角膜溃疡浸润灶,予以结膜下注射伏立康唑注射液后,浸润减轻,溃疡未向深层发展。所有病例均未因感染加重而需接受角膜移植术(表1)。出院后随诊,所有患者角膜溃疡完全</a:t>
            </a:r>
          </a:p>
          <a:p/>
          <a:p>
            <a:r>
              <a:t>fungal-14 研究局限：样本小、随访较短、无对照；不能证明优于药物或移植，也不能据此推广至深层浸润、穿孔或眼内炎患者。</a:t>
            </a:r>
          </a:p>
          <a:p>
            <a:r>
              <a:t>来源：2026 刊p123、125 / PDF2、4；类别：研究局限；推荐等级：原文未明确。</a:t>
            </a:r>
          </a:p>
          <a:p>
            <a:r>
              <a:t>原文锚点：待角膜供体的患者争取缓冲时间。这种治疗方式极大程度上减轻了患者的身心痛苦与经济负担,可进行临床推广。但是本文仍然存在一定局限性。首先本研究样本量较小、随访时间较短,结论普适性有效。其次,本研究中有2例患者术后再次出现浸润灶,建议后续治疗中规范眼部护理,加强健康宣讲,提升患者依从性,减少不良后果发生。另外,随访时1例患者确诊并发性白内障,这与前房炎症侵袭、药物干扰相关,因此应尽早控制炎症,同时术中严格把控注射药量,减少对晶状体的隐匿损伤。最后,随访发现2例患者出现远视漂移,建议术前与患者充分沟通,告知远视漂移风险,避</a:t>
            </a:r>
          </a:p>
          <a:p/>
          <a:p>
            <a:r>
              <a:t>fungal-15 原文数据核对项：正文部分例数/百分比及表1例数存在不一致；保留主结果23例的表述，不自行修正分母。10 g/L注射浓度为原文记录，不能据此补造注射体积。</a:t>
            </a:r>
          </a:p>
          <a:p>
            <a:r>
              <a:t>来源：2026 刊p123–125 / PDF2–4；类别：原文核对事项；推荐等级：原文未明确。</a:t>
            </a:r>
          </a:p>
          <a:p>
            <a:r>
              <a:t>原文锚点：现角膜溃疡浸润灶,予以结膜下注射伏立康唑注射液后,浸润减轻,溃疡未向深层发展。所有病例均未因感染加重而需接受角膜移植术(表1)。出院后随诊,所有患者角膜溃疡完全愈合,基质无浸润,矫正视力均较前提高。复查角膜共焦激光显微镜,18例(78.3%)未见明显真菌菌丝反光。平均治疗周期约90d。1例(4.3%)出现并发性白内障,术后1年行白内障超声乳化摘除术(图2)。2例(8.7%)出现远视漂移,均为中央区病变患者。124中医眼耳鼻喉杂志2026年第1图2病例17治疗前后A:入院时的角膜情况。B:角膜共焦激光显微镜检查可见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60020" y="178020"/>
            <a:ext cx="3459960" cy="520700"/>
          </a:xfrm>
          <a:prstGeom prst="rect">
            <a:avLst/>
          </a:prstGeom>
          <a:solidFill>
            <a:srgbClr val="FFFFFF"/>
          </a:solidFill>
          <a:ln w="7620">
            <a:solidFill>
              <a:srgbClr val="6D7A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真菌性角膜溃疡：病损切除联合伏立康唑"/>
          <p:cNvSpPr txBox="1"/>
          <p:nvPr/>
        </p:nvSpPr>
        <p:spPr>
          <a:xfrm>
            <a:off x="236220" y="216120"/>
            <a:ext cx="3307560" cy="241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真菌性角膜溃疡：病损切除联合伏立康唑</a:t>
            </a:r>
          </a:p>
        </p:txBody>
      </p:sp>
      <p:sp>
        <p:nvSpPr>
          <p:cNvPr id="4" name="2026 单篇研究 · 正面"/>
          <p:cNvSpPr txBox="1"/>
          <p:nvPr/>
        </p:nvSpPr>
        <p:spPr>
          <a:xfrm>
            <a:off x="236220" y="432020"/>
            <a:ext cx="33075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2026 单篇研究 · 正面</a:t>
            </a:r>
          </a:p>
        </p:txBody>
      </p:sp>
      <p:sp>
        <p:nvSpPr>
          <p:cNvPr id="5" name="Rectangle 4"/>
          <p:cNvSpPr/>
          <p:nvPr/>
        </p:nvSpPr>
        <p:spPr>
          <a:xfrm>
            <a:off x="172720" y="762220"/>
            <a:ext cx="3434560" cy="716280"/>
          </a:xfrm>
          <a:prstGeom prst="rect">
            <a:avLst/>
          </a:prstGeom>
          <a:solidFill>
            <a:srgbClr val="FFFFFF"/>
          </a:solidFill>
          <a:ln w="7620">
            <a:solidFill>
              <a:srgbClr val="7E8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研究人群"/>
          <p:cNvSpPr txBox="1"/>
          <p:nvPr/>
        </p:nvSpPr>
        <p:spPr>
          <a:xfrm>
            <a:off x="274320" y="80032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研究人群</a:t>
            </a:r>
          </a:p>
        </p:txBody>
      </p:sp>
      <p:sp>
        <p:nvSpPr>
          <p:cNvPr id="7" name="23例回顾性病例系列，非指南。中央/旁中央，浸润≤1/2角膜厚度；抗真菌治疗3~7 d无明显好转。"/>
          <p:cNvSpPr txBox="1"/>
          <p:nvPr/>
        </p:nvSpPr>
        <p:spPr>
          <a:xfrm>
            <a:off x="274320" y="95272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23例回顾性病例系列，非指南。中央/旁中央，浸润≤1/2角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膜厚度；抗真菌治疗3~7 d无明显好转。</a:t>
            </a:r>
          </a:p>
        </p:txBody>
      </p:sp>
      <p:sp>
        <p:nvSpPr>
          <p:cNvPr id="8" name="2026 刊p122–123"/>
          <p:cNvSpPr txBox="1"/>
          <p:nvPr/>
        </p:nvSpPr>
        <p:spPr>
          <a:xfrm>
            <a:off x="274320" y="127276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2026 刊p122–123</a:t>
            </a:r>
          </a:p>
        </p:txBody>
      </p:sp>
      <p:sp>
        <p:nvSpPr>
          <p:cNvPr id="9" name="Rectangle 8"/>
          <p:cNvSpPr/>
          <p:nvPr/>
        </p:nvSpPr>
        <p:spPr>
          <a:xfrm>
            <a:off x="172720" y="1529300"/>
            <a:ext cx="3434560" cy="716280"/>
          </a:xfrm>
          <a:prstGeom prst="rect">
            <a:avLst/>
          </a:prstGeom>
          <a:solidFill>
            <a:srgbClr val="FFFFFF"/>
          </a:solidFill>
          <a:ln w="7620">
            <a:solidFill>
              <a:srgbClr val="7E8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诊断与排除"/>
          <p:cNvSpPr txBox="1"/>
          <p:nvPr/>
        </p:nvSpPr>
        <p:spPr>
          <a:xfrm>
            <a:off x="274320" y="156740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诊断与排除</a:t>
            </a:r>
          </a:p>
        </p:txBody>
      </p:sp>
      <p:sp>
        <p:nvSpPr>
          <p:cNvPr id="11" name="培养/涂片/共焦任一见菌丝或孢子。排除全层穿孔、眼内炎、凝血疾病和控制不佳严重全身病。"/>
          <p:cNvSpPr txBox="1"/>
          <p:nvPr/>
        </p:nvSpPr>
        <p:spPr>
          <a:xfrm>
            <a:off x="274320" y="171980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培养/涂片/共焦任一见菌丝或孢子。排除全层穿孔、眼内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炎、凝血疾病和控制不佳严重全身病。</a:t>
            </a:r>
          </a:p>
        </p:txBody>
      </p:sp>
      <p:sp>
        <p:nvSpPr>
          <p:cNvPr id="12" name="2026 刊p123"/>
          <p:cNvSpPr txBox="1"/>
          <p:nvPr/>
        </p:nvSpPr>
        <p:spPr>
          <a:xfrm>
            <a:off x="274320" y="203984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2026 刊p123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2720" y="2296380"/>
            <a:ext cx="3434560" cy="716280"/>
          </a:xfrm>
          <a:prstGeom prst="rect">
            <a:avLst/>
          </a:prstGeom>
          <a:solidFill>
            <a:srgbClr val="FFFFFF"/>
          </a:solidFill>
          <a:ln w="7620">
            <a:solidFill>
              <a:srgbClr val="7E8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术前用药记录"/>
          <p:cNvSpPr txBox="1"/>
          <p:nvPr/>
        </p:nvSpPr>
        <p:spPr>
          <a:xfrm>
            <a:off x="274320" y="233448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术前用药记录</a:t>
            </a:r>
          </a:p>
        </p:txBody>
      </p:sp>
      <p:sp>
        <p:nvSpPr>
          <p:cNvPr id="15" name="氟康唑0.2 g静滴每日一次；5%那他霉素、10 g/L氟康唑滴眼液各每小时1次。仅为本文方案。"/>
          <p:cNvSpPr txBox="1"/>
          <p:nvPr/>
        </p:nvSpPr>
        <p:spPr>
          <a:xfrm>
            <a:off x="274320" y="248688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氟康唑0.2 g静滴每日一次；5%那他霉素、10 g/L氟康唑滴眼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液各每小时1次。仅为本文方案。</a:t>
            </a:r>
          </a:p>
        </p:txBody>
      </p:sp>
      <p:sp>
        <p:nvSpPr>
          <p:cNvPr id="16" name="2026 刊p123"/>
          <p:cNvSpPr txBox="1"/>
          <p:nvPr/>
        </p:nvSpPr>
        <p:spPr>
          <a:xfrm>
            <a:off x="274320" y="280692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2026 刊p123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72720" y="3063460"/>
            <a:ext cx="3434560" cy="716280"/>
          </a:xfrm>
          <a:prstGeom prst="rect">
            <a:avLst/>
          </a:prstGeom>
          <a:solidFill>
            <a:srgbClr val="FFFFFF"/>
          </a:solidFill>
          <a:ln w="7620">
            <a:solidFill>
              <a:srgbClr val="7E8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切除与注药记录"/>
          <p:cNvSpPr txBox="1"/>
          <p:nvPr/>
        </p:nvSpPr>
        <p:spPr>
          <a:xfrm>
            <a:off x="274320" y="310156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切除与注药记录</a:t>
            </a:r>
          </a:p>
        </p:txBody>
      </p:sp>
      <p:sp>
        <p:nvSpPr>
          <p:cNvPr id="19" name="切除深度≤基质层1/2；边缘超0.5 mm。原文伏立康唑10 g/L、30G、多点基质注射，留针10"/>
          <p:cNvSpPr txBox="1"/>
          <p:nvPr/>
        </p:nvSpPr>
        <p:spPr>
          <a:xfrm>
            <a:off x="274320" y="325396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切除深度≤基质层1/2；边缘超0.5 mm。原文伏立康唑10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g/L、30G、多点基质注射，留针10秒；总量未明确。</a:t>
            </a:r>
          </a:p>
        </p:txBody>
      </p:sp>
      <p:sp>
        <p:nvSpPr>
          <p:cNvPr id="20" name="2026 刊p123"/>
          <p:cNvSpPr txBox="1"/>
          <p:nvPr/>
        </p:nvSpPr>
        <p:spPr>
          <a:xfrm>
            <a:off x="274320" y="357400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2026 刊p123</a:t>
            </a:r>
          </a:p>
        </p:txBody>
      </p:sp>
      <p:sp>
        <p:nvSpPr>
          <p:cNvPr id="21" name="单篇研究方案，不等同指南推荐。详见提取表。&#10;100%原尺寸 · 双面长边翻转"/>
          <p:cNvSpPr txBox="1"/>
          <p:nvPr/>
        </p:nvSpPr>
        <p:spPr>
          <a:xfrm>
            <a:off x="198120" y="4888800"/>
            <a:ext cx="3383760" cy="3225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单篇研究方案，不等同指南推荐。详见提取表。</a:t>
            </a:r>
          </a:p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100%原尺寸 · 双面长边翻转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40020" y="178020"/>
            <a:ext cx="3459960" cy="520700"/>
          </a:xfrm>
          <a:prstGeom prst="rect">
            <a:avLst/>
          </a:prstGeom>
          <a:solidFill>
            <a:srgbClr val="FFFFFF"/>
          </a:solidFill>
          <a:ln w="7620">
            <a:solidFill>
              <a:srgbClr val="6D7A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真菌性角膜溃疡：病损切除联合伏立康唑"/>
          <p:cNvSpPr txBox="1"/>
          <p:nvPr/>
        </p:nvSpPr>
        <p:spPr>
          <a:xfrm>
            <a:off x="4016220" y="216120"/>
            <a:ext cx="3307560" cy="241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真菌性角膜溃疡：病损切除联合伏立康唑</a:t>
            </a:r>
          </a:p>
        </p:txBody>
      </p:sp>
      <p:sp>
        <p:nvSpPr>
          <p:cNvPr id="24" name="2026 单篇研究 · 正面"/>
          <p:cNvSpPr txBox="1"/>
          <p:nvPr/>
        </p:nvSpPr>
        <p:spPr>
          <a:xfrm>
            <a:off x="4016220" y="432020"/>
            <a:ext cx="33075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2026 单篇研究 · 正面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52720" y="762220"/>
            <a:ext cx="3434560" cy="716280"/>
          </a:xfrm>
          <a:prstGeom prst="rect">
            <a:avLst/>
          </a:prstGeom>
          <a:solidFill>
            <a:srgbClr val="FFFFFF"/>
          </a:solidFill>
          <a:ln w="7620">
            <a:solidFill>
              <a:srgbClr val="7E8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研究人群"/>
          <p:cNvSpPr txBox="1"/>
          <p:nvPr/>
        </p:nvSpPr>
        <p:spPr>
          <a:xfrm>
            <a:off x="4054320" y="80032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研究人群</a:t>
            </a:r>
          </a:p>
        </p:txBody>
      </p:sp>
      <p:sp>
        <p:nvSpPr>
          <p:cNvPr id="27" name="23例回顾性病例系列，非指南。中央/旁中央，浸润≤1/2角膜厚度；抗真菌治疗3~7 d无明显好转。"/>
          <p:cNvSpPr txBox="1"/>
          <p:nvPr/>
        </p:nvSpPr>
        <p:spPr>
          <a:xfrm>
            <a:off x="4054320" y="95272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23例回顾性病例系列，非指南。中央/旁中央，浸润≤1/2角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膜厚度；抗真菌治疗3~7 d无明显好转。</a:t>
            </a:r>
          </a:p>
        </p:txBody>
      </p:sp>
      <p:sp>
        <p:nvSpPr>
          <p:cNvPr id="28" name="2026 刊p122–123"/>
          <p:cNvSpPr txBox="1"/>
          <p:nvPr/>
        </p:nvSpPr>
        <p:spPr>
          <a:xfrm>
            <a:off x="4054320" y="127276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2026 刊p122–123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52720" y="1529300"/>
            <a:ext cx="3434560" cy="716280"/>
          </a:xfrm>
          <a:prstGeom prst="rect">
            <a:avLst/>
          </a:prstGeom>
          <a:solidFill>
            <a:srgbClr val="FFFFFF"/>
          </a:solidFill>
          <a:ln w="7620">
            <a:solidFill>
              <a:srgbClr val="7E8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诊断与排除"/>
          <p:cNvSpPr txBox="1"/>
          <p:nvPr/>
        </p:nvSpPr>
        <p:spPr>
          <a:xfrm>
            <a:off x="4054320" y="156740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诊断与排除</a:t>
            </a:r>
          </a:p>
        </p:txBody>
      </p:sp>
      <p:sp>
        <p:nvSpPr>
          <p:cNvPr id="31" name="培养/涂片/共焦任一见菌丝或孢子。排除全层穿孔、眼内炎、凝血疾病和控制不佳严重全身病。"/>
          <p:cNvSpPr txBox="1"/>
          <p:nvPr/>
        </p:nvSpPr>
        <p:spPr>
          <a:xfrm>
            <a:off x="4054320" y="171980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培养/涂片/共焦任一见菌丝或孢子。排除全层穿孔、眼内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炎、凝血疾病和控制不佳严重全身病。</a:t>
            </a:r>
          </a:p>
        </p:txBody>
      </p:sp>
      <p:sp>
        <p:nvSpPr>
          <p:cNvPr id="32" name="2026 刊p123"/>
          <p:cNvSpPr txBox="1"/>
          <p:nvPr/>
        </p:nvSpPr>
        <p:spPr>
          <a:xfrm>
            <a:off x="4054320" y="203984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2026 刊p123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952720" y="2296380"/>
            <a:ext cx="3434560" cy="716280"/>
          </a:xfrm>
          <a:prstGeom prst="rect">
            <a:avLst/>
          </a:prstGeom>
          <a:solidFill>
            <a:srgbClr val="FFFFFF"/>
          </a:solidFill>
          <a:ln w="7620">
            <a:solidFill>
              <a:srgbClr val="7E8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术前用药记录"/>
          <p:cNvSpPr txBox="1"/>
          <p:nvPr/>
        </p:nvSpPr>
        <p:spPr>
          <a:xfrm>
            <a:off x="4054320" y="233448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术前用药记录</a:t>
            </a:r>
          </a:p>
        </p:txBody>
      </p:sp>
      <p:sp>
        <p:nvSpPr>
          <p:cNvPr id="35" name="氟康唑0.2 g静滴每日一次；5%那他霉素、10 g/L氟康唑滴眼液各每小时1次。仅为本文方案。"/>
          <p:cNvSpPr txBox="1"/>
          <p:nvPr/>
        </p:nvSpPr>
        <p:spPr>
          <a:xfrm>
            <a:off x="4054320" y="248688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氟康唑0.2 g静滴每日一次；5%那他霉素、10 g/L氟康唑滴眼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液各每小时1次。仅为本文方案。</a:t>
            </a:r>
          </a:p>
        </p:txBody>
      </p:sp>
      <p:sp>
        <p:nvSpPr>
          <p:cNvPr id="36" name="2026 刊p123"/>
          <p:cNvSpPr txBox="1"/>
          <p:nvPr/>
        </p:nvSpPr>
        <p:spPr>
          <a:xfrm>
            <a:off x="4054320" y="280692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2026 刊p123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952720" y="3063460"/>
            <a:ext cx="3434560" cy="716280"/>
          </a:xfrm>
          <a:prstGeom prst="rect">
            <a:avLst/>
          </a:prstGeom>
          <a:solidFill>
            <a:srgbClr val="FFFFFF"/>
          </a:solidFill>
          <a:ln w="7620">
            <a:solidFill>
              <a:srgbClr val="7E8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切除与注药记录"/>
          <p:cNvSpPr txBox="1"/>
          <p:nvPr/>
        </p:nvSpPr>
        <p:spPr>
          <a:xfrm>
            <a:off x="4054320" y="310156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切除与注药记录</a:t>
            </a:r>
          </a:p>
        </p:txBody>
      </p:sp>
      <p:sp>
        <p:nvSpPr>
          <p:cNvPr id="39" name="切除深度≤基质层1/2；边缘超0.5 mm。原文伏立康唑10 g/L、30G、多点基质注射，留针10"/>
          <p:cNvSpPr txBox="1"/>
          <p:nvPr/>
        </p:nvSpPr>
        <p:spPr>
          <a:xfrm>
            <a:off x="4054320" y="325396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切除深度≤基质层1/2；边缘超0.5 mm。原文伏立康唑10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g/L、30G、多点基质注射，留针10秒；总量未明确。</a:t>
            </a:r>
          </a:p>
        </p:txBody>
      </p:sp>
      <p:sp>
        <p:nvSpPr>
          <p:cNvPr id="40" name="2026 刊p123"/>
          <p:cNvSpPr txBox="1"/>
          <p:nvPr/>
        </p:nvSpPr>
        <p:spPr>
          <a:xfrm>
            <a:off x="4054320" y="357400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2026 刊p123</a:t>
            </a:r>
          </a:p>
        </p:txBody>
      </p:sp>
      <p:sp>
        <p:nvSpPr>
          <p:cNvPr id="41" name="单篇研究方案，不等同指南推荐。详见提取表。&#10;100%原尺寸 · 双面长边翻转"/>
          <p:cNvSpPr txBox="1"/>
          <p:nvPr/>
        </p:nvSpPr>
        <p:spPr>
          <a:xfrm>
            <a:off x="3978120" y="4888800"/>
            <a:ext cx="3383760" cy="3225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单篇研究方案，不等同指南推荐。详见提取表。</a:t>
            </a:r>
          </a:p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100%原尺寸 · 双面长边翻转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0020" y="5506020"/>
            <a:ext cx="3459960" cy="520700"/>
          </a:xfrm>
          <a:prstGeom prst="rect">
            <a:avLst/>
          </a:prstGeom>
          <a:solidFill>
            <a:srgbClr val="FFFFFF"/>
          </a:solidFill>
          <a:ln w="7620">
            <a:solidFill>
              <a:srgbClr val="6D7A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真菌性角膜溃疡：病损切除联合伏立康唑"/>
          <p:cNvSpPr txBox="1"/>
          <p:nvPr/>
        </p:nvSpPr>
        <p:spPr>
          <a:xfrm>
            <a:off x="236220" y="5544120"/>
            <a:ext cx="3307560" cy="241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真菌性角膜溃疡：病损切除联合伏立康唑</a:t>
            </a:r>
          </a:p>
        </p:txBody>
      </p:sp>
      <p:sp>
        <p:nvSpPr>
          <p:cNvPr id="44" name="2026 单篇研究 · 正面"/>
          <p:cNvSpPr txBox="1"/>
          <p:nvPr/>
        </p:nvSpPr>
        <p:spPr>
          <a:xfrm>
            <a:off x="236220" y="5760020"/>
            <a:ext cx="33075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2026 单篇研究 · 正面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72720" y="6090220"/>
            <a:ext cx="3434560" cy="716280"/>
          </a:xfrm>
          <a:prstGeom prst="rect">
            <a:avLst/>
          </a:prstGeom>
          <a:solidFill>
            <a:srgbClr val="FFFFFF"/>
          </a:solidFill>
          <a:ln w="7620">
            <a:solidFill>
              <a:srgbClr val="7E8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研究人群"/>
          <p:cNvSpPr txBox="1"/>
          <p:nvPr/>
        </p:nvSpPr>
        <p:spPr>
          <a:xfrm>
            <a:off x="274320" y="612832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研究人群</a:t>
            </a:r>
          </a:p>
        </p:txBody>
      </p:sp>
      <p:sp>
        <p:nvSpPr>
          <p:cNvPr id="47" name="23例回顾性病例系列，非指南。中央/旁中央，浸润≤1/2角膜厚度；抗真菌治疗3~7 d无明显好转。"/>
          <p:cNvSpPr txBox="1"/>
          <p:nvPr/>
        </p:nvSpPr>
        <p:spPr>
          <a:xfrm>
            <a:off x="274320" y="628072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23例回顾性病例系列，非指南。中央/旁中央，浸润≤1/2角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膜厚度；抗真菌治疗3~7 d无明显好转。</a:t>
            </a:r>
          </a:p>
        </p:txBody>
      </p:sp>
      <p:sp>
        <p:nvSpPr>
          <p:cNvPr id="48" name="2026 刊p122–123"/>
          <p:cNvSpPr txBox="1"/>
          <p:nvPr/>
        </p:nvSpPr>
        <p:spPr>
          <a:xfrm>
            <a:off x="274320" y="660076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2026 刊p122–123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72720" y="6857300"/>
            <a:ext cx="3434560" cy="716280"/>
          </a:xfrm>
          <a:prstGeom prst="rect">
            <a:avLst/>
          </a:prstGeom>
          <a:solidFill>
            <a:srgbClr val="FFFFFF"/>
          </a:solidFill>
          <a:ln w="7620">
            <a:solidFill>
              <a:srgbClr val="7E8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诊断与排除"/>
          <p:cNvSpPr txBox="1"/>
          <p:nvPr/>
        </p:nvSpPr>
        <p:spPr>
          <a:xfrm>
            <a:off x="274320" y="689540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诊断与排除</a:t>
            </a:r>
          </a:p>
        </p:txBody>
      </p:sp>
      <p:sp>
        <p:nvSpPr>
          <p:cNvPr id="51" name="培养/涂片/共焦任一见菌丝或孢子。排除全层穿孔、眼内炎、凝血疾病和控制不佳严重全身病。"/>
          <p:cNvSpPr txBox="1"/>
          <p:nvPr/>
        </p:nvSpPr>
        <p:spPr>
          <a:xfrm>
            <a:off x="274320" y="704780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培养/涂片/共焦任一见菌丝或孢子。排除全层穿孔、眼内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炎、凝血疾病和控制不佳严重全身病。</a:t>
            </a:r>
          </a:p>
        </p:txBody>
      </p:sp>
      <p:sp>
        <p:nvSpPr>
          <p:cNvPr id="52" name="2026 刊p123"/>
          <p:cNvSpPr txBox="1"/>
          <p:nvPr/>
        </p:nvSpPr>
        <p:spPr>
          <a:xfrm>
            <a:off x="274320" y="736784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2026 刊p123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72720" y="7624380"/>
            <a:ext cx="3434560" cy="716280"/>
          </a:xfrm>
          <a:prstGeom prst="rect">
            <a:avLst/>
          </a:prstGeom>
          <a:solidFill>
            <a:srgbClr val="FFFFFF"/>
          </a:solidFill>
          <a:ln w="7620">
            <a:solidFill>
              <a:srgbClr val="7E8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术前用药记录"/>
          <p:cNvSpPr txBox="1"/>
          <p:nvPr/>
        </p:nvSpPr>
        <p:spPr>
          <a:xfrm>
            <a:off x="274320" y="766248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术前用药记录</a:t>
            </a:r>
          </a:p>
        </p:txBody>
      </p:sp>
      <p:sp>
        <p:nvSpPr>
          <p:cNvPr id="55" name="氟康唑0.2 g静滴每日一次；5%那他霉素、10 g/L氟康唑滴眼液各每小时1次。仅为本文方案。"/>
          <p:cNvSpPr txBox="1"/>
          <p:nvPr/>
        </p:nvSpPr>
        <p:spPr>
          <a:xfrm>
            <a:off x="274320" y="781488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氟康唑0.2 g静滴每日一次；5%那他霉素、10 g/L氟康唑滴眼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液各每小时1次。仅为本文方案。</a:t>
            </a:r>
          </a:p>
        </p:txBody>
      </p:sp>
      <p:sp>
        <p:nvSpPr>
          <p:cNvPr id="56" name="2026 刊p123"/>
          <p:cNvSpPr txBox="1"/>
          <p:nvPr/>
        </p:nvSpPr>
        <p:spPr>
          <a:xfrm>
            <a:off x="274320" y="813492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2026 刊p123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72720" y="8391460"/>
            <a:ext cx="3434560" cy="716280"/>
          </a:xfrm>
          <a:prstGeom prst="rect">
            <a:avLst/>
          </a:prstGeom>
          <a:solidFill>
            <a:srgbClr val="FFFFFF"/>
          </a:solidFill>
          <a:ln w="7620">
            <a:solidFill>
              <a:srgbClr val="7E8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切除与注药记录"/>
          <p:cNvSpPr txBox="1"/>
          <p:nvPr/>
        </p:nvSpPr>
        <p:spPr>
          <a:xfrm>
            <a:off x="274320" y="842956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切除与注药记录</a:t>
            </a:r>
          </a:p>
        </p:txBody>
      </p:sp>
      <p:sp>
        <p:nvSpPr>
          <p:cNvPr id="59" name="切除深度≤基质层1/2；边缘超0.5 mm。原文伏立康唑10 g/L、30G、多点基质注射，留针10"/>
          <p:cNvSpPr txBox="1"/>
          <p:nvPr/>
        </p:nvSpPr>
        <p:spPr>
          <a:xfrm>
            <a:off x="274320" y="858196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切除深度≤基质层1/2；边缘超0.5 mm。原文伏立康唑10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g/L、30G、多点基质注射，留针10秒；总量未明确。</a:t>
            </a:r>
          </a:p>
        </p:txBody>
      </p:sp>
      <p:sp>
        <p:nvSpPr>
          <p:cNvPr id="60" name="2026 刊p123"/>
          <p:cNvSpPr txBox="1"/>
          <p:nvPr/>
        </p:nvSpPr>
        <p:spPr>
          <a:xfrm>
            <a:off x="274320" y="890200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2026 刊p123</a:t>
            </a:r>
          </a:p>
        </p:txBody>
      </p:sp>
      <p:sp>
        <p:nvSpPr>
          <p:cNvPr id="61" name="单篇研究方案，不等同指南推荐。详见提取表。&#10;100%原尺寸 · 双面长边翻转"/>
          <p:cNvSpPr txBox="1"/>
          <p:nvPr/>
        </p:nvSpPr>
        <p:spPr>
          <a:xfrm>
            <a:off x="198120" y="10216800"/>
            <a:ext cx="3383760" cy="3225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单篇研究方案，不等同指南推荐。详见提取表。</a:t>
            </a:r>
          </a:p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100%原尺寸 · 双面长边翻转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940020" y="5506020"/>
            <a:ext cx="3459960" cy="520700"/>
          </a:xfrm>
          <a:prstGeom prst="rect">
            <a:avLst/>
          </a:prstGeom>
          <a:solidFill>
            <a:srgbClr val="FFFFFF"/>
          </a:solidFill>
          <a:ln w="7620">
            <a:solidFill>
              <a:srgbClr val="6D7A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真菌性角膜溃疡：病损切除联合伏立康唑"/>
          <p:cNvSpPr txBox="1"/>
          <p:nvPr/>
        </p:nvSpPr>
        <p:spPr>
          <a:xfrm>
            <a:off x="4016220" y="5544120"/>
            <a:ext cx="3307560" cy="241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真菌性角膜溃疡：病损切除联合伏立康唑</a:t>
            </a:r>
          </a:p>
        </p:txBody>
      </p:sp>
      <p:sp>
        <p:nvSpPr>
          <p:cNvPr id="64" name="2026 单篇研究 · 正面"/>
          <p:cNvSpPr txBox="1"/>
          <p:nvPr/>
        </p:nvSpPr>
        <p:spPr>
          <a:xfrm>
            <a:off x="4016220" y="5760020"/>
            <a:ext cx="33075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2026 单篇研究 · 正面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952720" y="6090220"/>
            <a:ext cx="3434560" cy="716280"/>
          </a:xfrm>
          <a:prstGeom prst="rect">
            <a:avLst/>
          </a:prstGeom>
          <a:solidFill>
            <a:srgbClr val="FFFFFF"/>
          </a:solidFill>
          <a:ln w="7620">
            <a:solidFill>
              <a:srgbClr val="7E8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研究人群"/>
          <p:cNvSpPr txBox="1"/>
          <p:nvPr/>
        </p:nvSpPr>
        <p:spPr>
          <a:xfrm>
            <a:off x="4054320" y="612832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研究人群</a:t>
            </a:r>
          </a:p>
        </p:txBody>
      </p:sp>
      <p:sp>
        <p:nvSpPr>
          <p:cNvPr id="67" name="23例回顾性病例系列，非指南。中央/旁中央，浸润≤1/2角膜厚度；抗真菌治疗3~7 d无明显好转。"/>
          <p:cNvSpPr txBox="1"/>
          <p:nvPr/>
        </p:nvSpPr>
        <p:spPr>
          <a:xfrm>
            <a:off x="4054320" y="628072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23例回顾性病例系列，非指南。中央/旁中央，浸润≤1/2角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膜厚度；抗真菌治疗3~7 d无明显好转。</a:t>
            </a:r>
          </a:p>
        </p:txBody>
      </p:sp>
      <p:sp>
        <p:nvSpPr>
          <p:cNvPr id="68" name="2026 刊p122–123"/>
          <p:cNvSpPr txBox="1"/>
          <p:nvPr/>
        </p:nvSpPr>
        <p:spPr>
          <a:xfrm>
            <a:off x="4054320" y="660076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2026 刊p122–123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952720" y="6857300"/>
            <a:ext cx="3434560" cy="716280"/>
          </a:xfrm>
          <a:prstGeom prst="rect">
            <a:avLst/>
          </a:prstGeom>
          <a:solidFill>
            <a:srgbClr val="FFFFFF"/>
          </a:solidFill>
          <a:ln w="7620">
            <a:solidFill>
              <a:srgbClr val="7E8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诊断与排除"/>
          <p:cNvSpPr txBox="1"/>
          <p:nvPr/>
        </p:nvSpPr>
        <p:spPr>
          <a:xfrm>
            <a:off x="4054320" y="689540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诊断与排除</a:t>
            </a:r>
          </a:p>
        </p:txBody>
      </p:sp>
      <p:sp>
        <p:nvSpPr>
          <p:cNvPr id="71" name="培养/涂片/共焦任一见菌丝或孢子。排除全层穿孔、眼内炎、凝血疾病和控制不佳严重全身病。"/>
          <p:cNvSpPr txBox="1"/>
          <p:nvPr/>
        </p:nvSpPr>
        <p:spPr>
          <a:xfrm>
            <a:off x="4054320" y="704780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培养/涂片/共焦任一见菌丝或孢子。排除全层穿孔、眼内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炎、凝血疾病和控制不佳严重全身病。</a:t>
            </a:r>
          </a:p>
        </p:txBody>
      </p:sp>
      <p:sp>
        <p:nvSpPr>
          <p:cNvPr id="72" name="2026 刊p123"/>
          <p:cNvSpPr txBox="1"/>
          <p:nvPr/>
        </p:nvSpPr>
        <p:spPr>
          <a:xfrm>
            <a:off x="4054320" y="736784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2026 刊p123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952720" y="7624380"/>
            <a:ext cx="3434560" cy="716280"/>
          </a:xfrm>
          <a:prstGeom prst="rect">
            <a:avLst/>
          </a:prstGeom>
          <a:solidFill>
            <a:srgbClr val="FFFFFF"/>
          </a:solidFill>
          <a:ln w="7620">
            <a:solidFill>
              <a:srgbClr val="7E8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术前用药记录"/>
          <p:cNvSpPr txBox="1"/>
          <p:nvPr/>
        </p:nvSpPr>
        <p:spPr>
          <a:xfrm>
            <a:off x="4054320" y="766248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术前用药记录</a:t>
            </a:r>
          </a:p>
        </p:txBody>
      </p:sp>
      <p:sp>
        <p:nvSpPr>
          <p:cNvPr id="75" name="氟康唑0.2 g静滴每日一次；5%那他霉素、10 g/L氟康唑滴眼液各每小时1次。仅为本文方案。"/>
          <p:cNvSpPr txBox="1"/>
          <p:nvPr/>
        </p:nvSpPr>
        <p:spPr>
          <a:xfrm>
            <a:off x="4054320" y="781488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氟康唑0.2 g静滴每日一次；5%那他霉素、10 g/L氟康唑滴眼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液各每小时1次。仅为本文方案。</a:t>
            </a:r>
          </a:p>
        </p:txBody>
      </p:sp>
      <p:sp>
        <p:nvSpPr>
          <p:cNvPr id="76" name="2026 刊p123"/>
          <p:cNvSpPr txBox="1"/>
          <p:nvPr/>
        </p:nvSpPr>
        <p:spPr>
          <a:xfrm>
            <a:off x="4054320" y="813492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2026 刊p123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952720" y="8391460"/>
            <a:ext cx="3434560" cy="716280"/>
          </a:xfrm>
          <a:prstGeom prst="rect">
            <a:avLst/>
          </a:prstGeom>
          <a:solidFill>
            <a:srgbClr val="FFFFFF"/>
          </a:solidFill>
          <a:ln w="7620">
            <a:solidFill>
              <a:srgbClr val="7E8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切除与注药记录"/>
          <p:cNvSpPr txBox="1"/>
          <p:nvPr/>
        </p:nvSpPr>
        <p:spPr>
          <a:xfrm>
            <a:off x="4054320" y="842956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切除与注药记录</a:t>
            </a:r>
          </a:p>
        </p:txBody>
      </p:sp>
      <p:sp>
        <p:nvSpPr>
          <p:cNvPr id="79" name="切除深度≤基质层1/2；边缘超0.5 mm。原文伏立康唑10 g/L、30G、多点基质注射，留针10"/>
          <p:cNvSpPr txBox="1"/>
          <p:nvPr/>
        </p:nvSpPr>
        <p:spPr>
          <a:xfrm>
            <a:off x="4054320" y="858196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切除深度≤基质层1/2；边缘超0.5 mm。原文伏立康唑10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g/L、30G、多点基质注射，留针10秒；总量未明确。</a:t>
            </a:r>
          </a:p>
        </p:txBody>
      </p:sp>
      <p:sp>
        <p:nvSpPr>
          <p:cNvPr id="80" name="2026 刊p123"/>
          <p:cNvSpPr txBox="1"/>
          <p:nvPr/>
        </p:nvSpPr>
        <p:spPr>
          <a:xfrm>
            <a:off x="4054320" y="890200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2026 刊p123</a:t>
            </a:r>
          </a:p>
        </p:txBody>
      </p:sp>
      <p:sp>
        <p:nvSpPr>
          <p:cNvPr id="81" name="单篇研究方案，不等同指南推荐。详见提取表。&#10;100%原尺寸 · 双面长边翻转"/>
          <p:cNvSpPr txBox="1"/>
          <p:nvPr/>
        </p:nvSpPr>
        <p:spPr>
          <a:xfrm>
            <a:off x="3978120" y="10216800"/>
            <a:ext cx="3383760" cy="3225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单篇研究方案，不等同指南推荐。详见提取表。</a:t>
            </a:r>
          </a:p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100%原尺寸 · 双面长边翻转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3780000" y="0"/>
            <a:ext cx="0" cy="10692000"/>
          </a:xfrm>
          <a:prstGeom prst="line">
            <a:avLst/>
          </a:prstGeom>
          <a:ln w="3175">
            <a:solidFill>
              <a:srgbClr val="919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0" y="18000"/>
            <a:ext cx="7560000" cy="0"/>
          </a:xfrm>
          <a:prstGeom prst="line">
            <a:avLst/>
          </a:prstGeom>
          <a:ln w="3175">
            <a:solidFill>
              <a:srgbClr val="919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0" y="5346000"/>
            <a:ext cx="7560000" cy="0"/>
          </a:xfrm>
          <a:prstGeom prst="line">
            <a:avLst/>
          </a:prstGeom>
          <a:ln w="3175">
            <a:solidFill>
              <a:srgbClr val="919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0" y="10674000"/>
            <a:ext cx="7560000" cy="0"/>
          </a:xfrm>
          <a:prstGeom prst="line">
            <a:avLst/>
          </a:prstGeom>
          <a:ln w="3175">
            <a:solidFill>
              <a:srgbClr val="919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60020" y="178020"/>
            <a:ext cx="3459960" cy="520700"/>
          </a:xfrm>
          <a:prstGeom prst="rect">
            <a:avLst/>
          </a:prstGeom>
          <a:solidFill>
            <a:srgbClr val="FFFFFF"/>
          </a:solidFill>
          <a:ln w="7620">
            <a:solidFill>
              <a:srgbClr val="6D7A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真菌性角膜溃疡：病损切除联合伏立康唑"/>
          <p:cNvSpPr txBox="1"/>
          <p:nvPr/>
        </p:nvSpPr>
        <p:spPr>
          <a:xfrm>
            <a:off x="236220" y="216120"/>
            <a:ext cx="3307560" cy="241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真菌性角膜溃疡：病损切除联合伏立康唑</a:t>
            </a:r>
          </a:p>
        </p:txBody>
      </p:sp>
      <p:sp>
        <p:nvSpPr>
          <p:cNvPr id="4" name="2026 单篇研究 · 背面"/>
          <p:cNvSpPr txBox="1"/>
          <p:nvPr/>
        </p:nvSpPr>
        <p:spPr>
          <a:xfrm>
            <a:off x="236220" y="432020"/>
            <a:ext cx="33075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2026 单篇研究 · 背面</a:t>
            </a:r>
          </a:p>
        </p:txBody>
      </p:sp>
      <p:sp>
        <p:nvSpPr>
          <p:cNvPr id="5" name="Rectangle 4"/>
          <p:cNvSpPr/>
          <p:nvPr/>
        </p:nvSpPr>
        <p:spPr>
          <a:xfrm>
            <a:off x="172720" y="762220"/>
            <a:ext cx="3434560" cy="716280"/>
          </a:xfrm>
          <a:prstGeom prst="rect">
            <a:avLst/>
          </a:prstGeom>
          <a:solidFill>
            <a:srgbClr val="FFFFFF"/>
          </a:solidFill>
          <a:ln w="7620">
            <a:solidFill>
              <a:srgbClr val="7E8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术后处理"/>
          <p:cNvSpPr txBox="1"/>
          <p:nvPr/>
        </p:nvSpPr>
        <p:spPr>
          <a:xfrm>
            <a:off x="274320" y="80032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术后处理</a:t>
            </a:r>
          </a:p>
        </p:txBody>
      </p:sp>
      <p:sp>
        <p:nvSpPr>
          <p:cNvPr id="7" name="局部抗真菌降至4~6次/d；每日观察愈合/再浸润。再浸润用结膜下注射伏立康唑，剂量原文未明确。"/>
          <p:cNvSpPr txBox="1"/>
          <p:nvPr/>
        </p:nvSpPr>
        <p:spPr>
          <a:xfrm>
            <a:off x="274320" y="95272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局部抗真菌降至4~6次/d；每日观察愈合/再浸润。再浸润用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结膜下注射伏立康唑，剂量原文未明确。</a:t>
            </a:r>
          </a:p>
        </p:txBody>
      </p:sp>
      <p:sp>
        <p:nvSpPr>
          <p:cNvPr id="8" name="2026 刊p123"/>
          <p:cNvSpPr txBox="1"/>
          <p:nvPr/>
        </p:nvSpPr>
        <p:spPr>
          <a:xfrm>
            <a:off x="274320" y="127276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2026 刊p123</a:t>
            </a:r>
          </a:p>
        </p:txBody>
      </p:sp>
      <p:sp>
        <p:nvSpPr>
          <p:cNvPr id="9" name="Rectangle 8"/>
          <p:cNvSpPr/>
          <p:nvPr/>
        </p:nvSpPr>
        <p:spPr>
          <a:xfrm>
            <a:off x="172720" y="1529300"/>
            <a:ext cx="3434560" cy="716280"/>
          </a:xfrm>
          <a:prstGeom prst="rect">
            <a:avLst/>
          </a:prstGeom>
          <a:solidFill>
            <a:srgbClr val="FFFFFF"/>
          </a:solidFill>
          <a:ln w="7620">
            <a:solidFill>
              <a:srgbClr val="7E8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本文观察结果"/>
          <p:cNvSpPr txBox="1"/>
          <p:nvPr/>
        </p:nvSpPr>
        <p:spPr>
          <a:xfrm>
            <a:off x="274320" y="156740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本文观察结果</a:t>
            </a:r>
          </a:p>
        </p:txBody>
      </p:sp>
      <p:sp>
        <p:nvSpPr>
          <p:cNvPr id="11" name="21/23有效控制，愈合5~17 d；2例再浸润。随诊最终均愈合，未因感染加重移植；总治疗约90 d"/>
          <p:cNvSpPr txBox="1"/>
          <p:nvPr/>
        </p:nvSpPr>
        <p:spPr>
          <a:xfrm>
            <a:off x="274320" y="171980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21/23有效控制，愈合5~17 d；2例再浸润。随诊最终均愈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合，未因感染加重移植；总治疗约90 d。</a:t>
            </a:r>
          </a:p>
        </p:txBody>
      </p:sp>
      <p:sp>
        <p:nvSpPr>
          <p:cNvPr id="12" name="2026 刊p123"/>
          <p:cNvSpPr txBox="1"/>
          <p:nvPr/>
        </p:nvSpPr>
        <p:spPr>
          <a:xfrm>
            <a:off x="274320" y="203984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2026 刊p123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2720" y="2296380"/>
            <a:ext cx="3434560" cy="716280"/>
          </a:xfrm>
          <a:prstGeom prst="rect">
            <a:avLst/>
          </a:prstGeom>
          <a:solidFill>
            <a:srgbClr val="FFFFFF"/>
          </a:solidFill>
          <a:ln w="7620">
            <a:solidFill>
              <a:srgbClr val="7E8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随访与风险"/>
          <p:cNvSpPr txBox="1"/>
          <p:nvPr/>
        </p:nvSpPr>
        <p:spPr>
          <a:xfrm>
            <a:off x="274320" y="233448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随访与风险</a:t>
            </a:r>
          </a:p>
        </p:txBody>
      </p:sp>
      <p:sp>
        <p:nvSpPr>
          <p:cNvPr id="15" name="复查矫正视力、共焦、角膜愈合。1例白内障、2例远视漂移。统一复诊间隔及停药标准未明确。"/>
          <p:cNvSpPr txBox="1"/>
          <p:nvPr/>
        </p:nvSpPr>
        <p:spPr>
          <a:xfrm>
            <a:off x="274320" y="248688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复查矫正视力、共焦、角膜愈合。1例白内障、2例远视漂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移。统一复诊间隔及停药标准未明确。</a:t>
            </a:r>
          </a:p>
        </p:txBody>
      </p:sp>
      <p:sp>
        <p:nvSpPr>
          <p:cNvPr id="16" name="2026 刊p123"/>
          <p:cNvSpPr txBox="1"/>
          <p:nvPr/>
        </p:nvSpPr>
        <p:spPr>
          <a:xfrm>
            <a:off x="274320" y="280692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2026 刊p123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72720" y="3063460"/>
            <a:ext cx="3434560" cy="716280"/>
          </a:xfrm>
          <a:prstGeom prst="rect">
            <a:avLst/>
          </a:prstGeom>
          <a:solidFill>
            <a:srgbClr val="FFFFFF"/>
          </a:solidFill>
          <a:ln w="7620">
            <a:solidFill>
              <a:srgbClr val="7E8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使用边界"/>
          <p:cNvSpPr txBox="1"/>
          <p:nvPr/>
        </p:nvSpPr>
        <p:spPr>
          <a:xfrm>
            <a:off x="274320" y="310156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使用边界</a:t>
            </a:r>
          </a:p>
        </p:txBody>
      </p:sp>
      <p:sp>
        <p:nvSpPr>
          <p:cNvPr id="19" name="无对照、小样本、短随访；原文数据存在不一致。不可据本文浓度补造体积或推广至深层/穿孔病例。"/>
          <p:cNvSpPr txBox="1"/>
          <p:nvPr/>
        </p:nvSpPr>
        <p:spPr>
          <a:xfrm>
            <a:off x="274320" y="325396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无对照、小样本、短随访；原文数据存在不一致。不可据本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文浓度补造体积或推广至深层/穿孔病例。</a:t>
            </a:r>
          </a:p>
        </p:txBody>
      </p:sp>
      <p:sp>
        <p:nvSpPr>
          <p:cNvPr id="20" name="2026 刊p123–125"/>
          <p:cNvSpPr txBox="1"/>
          <p:nvPr/>
        </p:nvSpPr>
        <p:spPr>
          <a:xfrm>
            <a:off x="274320" y="357400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2026 刊p123–125</a:t>
            </a:r>
          </a:p>
        </p:txBody>
      </p:sp>
      <p:sp>
        <p:nvSpPr>
          <p:cNvPr id="21" name="单篇研究方案，不等同指南推荐。详见提取表。&#10;100%原尺寸 · 双面长边翻转"/>
          <p:cNvSpPr txBox="1"/>
          <p:nvPr/>
        </p:nvSpPr>
        <p:spPr>
          <a:xfrm>
            <a:off x="198120" y="4888800"/>
            <a:ext cx="3383760" cy="3225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单篇研究方案，不等同指南推荐。详见提取表。</a:t>
            </a:r>
          </a:p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100%原尺寸 · 双面长边翻转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40020" y="178020"/>
            <a:ext cx="3459960" cy="520700"/>
          </a:xfrm>
          <a:prstGeom prst="rect">
            <a:avLst/>
          </a:prstGeom>
          <a:solidFill>
            <a:srgbClr val="FFFFFF"/>
          </a:solidFill>
          <a:ln w="7620">
            <a:solidFill>
              <a:srgbClr val="6D7A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真菌性角膜溃疡：病损切除联合伏立康唑"/>
          <p:cNvSpPr txBox="1"/>
          <p:nvPr/>
        </p:nvSpPr>
        <p:spPr>
          <a:xfrm>
            <a:off x="4016220" y="216120"/>
            <a:ext cx="3307560" cy="241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真菌性角膜溃疡：病损切除联合伏立康唑</a:t>
            </a:r>
          </a:p>
        </p:txBody>
      </p:sp>
      <p:sp>
        <p:nvSpPr>
          <p:cNvPr id="24" name="2026 单篇研究 · 背面"/>
          <p:cNvSpPr txBox="1"/>
          <p:nvPr/>
        </p:nvSpPr>
        <p:spPr>
          <a:xfrm>
            <a:off x="4016220" y="432020"/>
            <a:ext cx="33075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2026 单篇研究 · 背面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52720" y="762220"/>
            <a:ext cx="3434560" cy="716280"/>
          </a:xfrm>
          <a:prstGeom prst="rect">
            <a:avLst/>
          </a:prstGeom>
          <a:solidFill>
            <a:srgbClr val="FFFFFF"/>
          </a:solidFill>
          <a:ln w="7620">
            <a:solidFill>
              <a:srgbClr val="7E8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术后处理"/>
          <p:cNvSpPr txBox="1"/>
          <p:nvPr/>
        </p:nvSpPr>
        <p:spPr>
          <a:xfrm>
            <a:off x="4054320" y="80032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术后处理</a:t>
            </a:r>
          </a:p>
        </p:txBody>
      </p:sp>
      <p:sp>
        <p:nvSpPr>
          <p:cNvPr id="27" name="局部抗真菌降至4~6次/d；每日观察愈合/再浸润。再浸润用结膜下注射伏立康唑，剂量原文未明确。"/>
          <p:cNvSpPr txBox="1"/>
          <p:nvPr/>
        </p:nvSpPr>
        <p:spPr>
          <a:xfrm>
            <a:off x="4054320" y="95272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局部抗真菌降至4~6次/d；每日观察愈合/再浸润。再浸润用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结膜下注射伏立康唑，剂量原文未明确。</a:t>
            </a:r>
          </a:p>
        </p:txBody>
      </p:sp>
      <p:sp>
        <p:nvSpPr>
          <p:cNvPr id="28" name="2026 刊p123"/>
          <p:cNvSpPr txBox="1"/>
          <p:nvPr/>
        </p:nvSpPr>
        <p:spPr>
          <a:xfrm>
            <a:off x="4054320" y="127276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2026 刊p123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52720" y="1529300"/>
            <a:ext cx="3434560" cy="716280"/>
          </a:xfrm>
          <a:prstGeom prst="rect">
            <a:avLst/>
          </a:prstGeom>
          <a:solidFill>
            <a:srgbClr val="FFFFFF"/>
          </a:solidFill>
          <a:ln w="7620">
            <a:solidFill>
              <a:srgbClr val="7E8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本文观察结果"/>
          <p:cNvSpPr txBox="1"/>
          <p:nvPr/>
        </p:nvSpPr>
        <p:spPr>
          <a:xfrm>
            <a:off x="4054320" y="156740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本文观察结果</a:t>
            </a:r>
          </a:p>
        </p:txBody>
      </p:sp>
      <p:sp>
        <p:nvSpPr>
          <p:cNvPr id="31" name="21/23有效控制，愈合5~17 d；2例再浸润。随诊最终均愈合，未因感染加重移植；总治疗约90 d"/>
          <p:cNvSpPr txBox="1"/>
          <p:nvPr/>
        </p:nvSpPr>
        <p:spPr>
          <a:xfrm>
            <a:off x="4054320" y="171980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21/23有效控制，愈合5~17 d；2例再浸润。随诊最终均愈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合，未因感染加重移植；总治疗约90 d。</a:t>
            </a:r>
          </a:p>
        </p:txBody>
      </p:sp>
      <p:sp>
        <p:nvSpPr>
          <p:cNvPr id="32" name="2026 刊p123"/>
          <p:cNvSpPr txBox="1"/>
          <p:nvPr/>
        </p:nvSpPr>
        <p:spPr>
          <a:xfrm>
            <a:off x="4054320" y="203984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2026 刊p123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952720" y="2296380"/>
            <a:ext cx="3434560" cy="716280"/>
          </a:xfrm>
          <a:prstGeom prst="rect">
            <a:avLst/>
          </a:prstGeom>
          <a:solidFill>
            <a:srgbClr val="FFFFFF"/>
          </a:solidFill>
          <a:ln w="7620">
            <a:solidFill>
              <a:srgbClr val="7E8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随访与风险"/>
          <p:cNvSpPr txBox="1"/>
          <p:nvPr/>
        </p:nvSpPr>
        <p:spPr>
          <a:xfrm>
            <a:off x="4054320" y="233448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随访与风险</a:t>
            </a:r>
          </a:p>
        </p:txBody>
      </p:sp>
      <p:sp>
        <p:nvSpPr>
          <p:cNvPr id="35" name="复查矫正视力、共焦、角膜愈合。1例白内障、2例远视漂移。统一复诊间隔及停药标准未明确。"/>
          <p:cNvSpPr txBox="1"/>
          <p:nvPr/>
        </p:nvSpPr>
        <p:spPr>
          <a:xfrm>
            <a:off x="4054320" y="248688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复查矫正视力、共焦、角膜愈合。1例白内障、2例远视漂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移。统一复诊间隔及停药标准未明确。</a:t>
            </a:r>
          </a:p>
        </p:txBody>
      </p:sp>
      <p:sp>
        <p:nvSpPr>
          <p:cNvPr id="36" name="2026 刊p123"/>
          <p:cNvSpPr txBox="1"/>
          <p:nvPr/>
        </p:nvSpPr>
        <p:spPr>
          <a:xfrm>
            <a:off x="4054320" y="280692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2026 刊p123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952720" y="3063460"/>
            <a:ext cx="3434560" cy="716280"/>
          </a:xfrm>
          <a:prstGeom prst="rect">
            <a:avLst/>
          </a:prstGeom>
          <a:solidFill>
            <a:srgbClr val="FFFFFF"/>
          </a:solidFill>
          <a:ln w="7620">
            <a:solidFill>
              <a:srgbClr val="7E8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使用边界"/>
          <p:cNvSpPr txBox="1"/>
          <p:nvPr/>
        </p:nvSpPr>
        <p:spPr>
          <a:xfrm>
            <a:off x="4054320" y="310156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使用边界</a:t>
            </a:r>
          </a:p>
        </p:txBody>
      </p:sp>
      <p:sp>
        <p:nvSpPr>
          <p:cNvPr id="39" name="无对照、小样本、短随访；原文数据存在不一致。不可据本文浓度补造体积或推广至深层/穿孔病例。"/>
          <p:cNvSpPr txBox="1"/>
          <p:nvPr/>
        </p:nvSpPr>
        <p:spPr>
          <a:xfrm>
            <a:off x="4054320" y="325396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无对照、小样本、短随访；原文数据存在不一致。不可据本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文浓度补造体积或推广至深层/穿孔病例。</a:t>
            </a:r>
          </a:p>
        </p:txBody>
      </p:sp>
      <p:sp>
        <p:nvSpPr>
          <p:cNvPr id="40" name="2026 刊p123–125"/>
          <p:cNvSpPr txBox="1"/>
          <p:nvPr/>
        </p:nvSpPr>
        <p:spPr>
          <a:xfrm>
            <a:off x="4054320" y="357400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2026 刊p123–125</a:t>
            </a:r>
          </a:p>
        </p:txBody>
      </p:sp>
      <p:sp>
        <p:nvSpPr>
          <p:cNvPr id="41" name="单篇研究方案，不等同指南推荐。详见提取表。&#10;100%原尺寸 · 双面长边翻转"/>
          <p:cNvSpPr txBox="1"/>
          <p:nvPr/>
        </p:nvSpPr>
        <p:spPr>
          <a:xfrm>
            <a:off x="3978120" y="4888800"/>
            <a:ext cx="3383760" cy="3225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单篇研究方案，不等同指南推荐。详见提取表。</a:t>
            </a:r>
          </a:p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100%原尺寸 · 双面长边翻转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0020" y="5506020"/>
            <a:ext cx="3459960" cy="520700"/>
          </a:xfrm>
          <a:prstGeom prst="rect">
            <a:avLst/>
          </a:prstGeom>
          <a:solidFill>
            <a:srgbClr val="FFFFFF"/>
          </a:solidFill>
          <a:ln w="7620">
            <a:solidFill>
              <a:srgbClr val="6D7A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真菌性角膜溃疡：病损切除联合伏立康唑"/>
          <p:cNvSpPr txBox="1"/>
          <p:nvPr/>
        </p:nvSpPr>
        <p:spPr>
          <a:xfrm>
            <a:off x="236220" y="5544120"/>
            <a:ext cx="3307560" cy="241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真菌性角膜溃疡：病损切除联合伏立康唑</a:t>
            </a:r>
          </a:p>
        </p:txBody>
      </p:sp>
      <p:sp>
        <p:nvSpPr>
          <p:cNvPr id="44" name="2026 单篇研究 · 背面"/>
          <p:cNvSpPr txBox="1"/>
          <p:nvPr/>
        </p:nvSpPr>
        <p:spPr>
          <a:xfrm>
            <a:off x="236220" y="5760020"/>
            <a:ext cx="33075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2026 单篇研究 · 背面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72720" y="6090220"/>
            <a:ext cx="3434560" cy="716280"/>
          </a:xfrm>
          <a:prstGeom prst="rect">
            <a:avLst/>
          </a:prstGeom>
          <a:solidFill>
            <a:srgbClr val="FFFFFF"/>
          </a:solidFill>
          <a:ln w="7620">
            <a:solidFill>
              <a:srgbClr val="7E8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术后处理"/>
          <p:cNvSpPr txBox="1"/>
          <p:nvPr/>
        </p:nvSpPr>
        <p:spPr>
          <a:xfrm>
            <a:off x="274320" y="612832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术后处理</a:t>
            </a:r>
          </a:p>
        </p:txBody>
      </p:sp>
      <p:sp>
        <p:nvSpPr>
          <p:cNvPr id="47" name="局部抗真菌降至4~6次/d；每日观察愈合/再浸润。再浸润用结膜下注射伏立康唑，剂量原文未明确。"/>
          <p:cNvSpPr txBox="1"/>
          <p:nvPr/>
        </p:nvSpPr>
        <p:spPr>
          <a:xfrm>
            <a:off x="274320" y="628072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局部抗真菌降至4~6次/d；每日观察愈合/再浸润。再浸润用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结膜下注射伏立康唑，剂量原文未明确。</a:t>
            </a:r>
          </a:p>
        </p:txBody>
      </p:sp>
      <p:sp>
        <p:nvSpPr>
          <p:cNvPr id="48" name="2026 刊p123"/>
          <p:cNvSpPr txBox="1"/>
          <p:nvPr/>
        </p:nvSpPr>
        <p:spPr>
          <a:xfrm>
            <a:off x="274320" y="660076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2026 刊p123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72720" y="6857300"/>
            <a:ext cx="3434560" cy="716280"/>
          </a:xfrm>
          <a:prstGeom prst="rect">
            <a:avLst/>
          </a:prstGeom>
          <a:solidFill>
            <a:srgbClr val="FFFFFF"/>
          </a:solidFill>
          <a:ln w="7620">
            <a:solidFill>
              <a:srgbClr val="7E8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本文观察结果"/>
          <p:cNvSpPr txBox="1"/>
          <p:nvPr/>
        </p:nvSpPr>
        <p:spPr>
          <a:xfrm>
            <a:off x="274320" y="689540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本文观察结果</a:t>
            </a:r>
          </a:p>
        </p:txBody>
      </p:sp>
      <p:sp>
        <p:nvSpPr>
          <p:cNvPr id="51" name="21/23有效控制，愈合5~17 d；2例再浸润。随诊最终均愈合，未因感染加重移植；总治疗约90 d"/>
          <p:cNvSpPr txBox="1"/>
          <p:nvPr/>
        </p:nvSpPr>
        <p:spPr>
          <a:xfrm>
            <a:off x="274320" y="704780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21/23有效控制，愈合5~17 d；2例再浸润。随诊最终均愈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合，未因感染加重移植；总治疗约90 d。</a:t>
            </a:r>
          </a:p>
        </p:txBody>
      </p:sp>
      <p:sp>
        <p:nvSpPr>
          <p:cNvPr id="52" name="2026 刊p123"/>
          <p:cNvSpPr txBox="1"/>
          <p:nvPr/>
        </p:nvSpPr>
        <p:spPr>
          <a:xfrm>
            <a:off x="274320" y="736784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2026 刊p123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72720" y="7624380"/>
            <a:ext cx="3434560" cy="716280"/>
          </a:xfrm>
          <a:prstGeom prst="rect">
            <a:avLst/>
          </a:prstGeom>
          <a:solidFill>
            <a:srgbClr val="FFFFFF"/>
          </a:solidFill>
          <a:ln w="7620">
            <a:solidFill>
              <a:srgbClr val="7E8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随访与风险"/>
          <p:cNvSpPr txBox="1"/>
          <p:nvPr/>
        </p:nvSpPr>
        <p:spPr>
          <a:xfrm>
            <a:off x="274320" y="766248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随访与风险</a:t>
            </a:r>
          </a:p>
        </p:txBody>
      </p:sp>
      <p:sp>
        <p:nvSpPr>
          <p:cNvPr id="55" name="复查矫正视力、共焦、角膜愈合。1例白内障、2例远视漂移。统一复诊间隔及停药标准未明确。"/>
          <p:cNvSpPr txBox="1"/>
          <p:nvPr/>
        </p:nvSpPr>
        <p:spPr>
          <a:xfrm>
            <a:off x="274320" y="781488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复查矫正视力、共焦、角膜愈合。1例白内障、2例远视漂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移。统一复诊间隔及停药标准未明确。</a:t>
            </a:r>
          </a:p>
        </p:txBody>
      </p:sp>
      <p:sp>
        <p:nvSpPr>
          <p:cNvPr id="56" name="2026 刊p123"/>
          <p:cNvSpPr txBox="1"/>
          <p:nvPr/>
        </p:nvSpPr>
        <p:spPr>
          <a:xfrm>
            <a:off x="274320" y="813492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2026 刊p123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72720" y="8391460"/>
            <a:ext cx="3434560" cy="716280"/>
          </a:xfrm>
          <a:prstGeom prst="rect">
            <a:avLst/>
          </a:prstGeom>
          <a:solidFill>
            <a:srgbClr val="FFFFFF"/>
          </a:solidFill>
          <a:ln w="7620">
            <a:solidFill>
              <a:srgbClr val="7E8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使用边界"/>
          <p:cNvSpPr txBox="1"/>
          <p:nvPr/>
        </p:nvSpPr>
        <p:spPr>
          <a:xfrm>
            <a:off x="274320" y="842956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使用边界</a:t>
            </a:r>
          </a:p>
        </p:txBody>
      </p:sp>
      <p:sp>
        <p:nvSpPr>
          <p:cNvPr id="59" name="无对照、小样本、短随访；原文数据存在不一致。不可据本文浓度补造体积或推广至深层/穿孔病例。"/>
          <p:cNvSpPr txBox="1"/>
          <p:nvPr/>
        </p:nvSpPr>
        <p:spPr>
          <a:xfrm>
            <a:off x="274320" y="858196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无对照、小样本、短随访；原文数据存在不一致。不可据本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文浓度补造体积或推广至深层/穿孔病例。</a:t>
            </a:r>
          </a:p>
        </p:txBody>
      </p:sp>
      <p:sp>
        <p:nvSpPr>
          <p:cNvPr id="60" name="2026 刊p123–125"/>
          <p:cNvSpPr txBox="1"/>
          <p:nvPr/>
        </p:nvSpPr>
        <p:spPr>
          <a:xfrm>
            <a:off x="274320" y="890200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2026 刊p123–125</a:t>
            </a:r>
          </a:p>
        </p:txBody>
      </p:sp>
      <p:sp>
        <p:nvSpPr>
          <p:cNvPr id="61" name="单篇研究方案，不等同指南推荐。详见提取表。&#10;100%原尺寸 · 双面长边翻转"/>
          <p:cNvSpPr txBox="1"/>
          <p:nvPr/>
        </p:nvSpPr>
        <p:spPr>
          <a:xfrm>
            <a:off x="198120" y="10216800"/>
            <a:ext cx="3383760" cy="3225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单篇研究方案，不等同指南推荐。详见提取表。</a:t>
            </a:r>
          </a:p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100%原尺寸 · 双面长边翻转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940020" y="5506020"/>
            <a:ext cx="3459960" cy="520700"/>
          </a:xfrm>
          <a:prstGeom prst="rect">
            <a:avLst/>
          </a:prstGeom>
          <a:solidFill>
            <a:srgbClr val="FFFFFF"/>
          </a:solidFill>
          <a:ln w="7620">
            <a:solidFill>
              <a:srgbClr val="6D7A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真菌性角膜溃疡：病损切除联合伏立康唑"/>
          <p:cNvSpPr txBox="1"/>
          <p:nvPr/>
        </p:nvSpPr>
        <p:spPr>
          <a:xfrm>
            <a:off x="4016220" y="5544120"/>
            <a:ext cx="3307560" cy="2413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真菌性角膜溃疡：病损切除联合伏立康唑</a:t>
            </a:r>
          </a:p>
        </p:txBody>
      </p:sp>
      <p:sp>
        <p:nvSpPr>
          <p:cNvPr id="64" name="2026 单篇研究 · 背面"/>
          <p:cNvSpPr txBox="1"/>
          <p:nvPr/>
        </p:nvSpPr>
        <p:spPr>
          <a:xfrm>
            <a:off x="4016220" y="5760020"/>
            <a:ext cx="33075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2026 单篇研究 · 背面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952720" y="6090220"/>
            <a:ext cx="3434560" cy="716280"/>
          </a:xfrm>
          <a:prstGeom prst="rect">
            <a:avLst/>
          </a:prstGeom>
          <a:solidFill>
            <a:srgbClr val="FFFFFF"/>
          </a:solidFill>
          <a:ln w="7620">
            <a:solidFill>
              <a:srgbClr val="7E8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术后处理"/>
          <p:cNvSpPr txBox="1"/>
          <p:nvPr/>
        </p:nvSpPr>
        <p:spPr>
          <a:xfrm>
            <a:off x="4054320" y="612832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术后处理</a:t>
            </a:r>
          </a:p>
        </p:txBody>
      </p:sp>
      <p:sp>
        <p:nvSpPr>
          <p:cNvPr id="67" name="局部抗真菌降至4~6次/d；每日观察愈合/再浸润。再浸润用结膜下注射伏立康唑，剂量原文未明确。"/>
          <p:cNvSpPr txBox="1"/>
          <p:nvPr/>
        </p:nvSpPr>
        <p:spPr>
          <a:xfrm>
            <a:off x="4054320" y="628072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局部抗真菌降至4~6次/d；每日观察愈合/再浸润。再浸润用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结膜下注射伏立康唑，剂量原文未明确。</a:t>
            </a:r>
          </a:p>
        </p:txBody>
      </p:sp>
      <p:sp>
        <p:nvSpPr>
          <p:cNvPr id="68" name="2026 刊p123"/>
          <p:cNvSpPr txBox="1"/>
          <p:nvPr/>
        </p:nvSpPr>
        <p:spPr>
          <a:xfrm>
            <a:off x="4054320" y="660076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2026 刊p123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952720" y="6857300"/>
            <a:ext cx="3434560" cy="716280"/>
          </a:xfrm>
          <a:prstGeom prst="rect">
            <a:avLst/>
          </a:prstGeom>
          <a:solidFill>
            <a:srgbClr val="FFFFFF"/>
          </a:solidFill>
          <a:ln w="7620">
            <a:solidFill>
              <a:srgbClr val="7E8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本文观察结果"/>
          <p:cNvSpPr txBox="1"/>
          <p:nvPr/>
        </p:nvSpPr>
        <p:spPr>
          <a:xfrm>
            <a:off x="4054320" y="689540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本文观察结果</a:t>
            </a:r>
          </a:p>
        </p:txBody>
      </p:sp>
      <p:sp>
        <p:nvSpPr>
          <p:cNvPr id="71" name="21/23有效控制，愈合5~17 d；2例再浸润。随诊最终均愈合，未因感染加重移植；总治疗约90 d"/>
          <p:cNvSpPr txBox="1"/>
          <p:nvPr/>
        </p:nvSpPr>
        <p:spPr>
          <a:xfrm>
            <a:off x="4054320" y="704780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21/23有效控制，愈合5~17 d；2例再浸润。随诊最终均愈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合，未因感染加重移植；总治疗约90 d。</a:t>
            </a:r>
          </a:p>
        </p:txBody>
      </p:sp>
      <p:sp>
        <p:nvSpPr>
          <p:cNvPr id="72" name="2026 刊p123"/>
          <p:cNvSpPr txBox="1"/>
          <p:nvPr/>
        </p:nvSpPr>
        <p:spPr>
          <a:xfrm>
            <a:off x="4054320" y="736784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2026 刊p123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952720" y="7624380"/>
            <a:ext cx="3434560" cy="716280"/>
          </a:xfrm>
          <a:prstGeom prst="rect">
            <a:avLst/>
          </a:prstGeom>
          <a:solidFill>
            <a:srgbClr val="FFFFFF"/>
          </a:solidFill>
          <a:ln w="7620">
            <a:solidFill>
              <a:srgbClr val="7E8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随访与风险"/>
          <p:cNvSpPr txBox="1"/>
          <p:nvPr/>
        </p:nvSpPr>
        <p:spPr>
          <a:xfrm>
            <a:off x="4054320" y="766248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随访与风险</a:t>
            </a:r>
          </a:p>
        </p:txBody>
      </p:sp>
      <p:sp>
        <p:nvSpPr>
          <p:cNvPr id="75" name="复查矫正视力、共焦、角膜愈合。1例白内障、2例远视漂移。统一复诊间隔及停药标准未明确。"/>
          <p:cNvSpPr txBox="1"/>
          <p:nvPr/>
        </p:nvSpPr>
        <p:spPr>
          <a:xfrm>
            <a:off x="4054320" y="781488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复查矫正视力、共焦、角膜愈合。1例白内障、2例远视漂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移。统一复诊间隔及停药标准未明确。</a:t>
            </a:r>
          </a:p>
        </p:txBody>
      </p:sp>
      <p:sp>
        <p:nvSpPr>
          <p:cNvPr id="76" name="2026 刊p123"/>
          <p:cNvSpPr txBox="1"/>
          <p:nvPr/>
        </p:nvSpPr>
        <p:spPr>
          <a:xfrm>
            <a:off x="4054320" y="813492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2026 刊p123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952720" y="8391460"/>
            <a:ext cx="3434560" cy="716280"/>
          </a:xfrm>
          <a:prstGeom prst="rect">
            <a:avLst/>
          </a:prstGeom>
          <a:solidFill>
            <a:srgbClr val="FFFFFF"/>
          </a:solidFill>
          <a:ln w="7620">
            <a:solidFill>
              <a:srgbClr val="7E8A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使用边界"/>
          <p:cNvSpPr txBox="1"/>
          <p:nvPr/>
        </p:nvSpPr>
        <p:spPr>
          <a:xfrm>
            <a:off x="4054320" y="8429560"/>
            <a:ext cx="3231360" cy="2159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使用边界</a:t>
            </a:r>
          </a:p>
        </p:txBody>
      </p:sp>
      <p:sp>
        <p:nvSpPr>
          <p:cNvPr id="79" name="无对照、小样本、短随访；原文数据存在不一致。不可据本文浓度补造体积或推广至深层/穿孔病例。"/>
          <p:cNvSpPr txBox="1"/>
          <p:nvPr/>
        </p:nvSpPr>
        <p:spPr>
          <a:xfrm>
            <a:off x="4054320" y="8581960"/>
            <a:ext cx="3231360" cy="3581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无对照、小样本、短随访；原文数据存在不一致。不可据本</a:t>
            </a:r>
          </a:p>
          <a:p>
            <a:pPr>
              <a:lnSpc>
                <a:spcPts val="1160"/>
              </a:lnSpc>
              <a:spcBef>
                <a:spcPts val="0"/>
              </a:spcBef>
              <a:spcAft>
                <a:spcPts val="0"/>
              </a:spcAft>
            </a:pPr>
            <a:r>
              <a:rPr sz="950" b="0" lang="zh-CN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文浓度补造体积或推广至深层/穿孔病例。</a:t>
            </a:r>
          </a:p>
        </p:txBody>
      </p:sp>
      <p:sp>
        <p:nvSpPr>
          <p:cNvPr id="80" name="2026 刊p123–125"/>
          <p:cNvSpPr txBox="1"/>
          <p:nvPr/>
        </p:nvSpPr>
        <p:spPr>
          <a:xfrm>
            <a:off x="4054320" y="8902000"/>
            <a:ext cx="3231360" cy="19304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2026 刊p123–125</a:t>
            </a:r>
          </a:p>
        </p:txBody>
      </p:sp>
      <p:sp>
        <p:nvSpPr>
          <p:cNvPr id="81" name="单篇研究方案，不等同指南推荐。详见提取表。&#10;100%原尺寸 · 双面长边翻转"/>
          <p:cNvSpPr txBox="1"/>
          <p:nvPr/>
        </p:nvSpPr>
        <p:spPr>
          <a:xfrm>
            <a:off x="3978120" y="10216800"/>
            <a:ext cx="3383760" cy="32258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单篇研究方案，不等同指南推荐。详见提取表。</a:t>
            </a:r>
          </a:p>
          <a:p>
            <a:pPr>
              <a:lnSpc>
                <a:spcPts val="1019"/>
              </a:lnSpc>
              <a:spcBef>
                <a:spcPts val="0"/>
              </a:spcBef>
              <a:spcAft>
                <a:spcPts val="0"/>
              </a:spcAft>
            </a:pPr>
            <a:r>
              <a:rPr sz="850" b="0" lang="zh-CN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100%原尺寸 · 双面长边翻转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3780000" y="0"/>
            <a:ext cx="0" cy="10692000"/>
          </a:xfrm>
          <a:prstGeom prst="line">
            <a:avLst/>
          </a:prstGeom>
          <a:ln w="3175">
            <a:solidFill>
              <a:srgbClr val="919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0" y="18000"/>
            <a:ext cx="7560000" cy="0"/>
          </a:xfrm>
          <a:prstGeom prst="line">
            <a:avLst/>
          </a:prstGeom>
          <a:ln w="3175">
            <a:solidFill>
              <a:srgbClr val="919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0" y="5346000"/>
            <a:ext cx="7560000" cy="0"/>
          </a:xfrm>
          <a:prstGeom prst="line">
            <a:avLst/>
          </a:prstGeom>
          <a:ln w="3175">
            <a:solidFill>
              <a:srgbClr val="919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0" y="10674000"/>
            <a:ext cx="7560000" cy="0"/>
          </a:xfrm>
          <a:prstGeom prst="line">
            <a:avLst/>
          </a:prstGeom>
          <a:ln w="3175">
            <a:solidFill>
              <a:srgbClr val="9191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真菌性角膜溃疡：病损切除联合伏立康唑 A4 bw</dc:title>
  <dc:subject>上传文献原文摘录；原生可编辑文字和图形</dc:subject>
  <dc:creator>眼科临床速查资料整理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