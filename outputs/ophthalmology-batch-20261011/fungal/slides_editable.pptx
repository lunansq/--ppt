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fungal-01 研究性质：单中心回顾性研究，23例（23眼），病例来自2020年1月至2025年6月；没有随机分组或对照组。</a:t>
            </a:r>
          </a:p>
          <a:p>
            <a:r>
              <a:t>来源：2026 刊p122–123 / PDF1–2；类别：研究设计；推荐等级：原文未明确。</a:t>
            </a:r>
          </a:p>
          <a:p>
            <a:r>
              <a:t>原文锚点：切除术联合基质内注射伏立康【摘要】析2020年01月至2025年06月在成都中医药大学附属医院的采例真菌性角膜溃疡患者(23只眼)的临床资料,病灶位于角膜中央或度≤1/2角膜厚度。入院后全身及局部抗真菌治疗3~7d未见明唑治疗。记录患者术前检查结果、治疗效果及术后随访情况等。结显微镜检查诊断为真菌性角膜炎,其中男性21例,女性2例。术前0.93mm。10例(43.5%)角膜溃疡位于中央,13例(56.5%)位于旁角膜病损切除术联合未因感染加重而需接受角膜移植术。结论短治愈时间,降低应用角膜移植术的必要性,减轻患者经</a:t>
            </a:r>
          </a:p>
          <a:p/>
          <a:p>
            <a:r>
              <a:t>fungal-03 入选条件：中央或旁中央病灶；裂隙灯及前节OCT示浸润深度≤1/2角膜厚度；全身及局部抗真菌治疗3~7 d未见明显好转。</a:t>
            </a:r>
          </a:p>
          <a:p>
            <a:r>
              <a:t>来源：2026 刊p123 / PDF2；类别：适用人群；推荐等级：原文未明确。</a:t>
            </a:r>
          </a:p>
          <a:p>
            <a:r>
              <a:t>原文锚点：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</a:t>
            </a:r>
          </a:p>
          <a:p/>
          <a:p>
            <a:r>
              <a:t>fungal-04 排除条件：非真菌性角膜感染、全层穿孔、眼内炎、出血/凝血疾病，以及高血压、糖尿病等严重基础病控制不佳者被排除。</a:t>
            </a:r>
          </a:p>
          <a:p>
            <a:r>
              <a:t>来源：2026 刊p123 / PDF2；类别：禁忌；推荐等级：原文未明确。</a:t>
            </a:r>
          </a:p>
          <a:p>
            <a:r>
              <a:t>原文锚点：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fungal-02 病原诊断：真菌培养、角膜涂片镜检或共焦激光显微镜任一项发现真菌菌丝或孢子，纳入真菌性角膜溃疡病例。</a:t>
            </a:r>
          </a:p>
          <a:p>
            <a:r>
              <a:t>来源：2026 刊p123 / PDF2；类别：检查；推荐等级：原文未明确。</a:t>
            </a:r>
          </a:p>
          <a:p>
            <a:r>
              <a:t>原文锚点：医眼耳鼻喉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</a:t>
            </a:r>
          </a:p>
          <a:p/>
          <a:p>
            <a:r>
              <a:t>fungal-05 研究前检查：裂隙灯、前节OCT评估位置和浸润深度，病原学及共焦检查；最大浸润直径4~7 mm为本样本描述，不是手术切点。</a:t>
            </a:r>
          </a:p>
          <a:p>
            <a:r>
              <a:t>来源：2026 刊p122–123 / PDF1–2；类别：检查；推荐等级：原文未明确。</a:t>
            </a:r>
          </a:p>
          <a:p>
            <a:r>
              <a:t>原文锚点：好转,则行角膜病损切除术联合基质内注射伏立康结果23例均通过真菌培养、角膜涂片镜检或共焦激光前裂隙灯检查角膜浸润最大直径4~7mm,平均4.6±旁中央。出院后随诊,所有患者角膜溃疡完全愈合,均合基质内注射伏立康唑能有效治疗真菌性角膜溃疡,缩伏立康唑药;iconazoleintreatingfungalkeratitisTianYu1,2,GaoeMedicine,Chengdu,Sichuan,610075;2.ChengduU-0075)corneallesionexcisioncombinedwithintra</a:t>
            </a:r>
          </a:p>
          <a:p/>
          <a:p>
            <a:r>
              <a:t>fungal-14 研究局限：样本小、随访较短、无对照；不能证明优于药物或移植，也不能据此推广至深层浸润、穿孔或眼内炎患者。</a:t>
            </a:r>
          </a:p>
          <a:p>
            <a:r>
              <a:t>来源：2026 刊p123、125 / PDF2、4；类别：研究局限；推荐等级：原文未明确。</a:t>
            </a:r>
          </a:p>
          <a:p>
            <a:r>
              <a:t>原文锚点：待角膜供体的患者争取缓冲时间。这种治疗方式极大程度上减轻了患者的身心痛苦与经济负担,可进行临床推广。但是本文仍然存在一定局限性。首先本研究样本量较小、随访时间较短,结论普适性有效。其次,本研究中有2例患者术后再次出现浸润灶,建议后续治疗中规范眼部护理,加强健康宣讲,提升患者依从性,减少不良后果发生。另外,随访时1例患者确诊并发性白内障,这与前房炎症侵袭、药物干扰相关,因此应尽早控制炎症,同时术中严格把控注射药量,减少对晶状体的隐匿损伤。最后,随访发现2例患者出现远视漂移,建议术前与患者充分沟通,告知远视漂移风险,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fungal-06 术前全身用药：本文方案：氟康唑注射液0.2 g静滴，一天一次。属于研究治疗记录，不是普适处方推荐。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</a:t>
            </a:r>
          </a:p>
          <a:p/>
          <a:p>
            <a:r>
              <a:t>fungal-07 术前局部用药：5%那他霉素滴眼液每小时1次；10 g/L氟康唑滴眼液每小时1次；小牛血去蛋白提取物眼用凝胶睡前一次。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F:基质内注射伏立康唑的过程2结果2.1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fungal-08 病损切除范围：标记直径略大于溃疡边缘0.5 mm；切除深度不超过角膜基质层厚度1/2，以透明无浸润为准；修剪范围超过边缘0.5 mm。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,Vol.16,No.2123处,平行角膜缘缓慢穿刺,放出少量房水,在放液过程中观察前房深度;④用一次性刀片沿溃疡边缘做浅切口标记,直径略大于溃疡边缘0.5mm;⑤显微有齿镊轻拉溃疡边缘,从溃疡边缘向中心逐步剥切病变角膜组织,深度不超过角膜基质层厚度的1/2,以角膜透明无浸润为准;⑥修剪边缘残留病变组织,范围超过溃疡边缘0.5mm,同时确保边缘于正常角膜平缓过渡;⑦无菌生理盐水冲洗创面,清除残留坏死组织及分泌物;显微注射针头以⑧配制10g/L伏立康唑注射液,30G较水平的角度,于角膜溃疡切除区域的基质内进针,缓慢推</a:t>
            </a:r>
          </a:p>
          <a:p/>
          <a:p>
            <a:r>
              <a:t>fungal-09 基质注射记录：原文记录10 g/L伏立康唑注射液，30G针，多点基质内缓慢推注，留针10秒，覆盖病变区域。单点体积、总量、配制细节：原文未明确。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以⑧配制10g/L伏立康唑注射液,30G较水平的角度,于角膜溃疡切除区域的基质内进针,缓慢推注药物,形成局部药物浸润灶,留针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fungal-10 术后治疗：术后用药同术前，局部频次降至每日4~6次；每日裂隙灯观察上皮愈合和再浸润。再浸润者采用结膜下注射伏立康唑，剂量原文未明确。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</a:t>
            </a:r>
          </a:p>
          <a:p/>
          <a:p>
            <a:r>
              <a:t>fungal-13 随访项目：出院后复查最佳矫正视力、共焦激光显微镜与角膜愈合情况；统一复诊间隔、停药标准、特殊人群剂量：原文未明确。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17d。2例(8.7%)术后再次出现角膜溃疡浸润灶,予以结膜下注射伏立康唑注射液后,浸润减轻,溃疡未向深层发展。所有病例均未因感染加重而需接受角膜移植术(表1)。出院后随诊,所有患者角膜溃疡完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fungal-11 主要结果：21例（91.3%）病情有效控制，溃疡愈合时间5~17 d；2例（8.7%）再浸润，追加处理后减轻。所有病例随诊最终愈合，未因感染加重移植。</a:t>
            </a:r>
          </a:p>
          <a:p>
            <a:r>
              <a:t>来源：2026 刊p123 / PDF2；类别：研究发现；推荐等级：原文未明确。</a:t>
            </a:r>
          </a:p>
          <a:p>
            <a:r>
              <a:t>原文锚点：程;D-F:基质内注射伏立康唑的过程2结果2.1一般情况本研究选取23例真菌性角膜溃疡患例者为观察对象,其中男性21例(91.3%),女性2(8.6%)。10例(43.5%)有明确植物外伤史,其中9例为务农人员。纳入患者的临床体征包括有角膜浸润灶、伪足、前房积脓等。角膜浸润最大直径4~7mm,平均4.6±0.93mm。其中10例(43.5%)合并前房积脓。10例(43.5%)角膜溃疡位于中央,13例(56.5%)位于旁中央。入院后完善检查发现,10例(43.5%)患者真菌培养阳性,其中茄病镰刀菌4例、黄曲霉菌4例、</a:t>
            </a:r>
          </a:p>
          <a:p/>
          <a:p>
            <a:r>
              <a:t>fungal-12 恢复与不良事件：平均治疗周期约90 d；1例（4.3%）并发性白内障，2例（8.7%）远视漂移。5~17 d的溃疡愈合不能替代约90 d整体治疗周期。</a:t>
            </a:r>
          </a:p>
          <a:p>
            <a:r>
              <a:t>来源：2026 刊p123 / PDF2；类别：研究发现；推荐等级：原文未明确。</a:t>
            </a:r>
          </a:p>
          <a:p>
            <a:r>
              <a:t>原文锚点：全愈合,基质无浸润,矫正视力均较前提高。复查角膜共焦激光显微镜,18例(78.3%)未见明显真菌菌丝反光。平均治疗周期约90d。1例(4.3%)出现并发性白内障,术后1年行白内障超声乳化摘除术(图2)。2例(8.7%)出现远视漂移,均为中央区病变患者。</a:t>
            </a:r>
          </a:p>
          <a:p/>
          <a:p>
            <a:r>
              <a:t>fungal-15 原文数据核对项：正文部分例数/百分比及表1例数存在不一致；保留主结果23例的表述，不自行修正分母。10 g/L注射浓度为原文记录，不能据此补造注射体积。</a:t>
            </a:r>
          </a:p>
          <a:p>
            <a:r>
              <a:t>来源：2026 刊p123–125 / PDF2–4；类别：原文核对事项；推荐等级：原文未明确。</a:t>
            </a:r>
          </a:p>
          <a:p>
            <a:r>
              <a:t>原文锚点：现角膜溃疡浸润灶,予以结膜下注射伏立康唑注射液后,浸润减轻,溃疡未向深层发展。所有病例均未因感染加重而需接受角膜移植术(表1)。出院后随诊,所有患者角膜溃疡完全愈合,基质无浸润,矫正视力均较前提高。复查角膜共焦激光显微镜,18例(78.3%)未见明显真菌菌丝反光。平均治疗周期约90d。1例(4.3%)出现并发性白内障,术后1年行白内障超声乳化摘除术(图2)。2例(8.7%)出现远视漂移,均为中央区病变患者。124中医眼耳鼻喉杂志2026年第1图2病例17治疗前后A:入院时的角膜情况。B:角膜共焦激光显微镜检查可见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fungal-02 病原诊断：真菌培养、角膜涂片镜检或共焦激光显微镜任一项发现真菌菌丝或孢子，纳入真菌性角膜溃疡病例。</a:t>
            </a:r>
          </a:p>
          <a:p>
            <a:r>
              <a:t>来源：2026 刊p123 / PDF2；类别：检查；推荐等级：原文未明确。</a:t>
            </a:r>
          </a:p>
          <a:p>
            <a:r>
              <a:t>原文锚点：医眼耳鼻喉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</a:t>
            </a:r>
          </a:p>
          <a:p/>
          <a:p>
            <a:r>
              <a:t>fungal-03 入选条件：中央或旁中央病灶；裂隙灯及前节OCT示浸润深度≤1/2角膜厚度；全身及局部抗真菌治疗3~7 d未见明显好转。</a:t>
            </a:r>
          </a:p>
          <a:p>
            <a:r>
              <a:t>来源：2026 刊p123 / PDF2；类别：适用人群；推荐等级：原文未明确。</a:t>
            </a:r>
          </a:p>
          <a:p>
            <a:r>
              <a:t>原文锚点：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</a:t>
            </a:r>
          </a:p>
          <a:p/>
          <a:p>
            <a:r>
              <a:t>fungal-04 排除条件：非真菌性角膜感染、全层穿孔、眼内炎、出血/凝血疾病，以及高血压、糖尿病等严重基础病控制不佳者被排除。</a:t>
            </a:r>
          </a:p>
          <a:p>
            <a:r>
              <a:t>来源：2026 刊p123 / PDF2；类别：禁忌；推荐等级：原文未明确。</a:t>
            </a:r>
          </a:p>
          <a:p>
            <a:r>
              <a:t>原文锚点：杂志2026年第16卷第2期JChinOphthalmolandOtorhi菌性角膜溃疡患者的临床疗效。1.2纳入标准及排除标准纳入标准:①行真菌培养、角膜涂片镜检或共焦激光激光显微镜检查,其中任一项发现真菌菌丝或孢子,诊断为真菌性角膜溃疡;②裂隙灯检查及前节OCT检查示病灶浸润深度≤1/2角膜厚度;③溃疡病灶位于角膜中央或旁中央;④入院后全身及局部常规抗真菌治疗3~7d未见明显好转者。排除标准:①非真菌性角膜感染;②角膜全层穿孔;③合并眼内炎;④各种出血性、凝血性疾病;⑤严重全身基础疾病,如高血压、糖尿病等控制不</a:t>
            </a:r>
          </a:p>
          <a:p/>
          <a:p>
            <a:r>
              <a:t>fungal-06 术前全身用药：本文方案：氟康唑注射液0.2 g静滴，一天一次。属于研究治疗记录，不是普适处方推荐。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出血性、凝血性疾病;⑤严重全身基础疾病,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</a:t>
            </a:r>
          </a:p>
          <a:p/>
          <a:p>
            <a:r>
              <a:t>fungal-07 术前局部用药：5%那他霉素滴眼液每小时1次；10 g/L氟康唑滴眼液每小时1次；小牛血去蛋白提取物眼用凝胶睡前一次。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如高血压、糖尿病等控制不佳者。1.3方法1.3.1术前治疗①全身予以氟康唑注射液0.2g,静滴,一天一次。②局部予以5%那他霉素滴眼液,每氟康唑滴眼小时1次;灭菌注射用水配制的10g/L液,每小时1次;小牛血去蛋白提取物眼用凝胶,睡前一次。入院后药物治疗3~7d后病情无明显好转者,则行角膜病损切除术联合基质内注射伏立康唑。1.3.2手术方式①常规消毒铺巾;②术眼球后麻醉;③30G显微注射针头于患眼颞下方角膜缘内1mm图1角膜病损切除术联合基质A-C:角膜病损切除术的过程;D-F:基质内注射伏立康唑的过程2结果2.1</a:t>
            </a:r>
          </a:p>
          <a:p/>
          <a:p>
            <a:r>
              <a:t>fungal-08 病损切除范围：标记直径略大于溃疡边缘0.5 mm；切除深度不超过角膜基质层厚度1/2，以透明无浸润为准；修剪范围超过边缘0.5 mm。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,Vol.16,No.2123处,平行角膜缘缓慢穿刺,放出少量房水,在放液过程中观察前房深度;④用一次性刀片沿溃疡边缘做浅切口标记,直径略大于溃疡边缘0.5mm;⑤显微有齿镊轻拉溃疡边缘,从溃疡边缘向中心逐步剥切病变角膜组织,深度不超过角膜基质层厚度的1/2,以角膜透明无浸润为准;⑥修剪边缘残留病变组织,范围超过溃疡边缘0.5mm,同时确保边缘于正常角膜平缓过渡;⑦无菌生理盐水冲洗创面,清除残留坏死组织及分泌物;显微注射针头以⑧配制10g/L伏立康唑注射液,30G较水平的角度,于角膜溃疡切除区域的基质内进针,缓慢推</a:t>
            </a:r>
          </a:p>
          <a:p/>
          <a:p>
            <a:r>
              <a:t>fungal-09 基质注射记录：原文记录10 g/L伏立康唑注射液，30G针，多点基质内缓慢推注，留针10秒，覆盖病变区域。单点体积、总量、配制细节：原文未明确。</a:t>
            </a:r>
          </a:p>
          <a:p>
            <a:r>
              <a:t>来源：2026 刊p123 / PDF2；类别：研究方案；推荐等级：原文未明确。</a:t>
            </a:r>
          </a:p>
          <a:p>
            <a:r>
              <a:t>原文锚点：以⑧配制10g/L伏立康唑注射液,30G较水平的角度,于角膜溃疡切除区域的基质内进针,缓慢推注药物,形成局部药物浸润灶,留针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</a:t>
            </a:r>
          </a:p>
          <a:p/>
          <a:p>
            <a:r>
              <a:t>fungal-10 术后治疗：术后用药同术前，局部频次降至每日4~6次；每日裂隙灯观察上皮愈合和再浸润。再浸润者采用结膜下注射伏立康唑，剂量原文未明确。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10秒后退出针头;采取多点注射的方式,直至药物注射范围覆盖病变区域;⑨结膜囊内涂抗生素眼膏,包扎患眼(图1)。1.3.3术后治疗术后抗真菌药物开放点眼治疗,用药同术前,局部用药频次降至每日4~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</a:t>
            </a:r>
          </a:p>
          <a:p/>
          <a:p>
            <a:r>
              <a:t>fungal-13 随访项目：出院后复查最佳矫正视力、共焦激光显微镜与角膜愈合情况；统一复诊间隔、停药标准、特殊人群剂量：原文未明确。</a:t>
            </a:r>
          </a:p>
          <a:p>
            <a:r>
              <a:t>来源：2026 刊p123 / PDF2；类别：随访；推荐等级：原文未明确。</a:t>
            </a:r>
          </a:p>
          <a:p>
            <a:r>
              <a:t>原文锚点：6次。每日裂隙灯观察角膜创面处上皮愈合情况及是否再次出现浸润。对于再次出现角膜基质浸润者,进行结膜下注射伏立康唑注射液。出院后定期随访,复查最佳矫正视力、共焦激光显微镜检查、角膜愈合情况等。内注射伏立康唑治疗的手术过程光显微镜检查发现真菌菌丝。2.2术后治疗效果经治疗后,21例(91.3%)病情得到有效控制,溃疡愈合时间5~17d。2例(8.7%)术后再次出现角膜溃疡浸润灶,予以结膜下注射伏立康唑注射液后,浸润减轻,溃疡未向深层发展。所有病例均未因感染加重而需接受角膜移植术(表1)。出院后随诊,所有患者角膜溃疡完全</a:t>
            </a:r>
          </a:p>
          <a:p/>
          <a:p>
            <a:r>
              <a:t>fungal-14 研究局限：样本小、随访较短、无对照；不能证明优于药物或移植，也不能据此推广至深层浸润、穿孔或眼内炎患者。</a:t>
            </a:r>
          </a:p>
          <a:p>
            <a:r>
              <a:t>来源：2026 刊p123、125 / PDF2、4；类别：研究局限；推荐等级：原文未明确。</a:t>
            </a:r>
          </a:p>
          <a:p>
            <a:r>
              <a:t>原文锚点：待角膜供体的患者争取缓冲时间。这种治疗方式极大程度上减轻了患者的身心痛苦与经济负担,可进行临床推广。但是本文仍然存在一定局限性。首先本研究样本量较小、随访时间较短,结论普适性有效。其次,本研究中有2例患者术后再次出现浸润灶,建议后续治疗中规范眼部护理,加强健康宣讲,提升患者依从性,减少不良后果发生。另外,随访时1例患者确诊并发性白内障,这与前房炎症侵袭、药物干扰相关,因此应尽早控制炎症,同时术中严格把控注射药量,减少对晶状体的隐匿损伤。最后,随访发现2例患者出现远视漂移,建议术前与患者充分沟通,告知远视漂移风险,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研究定位与可用范围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研究定位与可用范围</a:t>
            </a:r>
          </a:p>
        </p:txBody>
      </p:sp>
      <p:sp>
        <p:nvSpPr>
          <p:cNvPr id="4" name="01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01 / 07</a:t>
            </a:r>
          </a:p>
        </p:txBody>
      </p:sp>
      <p:sp>
        <p:nvSpPr>
          <p:cNvPr id="5" name="真菌性角膜溃疡：病损切除联合伏立康唑 · 2026 单篇回顾性病例系列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 · 2026 单篇回顾性病例系列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1391073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1391073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研究性质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研究性质</a:t>
            </a:r>
          </a:p>
        </p:txBody>
      </p:sp>
      <p:sp>
        <p:nvSpPr>
          <p:cNvPr id="9" name="单中心回顾性研究，23例（23眼），病例来自2020年1月至2025年6月；没有随机分组或对照组。"/>
          <p:cNvSpPr txBox="1"/>
          <p:nvPr/>
        </p:nvSpPr>
        <p:spPr>
          <a:xfrm>
            <a:off x="622300" y="1828800"/>
            <a:ext cx="10858500" cy="332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单中心回顾性研究，23例（23眼），病例来自2020年1月至2025年6月；没有随机分组或对照组。</a:t>
            </a:r>
          </a:p>
        </p:txBody>
      </p:sp>
      <p:sp>
        <p:nvSpPr>
          <p:cNvPr id="10" name="2026 刊p122–123 / PDF1–2"/>
          <p:cNvSpPr txBox="1"/>
          <p:nvPr/>
        </p:nvSpPr>
        <p:spPr>
          <a:xfrm>
            <a:off x="622300" y="2572173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刊p122–123 / PDF1–2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2889673"/>
            <a:ext cx="11303000" cy="1660313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2889673"/>
            <a:ext cx="38100" cy="1660313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入选条件"/>
          <p:cNvSpPr txBox="1"/>
          <p:nvPr/>
        </p:nvSpPr>
        <p:spPr>
          <a:xfrm>
            <a:off x="622300" y="2991273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入选条件</a:t>
            </a:r>
          </a:p>
        </p:txBody>
      </p:sp>
      <p:sp>
        <p:nvSpPr>
          <p:cNvPr id="14" name="中央或旁中央病灶；裂隙灯及前节OCT示浸润深度≤1/2角膜厚度；全身及局部抗真菌治疗3~7 d未见明"/>
          <p:cNvSpPr txBox="1"/>
          <p:nvPr/>
        </p:nvSpPr>
        <p:spPr>
          <a:xfrm>
            <a:off x="622300" y="3334173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中央或旁中央病灶；裂隙灯及前节OCT示浸润深度≤1/2角膜厚度；全身及局部抗真菌治疗3~7 d未见明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显好转。</a:t>
            </a:r>
          </a:p>
        </p:txBody>
      </p:sp>
      <p:sp>
        <p:nvSpPr>
          <p:cNvPr id="15" name="2026 刊p123 / PDF2"/>
          <p:cNvSpPr txBox="1"/>
          <p:nvPr/>
        </p:nvSpPr>
        <p:spPr>
          <a:xfrm>
            <a:off x="622300" y="4346786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4500" y="4664286"/>
            <a:ext cx="11303000" cy="1660313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4500" y="4664286"/>
            <a:ext cx="38100" cy="1660313"/>
          </a:xfrm>
          <a:prstGeom prst="rect">
            <a:avLst/>
          </a:prstGeom>
          <a:solidFill>
            <a:srgbClr val="A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排除条件"/>
          <p:cNvSpPr txBox="1"/>
          <p:nvPr/>
        </p:nvSpPr>
        <p:spPr>
          <a:xfrm>
            <a:off x="622300" y="4765886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排除条件</a:t>
            </a:r>
          </a:p>
        </p:txBody>
      </p:sp>
      <p:sp>
        <p:nvSpPr>
          <p:cNvPr id="19" name="非真菌性角膜感染、全层穿孔、眼内炎、出血/凝血疾病，以及高血压、糖尿病等严重基础病控制不佳者被排除。"/>
          <p:cNvSpPr txBox="1"/>
          <p:nvPr/>
        </p:nvSpPr>
        <p:spPr>
          <a:xfrm>
            <a:off x="622300" y="5108786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非真菌性角膜感染、全层穿孔、眼内炎、出血/凝血疾病，以及高血压、糖尿病等严重基础病控制不佳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者被排除。</a:t>
            </a:r>
          </a:p>
        </p:txBody>
      </p:sp>
      <p:sp>
        <p:nvSpPr>
          <p:cNvPr id="20" name="2026 刊p123 / PDF2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21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病原与术前评估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病原与术前评估</a:t>
            </a:r>
          </a:p>
        </p:txBody>
      </p:sp>
      <p:sp>
        <p:nvSpPr>
          <p:cNvPr id="4" name="02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02 / 07</a:t>
            </a:r>
          </a:p>
        </p:txBody>
      </p:sp>
      <p:sp>
        <p:nvSpPr>
          <p:cNvPr id="5" name="真菌性角膜溃疡：病损切除联合伏立康唑 · 2026 单篇回顾性病例系列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 · 2026 单篇回顾性病例系列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1391073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1391073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病原诊断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病原诊断</a:t>
            </a:r>
          </a:p>
        </p:txBody>
      </p:sp>
      <p:sp>
        <p:nvSpPr>
          <p:cNvPr id="9" name="真菌培养、角膜涂片镜检或共焦激光显微镜任一项发现真菌菌丝或孢子，纳入真菌性角膜溃疡病例。"/>
          <p:cNvSpPr txBox="1"/>
          <p:nvPr/>
        </p:nvSpPr>
        <p:spPr>
          <a:xfrm>
            <a:off x="622300" y="1828800"/>
            <a:ext cx="10858500" cy="332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真菌培养、角膜涂片镜检或共焦激光显微镜任一项发现真菌菌丝或孢子，纳入真菌性角膜溃疡病例。</a:t>
            </a:r>
          </a:p>
        </p:txBody>
      </p:sp>
      <p:sp>
        <p:nvSpPr>
          <p:cNvPr id="10" name="2026 刊p123 / PDF2"/>
          <p:cNvSpPr txBox="1"/>
          <p:nvPr/>
        </p:nvSpPr>
        <p:spPr>
          <a:xfrm>
            <a:off x="622300" y="2572173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2889673"/>
            <a:ext cx="11303000" cy="1660313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2889673"/>
            <a:ext cx="38100" cy="1660313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研究前检查"/>
          <p:cNvSpPr txBox="1"/>
          <p:nvPr/>
        </p:nvSpPr>
        <p:spPr>
          <a:xfrm>
            <a:off x="622300" y="2991273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研究前检查</a:t>
            </a:r>
          </a:p>
        </p:txBody>
      </p:sp>
      <p:sp>
        <p:nvSpPr>
          <p:cNvPr id="14" name="裂隙灯、前节OCT评估位置和浸润深度，病原学及共焦检查；最大浸润直径4~7 mm为本样本描述，不是手"/>
          <p:cNvSpPr txBox="1"/>
          <p:nvPr/>
        </p:nvSpPr>
        <p:spPr>
          <a:xfrm>
            <a:off x="622300" y="3334173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裂隙灯、前节OCT评估位置和浸润深度，病原学及共焦检查；最大浸润直径4~7 mm为本样本描述，不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是手术切点。</a:t>
            </a:r>
          </a:p>
        </p:txBody>
      </p:sp>
      <p:sp>
        <p:nvSpPr>
          <p:cNvPr id="15" name="2026 刊p122–123 / PDF1–2"/>
          <p:cNvSpPr txBox="1"/>
          <p:nvPr/>
        </p:nvSpPr>
        <p:spPr>
          <a:xfrm>
            <a:off x="622300" y="4346786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刊p122–123 / PDF1–2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4500" y="4664286"/>
            <a:ext cx="11303000" cy="1660313"/>
          </a:xfrm>
          <a:prstGeom prst="rect">
            <a:avLst/>
          </a:prstGeom>
          <a:solidFill>
            <a:srgbClr val="FCEFF0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4500" y="4664286"/>
            <a:ext cx="38100" cy="1660313"/>
          </a:xfrm>
          <a:prstGeom prst="rect">
            <a:avLst/>
          </a:prstGeom>
          <a:solidFill>
            <a:srgbClr val="A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研究局限"/>
          <p:cNvSpPr txBox="1"/>
          <p:nvPr/>
        </p:nvSpPr>
        <p:spPr>
          <a:xfrm>
            <a:off x="622300" y="4765886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研究局限</a:t>
            </a:r>
          </a:p>
        </p:txBody>
      </p:sp>
      <p:sp>
        <p:nvSpPr>
          <p:cNvPr id="19" name="样本小、随访较短、无对照；不能证明优于药物或移植，也不能据此推广至深层浸润、穿孔或眼内炎患者。"/>
          <p:cNvSpPr txBox="1"/>
          <p:nvPr/>
        </p:nvSpPr>
        <p:spPr>
          <a:xfrm>
            <a:off x="622300" y="5108786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样本小、随访较短、无对照；不能证明优于药物或移植，也不能据此推广至深层浸润、穿孔或眼内炎患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者。</a:t>
            </a:r>
          </a:p>
        </p:txBody>
      </p:sp>
      <p:sp>
        <p:nvSpPr>
          <p:cNvPr id="20" name="2026 刊p123、125 / PDF2、4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刊p123、125 / PDF2、4</a:t>
            </a:r>
          </a:p>
        </p:txBody>
      </p:sp>
      <p:sp>
        <p:nvSpPr>
          <p:cNvPr id="21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研究用药：术前方案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研究用药：术前方案</a:t>
            </a:r>
          </a:p>
        </p:txBody>
      </p:sp>
      <p:sp>
        <p:nvSpPr>
          <p:cNvPr id="4" name="03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03 / 07</a:t>
            </a:r>
          </a:p>
        </p:txBody>
      </p:sp>
      <p:sp>
        <p:nvSpPr>
          <p:cNvPr id="5" name="真菌性角膜溃疡：病损切除联合伏立康唑 · 2026 单篇回顾性病例系列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 · 2026 单篇回顾性病例系列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2278379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2278379"/>
          </a:xfrm>
          <a:prstGeom prst="rect">
            <a:avLst/>
          </a:prstGeom>
          <a:solidFill>
            <a:srgbClr val="A95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术前全身用药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术前全身用药</a:t>
            </a:r>
          </a:p>
        </p:txBody>
      </p:sp>
      <p:sp>
        <p:nvSpPr>
          <p:cNvPr id="9" name="本文方案：氟康唑注射液0.2 g静滴，一天一次。属于研究治疗记录，不是普适处方推荐。"/>
          <p:cNvSpPr txBox="1"/>
          <p:nvPr/>
        </p:nvSpPr>
        <p:spPr>
          <a:xfrm>
            <a:off x="622300" y="1828800"/>
            <a:ext cx="10858500" cy="332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本文方案：氟康唑注射液0.2 g静滴，一天一次。属于研究治疗记录，不是普适处方推荐。</a:t>
            </a:r>
          </a:p>
        </p:txBody>
      </p:sp>
      <p:sp>
        <p:nvSpPr>
          <p:cNvPr id="10" name="2026 刊p123 / PDF2"/>
          <p:cNvSpPr txBox="1"/>
          <p:nvPr/>
        </p:nvSpPr>
        <p:spPr>
          <a:xfrm>
            <a:off x="622300" y="3459479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776979"/>
            <a:ext cx="11303000" cy="254762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776979"/>
            <a:ext cx="38100" cy="2547620"/>
          </a:xfrm>
          <a:prstGeom prst="rect">
            <a:avLst/>
          </a:prstGeom>
          <a:solidFill>
            <a:srgbClr val="A95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术前局部用药"/>
          <p:cNvSpPr txBox="1"/>
          <p:nvPr/>
        </p:nvSpPr>
        <p:spPr>
          <a:xfrm>
            <a:off x="622300" y="3878579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术前局部用药</a:t>
            </a:r>
          </a:p>
        </p:txBody>
      </p:sp>
      <p:sp>
        <p:nvSpPr>
          <p:cNvPr id="14" name="5%那他霉素滴眼液每小时1次；10 g/L氟康唑滴眼液每小时1次；小牛血去蛋白提取物眼用凝胶睡前一次"/>
          <p:cNvSpPr txBox="1"/>
          <p:nvPr/>
        </p:nvSpPr>
        <p:spPr>
          <a:xfrm>
            <a:off x="622300" y="422148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5%那他霉素滴眼液每小时1次；10 g/L氟康唑滴眼液每小时1次；小牛血去蛋白提取物眼用凝胶睡前一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次。</a:t>
            </a:r>
          </a:p>
        </p:txBody>
      </p:sp>
      <p:sp>
        <p:nvSpPr>
          <p:cNvPr id="15" name="2026 刊p123 / PDF2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6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研究手术方案与缺项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研究手术方案与缺项</a:t>
            </a:r>
          </a:p>
        </p:txBody>
      </p:sp>
      <p:sp>
        <p:nvSpPr>
          <p:cNvPr id="4" name="04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04 / 07</a:t>
            </a:r>
          </a:p>
        </p:txBody>
      </p:sp>
      <p:sp>
        <p:nvSpPr>
          <p:cNvPr id="5" name="真菌性角膜溃疡：病损切除联合伏立康唑 · 2026 单篇回顾性病例系列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 · 2026 单篇回顾性病例系列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241300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2413000"/>
          </a:xfrm>
          <a:prstGeom prst="rect">
            <a:avLst/>
          </a:prstGeom>
          <a:solidFill>
            <a:srgbClr val="A95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病损切除范围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病损切除范围</a:t>
            </a:r>
          </a:p>
        </p:txBody>
      </p:sp>
      <p:sp>
        <p:nvSpPr>
          <p:cNvPr id="9" name="标记直径略大于溃疡边缘0.5 mm；切除深度不超过角膜基质层厚度1/2，以透明无浸润为准；修剪范围超"/>
          <p:cNvSpPr txBox="1"/>
          <p:nvPr/>
        </p:nvSpPr>
        <p:spPr>
          <a:xfrm>
            <a:off x="622300" y="18288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标记直径略大于溃疡边缘0.5 mm；切除深度不超过角膜基质层厚度1/2，以透明无浸润为准；修剪范围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超过边缘0.5 mm。</a:t>
            </a:r>
          </a:p>
        </p:txBody>
      </p:sp>
      <p:sp>
        <p:nvSpPr>
          <p:cNvPr id="10" name="2026 刊p123 / PDF2"/>
          <p:cNvSpPr txBox="1"/>
          <p:nvPr/>
        </p:nvSpPr>
        <p:spPr>
          <a:xfrm>
            <a:off x="622300" y="35941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911600"/>
            <a:ext cx="11303000" cy="2413000"/>
          </a:xfrm>
          <a:prstGeom prst="rect">
            <a:avLst/>
          </a:prstGeom>
          <a:solidFill>
            <a:srgbClr val="FFF4E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911600"/>
            <a:ext cx="38100" cy="2413000"/>
          </a:xfrm>
          <a:prstGeom prst="rect">
            <a:avLst/>
          </a:prstGeom>
          <a:solidFill>
            <a:srgbClr val="A95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基质注射记录"/>
          <p:cNvSpPr txBox="1"/>
          <p:nvPr/>
        </p:nvSpPr>
        <p:spPr>
          <a:xfrm>
            <a:off x="622300" y="40132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基质注射记录</a:t>
            </a:r>
          </a:p>
        </p:txBody>
      </p:sp>
      <p:sp>
        <p:nvSpPr>
          <p:cNvPr id="14" name="原文记录10 g/L伏立康唑注射液，30G针，多点基质内缓慢推注，留针10秒，覆盖病变区域。单点体积"/>
          <p:cNvSpPr txBox="1"/>
          <p:nvPr/>
        </p:nvSpPr>
        <p:spPr>
          <a:xfrm>
            <a:off x="622300" y="43561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原文记录10 g/L伏立康唑注射液，30G针，多点基质内缓慢推注，留针10秒，覆盖病变区域。单点体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积、总量、配制细节：原文未明确。</a:t>
            </a:r>
          </a:p>
        </p:txBody>
      </p:sp>
      <p:sp>
        <p:nvSpPr>
          <p:cNvPr id="15" name="2026 刊p123 / PDF2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6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术后监测与再次浸润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术后监测与再次浸润</a:t>
            </a:r>
          </a:p>
        </p:txBody>
      </p:sp>
      <p:sp>
        <p:nvSpPr>
          <p:cNvPr id="4" name="05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05 / 07</a:t>
            </a:r>
          </a:p>
        </p:txBody>
      </p:sp>
      <p:sp>
        <p:nvSpPr>
          <p:cNvPr id="5" name="真菌性角膜溃疡：病损切除联合伏立康唑 · 2026 单篇回顾性病例系列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 · 2026 单篇回顾性病例系列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2413000"/>
          </a:xfrm>
          <a:prstGeom prst="rect">
            <a:avLst/>
          </a:prstGeom>
          <a:solidFill>
            <a:srgbClr val="F3EFF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2413000"/>
          </a:xfrm>
          <a:prstGeom prst="rect">
            <a:avLst/>
          </a:prstGeom>
          <a:solidFill>
            <a:srgbClr val="6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术后治疗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术后治疗</a:t>
            </a:r>
          </a:p>
        </p:txBody>
      </p:sp>
      <p:sp>
        <p:nvSpPr>
          <p:cNvPr id="9" name="术后用药同术前，局部频次降至每日4~6次；每日裂隙灯观察上皮愈合和再浸润。再浸润者采用结膜下注射伏立"/>
          <p:cNvSpPr txBox="1"/>
          <p:nvPr/>
        </p:nvSpPr>
        <p:spPr>
          <a:xfrm>
            <a:off x="622300" y="18288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术后用药同术前，局部频次降至每日4~6次；每日裂隙灯观察上皮愈合和再浸润。再浸润者采用结膜下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注射伏立康唑，剂量原文未明确。</a:t>
            </a:r>
          </a:p>
        </p:txBody>
      </p:sp>
      <p:sp>
        <p:nvSpPr>
          <p:cNvPr id="10" name="2026 刊p123 / PDF2"/>
          <p:cNvSpPr txBox="1"/>
          <p:nvPr/>
        </p:nvSpPr>
        <p:spPr>
          <a:xfrm>
            <a:off x="622300" y="35941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911600"/>
            <a:ext cx="11303000" cy="2413000"/>
          </a:xfrm>
          <a:prstGeom prst="rect">
            <a:avLst/>
          </a:prstGeom>
          <a:solidFill>
            <a:srgbClr val="F3EFF8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911600"/>
            <a:ext cx="38100" cy="2413000"/>
          </a:xfrm>
          <a:prstGeom prst="rect">
            <a:avLst/>
          </a:prstGeom>
          <a:solidFill>
            <a:srgbClr val="6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随访项目"/>
          <p:cNvSpPr txBox="1"/>
          <p:nvPr/>
        </p:nvSpPr>
        <p:spPr>
          <a:xfrm>
            <a:off x="622300" y="40132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随访项目</a:t>
            </a:r>
          </a:p>
        </p:txBody>
      </p:sp>
      <p:sp>
        <p:nvSpPr>
          <p:cNvPr id="14" name="出院后复查最佳矫正视力、共焦激光显微镜与角膜愈合情况；统一复诊间隔、停药标准、特殊人群剂量：原文未明"/>
          <p:cNvSpPr txBox="1"/>
          <p:nvPr/>
        </p:nvSpPr>
        <p:spPr>
          <a:xfrm>
            <a:off x="622300" y="43561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出院后复查最佳矫正视力、共焦激光显微镜与角膜愈合情况；统一复诊间隔、停药标准、特殊人群剂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量：原文未明确。</a:t>
            </a:r>
          </a:p>
        </p:txBody>
      </p:sp>
      <p:sp>
        <p:nvSpPr>
          <p:cNvPr id="15" name="2026 刊p123 / PDF2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6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763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结果、时间与证据局限"/>
          <p:cNvSpPr txBox="1"/>
          <p:nvPr/>
        </p:nvSpPr>
        <p:spPr>
          <a:xfrm>
            <a:off x="457200" y="228600"/>
            <a:ext cx="10858500" cy="4886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3347"/>
              </a:lnSpc>
              <a:spcBef>
                <a:spcPts val="0"/>
              </a:spcBef>
              <a:spcAft>
                <a:spcPts val="0"/>
              </a:spcAft>
            </a:pPr>
            <a:r>
              <a:rPr sz="27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结果、时间与证据局限</a:t>
            </a:r>
          </a:p>
        </p:txBody>
      </p:sp>
      <p:sp>
        <p:nvSpPr>
          <p:cNvPr id="4" name="06 / 07"/>
          <p:cNvSpPr txBox="1"/>
          <p:nvPr/>
        </p:nvSpPr>
        <p:spPr>
          <a:xfrm>
            <a:off x="11328400" y="368300"/>
            <a:ext cx="711200" cy="22097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C9D9E7"/>
                </a:solidFill>
                <a:latin typeface="Microsoft YaHei"/>
                <a:ea typeface="Microsoft YaHei"/>
                <a:cs typeface="Microsoft YaHei"/>
              </a:rPr>
              <a:t>06 / 07</a:t>
            </a:r>
          </a:p>
        </p:txBody>
      </p:sp>
      <p:sp>
        <p:nvSpPr>
          <p:cNvPr id="5" name="真菌性角膜溃疡：病损切除联合伏立康唑 · 2026 单篇回顾性病例系列"/>
          <p:cNvSpPr txBox="1"/>
          <p:nvPr/>
        </p:nvSpPr>
        <p:spPr>
          <a:xfrm>
            <a:off x="457200" y="1003300"/>
            <a:ext cx="113030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 · 2026 单篇回顾性病例系列</a:t>
            </a:r>
          </a:p>
        </p:txBody>
      </p:sp>
      <p:sp>
        <p:nvSpPr>
          <p:cNvPr id="6" name="Rectangle 5"/>
          <p:cNvSpPr/>
          <p:nvPr/>
        </p:nvSpPr>
        <p:spPr>
          <a:xfrm>
            <a:off x="444500" y="1384300"/>
            <a:ext cx="11303000" cy="1570566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4500" y="1384300"/>
            <a:ext cx="38100" cy="1570566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主要结果"/>
          <p:cNvSpPr txBox="1"/>
          <p:nvPr/>
        </p:nvSpPr>
        <p:spPr>
          <a:xfrm>
            <a:off x="622300" y="1485900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主要结果</a:t>
            </a:r>
          </a:p>
        </p:txBody>
      </p:sp>
      <p:sp>
        <p:nvSpPr>
          <p:cNvPr id="9" name="21例（91.3%）病情有效控制，溃疡愈合时间5~17 d；2例（8.7%）再浸润，追加处理后减轻。"/>
          <p:cNvSpPr txBox="1"/>
          <p:nvPr/>
        </p:nvSpPr>
        <p:spPr>
          <a:xfrm>
            <a:off x="622300" y="1828800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21例（91.3%）病情有效控制，溃疡愈合时间5~17 d；2例（8.7%）再浸润，追加处理后减轻。所有病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例随诊最终愈合，未因感染加重移植。</a:t>
            </a:r>
          </a:p>
        </p:txBody>
      </p:sp>
      <p:sp>
        <p:nvSpPr>
          <p:cNvPr id="10" name="2026 刊p123 / PDF2"/>
          <p:cNvSpPr txBox="1"/>
          <p:nvPr/>
        </p:nvSpPr>
        <p:spPr>
          <a:xfrm>
            <a:off x="622300" y="2751666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500" y="3069166"/>
            <a:ext cx="11303000" cy="1570566"/>
          </a:xfrm>
          <a:prstGeom prst="rect">
            <a:avLst/>
          </a:prstGeom>
          <a:solidFill>
            <a:srgbClr val="EBF7F5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4500" y="3069166"/>
            <a:ext cx="38100" cy="1570566"/>
          </a:xfrm>
          <a:prstGeom prst="rect">
            <a:avLst/>
          </a:prstGeom>
          <a:solidFill>
            <a:srgbClr val="1474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恢复与不良事件"/>
          <p:cNvSpPr txBox="1"/>
          <p:nvPr/>
        </p:nvSpPr>
        <p:spPr>
          <a:xfrm>
            <a:off x="622300" y="3170766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恢复与不良事件</a:t>
            </a:r>
          </a:p>
        </p:txBody>
      </p:sp>
      <p:sp>
        <p:nvSpPr>
          <p:cNvPr id="14" name="平均治疗周期约90 d；1例（4.3%）并发性白内障，2例（8.7%）远视漂移。5~17 d的溃疡愈"/>
          <p:cNvSpPr txBox="1"/>
          <p:nvPr/>
        </p:nvSpPr>
        <p:spPr>
          <a:xfrm>
            <a:off x="622300" y="3513666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平均治疗周期约90 d；1例（4.3%）并发性白内障，2例（8.7%）远视漂移。5~17 d的溃疡愈合不能替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代约90 d整体治疗周期。</a:t>
            </a:r>
          </a:p>
        </p:txBody>
      </p:sp>
      <p:sp>
        <p:nvSpPr>
          <p:cNvPr id="15" name="2026 刊p123 / PDF2"/>
          <p:cNvSpPr txBox="1"/>
          <p:nvPr/>
        </p:nvSpPr>
        <p:spPr>
          <a:xfrm>
            <a:off x="622300" y="4436533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 / PDF2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4500" y="4754033"/>
            <a:ext cx="11303000" cy="1570566"/>
          </a:xfrm>
          <a:prstGeom prst="rect">
            <a:avLst/>
          </a:prstGeom>
          <a:solidFill>
            <a:srgbClr val="EDF4FB"/>
          </a:solidFill>
          <a:ln w="7620">
            <a:solidFill>
              <a:srgbClr val="D6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4500" y="4754033"/>
            <a:ext cx="38100" cy="1570566"/>
          </a:xfrm>
          <a:prstGeom prst="rect">
            <a:avLst/>
          </a:prstGeom>
          <a:solidFill>
            <a:srgbClr val="245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原文数据核对项"/>
          <p:cNvSpPr txBox="1"/>
          <p:nvPr/>
        </p:nvSpPr>
        <p:spPr>
          <a:xfrm>
            <a:off x="622300" y="4855633"/>
            <a:ext cx="10858500" cy="355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3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原文数据核对项</a:t>
            </a:r>
          </a:p>
        </p:txBody>
      </p:sp>
      <p:sp>
        <p:nvSpPr>
          <p:cNvPr id="19" name="正文部分例数/百分比及表1例数存在不一致；保留主结果23例的表述，不自行修正分母。10 g/L注射浓"/>
          <p:cNvSpPr txBox="1"/>
          <p:nvPr/>
        </p:nvSpPr>
        <p:spPr>
          <a:xfrm>
            <a:off x="622300" y="5198533"/>
            <a:ext cx="10858500" cy="6019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正文部分例数/百分比及表1例数存在不一致；保留主结果23例的表述，不自行修正分母。10 g/L注射浓</a:t>
            </a:r>
          </a:p>
          <a:p>
            <a:pPr>
              <a:lnSpc>
                <a:spcPts val="212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度为原文记录，不能据此补造注射体积。</a:t>
            </a:r>
          </a:p>
        </p:txBody>
      </p:sp>
      <p:sp>
        <p:nvSpPr>
          <p:cNvPr id="20" name="2026 刊p123–125 / PDF2–4"/>
          <p:cNvSpPr txBox="1"/>
          <p:nvPr/>
        </p:nvSpPr>
        <p:spPr>
          <a:xfrm>
            <a:off x="622300" y="6121400"/>
            <a:ext cx="10858500" cy="215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刊p123–125 / PDF2–4</a:t>
            </a:r>
          </a:p>
        </p:txBody>
      </p:sp>
      <p:sp>
        <p:nvSpPr>
          <p:cNvPr id="21" name="剂量、单位与阈值均按本篇原文；未列推荐等级者原文未明确。详细来源及缺项见提取表。"/>
          <p:cNvSpPr txBox="1"/>
          <p:nvPr/>
        </p:nvSpPr>
        <p:spPr>
          <a:xfrm>
            <a:off x="457200" y="6527800"/>
            <a:ext cx="11303000" cy="21310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78"/>
              </a:lnSpc>
              <a:spcBef>
                <a:spcPts val="0"/>
              </a:spcBef>
              <a:spcAft>
                <a:spcPts val="0"/>
              </a:spcAft>
            </a:pPr>
            <a:r>
              <a:rPr sz="95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剂量、单位与阈值均按本篇原文；未列推荐等级者原文未明确。详细来源及缺项见提取表。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173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一页流程｜真菌性角膜溃疡：病损切除联合伏立康唑"/>
          <p:cNvSpPr txBox="1"/>
          <p:nvPr/>
        </p:nvSpPr>
        <p:spPr>
          <a:xfrm>
            <a:off x="368300" y="203200"/>
            <a:ext cx="11455400" cy="4414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297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一页流程</a:t>
            </a:r>
            <a:r>
              <a:rPr sz="2400" b="1" lang="zh-CN">
                <a:solidFill>
                  <a:srgbClr val="FFFFFF"/>
                </a:solidFill>
                <a:latin typeface="Arial"/>
                <a:ea typeface="Arial"/>
                <a:cs typeface="Arial"/>
              </a:rPr>
              <a:t>｜</a:t>
            </a:r>
            <a:r>
              <a:rPr sz="2400" b="1" lang="zh-CN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真菌性角膜溃疡：病损切除联合伏立康唑</a:t>
            </a:r>
          </a:p>
        </p:txBody>
      </p:sp>
      <p:sp>
        <p:nvSpPr>
          <p:cNvPr id="4" name="研究解读路径 · 不等同指南推荐 · 2026"/>
          <p:cNvSpPr txBox="1"/>
          <p:nvPr/>
        </p:nvSpPr>
        <p:spPr>
          <a:xfrm>
            <a:off x="368300" y="965200"/>
            <a:ext cx="11455400" cy="2367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1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研究解读路径 · 不等同指南推荐 ·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8300" y="1384300"/>
            <a:ext cx="5537200" cy="1528233"/>
          </a:xfrm>
          <a:prstGeom prst="rect">
            <a:avLst/>
          </a:prstGeom>
          <a:solidFill>
            <a:srgbClr val="EDF4FB"/>
          </a:solidFill>
          <a:ln w="7620">
            <a:solidFill>
              <a:srgbClr val="245A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1  病原确认"/>
          <p:cNvSpPr txBox="1"/>
          <p:nvPr/>
        </p:nvSpPr>
        <p:spPr>
          <a:xfrm>
            <a:off x="520700" y="1473200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245A91"/>
                </a:solidFill>
                <a:latin typeface="Microsoft YaHei"/>
                <a:ea typeface="Microsoft YaHei"/>
                <a:cs typeface="Microsoft YaHei"/>
              </a:rPr>
              <a:t>1  病原确认</a:t>
            </a:r>
          </a:p>
        </p:txBody>
      </p:sp>
      <p:sp>
        <p:nvSpPr>
          <p:cNvPr id="7" name="培养/涂片/共焦任一见菌丝或孢子 → 核对研究入选条件。"/>
          <p:cNvSpPr txBox="1"/>
          <p:nvPr/>
        </p:nvSpPr>
        <p:spPr>
          <a:xfrm>
            <a:off x="520700" y="1778000"/>
            <a:ext cx="5232400" cy="2705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培养/涂片/共焦任一见菌丝或孢子 → 核对研究入选条件。</a:t>
            </a:r>
          </a:p>
        </p:txBody>
      </p:sp>
      <p:sp>
        <p:nvSpPr>
          <p:cNvPr id="8" name="2026 刊p123"/>
          <p:cNvSpPr txBox="1"/>
          <p:nvPr/>
        </p:nvSpPr>
        <p:spPr>
          <a:xfrm>
            <a:off x="520700" y="2696633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0900" y="2148416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6286500" y="1384300"/>
            <a:ext cx="5537200" cy="1528233"/>
          </a:xfrm>
          <a:prstGeom prst="rect">
            <a:avLst/>
          </a:prstGeom>
          <a:solidFill>
            <a:srgbClr val="EBF7F5"/>
          </a:solidFill>
          <a:ln w="7620">
            <a:solidFill>
              <a:srgbClr val="1474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2  是否符合研究范围？"/>
          <p:cNvSpPr txBox="1"/>
          <p:nvPr/>
        </p:nvSpPr>
        <p:spPr>
          <a:xfrm>
            <a:off x="6438900" y="1473200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14746F"/>
                </a:solidFill>
                <a:latin typeface="Microsoft YaHei"/>
                <a:ea typeface="Microsoft YaHei"/>
                <a:cs typeface="Microsoft YaHei"/>
              </a:rPr>
              <a:t>2  是否符合研究范围？</a:t>
            </a:r>
          </a:p>
        </p:txBody>
      </p:sp>
      <p:sp>
        <p:nvSpPr>
          <p:cNvPr id="12" name="中央/旁中央且浸润≤1/2角膜厚度？否 → 不适用本文路径；是 → 核对排除条件。"/>
          <p:cNvSpPr txBox="1"/>
          <p:nvPr/>
        </p:nvSpPr>
        <p:spPr>
          <a:xfrm>
            <a:off x="6438900" y="1778000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中央/旁中央且浸润≤1/2角膜厚度？否 → 不适用本文路径；是 →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 核对排除条件。</a:t>
            </a:r>
          </a:p>
        </p:txBody>
      </p:sp>
      <p:sp>
        <p:nvSpPr>
          <p:cNvPr id="13" name="2026 刊p123"/>
          <p:cNvSpPr txBox="1"/>
          <p:nvPr/>
        </p:nvSpPr>
        <p:spPr>
          <a:xfrm>
            <a:off x="6438900" y="2696633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55100" y="2937933"/>
            <a:ext cx="0" cy="19050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6286500" y="3153833"/>
            <a:ext cx="5537200" cy="1528233"/>
          </a:xfrm>
          <a:prstGeom prst="rect">
            <a:avLst/>
          </a:prstGeom>
          <a:solidFill>
            <a:srgbClr val="FFF4E8"/>
          </a:solidFill>
          <a:ln w="7620">
            <a:solidFill>
              <a:srgbClr val="A956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3  初始抗真菌治疗"/>
          <p:cNvSpPr txBox="1"/>
          <p:nvPr/>
        </p:nvSpPr>
        <p:spPr>
          <a:xfrm>
            <a:off x="6438900" y="3242733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A95612"/>
                </a:solidFill>
                <a:latin typeface="Microsoft YaHei"/>
                <a:ea typeface="Microsoft YaHei"/>
                <a:cs typeface="Microsoft YaHei"/>
              </a:rPr>
              <a:t>3  初始抗真菌治疗</a:t>
            </a:r>
          </a:p>
        </p:txBody>
      </p:sp>
      <p:sp>
        <p:nvSpPr>
          <p:cNvPr id="17" name="按本文术前方案记录治疗；3~7 d无明显好转 → 研究中进入手术评估。"/>
          <p:cNvSpPr txBox="1"/>
          <p:nvPr/>
        </p:nvSpPr>
        <p:spPr>
          <a:xfrm>
            <a:off x="6438900" y="3547533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按本文术前方案记录治疗；3~7 d无明显好转 → 研究中进入手术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评估。</a:t>
            </a:r>
          </a:p>
        </p:txBody>
      </p:sp>
      <p:sp>
        <p:nvSpPr>
          <p:cNvPr id="18" name="2026 刊p123"/>
          <p:cNvSpPr txBox="1"/>
          <p:nvPr/>
        </p:nvSpPr>
        <p:spPr>
          <a:xfrm>
            <a:off x="6438900" y="4466166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930900" y="3917950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68300" y="3153833"/>
            <a:ext cx="5537200" cy="1528233"/>
          </a:xfrm>
          <a:prstGeom prst="rect">
            <a:avLst/>
          </a:prstGeom>
          <a:solidFill>
            <a:srgbClr val="F3EFF8"/>
          </a:solidFill>
          <a:ln w="7620">
            <a:solidFill>
              <a:srgbClr val="6952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4  研究手术方案"/>
          <p:cNvSpPr txBox="1"/>
          <p:nvPr/>
        </p:nvSpPr>
        <p:spPr>
          <a:xfrm>
            <a:off x="520700" y="3242733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4  研究手术方案</a:t>
            </a:r>
          </a:p>
        </p:txBody>
      </p:sp>
      <p:sp>
        <p:nvSpPr>
          <p:cNvPr id="22" name="病损切除联合多点基质伏立康唑；总注射体积原文未明确，不补造。"/>
          <p:cNvSpPr txBox="1"/>
          <p:nvPr/>
        </p:nvSpPr>
        <p:spPr>
          <a:xfrm>
            <a:off x="520700" y="3547533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病损切除联合多点基质伏立康唑；总注射体积原文未明确，不补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造。</a:t>
            </a:r>
          </a:p>
        </p:txBody>
      </p:sp>
      <p:sp>
        <p:nvSpPr>
          <p:cNvPr id="23" name="2026 刊p123"/>
          <p:cNvSpPr txBox="1"/>
          <p:nvPr/>
        </p:nvSpPr>
        <p:spPr>
          <a:xfrm>
            <a:off x="520700" y="4466166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136900" y="4707466"/>
            <a:ext cx="0" cy="19050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68300" y="4923366"/>
            <a:ext cx="5537200" cy="1528233"/>
          </a:xfrm>
          <a:prstGeom prst="rect">
            <a:avLst/>
          </a:prstGeom>
          <a:solidFill>
            <a:srgbClr val="FCEFF0"/>
          </a:solidFill>
          <a:ln w="7620">
            <a:solidFill>
              <a:srgbClr val="A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5  术后是否再浸润？"/>
          <p:cNvSpPr txBox="1"/>
          <p:nvPr/>
        </p:nvSpPr>
        <p:spPr>
          <a:xfrm>
            <a:off x="520700" y="5012266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A13438"/>
                </a:solidFill>
                <a:latin typeface="Microsoft YaHei"/>
                <a:ea typeface="Microsoft YaHei"/>
                <a:cs typeface="Microsoft YaHei"/>
              </a:rPr>
              <a:t>5  术后是否再浸润？</a:t>
            </a:r>
          </a:p>
        </p:txBody>
      </p:sp>
      <p:sp>
        <p:nvSpPr>
          <p:cNvPr id="27" name="每日裂隙灯；再浸润 → 原文追加结膜下注射（剂量未明确）；无 → 继续观察愈合。"/>
          <p:cNvSpPr txBox="1"/>
          <p:nvPr/>
        </p:nvSpPr>
        <p:spPr>
          <a:xfrm>
            <a:off x="520700" y="5317066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每日裂隙灯；再浸润 → 原文追加结膜下注射（剂量未明确）；无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 → 继续观察愈合。</a:t>
            </a:r>
          </a:p>
        </p:txBody>
      </p:sp>
      <p:sp>
        <p:nvSpPr>
          <p:cNvPr id="28" name="2026 刊p123"/>
          <p:cNvSpPr txBox="1"/>
          <p:nvPr/>
        </p:nvSpPr>
        <p:spPr>
          <a:xfrm>
            <a:off x="520700" y="6235699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30900" y="5687483"/>
            <a:ext cx="330200" cy="0"/>
          </a:xfrm>
          <a:prstGeom prst="line">
            <a:avLst/>
          </a:prstGeom>
          <a:ln w="17780">
            <a:solidFill>
              <a:srgbClr val="6B7D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286500" y="4923366"/>
            <a:ext cx="5537200" cy="1528233"/>
          </a:xfrm>
          <a:prstGeom prst="rect">
            <a:avLst/>
          </a:prstGeom>
          <a:solidFill>
            <a:srgbClr val="F3EFF8"/>
          </a:solidFill>
          <a:ln w="7620">
            <a:solidFill>
              <a:srgbClr val="6952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6  随访与研究边界"/>
          <p:cNvSpPr txBox="1"/>
          <p:nvPr/>
        </p:nvSpPr>
        <p:spPr>
          <a:xfrm>
            <a:off x="6438900" y="5012266"/>
            <a:ext cx="5232400" cy="3048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9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lang="zh-CN">
                <a:solidFill>
                  <a:srgbClr val="695292"/>
                </a:solidFill>
                <a:latin typeface="Microsoft YaHei"/>
                <a:ea typeface="Microsoft YaHei"/>
                <a:cs typeface="Microsoft YaHei"/>
              </a:rPr>
              <a:t>6  随访与研究边界</a:t>
            </a:r>
          </a:p>
        </p:txBody>
      </p:sp>
      <p:sp>
        <p:nvSpPr>
          <p:cNvPr id="32" name="复查视力/共焦/愈合；统一停药与复诊阈值未明确。此为研究路径，不是指南推荐。"/>
          <p:cNvSpPr txBox="1"/>
          <p:nvPr/>
        </p:nvSpPr>
        <p:spPr>
          <a:xfrm>
            <a:off x="6438900" y="5317066"/>
            <a:ext cx="5232400" cy="47752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复查视力/共焦/愈合；统一停药与复诊阈值未明确。此为研究路</a:t>
            </a:r>
          </a:p>
          <a:p>
            <a:pPr>
              <a:lnSpc>
                <a:spcPts val="163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zh-CN">
                <a:solidFill>
                  <a:srgbClr val="1E2E3B"/>
                </a:solidFill>
                <a:latin typeface="Microsoft YaHei"/>
                <a:ea typeface="Microsoft YaHei"/>
                <a:cs typeface="Microsoft YaHei"/>
              </a:rPr>
              <a:t>径，不是指南推荐。</a:t>
            </a:r>
          </a:p>
        </p:txBody>
      </p:sp>
      <p:sp>
        <p:nvSpPr>
          <p:cNvPr id="33" name="2026 刊p123、125"/>
          <p:cNvSpPr txBox="1"/>
          <p:nvPr/>
        </p:nvSpPr>
        <p:spPr>
          <a:xfrm>
            <a:off x="6438900" y="6235699"/>
            <a:ext cx="5232400" cy="203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2026 刊p123、125</a:t>
            </a:r>
          </a:p>
        </p:txBody>
      </p:sp>
      <p:sp>
        <p:nvSpPr>
          <p:cNvPr id="34" name="流程为整理表达；原文未明确的切点、剂量或等级不补编。完整证据与特殊分支见提取表。"/>
          <p:cNvSpPr txBox="1"/>
          <p:nvPr/>
        </p:nvSpPr>
        <p:spPr>
          <a:xfrm>
            <a:off x="368300" y="6604000"/>
            <a:ext cx="11455400" cy="20208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ts val="1091"/>
              </a:lnSpc>
              <a:spcBef>
                <a:spcPts val="0"/>
              </a:spcBef>
              <a:spcAft>
                <a:spcPts val="0"/>
              </a:spcAft>
            </a:pPr>
            <a:r>
              <a:rPr sz="880" b="0" lang="zh-CN">
                <a:solidFill>
                  <a:srgbClr val="526578"/>
                </a:solidFill>
                <a:latin typeface="Microsoft YaHei"/>
                <a:ea typeface="Microsoft YaHei"/>
                <a:cs typeface="Microsoft YaHei"/>
              </a:rPr>
              <a:t>流程为整理表达；原文未明确的切点、剂量或等级不补编。完整证据与特殊分支见提取表。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真菌性角膜溃疡：病损切除联合伏立康唑</dc:title>
  <dc:subject>上传文献原文摘录；原生可编辑文字和图形</dc:subject>
  <dc:creator>眼科临床速查资料整理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