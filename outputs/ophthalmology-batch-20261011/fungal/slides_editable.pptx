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fungal-01 研究性质：单中心回顾性研究，23例（23眼），病例来自2020年1月至2025年6月；没有随机分组或对照组。</a:t>
            </a:r>
          </a:p>
          <a:p>
            <a:r>
              <a:t>来源：2026 刊p122–123 / PDF1–2；类别：研究设计；推荐等级：原文未明确。</a:t>
            </a:r>
          </a:p>
          <a:p>
            <a:r>
              <a:t>原文锚点：切除术联合基质内注射伏立康【摘要】析2020年01月至2025年06月在成都中医药大学附属医院的采例真菌性角膜溃疡患者(23只眼)的临床资料,病灶位于角膜中央或度≤1/2角膜厚度。入院后全身及局部抗真菌治疗3~7d未见明唑治疗。记录患者术前检查结果、治疗效果及术后随访情况等。结显微镜检查诊断为真菌性角膜炎,其中男性21例,女性2例。术前0.93mm。10例(43.5%)角膜溃疡位于中央,13例(56.5%)位于旁角膜病损切除术联合未因感染加重而需接受角膜移植术。结论短治愈时间,降低应用角膜移植术的必要性,减轻患者经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fungal-05 研究前检查：裂隙灯、前节OCT评估位置和浸润深度，病原学及共焦检查；最大浸润直径4~7 mm为本样本描述，不是手术切点。</a:t>
            </a:r>
          </a:p>
          <a:p>
            <a:r>
              <a:t>来源：2026 刊p122–123 / PDF1–2；类别：检查；推荐等级：原文未明确。</a:t>
            </a:r>
          </a:p>
          <a:p>
            <a:r>
              <a:t>原文锚点：好转,则行角膜病损切除术联合基质内注射伏立康结果23例均通过真菌培养、角膜涂片镜检或共焦激光前裂隙灯检查角膜浸润最大直径4~7mm,平均4.6±旁中央。出院后随诊,所有患者角膜溃疡完全愈合,均合基质内注射伏立康唑能有效治疗真菌性角膜溃疡,缩伏立康唑药;iconazoleintreatingfungalkeratitisTianYu1,2,GaoeMedicine,Chengdu,Sichuan,610075;2.ChengduU-0075)corneallesionexcisioncombinedwithintra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fungal-11 主要结果：21例（91.3%）病情有效控制，溃疡愈合时间5~17 d；2例（8.7%）再浸润，追加处理后减轻。所有病例随诊最终愈合，未因感染加重移植。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程;D-F:基质内注射伏立康唑的过程2结果2.1一般情况本研究选取23例真菌性角膜溃疡患例者为观察对象,其中男性21例(91.3%),女性2(8.6%)。10例(43.5%)有明确植物外伤史,其中9例为务农人员。纳入患者的临床体征包括有角膜浸润灶、伪足、前房积脓等。角膜浸润最大直径4~7mm,平均4.6±0.93mm。其中10例(43.5%)合并前房积脓。10例(43.5%)角膜溃疡位于中央,13例(56.5%)位于旁中央。入院后完善检查发现,10例(43.5%)患者真菌培养阳性,其中茄病镰刀菌4例、黄曲霉菌4例、</a:t>
            </a:r>
          </a:p>
          <a:p/>
          <a:p>
            <a:r>
              <a:t>fungal-12 恢复与不良事件：平均治疗周期约90 d；1例（4.3%）并发性白内障，2例（8.7%）远视漂移。5~17 d的溃疡愈合不能替代约90 d整体治疗周期。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</a:t>
            </a:r>
          </a:p>
          <a:p/>
          <a:p>
            <a:r>
              <a:t>fungal-15 原文数据核对项：正文部分例数/百分比及表1例数存在不一致；保留主结果23例的表述，不自行修正分母。10 g/L注射浓度为原文记录，不能据此补造注射体积。</a:t>
            </a:r>
          </a:p>
          <a:p>
            <a:r>
              <a:t>来源：2026 刊p123–125 / PDF2–4；类别：原文核对事项；推荐等级：原文未明确。</a:t>
            </a:r>
          </a:p>
          <a:p>
            <a:r>
              <a:t>原文锚点：现角膜溃疡浸润灶,予以结膜下注射伏立康唑注射液后,浸润减轻,溃疡未向深层发展。所有病例均未因感染加重而需接受角膜移植术(表1)。出院后随诊,所有患者角膜溃疡完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124中医眼耳鼻喉杂志2026年第1图2病例17治疗前后A:入院时的角膜情况。B:角膜共焦激光显微镜检查可见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  <a:p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研究定位与可用范围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研究定位与可用范围</a:t>
            </a:r>
          </a:p>
        </p:txBody>
      </p:sp>
      <p:sp>
        <p:nvSpPr>
          <p:cNvPr id="4" name="01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01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1391073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1391073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研究性质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研究性质</a:t>
            </a:r>
          </a:p>
        </p:txBody>
      </p:sp>
      <p:sp>
        <p:nvSpPr>
          <p:cNvPr id="9" name="单中心回顾性研究，23例（23眼），病例来自2020年1月至2025年6月；没有随机分组或对照组。"/>
          <p:cNvSpPr txBox="1"/>
          <p:nvPr/>
        </p:nvSpPr>
        <p:spPr>
          <a:xfrm>
            <a:off x="622300" y="182880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单中心回顾性研究，23例（23眼），病例来自2020年1月至2025年6月；没有随机分组或对照组。</a:t>
            </a:r>
          </a:p>
        </p:txBody>
      </p:sp>
      <p:sp>
        <p:nvSpPr>
          <p:cNvPr id="10" name="2026 刊p122–123 / PDF1–2"/>
          <p:cNvSpPr txBox="1"/>
          <p:nvPr/>
        </p:nvSpPr>
        <p:spPr>
          <a:xfrm>
            <a:off x="622300" y="2572173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 / PDF1–2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2889673"/>
            <a:ext cx="11303000" cy="1660313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2889673"/>
            <a:ext cx="38100" cy="1660313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入选条件"/>
          <p:cNvSpPr txBox="1"/>
          <p:nvPr/>
        </p:nvSpPr>
        <p:spPr>
          <a:xfrm>
            <a:off x="622300" y="2991273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入选条件</a:t>
            </a:r>
          </a:p>
        </p:txBody>
      </p:sp>
      <p:sp>
        <p:nvSpPr>
          <p:cNvPr id="14" name="中央或旁中央病灶；裂隙灯及前节OCT示浸润深度≤1/2角膜厚度；全身及局部抗真菌治疗3~7 d未见明"/>
          <p:cNvSpPr txBox="1"/>
          <p:nvPr/>
        </p:nvSpPr>
        <p:spPr>
          <a:xfrm>
            <a:off x="622300" y="3334173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中央或旁中央病灶；裂隙灯及前节OCT示浸润深度≤1/2角膜厚度；全身及局部抗真菌治疗3~7 d未见明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显好转。</a:t>
            </a:r>
          </a:p>
        </p:txBody>
      </p:sp>
      <p:sp>
        <p:nvSpPr>
          <p:cNvPr id="15" name="2026 刊p123 / PDF2"/>
          <p:cNvSpPr txBox="1"/>
          <p:nvPr/>
        </p:nvSpPr>
        <p:spPr>
          <a:xfrm>
            <a:off x="622300" y="4346786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664286"/>
            <a:ext cx="11303000" cy="1660313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500" y="4664286"/>
            <a:ext cx="38100" cy="1660313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排除条件"/>
          <p:cNvSpPr txBox="1"/>
          <p:nvPr/>
        </p:nvSpPr>
        <p:spPr>
          <a:xfrm>
            <a:off x="622300" y="4765886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排除条件</a:t>
            </a:r>
          </a:p>
        </p:txBody>
      </p:sp>
      <p:sp>
        <p:nvSpPr>
          <p:cNvPr id="19" name="非真菌性角膜感染、全层穿孔、眼内炎、出血/凝血疾病，以及高血压、糖尿病等严重基础病控制不佳者被排除。"/>
          <p:cNvSpPr txBox="1"/>
          <p:nvPr/>
        </p:nvSpPr>
        <p:spPr>
          <a:xfrm>
            <a:off x="622300" y="5108786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非真菌性角膜感染、全层穿孔、眼内炎、出血/凝血疾病，以及高血压、糖尿病等严重基础病控制不佳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者被排除。</a:t>
            </a:r>
          </a:p>
        </p:txBody>
      </p:sp>
      <p:sp>
        <p:nvSpPr>
          <p:cNvPr id="20" name="2026 刊p123 / PDF2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21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病原与术前评估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病原与术前评估</a:t>
            </a:r>
          </a:p>
        </p:txBody>
      </p:sp>
      <p:sp>
        <p:nvSpPr>
          <p:cNvPr id="4" name="02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02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1391073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1391073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病原诊断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病原诊断</a:t>
            </a:r>
          </a:p>
        </p:txBody>
      </p:sp>
      <p:sp>
        <p:nvSpPr>
          <p:cNvPr id="9" name="真菌培养、角膜涂片镜检或共焦激光显微镜任一项发现真菌菌丝或孢子，纳入真菌性角膜溃疡病例。"/>
          <p:cNvSpPr txBox="1"/>
          <p:nvPr/>
        </p:nvSpPr>
        <p:spPr>
          <a:xfrm>
            <a:off x="622300" y="182880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真菌培养、角膜涂片镜检或共焦激光显微镜任一项发现真菌菌丝或孢子，纳入真菌性角膜溃疡病例。</a:t>
            </a:r>
          </a:p>
        </p:txBody>
      </p:sp>
      <p:sp>
        <p:nvSpPr>
          <p:cNvPr id="10" name="2026 刊p123 / PDF2"/>
          <p:cNvSpPr txBox="1"/>
          <p:nvPr/>
        </p:nvSpPr>
        <p:spPr>
          <a:xfrm>
            <a:off x="622300" y="2572173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2889673"/>
            <a:ext cx="11303000" cy="1660313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2889673"/>
            <a:ext cx="38100" cy="1660313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研究前检查"/>
          <p:cNvSpPr txBox="1"/>
          <p:nvPr/>
        </p:nvSpPr>
        <p:spPr>
          <a:xfrm>
            <a:off x="622300" y="2991273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研究前检查</a:t>
            </a:r>
          </a:p>
        </p:txBody>
      </p:sp>
      <p:sp>
        <p:nvSpPr>
          <p:cNvPr id="14" name="裂隙灯、前节OCT评估位置和浸润深度，病原学及共焦检查；最大浸润直径4~7 mm为本样本描述，不是手"/>
          <p:cNvSpPr txBox="1"/>
          <p:nvPr/>
        </p:nvSpPr>
        <p:spPr>
          <a:xfrm>
            <a:off x="622300" y="3334173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裂隙灯、前节OCT评估位置和浸润深度，病原学及共焦检查；最大浸润直径4~7 mm为本样本描述，不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是手术切点。</a:t>
            </a:r>
          </a:p>
        </p:txBody>
      </p:sp>
      <p:sp>
        <p:nvSpPr>
          <p:cNvPr id="15" name="2026 刊p122–123 / PDF1–2"/>
          <p:cNvSpPr txBox="1"/>
          <p:nvPr/>
        </p:nvSpPr>
        <p:spPr>
          <a:xfrm>
            <a:off x="622300" y="4346786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 / PDF1–2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664286"/>
            <a:ext cx="11303000" cy="1660313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500" y="4664286"/>
            <a:ext cx="38100" cy="1660313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研究局限"/>
          <p:cNvSpPr txBox="1"/>
          <p:nvPr/>
        </p:nvSpPr>
        <p:spPr>
          <a:xfrm>
            <a:off x="622300" y="4765886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19" name="样本小、随访较短、无对照；不能证明优于药物或移植，也不能据此推广至深层浸润、穿孔或眼内炎患者。"/>
          <p:cNvSpPr txBox="1"/>
          <p:nvPr/>
        </p:nvSpPr>
        <p:spPr>
          <a:xfrm>
            <a:off x="622300" y="5108786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样本小、随访较短、无对照；不能证明优于药物或移植，也不能据此推广至深层浸润、穿孔或眼内炎患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者。</a:t>
            </a:r>
          </a:p>
        </p:txBody>
      </p:sp>
      <p:sp>
        <p:nvSpPr>
          <p:cNvPr id="20" name="2026 刊p123、125 / PDF2、4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刊p123、125 / PDF2、4</a:t>
            </a:r>
          </a:p>
        </p:txBody>
      </p:sp>
      <p:sp>
        <p:nvSpPr>
          <p:cNvPr id="21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研究用药：术前方案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研究用药：术前方案</a:t>
            </a:r>
          </a:p>
        </p:txBody>
      </p:sp>
      <p:sp>
        <p:nvSpPr>
          <p:cNvPr id="4" name="03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03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278379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278379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术前全身用药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术前全身用药</a:t>
            </a:r>
          </a:p>
        </p:txBody>
      </p:sp>
      <p:sp>
        <p:nvSpPr>
          <p:cNvPr id="9" name="本文方案：氟康唑注射液0.2 g静滴，一天一次。属于研究治疗记录，不是普适处方推荐。"/>
          <p:cNvSpPr txBox="1"/>
          <p:nvPr/>
        </p:nvSpPr>
        <p:spPr>
          <a:xfrm>
            <a:off x="622300" y="1828800"/>
            <a:ext cx="10858500" cy="3327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本文方案：氟康唑注射液0.2 g静滴，一天一次。属于研究治疗记录，不是普适处方推荐。</a:t>
            </a:r>
          </a:p>
        </p:txBody>
      </p:sp>
      <p:sp>
        <p:nvSpPr>
          <p:cNvPr id="10" name="2026 刊p123 / PDF2"/>
          <p:cNvSpPr txBox="1"/>
          <p:nvPr/>
        </p:nvSpPr>
        <p:spPr>
          <a:xfrm>
            <a:off x="622300" y="3459479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776979"/>
            <a:ext cx="11303000" cy="254762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776979"/>
            <a:ext cx="38100" cy="2547620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术前局部用药"/>
          <p:cNvSpPr txBox="1"/>
          <p:nvPr/>
        </p:nvSpPr>
        <p:spPr>
          <a:xfrm>
            <a:off x="622300" y="3878579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术前局部用药</a:t>
            </a:r>
          </a:p>
        </p:txBody>
      </p:sp>
      <p:sp>
        <p:nvSpPr>
          <p:cNvPr id="14" name="5%那他霉素滴眼液每小时1次；10 g/L氟康唑滴眼液每小时1次；小牛血去蛋白提取物眼用凝胶睡前一次"/>
          <p:cNvSpPr txBox="1"/>
          <p:nvPr/>
        </p:nvSpPr>
        <p:spPr>
          <a:xfrm>
            <a:off x="622300" y="422148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5%那他霉素滴眼液每小时1次；10 g/L氟康唑滴眼液每小时1次；小牛血去蛋白提取物眼用凝胶睡前一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次。</a:t>
            </a:r>
          </a:p>
        </p:txBody>
      </p:sp>
      <p:sp>
        <p:nvSpPr>
          <p:cNvPr id="15" name="2026 刊p123 / PDF2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研究手术方案与缺项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研究手术方案与缺项</a:t>
            </a:r>
          </a:p>
        </p:txBody>
      </p:sp>
      <p:sp>
        <p:nvSpPr>
          <p:cNvPr id="4" name="04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04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4130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413000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病损切除范围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病损切除范围</a:t>
            </a:r>
          </a:p>
        </p:txBody>
      </p:sp>
      <p:sp>
        <p:nvSpPr>
          <p:cNvPr id="9" name="标记直径略大于溃疡边缘0.5 mm；切除深度不超过角膜基质层厚度1/2，以透明无浸润为准；修剪范围超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标记直径略大于溃疡边缘0.5 mm；切除深度不超过角膜基质层厚度1/2，以透明无浸润为准；修剪范围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超过边缘0.5 mm。</a:t>
            </a:r>
          </a:p>
        </p:txBody>
      </p:sp>
      <p:sp>
        <p:nvSpPr>
          <p:cNvPr id="10" name="2026 刊p123 / PDF2"/>
          <p:cNvSpPr txBox="1"/>
          <p:nvPr/>
        </p:nvSpPr>
        <p:spPr>
          <a:xfrm>
            <a:off x="622300" y="35941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911600"/>
            <a:ext cx="11303000" cy="241300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911600"/>
            <a:ext cx="38100" cy="2413000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基质注射记录"/>
          <p:cNvSpPr txBox="1"/>
          <p:nvPr/>
        </p:nvSpPr>
        <p:spPr>
          <a:xfrm>
            <a:off x="622300" y="40132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基质注射记录</a:t>
            </a:r>
          </a:p>
        </p:txBody>
      </p:sp>
      <p:sp>
        <p:nvSpPr>
          <p:cNvPr id="14" name="原文记录10 g/L伏立康唑注射液，30G针，多点基质内缓慢推注，留针10秒，覆盖病变区域。单点体积"/>
          <p:cNvSpPr txBox="1"/>
          <p:nvPr/>
        </p:nvSpPr>
        <p:spPr>
          <a:xfrm>
            <a:off x="622300" y="43561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原文记录10 g/L伏立康唑注射液，30G针，多点基质内缓慢推注，留针10秒，覆盖病变区域。单点体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积、总量、配制细节：原文未明确。</a:t>
            </a:r>
          </a:p>
        </p:txBody>
      </p:sp>
      <p:sp>
        <p:nvSpPr>
          <p:cNvPr id="15" name="2026 刊p123 / PDF2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术后监测与再次浸润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术后监测与再次浸润</a:t>
            </a:r>
          </a:p>
        </p:txBody>
      </p:sp>
      <p:sp>
        <p:nvSpPr>
          <p:cNvPr id="4" name="05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05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241300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2413000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术后治疗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术后治疗</a:t>
            </a:r>
          </a:p>
        </p:txBody>
      </p:sp>
      <p:sp>
        <p:nvSpPr>
          <p:cNvPr id="9" name="术后用药同术前，局部频次降至每日4~6次；每日裂隙灯观察上皮愈合和再浸润。再浸润者采用结膜下注射伏立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术后用药同术前，局部频次降至每日4~6次；每日裂隙灯观察上皮愈合和再浸润。再浸润者采用结膜下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注射伏立康唑，剂量原文未明确。</a:t>
            </a:r>
          </a:p>
        </p:txBody>
      </p:sp>
      <p:sp>
        <p:nvSpPr>
          <p:cNvPr id="10" name="2026 刊p123 / PDF2"/>
          <p:cNvSpPr txBox="1"/>
          <p:nvPr/>
        </p:nvSpPr>
        <p:spPr>
          <a:xfrm>
            <a:off x="622300" y="35941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911600"/>
            <a:ext cx="11303000" cy="241300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911600"/>
            <a:ext cx="38100" cy="2413000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随访项目"/>
          <p:cNvSpPr txBox="1"/>
          <p:nvPr/>
        </p:nvSpPr>
        <p:spPr>
          <a:xfrm>
            <a:off x="622300" y="40132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随访项目</a:t>
            </a:r>
          </a:p>
        </p:txBody>
      </p:sp>
      <p:sp>
        <p:nvSpPr>
          <p:cNvPr id="14" name="出院后复查最佳矫正视力、共焦激光显微镜与角膜愈合情况；统一复诊间隔、停药标准、特殊人群剂量：原文未明"/>
          <p:cNvSpPr txBox="1"/>
          <p:nvPr/>
        </p:nvSpPr>
        <p:spPr>
          <a:xfrm>
            <a:off x="622300" y="43561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出院后复查最佳矫正视力、共焦激光显微镜与角膜愈合情况；统一复诊间隔、停药标准、特殊人群剂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量：原文未明确。</a:t>
            </a:r>
          </a:p>
        </p:txBody>
      </p:sp>
      <p:sp>
        <p:nvSpPr>
          <p:cNvPr id="15" name="2026 刊p123 / PDF2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6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结果、时间与证据局限"/>
          <p:cNvSpPr txBox="1"/>
          <p:nvPr/>
        </p:nvSpPr>
        <p:spPr>
          <a:xfrm>
            <a:off x="457200" y="228600"/>
            <a:ext cx="10858500" cy="4886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47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结果、时间与证据局限</a:t>
            </a:r>
          </a:p>
        </p:txBody>
      </p:sp>
      <p:sp>
        <p:nvSpPr>
          <p:cNvPr id="4" name="06 / 07"/>
          <p:cNvSpPr txBox="1"/>
          <p:nvPr/>
        </p:nvSpPr>
        <p:spPr>
          <a:xfrm>
            <a:off x="11328400" y="368300"/>
            <a:ext cx="7112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C9D9E7"/>
                </a:solidFill>
                <a:latin typeface="Microsoft YaHei"/>
                <a:ea typeface="Microsoft YaHei"/>
                <a:cs typeface="Microsoft YaHei"/>
              </a:rPr>
              <a:t>06 / 07</a:t>
            </a:r>
          </a:p>
        </p:txBody>
      </p:sp>
      <p:sp>
        <p:nvSpPr>
          <p:cNvPr id="5" name="真菌性角膜溃疡：病损切除联合伏立康唑 · 2026 单篇回顾性病例系列"/>
          <p:cNvSpPr txBox="1"/>
          <p:nvPr/>
        </p:nvSpPr>
        <p:spPr>
          <a:xfrm>
            <a:off x="457200" y="1003300"/>
            <a:ext cx="113030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 · 2026 单篇回顾性病例系列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500" y="1384300"/>
            <a:ext cx="11303000" cy="1570566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500" y="1384300"/>
            <a:ext cx="38100" cy="1570566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主要结果"/>
          <p:cNvSpPr txBox="1"/>
          <p:nvPr/>
        </p:nvSpPr>
        <p:spPr>
          <a:xfrm>
            <a:off x="622300" y="1485900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9" name="21例（91.3%）病情有效控制，溃疡愈合时间5~17 d；2例（8.7%）再浸润，追加处理后减轻。"/>
          <p:cNvSpPr txBox="1"/>
          <p:nvPr/>
        </p:nvSpPr>
        <p:spPr>
          <a:xfrm>
            <a:off x="622300" y="1828800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21例（91.3%）病情有效控制，溃疡愈合时间5~17 d；2例（8.7%）再浸润，追加处理后减轻。所有病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例随诊最终愈合，未因感染加重移植。</a:t>
            </a:r>
          </a:p>
        </p:txBody>
      </p:sp>
      <p:sp>
        <p:nvSpPr>
          <p:cNvPr id="10" name="2026 刊p123 / PDF2"/>
          <p:cNvSpPr txBox="1"/>
          <p:nvPr/>
        </p:nvSpPr>
        <p:spPr>
          <a:xfrm>
            <a:off x="622300" y="2751666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500" y="3069166"/>
            <a:ext cx="11303000" cy="1570566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500" y="3069166"/>
            <a:ext cx="38100" cy="1570566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恢复与不良事件"/>
          <p:cNvSpPr txBox="1"/>
          <p:nvPr/>
        </p:nvSpPr>
        <p:spPr>
          <a:xfrm>
            <a:off x="622300" y="3170766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恢复与不良事件</a:t>
            </a:r>
          </a:p>
        </p:txBody>
      </p:sp>
      <p:sp>
        <p:nvSpPr>
          <p:cNvPr id="14" name="平均治疗周期约90 d；1例（4.3%）并发性白内障，2例（8.7%）远视漂移。5~17 d的溃疡愈"/>
          <p:cNvSpPr txBox="1"/>
          <p:nvPr/>
        </p:nvSpPr>
        <p:spPr>
          <a:xfrm>
            <a:off x="622300" y="3513666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平均治疗周期约90 d；1例（4.3%）并发性白内障，2例（8.7%）远视漂移。5~17 d的溃疡愈合不能替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代约90 d整体治疗周期。</a:t>
            </a:r>
          </a:p>
        </p:txBody>
      </p:sp>
      <p:sp>
        <p:nvSpPr>
          <p:cNvPr id="15" name="2026 刊p123 / PDF2"/>
          <p:cNvSpPr txBox="1"/>
          <p:nvPr/>
        </p:nvSpPr>
        <p:spPr>
          <a:xfrm>
            <a:off x="622300" y="4436533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 / PDF2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500" y="4754033"/>
            <a:ext cx="11303000" cy="1570566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500" y="4754033"/>
            <a:ext cx="38100" cy="1570566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原文数据核对项"/>
          <p:cNvSpPr txBox="1"/>
          <p:nvPr/>
        </p:nvSpPr>
        <p:spPr>
          <a:xfrm>
            <a:off x="622300" y="4855633"/>
            <a:ext cx="108585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原文数据核对项</a:t>
            </a:r>
          </a:p>
        </p:txBody>
      </p:sp>
      <p:sp>
        <p:nvSpPr>
          <p:cNvPr id="19" name="正文部分例数/百分比及表1例数存在不一致；保留主结果23例的表述，不自行修正分母。10 g/L注射浓"/>
          <p:cNvSpPr txBox="1"/>
          <p:nvPr/>
        </p:nvSpPr>
        <p:spPr>
          <a:xfrm>
            <a:off x="622300" y="5198533"/>
            <a:ext cx="10858500" cy="6019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正文部分例数/百分比及表1例数存在不一致；保留主结果23例的表述，不自行修正分母。10 g/L注射浓</a:t>
            </a:r>
          </a:p>
          <a:p>
            <a:pPr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度为原文记录，不能据此补造注射体积。</a:t>
            </a:r>
          </a:p>
        </p:txBody>
      </p:sp>
      <p:sp>
        <p:nvSpPr>
          <p:cNvPr id="20" name="2026 刊p123–125 / PDF2–4"/>
          <p:cNvSpPr txBox="1"/>
          <p:nvPr/>
        </p:nvSpPr>
        <p:spPr>
          <a:xfrm>
            <a:off x="622300" y="6121400"/>
            <a:ext cx="1085850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 / PDF2–4</a:t>
            </a:r>
          </a:p>
        </p:txBody>
      </p:sp>
      <p:sp>
        <p:nvSpPr>
          <p:cNvPr id="21" name="剂量、单位与阈值均按本篇原文；未列推荐等级者原文未明确。详细来源及缺项见提取表。"/>
          <p:cNvSpPr txBox="1"/>
          <p:nvPr/>
        </p:nvSpPr>
        <p:spPr>
          <a:xfrm>
            <a:off x="457200" y="6527800"/>
            <a:ext cx="11303000" cy="2131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78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剂量、单位与阈值均按本篇原文；未列推荐等级者原文未明确。详细来源及缺项见提取表。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一页流程｜真菌性角膜溃疡：病损切除联合伏立康唑"/>
          <p:cNvSpPr txBox="1"/>
          <p:nvPr/>
        </p:nvSpPr>
        <p:spPr>
          <a:xfrm>
            <a:off x="368300" y="203200"/>
            <a:ext cx="11455400" cy="441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76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一页流程</a:t>
            </a:r>
            <a:r>
              <a:rPr sz="2400" b="1" lang="zh-CN">
                <a:solidFill>
                  <a:srgbClr val="FFFFFF"/>
                </a:solidFill>
                <a:latin typeface="Arial"/>
                <a:ea typeface="Arial"/>
                <a:cs typeface="Arial"/>
              </a:rPr>
              <a:t>｜</a:t>
            </a:r>
            <a:r>
              <a:rPr sz="240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研究解读路径 · 不等同指南推荐 · 2026"/>
          <p:cNvSpPr txBox="1"/>
          <p:nvPr/>
        </p:nvSpPr>
        <p:spPr>
          <a:xfrm>
            <a:off x="368300" y="965200"/>
            <a:ext cx="11455400" cy="2367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研究解读路径 · 不等同指南推荐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8300" y="1384300"/>
            <a:ext cx="5537200" cy="1528233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1  病原确认"/>
          <p:cNvSpPr txBox="1"/>
          <p:nvPr/>
        </p:nvSpPr>
        <p:spPr>
          <a:xfrm>
            <a:off x="520700" y="1473200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病原确认</a:t>
            </a:r>
          </a:p>
        </p:txBody>
      </p:sp>
      <p:sp>
        <p:nvSpPr>
          <p:cNvPr id="7" name="培养/涂片/共焦任一见菌丝或孢子 → 核对研究入选条件。"/>
          <p:cNvSpPr txBox="1"/>
          <p:nvPr/>
        </p:nvSpPr>
        <p:spPr>
          <a:xfrm>
            <a:off x="520700" y="1778000"/>
            <a:ext cx="5232400" cy="2705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 → 核对研究入选条件。</a:t>
            </a:r>
          </a:p>
        </p:txBody>
      </p:sp>
      <p:sp>
        <p:nvSpPr>
          <p:cNvPr id="8" name="2026 刊p123"/>
          <p:cNvSpPr txBox="1"/>
          <p:nvPr/>
        </p:nvSpPr>
        <p:spPr>
          <a:xfrm>
            <a:off x="520700" y="2696633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0900" y="2148416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286500" y="1384300"/>
            <a:ext cx="5537200" cy="1528233"/>
          </a:xfrm>
          <a:prstGeom prst="rect">
            <a:avLst/>
          </a:prstGeom>
          <a:solidFill>
            <a:srgbClr val="EBF7F5"/>
          </a:solidFill>
          <a:ln w="7620">
            <a:solidFill>
              <a:srgbClr val="1474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2  是否符合研究范围？"/>
          <p:cNvSpPr txBox="1"/>
          <p:nvPr/>
        </p:nvSpPr>
        <p:spPr>
          <a:xfrm>
            <a:off x="6438900" y="1473200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2  是否符合研究范围？</a:t>
            </a:r>
          </a:p>
        </p:txBody>
      </p:sp>
      <p:sp>
        <p:nvSpPr>
          <p:cNvPr id="12" name="中央/旁中央且浸润≤1/2角膜厚度？否 → 不适用本文路径；是 → 核对排除条件。"/>
          <p:cNvSpPr txBox="1"/>
          <p:nvPr/>
        </p:nvSpPr>
        <p:spPr>
          <a:xfrm>
            <a:off x="6438900" y="1778000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中央/旁中央且浸润≤1/2角膜厚度？否 → 不适用本文路径；是 →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 核对排除条件。</a:t>
            </a:r>
          </a:p>
        </p:txBody>
      </p:sp>
      <p:sp>
        <p:nvSpPr>
          <p:cNvPr id="13" name="2026 刊p123"/>
          <p:cNvSpPr txBox="1"/>
          <p:nvPr/>
        </p:nvSpPr>
        <p:spPr>
          <a:xfrm>
            <a:off x="6438900" y="2696633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55100" y="2937933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286500" y="3153833"/>
            <a:ext cx="5537200" cy="1528233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3  初始抗真菌治疗"/>
          <p:cNvSpPr txBox="1"/>
          <p:nvPr/>
        </p:nvSpPr>
        <p:spPr>
          <a:xfrm>
            <a:off x="6438900" y="3242733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初始抗真菌治疗</a:t>
            </a:r>
          </a:p>
        </p:txBody>
      </p:sp>
      <p:sp>
        <p:nvSpPr>
          <p:cNvPr id="17" name="按本文术前方案记录治疗；3~7 d无明显好转 → 研究中进入手术评估。"/>
          <p:cNvSpPr txBox="1"/>
          <p:nvPr/>
        </p:nvSpPr>
        <p:spPr>
          <a:xfrm>
            <a:off x="6438900" y="3547533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按本文术前方案记录治疗；3~7 d无明显好转 → 研究中进入手术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评估。</a:t>
            </a:r>
          </a:p>
        </p:txBody>
      </p:sp>
      <p:sp>
        <p:nvSpPr>
          <p:cNvPr id="18" name="2026 刊p123"/>
          <p:cNvSpPr txBox="1"/>
          <p:nvPr/>
        </p:nvSpPr>
        <p:spPr>
          <a:xfrm>
            <a:off x="6438900" y="4466166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5930900" y="3917950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68300" y="3153833"/>
            <a:ext cx="5537200" cy="1528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4  研究手术方案"/>
          <p:cNvSpPr txBox="1"/>
          <p:nvPr/>
        </p:nvSpPr>
        <p:spPr>
          <a:xfrm>
            <a:off x="520700" y="3242733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研究手术方案</a:t>
            </a:r>
          </a:p>
        </p:txBody>
      </p:sp>
      <p:sp>
        <p:nvSpPr>
          <p:cNvPr id="22" name="病损切除联合多点基质伏立康唑；总注射体积原文未明确，不补造。"/>
          <p:cNvSpPr txBox="1"/>
          <p:nvPr/>
        </p:nvSpPr>
        <p:spPr>
          <a:xfrm>
            <a:off x="520700" y="3547533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病损切除联合多点基质伏立康唑；总注射体积原文未明确，不补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造。</a:t>
            </a:r>
          </a:p>
        </p:txBody>
      </p:sp>
      <p:sp>
        <p:nvSpPr>
          <p:cNvPr id="23" name="2026 刊p123"/>
          <p:cNvSpPr txBox="1"/>
          <p:nvPr/>
        </p:nvSpPr>
        <p:spPr>
          <a:xfrm>
            <a:off x="520700" y="4466166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36900" y="4707466"/>
            <a:ext cx="0" cy="19050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8300" y="4923366"/>
            <a:ext cx="5537200" cy="1528233"/>
          </a:xfrm>
          <a:prstGeom prst="rect">
            <a:avLst/>
          </a:prstGeom>
          <a:solidFill>
            <a:srgbClr val="FCEFF0"/>
          </a:solidFill>
          <a:ln w="7620">
            <a:solidFill>
              <a:srgbClr val="A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5  术后是否再浸润？"/>
          <p:cNvSpPr txBox="1"/>
          <p:nvPr/>
        </p:nvSpPr>
        <p:spPr>
          <a:xfrm>
            <a:off x="520700" y="5012266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5  术后是否再浸润？</a:t>
            </a:r>
          </a:p>
        </p:txBody>
      </p:sp>
      <p:sp>
        <p:nvSpPr>
          <p:cNvPr id="27" name="每日裂隙灯；再浸润 → 原文追加结膜下注射（剂量未明确）；无 → 继续观察愈合。"/>
          <p:cNvSpPr txBox="1"/>
          <p:nvPr/>
        </p:nvSpPr>
        <p:spPr>
          <a:xfrm>
            <a:off x="520700" y="5317066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每日裂隙灯；再浸润 → 原文追加结膜下注射（剂量未明确）；无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 → 继续观察愈合。</a:t>
            </a:r>
          </a:p>
        </p:txBody>
      </p:sp>
      <p:sp>
        <p:nvSpPr>
          <p:cNvPr id="28" name="2026 刊p123"/>
          <p:cNvSpPr txBox="1"/>
          <p:nvPr/>
        </p:nvSpPr>
        <p:spPr>
          <a:xfrm>
            <a:off x="520700" y="6235699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30900" y="5687483"/>
            <a:ext cx="330200" cy="0"/>
          </a:xfrm>
          <a:prstGeom prst="line">
            <a:avLst/>
          </a:prstGeom>
          <a:ln w="1778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286500" y="4923366"/>
            <a:ext cx="5537200" cy="1528233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6  随访与研究边界"/>
          <p:cNvSpPr txBox="1"/>
          <p:nvPr/>
        </p:nvSpPr>
        <p:spPr>
          <a:xfrm>
            <a:off x="6438900" y="5012266"/>
            <a:ext cx="5232400" cy="3048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6  随访与研究边界</a:t>
            </a:r>
          </a:p>
        </p:txBody>
      </p:sp>
      <p:sp>
        <p:nvSpPr>
          <p:cNvPr id="32" name="复查视力/共焦/愈合；统一停药与复诊阈值未明确。此为研究路径，不是指南推荐。"/>
          <p:cNvSpPr txBox="1"/>
          <p:nvPr/>
        </p:nvSpPr>
        <p:spPr>
          <a:xfrm>
            <a:off x="6438900" y="5317066"/>
            <a:ext cx="5232400" cy="4775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复查视力/共焦/愈合；统一停药与复诊阈值未明确。此为研究路</a:t>
            </a:r>
          </a:p>
          <a:p>
            <a:pPr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径，不是指南推荐。</a:t>
            </a:r>
          </a:p>
        </p:txBody>
      </p:sp>
      <p:sp>
        <p:nvSpPr>
          <p:cNvPr id="33" name="2026 刊p123、125"/>
          <p:cNvSpPr txBox="1"/>
          <p:nvPr/>
        </p:nvSpPr>
        <p:spPr>
          <a:xfrm>
            <a:off x="6438900" y="6235699"/>
            <a:ext cx="52324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刊p123、125</a:t>
            </a:r>
          </a:p>
        </p:txBody>
      </p:sp>
      <p:sp>
        <p:nvSpPr>
          <p:cNvPr id="34" name="流程为整理表达；原文未明确的切点、剂量或等级不补编。完整证据与特殊分支见提取表。"/>
          <p:cNvSpPr txBox="1"/>
          <p:nvPr/>
        </p:nvSpPr>
        <p:spPr>
          <a:xfrm>
            <a:off x="368300" y="6604000"/>
            <a:ext cx="11455400" cy="2020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91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流程为整理表达；原文未明确的切点、剂量或等级不补编。完整证据与特殊分支见提取表。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