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3780000" cy="53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octa-12 局限与外推：MCI未全部用AD生物标志物确证，病因混合；性别分布差异、眼病与系统血管因素可能残余混杂。不能证明因果或变化先后。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原文锚点：lyactionablethresholdsorgeneralizelowcognitivedecline.Third,notallparticipantswithMCIhadtothebroaderdementiapopulation,andallfindingsshouldbiomarker-confirmedADpathology,andtheMCIgroupthere-beconsideredpreliminary.Validationinlargerandlongitudi-forerepresentsa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60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198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14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44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定位"/>
          <p:cNvSpPr txBox="1"/>
          <p:nvPr/>
        </p:nvSpPr>
        <p:spPr>
          <a:xfrm>
            <a:off x="274320" y="782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7" name="2026横断面研究，103人：正常49、MCI 29、AD痴呆25。不能预测个体未来发病。"/>
          <p:cNvSpPr txBox="1"/>
          <p:nvPr/>
        </p:nvSpPr>
        <p:spPr>
          <a:xfrm>
            <a:off x="274320" y="934719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8" name="2026 刊p673"/>
          <p:cNvSpPr txBox="1"/>
          <p:nvPr/>
        </p:nvSpPr>
        <p:spPr>
          <a:xfrm>
            <a:off x="274320" y="1254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11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检查条件"/>
          <p:cNvSpPr txBox="1"/>
          <p:nvPr/>
        </p:nvSpPr>
        <p:spPr>
          <a:xfrm>
            <a:off x="274320" y="1549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11" name="SS-OCTA黄斑中心6×6-mm扫描；PLEX Elite 9000。认知诊断参照ADRC/NIA"/>
          <p:cNvSpPr txBox="1"/>
          <p:nvPr/>
        </p:nvSpPr>
        <p:spPr>
          <a:xfrm>
            <a:off x="274320" y="1701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12" name="2026 刊p674"/>
          <p:cNvSpPr txBox="1"/>
          <p:nvPr/>
        </p:nvSpPr>
        <p:spPr>
          <a:xfrm>
            <a:off x="274320" y="2021839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78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CC观察"/>
          <p:cNvSpPr txBox="1"/>
          <p:nvPr/>
        </p:nvSpPr>
        <p:spPr>
          <a:xfrm>
            <a:off x="274320" y="2316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15" name="AD痴呆63.31 μm，正常67.93 μm；差−4.62 μm（95%CI −8.92至−0.3"/>
          <p:cNvSpPr txBox="1"/>
          <p:nvPr/>
        </p:nvSpPr>
        <p:spPr>
          <a:xfrm>
            <a:off x="274320" y="2468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16" name="2026 刊p673、675"/>
          <p:cNvSpPr txBox="1"/>
          <p:nvPr/>
        </p:nvSpPr>
        <p:spPr>
          <a:xfrm>
            <a:off x="274320" y="2788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45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CFD观察"/>
          <p:cNvSpPr txBox="1"/>
          <p:nvPr/>
        </p:nvSpPr>
        <p:spPr>
          <a:xfrm>
            <a:off x="274320" y="3083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19" name="MCI 8.12%、AD痴呆9.07%、正常8.33%，呈双相分布。以上均为调整组均值。"/>
          <p:cNvSpPr txBox="1"/>
          <p:nvPr/>
        </p:nvSpPr>
        <p:spPr>
          <a:xfrm>
            <a:off x="274320" y="3235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20" name="2026 刊p673、675、678"/>
          <p:cNvSpPr txBox="1"/>
          <p:nvPr/>
        </p:nvSpPr>
        <p:spPr>
          <a:xfrm>
            <a:off x="274320" y="3556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70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60020"/>
            <a:ext cx="3459960" cy="520700"/>
          </a:xfrm>
          <a:prstGeom prst="rect">
            <a:avLst/>
          </a:prstGeom>
          <a:solidFill>
            <a:srgbClr val="FFFFFF"/>
          </a:solidFill>
          <a:ln w="7620">
            <a:solidFill>
              <a:srgbClr val="6D7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198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14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4422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统计提醒"/>
          <p:cNvSpPr txBox="1"/>
          <p:nvPr/>
        </p:nvSpPr>
        <p:spPr>
          <a:xfrm>
            <a:off x="274320" y="782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7" name="VSD组间FDR校正后不显著；多变量模型关联不能混作组间差异或因果证据。"/>
          <p:cNvSpPr txBox="1"/>
          <p:nvPr/>
        </p:nvSpPr>
        <p:spPr>
          <a:xfrm>
            <a:off x="274320" y="934719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8" name="2026 刊p675、677–678"/>
          <p:cNvSpPr txBox="1"/>
          <p:nvPr/>
        </p:nvSpPr>
        <p:spPr>
          <a:xfrm>
            <a:off x="274320" y="1254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1130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模型性能"/>
          <p:cNvSpPr txBox="1"/>
          <p:nvPr/>
        </p:nvSpPr>
        <p:spPr>
          <a:xfrm>
            <a:off x="274320" y="1549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11" name="测试集21人：10/6/5；AUC 0.72~0.87。事后5折验证更保守，小样本性能可能高估。"/>
          <p:cNvSpPr txBox="1"/>
          <p:nvPr/>
        </p:nvSpPr>
        <p:spPr>
          <a:xfrm>
            <a:off x="274320" y="1701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12" name="2026 刊p673、675–676、679"/>
          <p:cNvSpPr txBox="1"/>
          <p:nvPr/>
        </p:nvSpPr>
        <p:spPr>
          <a:xfrm>
            <a:off x="274320" y="2021839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7838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临床边界"/>
          <p:cNvSpPr txBox="1"/>
          <p:nvPr/>
        </p:nvSpPr>
        <p:spPr>
          <a:xfrm>
            <a:off x="274320" y="2316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1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2468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16" name="2026 刊p673、679"/>
          <p:cNvSpPr txBox="1"/>
          <p:nvPr/>
        </p:nvSpPr>
        <p:spPr>
          <a:xfrm>
            <a:off x="274320" y="2788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45460"/>
            <a:ext cx="3434560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7E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下一步与局限"/>
          <p:cNvSpPr txBox="1"/>
          <p:nvPr/>
        </p:nvSpPr>
        <p:spPr>
          <a:xfrm>
            <a:off x="274320" y="3083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19" name="用于研究解读及神经评估衔接；MCI病因混合、性别差异及残余混杂，待外部/纵向验证。"/>
          <p:cNvSpPr txBox="1"/>
          <p:nvPr/>
        </p:nvSpPr>
        <p:spPr>
          <a:xfrm>
            <a:off x="274320" y="3235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20" name="2026 刊p674、679"/>
          <p:cNvSpPr txBox="1"/>
          <p:nvPr/>
        </p:nvSpPr>
        <p:spPr>
          <a:xfrm>
            <a:off x="274320" y="3556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70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 A6 bw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