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octa-01 研究设计：103名受试者的横断面分析：正常认知49、MCI 29、AD痴呆25。不是预测未来发病的纵向研究。</a:t>
            </a:r>
          </a:p>
          <a:p>
            <a:r>
              <a:t>来源：2026 刊p673 / PDF1；类别：研究设计；推荐等级：原文未明确。</a:t>
            </a:r>
          </a:p>
          <a:p>
            <a:r>
              <a:t>原文锚点：irment(MCI),andADdementia.DESIGN,SETTING,ANDPARTICIPANTSThiscross-sectionalstudyenrolled103individualsreferredfromtheUniversityofWashingtonAlzheimer’sDiseaseResearchCenter(ADRC)betweenApril2022andSeptember2024.Participantsincluded49cognitivelynormalcontrols,29</a:t>
            </a:r>
          </a:p>
          <a:p/>
          <a:p>
            <a:r>
              <a:t>octa-02 人群来源：华盛顿大学ADRC转诊，2022年4月至2024年9月入组；平均年龄74.8岁。排除非AD痴呆和不合格眼部影像。</a:t>
            </a:r>
          </a:p>
          <a:p>
            <a:r>
              <a:t>来源：2026 刊p673–675 / PDF1–3；类别：适用人群；推荐等级：原文未明确。</a:t>
            </a:r>
          </a:p>
          <a:p>
            <a:r>
              <a:t>原文锚点：SIGN,SETTING,ANDPARTICIPANTSThiscross-sectionalstudyenrolled103individualsreferredfromtheUniversityofWashingtonAlzheimer’sDiseaseResearchCenter(ADRC)betweenApril2022andSeptember2024.Participantsincluded49cognitivelynormalcontrols,29withMCI,and25withADdementiap</a:t>
            </a:r>
          </a:p>
          <a:p/>
          <a:p>
            <a:r>
              <a:t>octa-03 认知参照标准：AD痴呆和MCI由ADRC研究评估，并采用NIA-AA标准；眼部影像不是认知诊断的独立参照标准。</a:t>
            </a:r>
          </a:p>
          <a:p>
            <a:r>
              <a:t>来源：2026 刊p674 / PDF2；类别：诊断；推荐等级：原文未明确。</a:t>
            </a:r>
          </a:p>
          <a:p>
            <a:r>
              <a:t>原文锚点：ishedHowever,despitegrowinginterest,retinalandchoroidalusingNationalInstituteonAging–Alzheimer’sAssociationbiomarkersforADandmildcognitiveimpairment(MCI)re-criteria.6,12,13Participantswithnon-ADdementiaorinad-maininconsistentacrossstudies.Someinvestigationshav</a:t>
            </a:r>
          </a:p>
          <a:p/>
          <a:p>
            <a:r>
              <a:t>octa-04 OCTA采集：PLEX Elite 9000扫频OCTA；黄斑中心6 mm × 6 mm扫描。具体质量排除细则见补充材料，当前上传文件未附补充全文。</a:t>
            </a:r>
          </a:p>
          <a:p>
            <a:r>
              <a:t>来源：2026 刊p674 / PDF2；类别：检查；推荐等级：原文未明确。</a:t>
            </a:r>
          </a:p>
          <a:p>
            <a:r>
              <a:t>原文锚点：ieshighlightsubstantialgapsinourunder-9000,CarlZeissMeditec;6×6-mmfovea-centeredproto-standingofocularstructuralandperfusionchangesassoci-col),withenfaceimagesgeneratedusingopticalmicroangiog-atedwithcognitiveimpairment.raphyalgorithm.50,51Tenretinal,choriocap</a:t>
            </a:r>
          </a:p>
          <a:p/>
          <a:p>
            <a:r>
              <a:t>octa-06 GCC组间结果：调整均值：AD痴呆63.31 μm，正常67.93 μm；差−4.62 μm，95%CI −8.92至−0.31 μm，P=.03。是组均值，不是个体切点。</a:t>
            </a:r>
          </a:p>
          <a:p>
            <a:r>
              <a:t>来源：2026 刊p673、675 / PDF1、3；类别：研究发现；推荐等级：原文未明确。</a:t>
            </a:r>
          </a:p>
          <a:p>
            <a:r>
              <a:t>原文锚点：eand53male[51.5%]),theadjustedmeanGCCwasthinnerinADdementia(63.31μm)vscontrols(67.93μm)(difference,−4.62μm;95%CI,−8.92to−0.31μm;P=.03).AdjustedmeanCCFDwaslowerinMCI(8.12%)thanADdementia(9.07%)(difference,−0.95%;95%CI,−1.71to−0.19;P=.01)buthigherinADdementiatha</a:t>
            </a:r>
          </a:p>
          <a:p/>
          <a:p>
            <a:r>
              <a:t>octa-07 CCFD双相结果：调整均值：MCI 8.12%，AD痴呆9.07%，正常8.33%；MCI与痴呆差−0.95%，P=.01；痴呆与正常差0.74%，P=.04。</a:t>
            </a:r>
          </a:p>
          <a:p>
            <a:r>
              <a:t>来源：2026 刊p673、675、678 / PDF1、3、6；类别：研究发现；推荐等级：原文未明确。</a:t>
            </a:r>
          </a:p>
          <a:p>
            <a:r>
              <a:t>原文锚点：m;95%CI,−8.92to−0.31μm;P=.03).AdjustedmeanCCFDwaslowerinMCI(8.12%)thanADdementia(9.07%)(difference,−0.95%;95%CI,−1.71to−0.19;P=.01)buthigherinADdementiathancontrols(8.33%)(difference,0.74%;95%CI,0.02-1.46;P=.04).Inmultivariablemodels,VSD(MCI:oddsratio[OR],0.79</a:t>
            </a:r>
          </a:p>
          <a:p/>
          <a:p>
            <a:r>
              <a:t>octa-08 不能混写的显著性：VSD、VAD、flux虽呈下降趋势，但组间ANCOVA在FDR校正后未达显著；VSD在多变量模型中存在关联。两类统计结果须分开。</a:t>
            </a:r>
          </a:p>
          <a:p>
            <a:r>
              <a:t>来源：2026 刊p675、677–678 / PDF3、5–6；类别：研究发现；推荐等级：原文未明确。</a:t>
            </a:r>
          </a:p>
          <a:p>
            <a:r>
              <a:t>原文锚点：lldisplayeddecreasingtrendsfromcontrolsResultstodementia,butnodifferencesweredetectedafterFDRcor-DemographicInformationrection.TheFAZareaalsoshowednodifference(Figure2D).Of106participantsinitiallyenrolled,103wereincludedinthefinalanalysisafterexcluding3non-ADd</a:t>
            </a:r>
          </a:p>
          <a:p/>
          <a:p>
            <a:r>
              <a:t>octa-09 模型验证范围：80/20训练测试拆分；测试集仅21人（正常10、MCI 6、AD痴呆5）。AUC 0.72~0.87为这一小测试集内的区分能力。</a:t>
            </a:r>
          </a:p>
          <a:p>
            <a:r>
              <a:t>来源：2026 刊p673、675–676、679 / PDF1、3–4、7；类别：研究发现；推荐等级：原文未明确。</a:t>
            </a:r>
          </a:p>
          <a:p>
            <a:r>
              <a:t>原文锚点：edwithcognitivestatus,withanareaunderthecurveof0.72to0.87ina21-participanttestset(10controls,6MCI,5ADdementia).CONCLUSIONSANDRELEVANCEInarelativelysmallcohortstudy,OCTArevealeddistinctmicrovascularsignaturesacrosscognitivestages.VSDdecreased,andCCFDshowedabiph</a:t>
            </a:r>
          </a:p>
          <a:p/>
          <a:p>
            <a:r>
              <a:t>octa-10 AUC不能作诊断阈值：研究设计及统计效能不足以建立临床可操作阈值；没有用于个体诊断的GCC/CCFD/VSD切点、预测时限或用药方案。</a:t>
            </a:r>
          </a:p>
          <a:p>
            <a:r>
              <a:t>来源：2026 刊p679 / PDF7；类别：原文未明确；推荐等级：原文未明确。</a:t>
            </a:r>
          </a:p>
          <a:p>
            <a:r>
              <a:t>原文锚点：etherthesealterationsprecede,accompany,orfol-eredtoestablishclinicallyactionablethresholdsorgeneralizelowcognitivedecline.Third,notallparticipantswithMCIhadtothebroaderdementiapopulation,andallfindingsshouldbiomarker-confirmedADpathology,andtheMCIgroupthere-be</a:t>
            </a:r>
          </a:p>
          <a:p/>
          <a:p>
            <a:r>
              <a:t>octa-11 模型不稳定：作者指出小测试集的AUC可能被高估；事后5折交叉验证结果更保守，需要更大样本外部与纵向验证。</a:t>
            </a:r>
          </a:p>
          <a:p>
            <a:r>
              <a:t>来源：2026 刊p679 / PDF7；类别：研究局限；推荐等级：原文未明确。</a:t>
            </a:r>
          </a:p>
          <a:p>
            <a:r>
              <a:t>原文锚点：weprovidedacomprehensiveassessmentofboth80/20splitwerelikelyinflatedduetothesmalltestsetsize.structuralandperfusionOCTAbiomarkersacrosstheretina,AlthoughtheOCTA-inclusivemodelconsistentlyoutper-choroid,andchoriocapillarisinrelationtocognitivestatus.VSDformedth</a:t>
            </a:r>
          </a:p>
          <a:p/>
          <a:p>
            <a:r>
              <a:t>octa-13 临床解读边界：OCTA可能是辅助筛查与神经评估衔接的研究方向；不能凭组均值给个体贴AD标签，也不能单独据此启动治疗。</a:t>
            </a:r>
          </a:p>
          <a:p>
            <a:r>
              <a:t>来源：2026 刊p674、679 / PDF2、7；类别：研究解读；推荐等级：原文未明确。</a:t>
            </a:r>
          </a:p>
          <a:p>
            <a:r>
              <a:t>原文锚点：onanceimaging(MRI),andcognitiveimpairmentandguidereferralforneurologicalcerebrospinalfluid(CSF)biomarkeranalysis,areestablishedevaluation.diagnostictoolsforclinicalADdementiawithintheAmyloid/Tau/Neurodegenerationframework,5-13withsensitivityandspecificityhighe</a:t>
            </a:r>
          </a:p>
          <a:p/>
          <a:p>
            <a:r>
              <a:t>octa-14 未提供的临床项目：统一筛查适用年龄、转诊数值切点、复查频率、风险评分、治疗/禁忌与正式推荐等级：原文未明确。</a:t>
            </a:r>
          </a:p>
          <a:p>
            <a:r>
              <a:t>来源：2026 刊p673、679 / PDF1、7；类别：原文未明确；推荐等级：原文未明确。</a:t>
            </a:r>
          </a:p>
          <a:p>
            <a:r>
              <a:t>原文锚点：marker-confirmedADpathology,andtheMCIgroupthere-beconsideredpreliminary.Validationinlargerandlongitudi-forerepresentsamixedetiologypopulationthatmaycon-nalstudieswillbeessentialtodeterminetheirprognosticvaluefoundthebiphasicCCFDpattern.Futurestudieswithlargera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8382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一页流程｜OCTA与阿尔茨海默病：研究解读"/>
          <p:cNvSpPr txBox="1"/>
          <p:nvPr/>
        </p:nvSpPr>
        <p:spPr>
          <a:xfrm>
            <a:off x="368300" y="203200"/>
            <a:ext cx="9955400" cy="4257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852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一页流程</a:t>
            </a:r>
            <a:r>
              <a:rPr sz="2300" b="1" lang="zh-CN">
                <a:solidFill>
                  <a:srgbClr val="FFFFFF"/>
                </a:solidFill>
                <a:latin typeface="Arial"/>
                <a:ea typeface="Arial"/>
                <a:cs typeface="Arial"/>
              </a:rPr>
              <a:t>｜</a:t>
            </a:r>
            <a:r>
              <a:rPr sz="23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OCTA与阿尔茨海默病：研究解读</a:t>
            </a:r>
          </a:p>
        </p:txBody>
      </p:sp>
      <p:sp>
        <p:nvSpPr>
          <p:cNvPr id="4" name="研究解读路径 · 不等同指南推荐 · 2026"/>
          <p:cNvSpPr txBox="1"/>
          <p:nvPr/>
        </p:nvSpPr>
        <p:spPr>
          <a:xfrm>
            <a:off x="368300" y="965200"/>
            <a:ext cx="9955400" cy="2367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研究解读路径 · 不等同指南推荐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8300" y="1384300"/>
            <a:ext cx="4787200" cy="1762233"/>
          </a:xfrm>
          <a:prstGeom prst="rect">
            <a:avLst/>
          </a:prstGeom>
          <a:solidFill>
            <a:srgbClr val="EDF4FB"/>
          </a:solidFill>
          <a:ln w="7620">
            <a:solidFill>
              <a:srgbClr val="24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1  明确用途"/>
          <p:cNvSpPr txBox="1"/>
          <p:nvPr/>
        </p:nvSpPr>
        <p:spPr>
          <a:xfrm>
            <a:off x="520700" y="1473200"/>
            <a:ext cx="44824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1  明确用途</a:t>
            </a:r>
          </a:p>
        </p:txBody>
      </p:sp>
      <p:sp>
        <p:nvSpPr>
          <p:cNvPr id="7" name="仅为研究解读？是 → 继续；拟以OCTA单独确诊/预测个体AD → 本文证据不支持。"/>
          <p:cNvSpPr txBox="1"/>
          <p:nvPr/>
        </p:nvSpPr>
        <p:spPr>
          <a:xfrm>
            <a:off x="520700" y="1778000"/>
            <a:ext cx="4482400" cy="477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仅为研究解读？是 → 继续；拟以OCTA单独确诊/预测个</a:t>
            </a:r>
          </a:p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体AD → 本文证据不支持。</a:t>
            </a:r>
          </a:p>
        </p:txBody>
      </p:sp>
      <p:sp>
        <p:nvSpPr>
          <p:cNvPr id="8" name="2026 刊p673、679 / PDF1、7"/>
          <p:cNvSpPr txBox="1"/>
          <p:nvPr/>
        </p:nvSpPr>
        <p:spPr>
          <a:xfrm>
            <a:off x="520700" y="2930633"/>
            <a:ext cx="44824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刊p673、679 / PDF1、7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180900" y="2265416"/>
            <a:ext cx="330200" cy="0"/>
          </a:xfrm>
          <a:prstGeom prst="line">
            <a:avLst/>
          </a:prstGeom>
          <a:ln w="1778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536500" y="1384300"/>
            <a:ext cx="4787200" cy="1762233"/>
          </a:xfrm>
          <a:prstGeom prst="rect">
            <a:avLst/>
          </a:prstGeom>
          <a:solidFill>
            <a:srgbClr val="EBF7F5"/>
          </a:solidFill>
          <a:ln w="7620">
            <a:solidFill>
              <a:srgbClr val="147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2  核对人群与设备"/>
          <p:cNvSpPr txBox="1"/>
          <p:nvPr/>
        </p:nvSpPr>
        <p:spPr>
          <a:xfrm>
            <a:off x="5688900" y="1473200"/>
            <a:ext cx="44824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zh-CN">
                <a:solidFill>
                  <a:srgbClr val="14746F"/>
                </a:solidFill>
                <a:latin typeface="Microsoft YaHei"/>
                <a:ea typeface="Microsoft YaHei"/>
                <a:cs typeface="Microsoft YaHei"/>
              </a:rPr>
              <a:t>2  核对人群与设备</a:t>
            </a:r>
          </a:p>
        </p:txBody>
      </p:sp>
      <p:sp>
        <p:nvSpPr>
          <p:cNvPr id="12" name="ADRC老年研究人群、SS-OCTA 6 mm × 6 mm；超出该场景 → 外推有效性未明确。"/>
          <p:cNvSpPr txBox="1"/>
          <p:nvPr/>
        </p:nvSpPr>
        <p:spPr>
          <a:xfrm>
            <a:off x="5688900" y="1778000"/>
            <a:ext cx="4482400" cy="477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ADRC老年研究人群、SS-OCTA 6 mm × 6 mm；超出</a:t>
            </a:r>
          </a:p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该场景 → 外推有效性未明确。</a:t>
            </a:r>
          </a:p>
        </p:txBody>
      </p:sp>
      <p:sp>
        <p:nvSpPr>
          <p:cNvPr id="13" name="2026 刊p673–675 / PDF1–3"/>
          <p:cNvSpPr txBox="1"/>
          <p:nvPr/>
        </p:nvSpPr>
        <p:spPr>
          <a:xfrm>
            <a:off x="5688900" y="2930633"/>
            <a:ext cx="44824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刊p673–675 / PDF1–3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30100" y="3171933"/>
            <a:ext cx="0" cy="190500"/>
          </a:xfrm>
          <a:prstGeom prst="line">
            <a:avLst/>
          </a:prstGeom>
          <a:ln w="1778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536500" y="3387833"/>
            <a:ext cx="4787200" cy="1762233"/>
          </a:xfrm>
          <a:prstGeom prst="rect">
            <a:avLst/>
          </a:prstGeom>
          <a:solidFill>
            <a:srgbClr val="FFF4E8"/>
          </a:solidFill>
          <a:ln w="7620">
            <a:solidFill>
              <a:srgbClr val="A95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3  分开读取指标"/>
          <p:cNvSpPr txBox="1"/>
          <p:nvPr/>
        </p:nvSpPr>
        <p:spPr>
          <a:xfrm>
            <a:off x="5688900" y="3476733"/>
            <a:ext cx="44824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3  分开读取指标</a:t>
            </a:r>
          </a:p>
        </p:txBody>
      </p:sp>
      <p:sp>
        <p:nvSpPr>
          <p:cNvPr id="17" name="GCC/CCFD组均值与多变量关联分别记录；数值不得当个体切点。"/>
          <p:cNvSpPr txBox="1"/>
          <p:nvPr/>
        </p:nvSpPr>
        <p:spPr>
          <a:xfrm>
            <a:off x="5688900" y="3781533"/>
            <a:ext cx="4482400" cy="477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GCC/CCFD组均值与多变量关联分别记录；数值不得当</a:t>
            </a:r>
          </a:p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个体切点。</a:t>
            </a:r>
          </a:p>
        </p:txBody>
      </p:sp>
      <p:sp>
        <p:nvSpPr>
          <p:cNvPr id="18" name="2026 刊p673、675、677–678 / PDF1、3、5–6"/>
          <p:cNvSpPr txBox="1"/>
          <p:nvPr/>
        </p:nvSpPr>
        <p:spPr>
          <a:xfrm>
            <a:off x="5688900" y="4934166"/>
            <a:ext cx="44824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刊p673、675、677–678 / PDF1、3、5–6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5180900" y="4268950"/>
            <a:ext cx="330200" cy="0"/>
          </a:xfrm>
          <a:prstGeom prst="line">
            <a:avLst/>
          </a:prstGeom>
          <a:ln w="1778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68300" y="3387833"/>
            <a:ext cx="4787200" cy="1762233"/>
          </a:xfrm>
          <a:prstGeom prst="rect">
            <a:avLst/>
          </a:prstGeom>
          <a:solidFill>
            <a:srgbClr val="F3EFF8"/>
          </a:solidFill>
          <a:ln w="7620">
            <a:solidFill>
              <a:srgbClr val="6952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4  检查验证规模"/>
          <p:cNvSpPr txBox="1"/>
          <p:nvPr/>
        </p:nvSpPr>
        <p:spPr>
          <a:xfrm>
            <a:off x="520700" y="3476733"/>
            <a:ext cx="44824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zh-CN">
                <a:solidFill>
                  <a:srgbClr val="695292"/>
                </a:solidFill>
                <a:latin typeface="Microsoft YaHei"/>
                <a:ea typeface="Microsoft YaHei"/>
                <a:cs typeface="Microsoft YaHei"/>
              </a:rPr>
              <a:t>4  检查验证规模</a:t>
            </a:r>
          </a:p>
        </p:txBody>
      </p:sp>
      <p:sp>
        <p:nvSpPr>
          <p:cNvPr id="22" name="AUC来自21人测试集，可能高估；补充/外部验证不足 → 保持研究结论。"/>
          <p:cNvSpPr txBox="1"/>
          <p:nvPr/>
        </p:nvSpPr>
        <p:spPr>
          <a:xfrm>
            <a:off x="520700" y="3781533"/>
            <a:ext cx="4482400" cy="477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AUC来自21人测试集，可能高估；补充/外部验证不足</a:t>
            </a:r>
          </a:p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→ 保持研究结论。</a:t>
            </a:r>
          </a:p>
        </p:txBody>
      </p:sp>
      <p:sp>
        <p:nvSpPr>
          <p:cNvPr id="23" name="2026 刊p673、675–676、679 / PDF1、3–4、7"/>
          <p:cNvSpPr txBox="1"/>
          <p:nvPr/>
        </p:nvSpPr>
        <p:spPr>
          <a:xfrm>
            <a:off x="520700" y="4934166"/>
            <a:ext cx="44824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刊p673、675–676、679 / PDF1、3–4、7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61900" y="5175466"/>
            <a:ext cx="0" cy="190500"/>
          </a:xfrm>
          <a:prstGeom prst="line">
            <a:avLst/>
          </a:prstGeom>
          <a:ln w="1778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68300" y="5391366"/>
            <a:ext cx="4787200" cy="1762233"/>
          </a:xfrm>
          <a:prstGeom prst="rect">
            <a:avLst/>
          </a:prstGeom>
          <a:solidFill>
            <a:srgbClr val="FCEFF0"/>
          </a:solidFill>
          <a:ln w="7620">
            <a:solidFill>
              <a:srgbClr val="A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5  认知评估衔接"/>
          <p:cNvSpPr txBox="1"/>
          <p:nvPr/>
        </p:nvSpPr>
        <p:spPr>
          <a:xfrm>
            <a:off x="520700" y="5480266"/>
            <a:ext cx="44824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5  认知评估衔接</a:t>
            </a:r>
          </a:p>
        </p:txBody>
      </p:sp>
      <p:sp>
        <p:nvSpPr>
          <p:cNvPr id="27" name="认知诊断依原有ADRC/NIA-AA评估；OCTA为候选辅助方向，具体转诊阈值未明确。"/>
          <p:cNvSpPr txBox="1"/>
          <p:nvPr/>
        </p:nvSpPr>
        <p:spPr>
          <a:xfrm>
            <a:off x="520700" y="5785066"/>
            <a:ext cx="4482400" cy="477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认知诊断依原有ADRC/NIA-AA评估；OCTA为候选辅助</a:t>
            </a:r>
          </a:p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方向，具体转诊阈值未明确。</a:t>
            </a:r>
          </a:p>
        </p:txBody>
      </p:sp>
      <p:sp>
        <p:nvSpPr>
          <p:cNvPr id="28" name="2026 刊p673–674、679 / PDF1–2、7"/>
          <p:cNvSpPr txBox="1"/>
          <p:nvPr/>
        </p:nvSpPr>
        <p:spPr>
          <a:xfrm>
            <a:off x="520700" y="6937700"/>
            <a:ext cx="44824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刊p673–674、679 / PDF1–2、7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180900" y="6272483"/>
            <a:ext cx="330200" cy="0"/>
          </a:xfrm>
          <a:prstGeom prst="line">
            <a:avLst/>
          </a:prstGeom>
          <a:ln w="1778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536500" y="5391366"/>
            <a:ext cx="4787200" cy="1762233"/>
          </a:xfrm>
          <a:prstGeom prst="rect">
            <a:avLst/>
          </a:prstGeom>
          <a:solidFill>
            <a:srgbClr val="F3EFF8"/>
          </a:solidFill>
          <a:ln w="7620">
            <a:solidFill>
              <a:srgbClr val="6952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6  随访与治疗"/>
          <p:cNvSpPr txBox="1"/>
          <p:nvPr/>
        </p:nvSpPr>
        <p:spPr>
          <a:xfrm>
            <a:off x="5688900" y="5480266"/>
            <a:ext cx="44824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zh-CN">
                <a:solidFill>
                  <a:srgbClr val="695292"/>
                </a:solidFill>
                <a:latin typeface="Microsoft YaHei"/>
                <a:ea typeface="Microsoft YaHei"/>
                <a:cs typeface="Microsoft YaHei"/>
              </a:rPr>
              <a:t>6  随访与治疗</a:t>
            </a:r>
          </a:p>
        </p:txBody>
      </p:sp>
      <p:sp>
        <p:nvSpPr>
          <p:cNvPr id="32" name="预测时限、OCTA复查间隔及治疗方案未明确；不从本文补编临床处方。"/>
          <p:cNvSpPr txBox="1"/>
          <p:nvPr/>
        </p:nvSpPr>
        <p:spPr>
          <a:xfrm>
            <a:off x="5688900" y="5785066"/>
            <a:ext cx="4482400" cy="477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预测时限、OCTA复查间隔及治疗方案未明确；不从本</a:t>
            </a:r>
          </a:p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文补编临床处方。</a:t>
            </a:r>
          </a:p>
        </p:txBody>
      </p:sp>
      <p:sp>
        <p:nvSpPr>
          <p:cNvPr id="33" name="2026 刊p673、679 / PDF1、7"/>
          <p:cNvSpPr txBox="1"/>
          <p:nvPr/>
        </p:nvSpPr>
        <p:spPr>
          <a:xfrm>
            <a:off x="5688900" y="6937700"/>
            <a:ext cx="44824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刊p673、679 / PDF1、7</a:t>
            </a:r>
          </a:p>
        </p:txBody>
      </p:sp>
      <p:sp>
        <p:nvSpPr>
          <p:cNvPr id="34" name="流程为整理表达；原文未明确的切点、剂量或等级不补编。完整证据与特殊分支见提取表。"/>
          <p:cNvSpPr txBox="1"/>
          <p:nvPr/>
        </p:nvSpPr>
        <p:spPr>
          <a:xfrm>
            <a:off x="368300" y="7306000"/>
            <a:ext cx="9955400" cy="2020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91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流程为整理表达；原文未明确的切点、剂量或等级不补编。完整证据与特殊分支见提取表。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OCTA与阿尔茨海默病：研究解读 一页流程</dc:title>
  <dc:subject>上传文献原文摘录；原生可编辑文字和图形</dc:subject>
  <dc:creator>眼科临床速查资料整理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