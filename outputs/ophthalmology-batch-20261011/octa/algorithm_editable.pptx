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octa-02 人群来源：华盛顿大学ADRC转诊，2022年4月至2024年9月入组；平均年龄74.8岁。排除非AD痴呆和不合格眼部影像。</a:t>
            </a:r>
          </a:p>
          <a:p>
            <a:r>
              <a:t>来源：2026 刊p673–675 / PDF1–3；类别：适用人群；推荐等级：原文未明确。</a:t>
            </a:r>
          </a:p>
          <a:p>
            <a:r>
              <a:t>原文锚点：SIGN,SETTING,ANDPARTICIPANTSThiscross-sectionalstudyenrolled103individualsreferredfromtheUniversityofWashingtonAlzheimer’sDiseaseResearchCenter(ADRC)betweenApril2022andSeptember2024.Participantsincluded49cognitivelynormalcontrols,29withMCI,and25withADdementiap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  <a:p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  <a:p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  <a:p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8382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一页流程｜OCTA与阿尔茨海默病：研究解读"/>
          <p:cNvSpPr txBox="1"/>
          <p:nvPr/>
        </p:nvSpPr>
        <p:spPr>
          <a:xfrm>
            <a:off x="368300" y="203200"/>
            <a:ext cx="9955400" cy="4257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852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一页流程</a:t>
            </a:r>
            <a:r>
              <a:rPr sz="2300" b="1" lang="zh-CN">
                <a:solidFill>
                  <a:srgbClr val="FFFFFF"/>
                </a:solidFill>
                <a:latin typeface="Arial"/>
                <a:ea typeface="Arial"/>
                <a:cs typeface="Arial"/>
              </a:rPr>
              <a:t>｜</a:t>
            </a:r>
            <a:r>
              <a:rPr sz="23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研究解读路径 · 不等同指南推荐 · 2026"/>
          <p:cNvSpPr txBox="1"/>
          <p:nvPr/>
        </p:nvSpPr>
        <p:spPr>
          <a:xfrm>
            <a:off x="368300" y="965200"/>
            <a:ext cx="99554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研究解读路径 · 不等同指南推荐 ·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8300" y="1384300"/>
            <a:ext cx="4787200" cy="1762233"/>
          </a:xfrm>
          <a:prstGeom prst="rect">
            <a:avLst/>
          </a:prstGeom>
          <a:solidFill>
            <a:srgbClr val="EDF4FB"/>
          </a:solidFill>
          <a:ln w="7620">
            <a:solidFill>
              <a:srgbClr val="24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1  明确用途"/>
          <p:cNvSpPr txBox="1"/>
          <p:nvPr/>
        </p:nvSpPr>
        <p:spPr>
          <a:xfrm>
            <a:off x="520700" y="1473200"/>
            <a:ext cx="448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1  明确用途</a:t>
            </a:r>
          </a:p>
        </p:txBody>
      </p:sp>
      <p:sp>
        <p:nvSpPr>
          <p:cNvPr id="7" name="仅为研究解读？是 → 继续；拟以OCTA单独确诊/预测个体AD → 本文证据不支持。"/>
          <p:cNvSpPr txBox="1"/>
          <p:nvPr/>
        </p:nvSpPr>
        <p:spPr>
          <a:xfrm>
            <a:off x="520700" y="1778000"/>
            <a:ext cx="448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仅为研究解读？是 → 继续；拟以OCTA单独确诊/预测个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体AD → 本文证据不支持。</a:t>
            </a:r>
          </a:p>
        </p:txBody>
      </p:sp>
      <p:sp>
        <p:nvSpPr>
          <p:cNvPr id="8" name="2026 刊p673、679 / PDF1、7"/>
          <p:cNvSpPr txBox="1"/>
          <p:nvPr/>
        </p:nvSpPr>
        <p:spPr>
          <a:xfrm>
            <a:off x="520700" y="2930633"/>
            <a:ext cx="448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 / PDF1、7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80900" y="2265416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536500" y="1384300"/>
            <a:ext cx="4787200" cy="1762233"/>
          </a:xfrm>
          <a:prstGeom prst="rect">
            <a:avLst/>
          </a:prstGeom>
          <a:solidFill>
            <a:srgbClr val="EBF7F5"/>
          </a:solidFill>
          <a:ln w="7620">
            <a:solidFill>
              <a:srgbClr val="1474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2  核对人群与设备"/>
          <p:cNvSpPr txBox="1"/>
          <p:nvPr/>
        </p:nvSpPr>
        <p:spPr>
          <a:xfrm>
            <a:off x="5688900" y="1473200"/>
            <a:ext cx="448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2  核对人群与设备</a:t>
            </a:r>
          </a:p>
        </p:txBody>
      </p:sp>
      <p:sp>
        <p:nvSpPr>
          <p:cNvPr id="12" name="ADRC老年研究人群、SS-OCTA 6×6-mm；超出该场景 → 外推有效性未明确。"/>
          <p:cNvSpPr txBox="1"/>
          <p:nvPr/>
        </p:nvSpPr>
        <p:spPr>
          <a:xfrm>
            <a:off x="5688900" y="1778000"/>
            <a:ext cx="448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ADRC老年研究人群、SS-OCTA 6×6-mm；超出该场景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→ 外推有效性未明确。</a:t>
            </a:r>
          </a:p>
        </p:txBody>
      </p:sp>
      <p:sp>
        <p:nvSpPr>
          <p:cNvPr id="13" name="2026 刊p673–675 / PDF1–3"/>
          <p:cNvSpPr txBox="1"/>
          <p:nvPr/>
        </p:nvSpPr>
        <p:spPr>
          <a:xfrm>
            <a:off x="5688900" y="2930633"/>
            <a:ext cx="448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刊p673–675 / PDF1–3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30100" y="3171933"/>
            <a:ext cx="0" cy="19050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536500" y="3387833"/>
            <a:ext cx="4787200" cy="1762233"/>
          </a:xfrm>
          <a:prstGeom prst="rect">
            <a:avLst/>
          </a:prstGeom>
          <a:solidFill>
            <a:srgbClr val="FFF4E8"/>
          </a:solidFill>
          <a:ln w="7620">
            <a:solidFill>
              <a:srgbClr val="A95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3  分开读取指标"/>
          <p:cNvSpPr txBox="1"/>
          <p:nvPr/>
        </p:nvSpPr>
        <p:spPr>
          <a:xfrm>
            <a:off x="5688900" y="3476733"/>
            <a:ext cx="448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3  分开读取指标</a:t>
            </a:r>
          </a:p>
        </p:txBody>
      </p:sp>
      <p:sp>
        <p:nvSpPr>
          <p:cNvPr id="17" name="GCC/CCFD组均值与多变量关联分别记录；数值不得当个体切点。"/>
          <p:cNvSpPr txBox="1"/>
          <p:nvPr/>
        </p:nvSpPr>
        <p:spPr>
          <a:xfrm>
            <a:off x="5688900" y="3781533"/>
            <a:ext cx="448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GCC/CCFD组均值与多变量关联分别记录；数值不得当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个体切点。</a:t>
            </a:r>
          </a:p>
        </p:txBody>
      </p:sp>
      <p:sp>
        <p:nvSpPr>
          <p:cNvPr id="18" name="2026 刊p673、675、677–678 / PDF1、3、5–6"/>
          <p:cNvSpPr txBox="1"/>
          <p:nvPr/>
        </p:nvSpPr>
        <p:spPr>
          <a:xfrm>
            <a:off x="5688900" y="4934166"/>
            <a:ext cx="448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刊p673、675、677–678 / PDF1、3、5–6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180900" y="4268950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68300" y="3387833"/>
            <a:ext cx="4787200" cy="1762233"/>
          </a:xfrm>
          <a:prstGeom prst="rect">
            <a:avLst/>
          </a:prstGeom>
          <a:solidFill>
            <a:srgbClr val="F3EFF8"/>
          </a:solidFill>
          <a:ln w="7620">
            <a:solidFill>
              <a:srgbClr val="695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4  检查验证规模"/>
          <p:cNvSpPr txBox="1"/>
          <p:nvPr/>
        </p:nvSpPr>
        <p:spPr>
          <a:xfrm>
            <a:off x="520700" y="3476733"/>
            <a:ext cx="448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4  检查验证规模</a:t>
            </a:r>
          </a:p>
        </p:txBody>
      </p:sp>
      <p:sp>
        <p:nvSpPr>
          <p:cNvPr id="22" name="AUC来自21人测试集，可能高估；补充/外部验证不足 → 保持研究结论。"/>
          <p:cNvSpPr txBox="1"/>
          <p:nvPr/>
        </p:nvSpPr>
        <p:spPr>
          <a:xfrm>
            <a:off x="520700" y="3781533"/>
            <a:ext cx="448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AUC来自21人测试集，可能高估；补充/外部验证不足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→ 保持研究结论。</a:t>
            </a:r>
          </a:p>
        </p:txBody>
      </p:sp>
      <p:sp>
        <p:nvSpPr>
          <p:cNvPr id="23" name="2026 刊p673、675–676、679 / PDF1、3–4、7"/>
          <p:cNvSpPr txBox="1"/>
          <p:nvPr/>
        </p:nvSpPr>
        <p:spPr>
          <a:xfrm>
            <a:off x="520700" y="4934166"/>
            <a:ext cx="448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 / PDF1、3–4、7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61900" y="5175466"/>
            <a:ext cx="0" cy="19050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8300" y="5391366"/>
            <a:ext cx="4787200" cy="1762233"/>
          </a:xfrm>
          <a:prstGeom prst="rect">
            <a:avLst/>
          </a:prstGeom>
          <a:solidFill>
            <a:srgbClr val="FCEFF0"/>
          </a:solidFill>
          <a:ln w="7620">
            <a:solidFill>
              <a:srgbClr val="A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5  认知评估衔接"/>
          <p:cNvSpPr txBox="1"/>
          <p:nvPr/>
        </p:nvSpPr>
        <p:spPr>
          <a:xfrm>
            <a:off x="520700" y="5480266"/>
            <a:ext cx="448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5  认知评估衔接</a:t>
            </a:r>
          </a:p>
        </p:txBody>
      </p:sp>
      <p:sp>
        <p:nvSpPr>
          <p:cNvPr id="27" name="认知诊断依原有ADRC/NIA-AA评估；OCTA为候选辅助方向，具体转诊阈值未明确。"/>
          <p:cNvSpPr txBox="1"/>
          <p:nvPr/>
        </p:nvSpPr>
        <p:spPr>
          <a:xfrm>
            <a:off x="520700" y="5785066"/>
            <a:ext cx="448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认知诊断依原有ADRC/NIA-AA评估；OCTA为候选辅助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方向，具体转诊阈值未明确。</a:t>
            </a:r>
          </a:p>
        </p:txBody>
      </p:sp>
      <p:sp>
        <p:nvSpPr>
          <p:cNvPr id="28" name="2026 刊p673–674、679 / PDF1–2、7"/>
          <p:cNvSpPr txBox="1"/>
          <p:nvPr/>
        </p:nvSpPr>
        <p:spPr>
          <a:xfrm>
            <a:off x="520700" y="6937700"/>
            <a:ext cx="448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刊p673–674、679 / PDF1–2、7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80900" y="6272483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36500" y="5391366"/>
            <a:ext cx="4787200" cy="1762233"/>
          </a:xfrm>
          <a:prstGeom prst="rect">
            <a:avLst/>
          </a:prstGeom>
          <a:solidFill>
            <a:srgbClr val="F3EFF8"/>
          </a:solidFill>
          <a:ln w="7620">
            <a:solidFill>
              <a:srgbClr val="695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6  随访与治疗"/>
          <p:cNvSpPr txBox="1"/>
          <p:nvPr/>
        </p:nvSpPr>
        <p:spPr>
          <a:xfrm>
            <a:off x="5688900" y="5480266"/>
            <a:ext cx="448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6  随访与治疗</a:t>
            </a:r>
          </a:p>
        </p:txBody>
      </p:sp>
      <p:sp>
        <p:nvSpPr>
          <p:cNvPr id="32" name="预测时限、OCTA复查间隔及治疗方案未明确；不从本文补编临床处方。"/>
          <p:cNvSpPr txBox="1"/>
          <p:nvPr/>
        </p:nvSpPr>
        <p:spPr>
          <a:xfrm>
            <a:off x="5688900" y="5785066"/>
            <a:ext cx="448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预测时限、OCTA复查间隔及治疗方案未明确；不从本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文补编临床处方。</a:t>
            </a:r>
          </a:p>
        </p:txBody>
      </p:sp>
      <p:sp>
        <p:nvSpPr>
          <p:cNvPr id="33" name="2026 刊p673、679 / PDF1、7"/>
          <p:cNvSpPr txBox="1"/>
          <p:nvPr/>
        </p:nvSpPr>
        <p:spPr>
          <a:xfrm>
            <a:off x="5688900" y="6937700"/>
            <a:ext cx="448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 / PDF1、7</a:t>
            </a:r>
          </a:p>
        </p:txBody>
      </p:sp>
      <p:sp>
        <p:nvSpPr>
          <p:cNvPr id="34" name="流程为整理表达；原文未明确的切点、剂量或等级不补编。完整证据与特殊分支见提取表。"/>
          <p:cNvSpPr txBox="1"/>
          <p:nvPr/>
        </p:nvSpPr>
        <p:spPr>
          <a:xfrm>
            <a:off x="368300" y="7306000"/>
            <a:ext cx="9955400" cy="2020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91"/>
              </a:lnSpc>
              <a:spcBef>
                <a:spcPts val="0"/>
              </a:spcBef>
              <a:spcAft>
                <a:spcPts val="0"/>
              </a:spcAft>
            </a:pPr>
            <a:r>
              <a:rPr sz="88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流程为整理表达；原文未明确的切点、剂量或等级不补编。完整证据与特殊分支见提取表。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OCTA与阿尔茨海默病：研究解读 一页流程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