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octa-01 研究设计：103名受试者的横断面分析：正常认知49、MCI 29、AD痴呆25。不是预测未来发病的纵向研究。</a:t>
            </a:r>
          </a:p>
          <a:p>
            <a:r>
              <a:t>来源：2026 刊p673 / PDF1；类别：研究设计；推荐等级：原文未明确。</a:t>
            </a:r>
          </a:p>
          <a:p>
            <a:r>
              <a:t>原文锚点：irment(MCI),andADdementia.DESIGN,SETTING,ANDPARTICIPANTSThiscross-sectionalstudyenrolled103individualsreferredfromtheUniversityofWashingtonAlzheimer’sDiseaseResearchCenter(ADRC)betweenApril2022andSeptember2024.Participantsincluded49cognitivelynormalcontrols,29</a:t>
            </a:r>
          </a:p>
          <a:p/>
          <a:p>
            <a:r>
              <a:t>octa-02 人群来源：华盛顿大学ADRC转诊，2022年4月至2024年9月入组；平均年龄74.8岁。排除非AD痴呆和不合格眼部影像。</a:t>
            </a:r>
          </a:p>
          <a:p>
            <a:r>
              <a:t>来源：2026 刊p673–675 / PDF1–3；类别：适用人群；推荐等级：原文未明确。</a:t>
            </a:r>
          </a:p>
          <a:p>
            <a:r>
              <a:t>原文锚点：SIGN,SETTING,ANDPARTICIPANTSThiscross-sectionalstudyenrolled103individualsreferredfromtheUniversityofWashingtonAlzheimer’sDiseaseResearchCenter(ADRC)betweenApril2022andSeptember2024.Participantsincluded49cognitivelynormalcontrols,29withMCI,and25withADdementiap</a:t>
            </a:r>
          </a:p>
          <a:p/>
          <a:p>
            <a:r>
              <a:t>octa-03 认知参照标准：AD痴呆和MCI由ADRC研究评估，并采用NIA-AA标准；眼部影像不是认知诊断的独立参照标准。</a:t>
            </a:r>
          </a:p>
          <a:p>
            <a:r>
              <a:t>来源：2026 刊p674 / PDF2；类别：诊断；推荐等级：原文未明确。</a:t>
            </a:r>
          </a:p>
          <a:p>
            <a:r>
              <a:t>原文锚点：ishedHowever,despitegrowinginterest,retinalandchoroidalusingNationalInstituteonAging–Alzheimer’sAssociationbiomarkersforADandmildcognitiveimpairment(MCI)re-criteria.6,12,13Participantswithnon-ADdementiaorinad-maininconsistentacrossstudies.Someinvestigationshav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octa-04 OCTA采集：PLEX Elite 9000扫频OCTA；黄斑中心6×6-mm扫描。具体质量排除细则见补充材料，当前上传文件未附补充全文。</a:t>
            </a:r>
          </a:p>
          <a:p>
            <a:r>
              <a:t>来源：2026 刊p674 / PDF2；类别：检查；推荐等级：原文未明确。</a:t>
            </a:r>
          </a:p>
          <a:p>
            <a:r>
              <a:t>原文锚点：ieshighlightsubstantialgapsinourunder-9000,CarlZeissMeditec;6×6-mmfovea-centeredproto-standingofocularstructuralandperfusionchangesassoci-col),withenfaceimagesgeneratedusingopticalmicroangiog-atedwithcognitiveimpairment.raphyalgorithm.50,51Tenretinal,choriocap</a:t>
            </a:r>
          </a:p>
          <a:p/>
          <a:p>
            <a:r>
              <a:t>octa-05 指标与混杂：提取10项结构/血流指标；分析调整年龄、性别、教育、高血压、糖尿病、吸烟，应用FDR与Tukey多重比较。</a:t>
            </a:r>
          </a:p>
          <a:p>
            <a:r>
              <a:t>来源：2026 刊p674–675 / PDF2–3；类别：检查；推荐等级：原文未明确。</a:t>
            </a:r>
          </a:p>
          <a:p>
            <a:r>
              <a:t>原文锚点：1).Covariate-adjustedmeans,between-groupdiffer-ance(ANCOVA)(covariates:age,sex,education,hyperten-ences,95%CIs,andPvalues(covariates:age,sex,education,sion,diabetes,smokingstatus)withBenjamini-Hochbergfalsehypertension,diabetes,smokingstatus)areprovidedindisco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octa-06 GCC组间结果：调整均值：AD痴呆63.31 μm，正常67.93 μm；差−4.62 μm，95%CI −8.92至−0.31 μm，P=.03。是组均值，不是个体切点。</a:t>
            </a:r>
          </a:p>
          <a:p>
            <a:r>
              <a:t>来源：2026 刊p673、675 / PDF1、3；类别：研究发现；推荐等级：原文未明确。</a:t>
            </a:r>
          </a:p>
          <a:p>
            <a:r>
              <a:t>原文锚点：eand53male[51.5%]),theadjustedmeanGCCwasthinnerinADdementia(63.31μm)vscontrols(67.93μm)(difference,−4.62μm;95%CI,−8.92to−0.31μm;P=.03).AdjustedmeanCCFDwaslowerinMCI(8.12%)thanADdementia(9.07%)(difference,−0.95%;95%CI,−1.71to−0.19;P=.01)buthigherinADdementiatha</a:t>
            </a:r>
          </a:p>
          <a:p/>
          <a:p>
            <a:r>
              <a:t>octa-07 CCFD双相结果：调整均值：MCI 8.12%，AD痴呆9.07%，正常8.33%；MCI与痴呆差−0.95%，P=.01；痴呆与正常差0.74%，P=.04。</a:t>
            </a:r>
          </a:p>
          <a:p>
            <a:r>
              <a:t>来源：2026 刊p673、675、678 / PDF1、3、6；类别：研究发现；推荐等级：原文未明确。</a:t>
            </a:r>
          </a:p>
          <a:p>
            <a:r>
              <a:t>原文锚点：m;95%CI,−8.92to−0.31μm;P=.03).AdjustedmeanCCFDwaslowerinMCI(8.12%)thanADdementia(9.07%)(difference,−0.95%;95%CI,−1.71to−0.19;P=.01)buthigherinADdementiathancontrols(8.33%)(difference,0.74%;95%CI,0.02-1.46;P=.04).Inmultivariablemodels,VSD(MCI:oddsratio[OR],0.79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octa-08 不能混写的显著性：VSD、VAD、flux虽呈下降趋势，但组间ANCOVA在FDR校正后未达显著；VSD在多变量模型中存在关联。两类统计结果须分开。</a:t>
            </a:r>
          </a:p>
          <a:p>
            <a:r>
              <a:t>来源：2026 刊p675、677–678 / PDF3、5–6；类别：研究发现；推荐等级：原文未明确。</a:t>
            </a:r>
          </a:p>
          <a:p>
            <a:r>
              <a:t>原文锚点：lldisplayeddecreasingtrendsfromcontrolsResultstodementia,butnodifferencesweredetectedafterFDRcor-DemographicInformationrection.TheFAZareaalsoshowednodifference(Figure2D).Of106participantsinitiallyenrolled,103wereincludedinthefinalanalysisafterexcluding3non-ADd</a:t>
            </a:r>
          </a:p>
          <a:p/>
          <a:p>
            <a:r>
              <a:t>octa-09 模型验证范围：80/20训练测试拆分；测试集仅21人（正常10、MCI 6、AD痴呆5）。AUC 0.72~0.87为这一小测试集内的区分能力。</a:t>
            </a:r>
          </a:p>
          <a:p>
            <a:r>
              <a:t>来源：2026 刊p673、675–676、679 / PDF1、3–4、7；类别：研究发现；推荐等级：原文未明确。</a:t>
            </a:r>
          </a:p>
          <a:p>
            <a:r>
              <a:t>原文锚点：edwithcognitivestatus,withanareaunderthecurveof0.72to0.87ina21-participanttestset(10controls,6MCI,5ADdementia).CONCLUSIONSANDRELEVANCEInarelativelysmallcohortstudy,OCTArevealeddistinctmicrovascularsignaturesacrosscognitivestages.VSDdecreased,andCCFDshowedabiph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octa-10 AUC不能作诊断阈值：论文未设计或充分赋能来建立临床可操作阈值；没有用于个体诊断的GCC/CCFD/VSD切点、预测时限或用药方案。</a:t>
            </a:r>
          </a:p>
          <a:p>
            <a:r>
              <a:t>来源：2026 刊p679 / PDF7；类别：原文未明确；推荐等级：原文未明确。</a:t>
            </a:r>
          </a:p>
          <a:p>
            <a:r>
              <a:t>原文锚点：etherthesealterationsprecede,accompany,orfol-eredtoestablishclinicallyactionablethresholdsorgeneralizelowcognitivedecline.Third,notallparticipantswithMCIhadtothebroaderdementiapopulation,andallfindingsshouldbiomarker-confirmedADpathology,andtheMCIgroupthere-be</a:t>
            </a:r>
          </a:p>
          <a:p/>
          <a:p>
            <a:r>
              <a:t>octa-13 临床解读边界：OCTA可能是辅助筛查与神经评估衔接的研究方向；不能凭组均值给个体贴AD标签，也不能单独据此启动治疗。</a:t>
            </a:r>
          </a:p>
          <a:p>
            <a:r>
              <a:t>来源：2026 刊p674、679 / PDF2、7；类别：研究解读；推荐等级：原文未明确。</a:t>
            </a:r>
          </a:p>
          <a:p>
            <a:r>
              <a:t>原文锚点：onanceimaging(MRI),andcognitiveimpairmentandguidereferralforneurologicalcerebrospinalfluid(CSF)biomarkeranalysis,areestablishedevaluation.diagnostictoolsforclinicalADdementiawithintheAmyloid/Tau/Neurodegenerationframework,5-13withsensitivityandspecificityhighe</a:t>
            </a:r>
          </a:p>
          <a:p/>
          <a:p>
            <a:r>
              <a:t>octa-14 未提供的临床项目：统一筛查适用年龄、转诊数值切点、复查频率、风险评分、治疗/禁忌与正式推荐等级：原文未明确。</a:t>
            </a:r>
          </a:p>
          <a:p>
            <a:r>
              <a:t>来源：2026 刊p673、679 / PDF1、7；类别：原文未明确；推荐等级：原文未明确。</a:t>
            </a:r>
          </a:p>
          <a:p>
            <a:r>
              <a:t>原文锚点：marker-confirmedADpathology,andtheMCIgroupthere-beconsideredpreliminary.Validationinlargerandlongitudi-forerepresentsamixedetiologypopulationthatmaycon-nalstudieswillbeessentialtodeterminetheirprognosticvaluefoundthebiphasicCCFDpattern.Futurestudieswithlargera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octa-11 模型不稳定：作者指出小测试集的AUC可能被高估；事后5折交叉验证结果更保守，需要更大样本外部与纵向验证。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原文锚点：weprovidedacomprehensiveassessmentofboth80/20splitwerelikelyinflatedduetothesmalltestsetsize.structuralandperfusionOCTAbiomarkersacrosstheretina,AlthoughtheOCTA-inclusivemodelconsistentlyoutper-choroid,andchoriocapillarisinrelationtocognitivestatus.VSDformedth</a:t>
            </a:r>
          </a:p>
          <a:p/>
          <a:p>
            <a:r>
              <a:t>octa-12 局限与外推：MCI未全部用AD生物标志物确证，病因混合；性别分布差异、眼病与系统血管因素可能残余混杂。不能证明因果或变化先后。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原文锚点：lyactionablethresholdsorgeneralizelowcognitivedecline.Third,notallparticipantswithMCIhadtothebroaderdementiapopulation,andallfindingsshouldbiomarker-confirmedADpathology,andtheMCIgroupthere-beconsideredpreliminary.Validationinlargerandlongitudi-forerepresentsa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octa-01 研究设计：103名受试者的横断面分析：正常认知49、MCI 29、AD痴呆25。不是预测未来发病的纵向研究。</a:t>
            </a:r>
          </a:p>
          <a:p>
            <a:r>
              <a:t>来源：2026 刊p673 / PDF1；类别：研究设计；推荐等级：原文未明确。</a:t>
            </a:r>
          </a:p>
          <a:p>
            <a:r>
              <a:t>原文锚点：irment(MCI),andADdementia.DESIGN,SETTING,ANDPARTICIPANTSThiscross-sectionalstudyenrolled103individualsreferredfromtheUniversityofWashingtonAlzheimer’sDiseaseResearchCenter(ADRC)betweenApril2022andSeptember2024.Participantsincluded49cognitivelynormalcontrols,29</a:t>
            </a:r>
          </a:p>
          <a:p/>
          <a:p>
            <a:r>
              <a:t>octa-02 人群来源：华盛顿大学ADRC转诊，2022年4月至2024年9月入组；平均年龄74.8岁。排除非AD痴呆和不合格眼部影像。</a:t>
            </a:r>
          </a:p>
          <a:p>
            <a:r>
              <a:t>来源：2026 刊p673–675 / PDF1–3；类别：适用人群；推荐等级：原文未明确。</a:t>
            </a:r>
          </a:p>
          <a:p>
            <a:r>
              <a:t>原文锚点：SIGN,SETTING,ANDPARTICIPANTSThiscross-sectionalstudyenrolled103individualsreferredfromtheUniversityofWashingtonAlzheimer’sDiseaseResearchCenter(ADRC)betweenApril2022andSeptember2024.Participantsincluded49cognitivelynormalcontrols,29withMCI,and25withADdementiap</a:t>
            </a:r>
          </a:p>
          <a:p/>
          <a:p>
            <a:r>
              <a:t>octa-03 认知参照标准：AD痴呆和MCI由ADRC研究评估，并采用NIA-AA标准；眼部影像不是认知诊断的独立参照标准。</a:t>
            </a:r>
          </a:p>
          <a:p>
            <a:r>
              <a:t>来源：2026 刊p674 / PDF2；类别：诊断；推荐等级：原文未明确。</a:t>
            </a:r>
          </a:p>
          <a:p>
            <a:r>
              <a:t>原文锚点：ishedHowever,despitegrowinginterest,retinalandchoroidalusingNationalInstituteonAging–Alzheimer’sAssociationbiomarkersforADandmildcognitiveimpairment(MCI)re-criteria.6,12,13Participantswithnon-ADdementiaorinad-maininconsistentacrossstudies.Someinvestigationshav</a:t>
            </a:r>
          </a:p>
          <a:p/>
          <a:p>
            <a:r>
              <a:t>octa-04 OCTA采集：PLEX Elite 9000扫频OCTA；黄斑中心6×6-mm扫描。具体质量排除细则见补充材料，当前上传文件未附补充全文。</a:t>
            </a:r>
          </a:p>
          <a:p>
            <a:r>
              <a:t>来源：2026 刊p674 / PDF2；类别：检查；推荐等级：原文未明确。</a:t>
            </a:r>
          </a:p>
          <a:p>
            <a:r>
              <a:t>原文锚点：ieshighlightsubstantialgapsinourunder-9000,CarlZeissMeditec;6×6-mmfovea-centeredproto-standingofocularstructuralandperfusionchangesassoci-col),withenfaceimagesgeneratedusingopticalmicroangiog-atedwithcognitiveimpairment.raphyalgorithm.50,51Tenretinal,choriocap</a:t>
            </a:r>
          </a:p>
          <a:p/>
          <a:p>
            <a:r>
              <a:t>octa-06 GCC组间结果：调整均值：AD痴呆63.31 μm，正常67.93 μm；差−4.62 μm，95%CI −8.92至−0.31 μm，P=.03。是组均值，不是个体切点。</a:t>
            </a:r>
          </a:p>
          <a:p>
            <a:r>
              <a:t>来源：2026 刊p673、675 / PDF1、3；类别：研究发现；推荐等级：原文未明确。</a:t>
            </a:r>
          </a:p>
          <a:p>
            <a:r>
              <a:t>原文锚点：eand53male[51.5%]),theadjustedmeanGCCwasthinnerinADdementia(63.31μm)vscontrols(67.93μm)(difference,−4.62μm;95%CI,−8.92to−0.31μm;P=.03).AdjustedmeanCCFDwaslowerinMCI(8.12%)thanADdementia(9.07%)(difference,−0.95%;95%CI,−1.71to−0.19;P=.01)buthigherinADdementiatha</a:t>
            </a:r>
          </a:p>
          <a:p/>
          <a:p>
            <a:r>
              <a:t>octa-07 CCFD双相结果：调整均值：MCI 8.12%，AD痴呆9.07%，正常8.33%；MCI与痴呆差−0.95%，P=.01；痴呆与正常差0.74%，P=.04。</a:t>
            </a:r>
          </a:p>
          <a:p>
            <a:r>
              <a:t>来源：2026 刊p673、675、678 / PDF1、3、6；类别：研究发现；推荐等级：原文未明确。</a:t>
            </a:r>
          </a:p>
          <a:p>
            <a:r>
              <a:t>原文锚点：m;95%CI,−8.92to−0.31μm;P=.03).AdjustedmeanCCFDwaslowerinMCI(8.12%)thanADdementia(9.07%)(difference,−0.95%;95%CI,−1.71to−0.19;P=.01)buthigherinADdementiathancontrols(8.33%)(difference,0.74%;95%CI,0.02-1.46;P=.04).Inmultivariablemodels,VSD(MCI:oddsratio[OR],0.79</a:t>
            </a:r>
          </a:p>
          <a:p/>
          <a:p>
            <a:r>
              <a:t>octa-08 不能混写的显著性：VSD、VAD、flux虽呈下降趋势，但组间ANCOVA在FDR校正后未达显著；VSD在多变量模型中存在关联。两类统计结果须分开。</a:t>
            </a:r>
          </a:p>
          <a:p>
            <a:r>
              <a:t>来源：2026 刊p675、677–678 / PDF3、5–6；类别：研究发现；推荐等级：原文未明确。</a:t>
            </a:r>
          </a:p>
          <a:p>
            <a:r>
              <a:t>原文锚点：lldisplayeddecreasingtrendsfromcontrolsResultstodementia,butnodifferencesweredetectedafterFDRcor-DemographicInformationrection.TheFAZareaalsoshowednodifference(Figure2D).Of106participantsinitiallyenrolled,103wereincludedinthefinalanalysisafterexcluding3non-ADd</a:t>
            </a:r>
          </a:p>
          <a:p/>
          <a:p>
            <a:r>
              <a:t>octa-09 模型验证范围：80/20训练测试拆分；测试集仅21人（正常10、MCI 6、AD痴呆5）。AUC 0.72~0.87为这一小测试集内的区分能力。</a:t>
            </a:r>
          </a:p>
          <a:p>
            <a:r>
              <a:t>来源：2026 刊p673、675–676、679 / PDF1、3–4、7；类别：研究发现；推荐等级：原文未明确。</a:t>
            </a:r>
          </a:p>
          <a:p>
            <a:r>
              <a:t>原文锚点：edwithcognitivestatus,withanareaunderthecurveof0.72to0.87ina21-participanttestset(10controls,6MCI,5ADdementia).CONCLUSIONSANDRELEVANCEInarelativelysmallcohortstudy,OCTArevealeddistinctmicrovascularsignaturesacrosscognitivestages.VSDdecreased,andCCFDshowedabiph</a:t>
            </a:r>
          </a:p>
          <a:p/>
          <a:p>
            <a:r>
              <a:t>octa-10 AUC不能作诊断阈值：论文未设计或充分赋能来建立临床可操作阈值；没有用于个体诊断的GCC/CCFD/VSD切点、预测时限或用药方案。</a:t>
            </a:r>
          </a:p>
          <a:p>
            <a:r>
              <a:t>来源：2026 刊p679 / PDF7；类别：原文未明确；推荐等级：原文未明确。</a:t>
            </a:r>
          </a:p>
          <a:p>
            <a:r>
              <a:t>原文锚点：etherthesealterationsprecede,accompany,orfol-eredtoestablishclinicallyactionablethresholdsorgeneralizelowcognitivedecline.Third,notallparticipantswithMCIhadtothebroaderdementiapopulation,andallfindingsshouldbiomarker-confirmedADpathology,andtheMCIgroupthere-be</a:t>
            </a:r>
          </a:p>
          <a:p/>
          <a:p>
            <a:r>
              <a:t>octa-11 模型不稳定：作者指出小测试集的AUC可能被高估；事后5折交叉验证结果更保守，需要更大样本外部与纵向验证。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原文锚点：weprovidedacomprehensiveassessmentofboth80/20splitwerelikelyinflatedduetothesmalltestsetsize.structuralandperfusionOCTAbiomarkersacrosstheretina,AlthoughtheOCTA-inclusivemodelconsistentlyoutper-choroid,andchoriocapillarisinrelationtocognitivestatus.VSDformedth</a:t>
            </a:r>
          </a:p>
          <a:p/>
          <a:p>
            <a:r>
              <a:t>octa-13 临床解读边界：OCTA可能是辅助筛查与神经评估衔接的研究方向；不能凭组均值给个体贴AD标签，也不能单独据此启动治疗。</a:t>
            </a:r>
          </a:p>
          <a:p>
            <a:r>
              <a:t>来源：2026 刊p674、679 / PDF2、7；类别：研究解读；推荐等级：原文未明确。</a:t>
            </a:r>
          </a:p>
          <a:p>
            <a:r>
              <a:t>原文锚点：onanceimaging(MRI),andcognitiveimpairmentandguidereferralforneurologicalcerebrospinalfluid(CSF)biomarkeranalysis,areestablishedevaluation.diagnostictoolsforclinicalADdementiawithintheAmyloid/Tau/Neurodegenerationframework,5-13withsensitivityandspecificityhighe</a:t>
            </a:r>
          </a:p>
          <a:p/>
          <a:p>
            <a:r>
              <a:t>octa-14 未提供的临床项目：统一筛查适用年龄、转诊数值切点、复查频率、风险评分、治疗/禁忌与正式推荐等级：原文未明确。</a:t>
            </a:r>
          </a:p>
          <a:p>
            <a:r>
              <a:t>来源：2026 刊p673、679 / PDF1、7；类别：原文未明确；推荐等级：原文未明确。</a:t>
            </a:r>
          </a:p>
          <a:p>
            <a:r>
              <a:t>原文锚点：marker-confirmedADpathology,andtheMCIgroupthere-beconsideredpreliminary.Validationinlargerandlongitudi-forerepresentsamixedetiologypopulationthatmaycon-nalstudieswillbeessentialtodeterminetheirprognosticvaluefoundthebiphasicCCFDpattern.Futurestudieswithlargera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研究是什么，不能回答什么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研究是什么，不能回答什么</a:t>
            </a:r>
          </a:p>
        </p:txBody>
      </p:sp>
      <p:sp>
        <p:nvSpPr>
          <p:cNvPr id="4" name="01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01 / 07</a:t>
            </a:r>
          </a:p>
        </p:txBody>
      </p:sp>
      <p:sp>
        <p:nvSpPr>
          <p:cNvPr id="5" name="OCTA与阿尔茨海默病：研究解读 · 2026 单篇横断面研究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OCTA与阿尔茨海默病：研究解读 · 2026 单篇横断面研究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148082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1480820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研究设计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研究设计</a:t>
            </a:r>
          </a:p>
        </p:txBody>
      </p:sp>
      <p:sp>
        <p:nvSpPr>
          <p:cNvPr id="9" name="103名受试者的横断面分析：正常认知49、MCI 29、AD痴呆25。不是预测未来发病的纵向研究。"/>
          <p:cNvSpPr txBox="1"/>
          <p:nvPr/>
        </p:nvSpPr>
        <p:spPr>
          <a:xfrm>
            <a:off x="622300" y="1828800"/>
            <a:ext cx="10858500" cy="332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103名受试者的横断面分析：正常认知49、MCI 29、AD痴呆25。不是预测未来发病的纵向研究。</a:t>
            </a:r>
          </a:p>
        </p:txBody>
      </p:sp>
      <p:sp>
        <p:nvSpPr>
          <p:cNvPr id="10" name="2026 刊p673 / PDF1"/>
          <p:cNvSpPr txBox="1"/>
          <p:nvPr/>
        </p:nvSpPr>
        <p:spPr>
          <a:xfrm>
            <a:off x="622300" y="266192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 / PDF1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2979420"/>
            <a:ext cx="11303000" cy="175006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2979420"/>
            <a:ext cx="38100" cy="1750060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人群来源"/>
          <p:cNvSpPr txBox="1"/>
          <p:nvPr/>
        </p:nvSpPr>
        <p:spPr>
          <a:xfrm>
            <a:off x="622300" y="308102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人群来源</a:t>
            </a:r>
          </a:p>
        </p:txBody>
      </p:sp>
      <p:sp>
        <p:nvSpPr>
          <p:cNvPr id="14" name="华盛顿大学ADRC转诊，2022年4月至2024年9月入组；平均年龄74.8岁。排除非AD痴呆和不合"/>
          <p:cNvSpPr txBox="1"/>
          <p:nvPr/>
        </p:nvSpPr>
        <p:spPr>
          <a:xfrm>
            <a:off x="622300" y="342392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华盛顿大学ADRC转诊，2022年4月至2024年9月入组；平均年龄74.8岁。排除非AD痴呆和不合格眼部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影像。</a:t>
            </a:r>
          </a:p>
        </p:txBody>
      </p:sp>
      <p:sp>
        <p:nvSpPr>
          <p:cNvPr id="15" name="2026 刊p673–675 / PDF1–3"/>
          <p:cNvSpPr txBox="1"/>
          <p:nvPr/>
        </p:nvSpPr>
        <p:spPr>
          <a:xfrm>
            <a:off x="622300" y="452628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刊p673–675 / PDF1–3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4500" y="4843780"/>
            <a:ext cx="11303000" cy="148082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4500" y="4843780"/>
            <a:ext cx="38100" cy="1480820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认知参照标准"/>
          <p:cNvSpPr txBox="1"/>
          <p:nvPr/>
        </p:nvSpPr>
        <p:spPr>
          <a:xfrm>
            <a:off x="622300" y="494538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认知参照标准</a:t>
            </a:r>
          </a:p>
        </p:txBody>
      </p:sp>
      <p:sp>
        <p:nvSpPr>
          <p:cNvPr id="19" name="AD痴呆和MCI由ADRC研究评估，并采用NIA-AA标准；眼部影像不是认知诊断的独立参照标准。"/>
          <p:cNvSpPr txBox="1"/>
          <p:nvPr/>
        </p:nvSpPr>
        <p:spPr>
          <a:xfrm>
            <a:off x="622300" y="5288280"/>
            <a:ext cx="10858500" cy="332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AD痴呆和MCI由ADRC研究评估，并采用NIA-AA标准；眼部影像不是认知诊断的独立参照标准。</a:t>
            </a:r>
          </a:p>
        </p:txBody>
      </p:sp>
      <p:sp>
        <p:nvSpPr>
          <p:cNvPr id="20" name="2026 刊p674 / PDF2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 / PDF2</a:t>
            </a:r>
          </a:p>
        </p:txBody>
      </p:sp>
      <p:sp>
        <p:nvSpPr>
          <p:cNvPr id="21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影像采集与指标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影像采集与指标</a:t>
            </a:r>
          </a:p>
        </p:txBody>
      </p:sp>
      <p:sp>
        <p:nvSpPr>
          <p:cNvPr id="4" name="02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02 / 07</a:t>
            </a:r>
          </a:p>
        </p:txBody>
      </p:sp>
      <p:sp>
        <p:nvSpPr>
          <p:cNvPr id="5" name="OCTA与阿尔茨海默病：研究解读 · 2026 单篇横断面研究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OCTA与阿尔茨海默病：研究解读 · 2026 单篇横断面研究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241300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2413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CTA采集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OCTA采集</a:t>
            </a:r>
          </a:p>
        </p:txBody>
      </p:sp>
      <p:sp>
        <p:nvSpPr>
          <p:cNvPr id="9" name="PLEX Elite 9000扫频OCTA；黄斑中心6×6-mm扫描。具体质量排除细则见补充材料，当"/>
          <p:cNvSpPr txBox="1"/>
          <p:nvPr/>
        </p:nvSpPr>
        <p:spPr>
          <a:xfrm>
            <a:off x="622300" y="18288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PLEX Elite 9000扫频OCTA；黄斑中心6×6-mm扫描。具体质量排除细则见补充材料，当前上传文件未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附补充全文。</a:t>
            </a:r>
          </a:p>
        </p:txBody>
      </p:sp>
      <p:sp>
        <p:nvSpPr>
          <p:cNvPr id="10" name="2026 刊p674 / PDF2"/>
          <p:cNvSpPr txBox="1"/>
          <p:nvPr/>
        </p:nvSpPr>
        <p:spPr>
          <a:xfrm>
            <a:off x="622300" y="35941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 / PDF2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911600"/>
            <a:ext cx="11303000" cy="241300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911600"/>
            <a:ext cx="38100" cy="2413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指标与混杂"/>
          <p:cNvSpPr txBox="1"/>
          <p:nvPr/>
        </p:nvSpPr>
        <p:spPr>
          <a:xfrm>
            <a:off x="622300" y="40132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指标与混杂</a:t>
            </a:r>
          </a:p>
        </p:txBody>
      </p:sp>
      <p:sp>
        <p:nvSpPr>
          <p:cNvPr id="14" name="提取10项结构/血流指标；分析调整年龄、性别、教育、高血压、糖尿病、吸烟，应用FDR与Tukey多重"/>
          <p:cNvSpPr txBox="1"/>
          <p:nvPr/>
        </p:nvSpPr>
        <p:spPr>
          <a:xfrm>
            <a:off x="622300" y="43561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提取10项结构/血流指标；分析调整年龄、性别、教育、高血压、糖尿病、吸烟，应用FDR与Tukey多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重比较。</a:t>
            </a:r>
          </a:p>
        </p:txBody>
      </p:sp>
      <p:sp>
        <p:nvSpPr>
          <p:cNvPr id="15" name="2026 刊p674–675 / PDF2–3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刊p674–675 / PDF2–3</a:t>
            </a:r>
          </a:p>
        </p:txBody>
      </p:sp>
      <p:sp>
        <p:nvSpPr>
          <p:cNvPr id="16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组间发现：结构与微循环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组间发现：结构与微循环</a:t>
            </a:r>
          </a:p>
        </p:txBody>
      </p:sp>
      <p:sp>
        <p:nvSpPr>
          <p:cNvPr id="4" name="03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03 / 07</a:t>
            </a:r>
          </a:p>
        </p:txBody>
      </p:sp>
      <p:sp>
        <p:nvSpPr>
          <p:cNvPr id="5" name="OCTA与阿尔茨海默病：研究解读 · 2026 单篇横断面研究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OCTA与阿尔茨海默病：研究解读 · 2026 单篇横断面研究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241300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2413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CC组间结果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GCC组间结果</a:t>
            </a:r>
          </a:p>
        </p:txBody>
      </p:sp>
      <p:sp>
        <p:nvSpPr>
          <p:cNvPr id="9" name="调整均值：AD痴呆63.31 μm，正常67.93 μm；差−4.62 μm，95%CI −8.92"/>
          <p:cNvSpPr txBox="1"/>
          <p:nvPr/>
        </p:nvSpPr>
        <p:spPr>
          <a:xfrm>
            <a:off x="622300" y="18288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调整均值：AD痴呆63.31 μm，正常67.93 μm；差−4.62 μm，95%CI −8.92至−0.31 μm，P=.03。是组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均值，不是个体切点。</a:t>
            </a:r>
          </a:p>
        </p:txBody>
      </p:sp>
      <p:sp>
        <p:nvSpPr>
          <p:cNvPr id="10" name="2026 刊p673、675 / PDF1、3"/>
          <p:cNvSpPr txBox="1"/>
          <p:nvPr/>
        </p:nvSpPr>
        <p:spPr>
          <a:xfrm>
            <a:off x="622300" y="35941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 / PDF1、3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911600"/>
            <a:ext cx="11303000" cy="241300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911600"/>
            <a:ext cx="38100" cy="2413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CFD双相结果"/>
          <p:cNvSpPr txBox="1"/>
          <p:nvPr/>
        </p:nvSpPr>
        <p:spPr>
          <a:xfrm>
            <a:off x="622300" y="40132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CCFD双相结果</a:t>
            </a:r>
          </a:p>
        </p:txBody>
      </p:sp>
      <p:sp>
        <p:nvSpPr>
          <p:cNvPr id="14" name="调整均值：MCI 8.12%，AD痴呆9.07%，正常8.33%；MCI与痴呆差−0.95%，P=."/>
          <p:cNvSpPr txBox="1"/>
          <p:nvPr/>
        </p:nvSpPr>
        <p:spPr>
          <a:xfrm>
            <a:off x="622300" y="43561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调整均值：MCI 8.12%，AD痴呆9.07%，正常8.33%；MCI与痴呆差−0.95%，P=.01；痴呆与正常差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0.74%，P=.04。</a:t>
            </a:r>
          </a:p>
        </p:txBody>
      </p:sp>
      <p:sp>
        <p:nvSpPr>
          <p:cNvPr id="15" name="2026 刊p673、675、678 / PDF1、3、6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刊p673、675、678 / PDF1、3、6</a:t>
            </a:r>
          </a:p>
        </p:txBody>
      </p:sp>
      <p:sp>
        <p:nvSpPr>
          <p:cNvPr id="16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统计结果必须分开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统计结果必须分开</a:t>
            </a:r>
          </a:p>
        </p:txBody>
      </p:sp>
      <p:sp>
        <p:nvSpPr>
          <p:cNvPr id="4" name="04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04 / 07</a:t>
            </a:r>
          </a:p>
        </p:txBody>
      </p:sp>
      <p:sp>
        <p:nvSpPr>
          <p:cNvPr id="5" name="OCTA与阿尔茨海默病：研究解读 · 2026 单篇横断面研究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OCTA与阿尔茨海默病：研究解读 · 2026 单篇横断面研究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241300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2413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不能混写的显著性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不能混写的显著性</a:t>
            </a:r>
          </a:p>
        </p:txBody>
      </p:sp>
      <p:sp>
        <p:nvSpPr>
          <p:cNvPr id="9" name="VSD、VAD、flux虽呈下降趋势，但组间ANCOVA在FDR校正后未达显著；VSD在多变量模型中"/>
          <p:cNvSpPr txBox="1"/>
          <p:nvPr/>
        </p:nvSpPr>
        <p:spPr>
          <a:xfrm>
            <a:off x="622300" y="18288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VSD、VAD、flux虽呈下降趋势，但组间ANCOVA在FDR校正后未达显著；VSD在多变量模型中存在关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联。两类统计结果须分开。</a:t>
            </a:r>
          </a:p>
        </p:txBody>
      </p:sp>
      <p:sp>
        <p:nvSpPr>
          <p:cNvPr id="10" name="2026 刊p675、677–678 / PDF3、5–6"/>
          <p:cNvSpPr txBox="1"/>
          <p:nvPr/>
        </p:nvSpPr>
        <p:spPr>
          <a:xfrm>
            <a:off x="622300" y="35941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刊p675、677–678 / PDF3、5–6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911600"/>
            <a:ext cx="11303000" cy="241300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911600"/>
            <a:ext cx="38100" cy="2413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模型验证范围"/>
          <p:cNvSpPr txBox="1"/>
          <p:nvPr/>
        </p:nvSpPr>
        <p:spPr>
          <a:xfrm>
            <a:off x="622300" y="40132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模型验证范围</a:t>
            </a:r>
          </a:p>
        </p:txBody>
      </p:sp>
      <p:sp>
        <p:nvSpPr>
          <p:cNvPr id="14" name="80/20训练测试拆分；测试集仅21人（正常10、MCI 6、AD痴呆5）。AUC 0.72~0.8"/>
          <p:cNvSpPr txBox="1"/>
          <p:nvPr/>
        </p:nvSpPr>
        <p:spPr>
          <a:xfrm>
            <a:off x="622300" y="43561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80/20训练测试拆分；测试集仅21人（正常10、MCI 6、AD痴呆5）。AUC 0.72~0.87为这一小测试集内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的区分能力。</a:t>
            </a:r>
          </a:p>
        </p:txBody>
      </p:sp>
      <p:sp>
        <p:nvSpPr>
          <p:cNvPr id="15" name="2026 刊p673、675–676、679 / PDF1、3–4、7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 / PDF1、3–4、7</a:t>
            </a:r>
          </a:p>
        </p:txBody>
      </p:sp>
      <p:sp>
        <p:nvSpPr>
          <p:cNvPr id="16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临床阈值与预测边界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临床阈值与预测边界</a:t>
            </a:r>
          </a:p>
        </p:txBody>
      </p:sp>
      <p:sp>
        <p:nvSpPr>
          <p:cNvPr id="4" name="05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05 / 07</a:t>
            </a:r>
          </a:p>
        </p:txBody>
      </p:sp>
      <p:sp>
        <p:nvSpPr>
          <p:cNvPr id="5" name="OCTA与阿尔茨海默病：研究解读 · 2026 单篇横断面研究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OCTA与阿尔茨海默病：研究解读 · 2026 单篇横断面研究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1660313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1660313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UC不能作诊断阈值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AUC不能作诊断阈值</a:t>
            </a:r>
          </a:p>
        </p:txBody>
      </p:sp>
      <p:sp>
        <p:nvSpPr>
          <p:cNvPr id="9" name="论文未设计或充分赋能来建立临床可操作阈值；没有用于个体诊断的GCC/CCFD/VSD切点、预测时限或"/>
          <p:cNvSpPr txBox="1"/>
          <p:nvPr/>
        </p:nvSpPr>
        <p:spPr>
          <a:xfrm>
            <a:off x="622300" y="18288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论文未设计或充分赋能来建立临床可操作阈值；没有用于个体诊断的GCC/CCFD/VSD切点、预测时限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或用药方案。</a:t>
            </a:r>
          </a:p>
        </p:txBody>
      </p:sp>
      <p:sp>
        <p:nvSpPr>
          <p:cNvPr id="10" name="2026 刊p679 / PDF7"/>
          <p:cNvSpPr txBox="1"/>
          <p:nvPr/>
        </p:nvSpPr>
        <p:spPr>
          <a:xfrm>
            <a:off x="622300" y="2841413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刊p679 / PDF7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158913"/>
            <a:ext cx="11303000" cy="1660313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158913"/>
            <a:ext cx="38100" cy="1660313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临床解读边界"/>
          <p:cNvSpPr txBox="1"/>
          <p:nvPr/>
        </p:nvSpPr>
        <p:spPr>
          <a:xfrm>
            <a:off x="622300" y="3260513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临床解读边界</a:t>
            </a:r>
          </a:p>
        </p:txBody>
      </p:sp>
      <p:sp>
        <p:nvSpPr>
          <p:cNvPr id="14" name="OCTA可能是辅助筛查与神经评估衔接的研究方向；不能凭组均值给个体贴AD标签，也不能单独据此启动治疗"/>
          <p:cNvSpPr txBox="1"/>
          <p:nvPr/>
        </p:nvSpPr>
        <p:spPr>
          <a:xfrm>
            <a:off x="622300" y="3603413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OCTA可能是辅助筛查与神经评估衔接的研究方向；不能凭组均值给个体贴AD标签，也不能单独据此启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动治疗。</a:t>
            </a:r>
          </a:p>
        </p:txBody>
      </p:sp>
      <p:sp>
        <p:nvSpPr>
          <p:cNvPr id="15" name="2026 刊p674、679 / PDF2、7"/>
          <p:cNvSpPr txBox="1"/>
          <p:nvPr/>
        </p:nvSpPr>
        <p:spPr>
          <a:xfrm>
            <a:off x="622300" y="4616026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刊p674、679 / PDF2、7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4500" y="4933526"/>
            <a:ext cx="11303000" cy="1391073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4500" y="4933526"/>
            <a:ext cx="38100" cy="1391073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未提供的临床项目"/>
          <p:cNvSpPr txBox="1"/>
          <p:nvPr/>
        </p:nvSpPr>
        <p:spPr>
          <a:xfrm>
            <a:off x="622300" y="5035126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未提供的临床项目</a:t>
            </a:r>
          </a:p>
        </p:txBody>
      </p:sp>
      <p:sp>
        <p:nvSpPr>
          <p:cNvPr id="19" name="统一筛查适用年龄、转诊数值切点、复查频率、风险评分、治疗/禁忌与正式推荐等级：原文未明确。"/>
          <p:cNvSpPr txBox="1"/>
          <p:nvPr/>
        </p:nvSpPr>
        <p:spPr>
          <a:xfrm>
            <a:off x="622300" y="5378026"/>
            <a:ext cx="10858500" cy="332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统一筛查适用年龄、转诊数值切点、复查频率、风险评分、治疗/禁忌与正式推荐等级：原文未明确。</a:t>
            </a:r>
          </a:p>
        </p:txBody>
      </p:sp>
      <p:sp>
        <p:nvSpPr>
          <p:cNvPr id="20" name="2026 刊p673、679 / PDF1、7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 / PDF1、7</a:t>
            </a:r>
          </a:p>
        </p:txBody>
      </p:sp>
      <p:sp>
        <p:nvSpPr>
          <p:cNvPr id="21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验证与研究局限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验证与研究局限</a:t>
            </a:r>
          </a:p>
        </p:txBody>
      </p:sp>
      <p:sp>
        <p:nvSpPr>
          <p:cNvPr id="4" name="06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06 / 07</a:t>
            </a:r>
          </a:p>
        </p:txBody>
      </p:sp>
      <p:sp>
        <p:nvSpPr>
          <p:cNvPr id="5" name="OCTA与阿尔茨海默病：研究解读 · 2026 单篇横断面研究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OCTA与阿尔茨海默病：研究解读 · 2026 单篇横断面研究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2278379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2278379"/>
          </a:xfrm>
          <a:prstGeom prst="rect">
            <a:avLst/>
          </a:prstGeom>
          <a:solidFill>
            <a:srgbClr val="A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模型不稳定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模型不稳定</a:t>
            </a:r>
          </a:p>
        </p:txBody>
      </p:sp>
      <p:sp>
        <p:nvSpPr>
          <p:cNvPr id="9" name="作者指出小测试集的AUC可能被高估；事后5折交叉验证结果更保守，需要更大样本外部与纵向验证。"/>
          <p:cNvSpPr txBox="1"/>
          <p:nvPr/>
        </p:nvSpPr>
        <p:spPr>
          <a:xfrm>
            <a:off x="622300" y="1828800"/>
            <a:ext cx="10858500" cy="332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作者指出小测试集的AUC可能被高估；事后5折交叉验证结果更保守，需要更大样本外部与纵向验证。</a:t>
            </a:r>
          </a:p>
        </p:txBody>
      </p:sp>
      <p:sp>
        <p:nvSpPr>
          <p:cNvPr id="10" name="2026 刊p679 / PDF7"/>
          <p:cNvSpPr txBox="1"/>
          <p:nvPr/>
        </p:nvSpPr>
        <p:spPr>
          <a:xfrm>
            <a:off x="622300" y="3459479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刊p679 / PDF7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776979"/>
            <a:ext cx="11303000" cy="254762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776979"/>
            <a:ext cx="38100" cy="2547620"/>
          </a:xfrm>
          <a:prstGeom prst="rect">
            <a:avLst/>
          </a:prstGeom>
          <a:solidFill>
            <a:srgbClr val="A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局限与外推"/>
          <p:cNvSpPr txBox="1"/>
          <p:nvPr/>
        </p:nvSpPr>
        <p:spPr>
          <a:xfrm>
            <a:off x="622300" y="3878579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局限与外推</a:t>
            </a:r>
          </a:p>
        </p:txBody>
      </p:sp>
      <p:sp>
        <p:nvSpPr>
          <p:cNvPr id="14" name="MCI未全部用AD生物标志物确证，病因混合；性别分布差异、眼病与系统血管因素可能残余混杂。不能证明因"/>
          <p:cNvSpPr txBox="1"/>
          <p:nvPr/>
        </p:nvSpPr>
        <p:spPr>
          <a:xfrm>
            <a:off x="622300" y="422148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MCI未全部用AD生物标志物确证，病因混合；性别分布差异、眼病与系统血管因素可能残余混杂。不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能证明因果或变化先后。</a:t>
            </a:r>
          </a:p>
        </p:txBody>
      </p:sp>
      <p:sp>
        <p:nvSpPr>
          <p:cNvPr id="15" name="2026 刊p679 / PDF7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刊p679 / PDF7</a:t>
            </a:r>
          </a:p>
        </p:txBody>
      </p:sp>
      <p:sp>
        <p:nvSpPr>
          <p:cNvPr id="16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一页流程｜OCTA与阿尔茨海默病：研究解读"/>
          <p:cNvSpPr txBox="1"/>
          <p:nvPr/>
        </p:nvSpPr>
        <p:spPr>
          <a:xfrm>
            <a:off x="368300" y="203200"/>
            <a:ext cx="11455400" cy="4414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97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一页流程</a:t>
            </a:r>
            <a:r>
              <a:rPr sz="2400" b="1" lang="zh-CN">
                <a:solidFill>
                  <a:srgbClr val="FFFFFF"/>
                </a:solidFill>
                <a:latin typeface="Arial"/>
                <a:ea typeface="Arial"/>
                <a:cs typeface="Arial"/>
              </a:rPr>
              <a:t>｜</a:t>
            </a:r>
            <a:r>
              <a:rPr sz="24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研究解读路径 · 不等同指南推荐 · 2026"/>
          <p:cNvSpPr txBox="1"/>
          <p:nvPr/>
        </p:nvSpPr>
        <p:spPr>
          <a:xfrm>
            <a:off x="368300" y="965200"/>
            <a:ext cx="114554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研究解读路径 · 不等同指南推荐 ·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8300" y="1384300"/>
            <a:ext cx="5537200" cy="1528233"/>
          </a:xfrm>
          <a:prstGeom prst="rect">
            <a:avLst/>
          </a:prstGeom>
          <a:solidFill>
            <a:srgbClr val="EDF4FB"/>
          </a:solidFill>
          <a:ln w="7620">
            <a:solidFill>
              <a:srgbClr val="24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1  明确用途"/>
          <p:cNvSpPr txBox="1"/>
          <p:nvPr/>
        </p:nvSpPr>
        <p:spPr>
          <a:xfrm>
            <a:off x="520700" y="1473200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1  明确用途</a:t>
            </a:r>
          </a:p>
        </p:txBody>
      </p:sp>
      <p:sp>
        <p:nvSpPr>
          <p:cNvPr id="7" name="仅为研究解读？是 → 继续；拟以OCTA单独确诊/预测个体AD → 本文证据不支持。"/>
          <p:cNvSpPr txBox="1"/>
          <p:nvPr/>
        </p:nvSpPr>
        <p:spPr>
          <a:xfrm>
            <a:off x="520700" y="1778000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仅为研究解读？是 → 继续；拟以OCTA单独确诊/预测个体AD →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本文证据不支持。</a:t>
            </a:r>
          </a:p>
        </p:txBody>
      </p:sp>
      <p:sp>
        <p:nvSpPr>
          <p:cNvPr id="8" name="2026 刊p673、679"/>
          <p:cNvSpPr txBox="1"/>
          <p:nvPr/>
        </p:nvSpPr>
        <p:spPr>
          <a:xfrm>
            <a:off x="520700" y="2696633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0900" y="2148416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286500" y="1384300"/>
            <a:ext cx="5537200" cy="1528233"/>
          </a:xfrm>
          <a:prstGeom prst="rect">
            <a:avLst/>
          </a:prstGeom>
          <a:solidFill>
            <a:srgbClr val="EBF7F5"/>
          </a:solidFill>
          <a:ln w="7620">
            <a:solidFill>
              <a:srgbClr val="1474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2  核对人群与设备"/>
          <p:cNvSpPr txBox="1"/>
          <p:nvPr/>
        </p:nvSpPr>
        <p:spPr>
          <a:xfrm>
            <a:off x="6438900" y="1473200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2  核对人群与设备</a:t>
            </a:r>
          </a:p>
        </p:txBody>
      </p:sp>
      <p:sp>
        <p:nvSpPr>
          <p:cNvPr id="12" name="ADRC老年研究人群、SS-OCTA 6×6-mm；超出该场景 → 外推有效性未明确。"/>
          <p:cNvSpPr txBox="1"/>
          <p:nvPr/>
        </p:nvSpPr>
        <p:spPr>
          <a:xfrm>
            <a:off x="6438900" y="1778000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ADRC老年研究人群、SS-OCTA 6×6-mm；超出该场景 → 外推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有效性未明确。</a:t>
            </a:r>
          </a:p>
        </p:txBody>
      </p:sp>
      <p:sp>
        <p:nvSpPr>
          <p:cNvPr id="13" name="2026 刊p673–675"/>
          <p:cNvSpPr txBox="1"/>
          <p:nvPr/>
        </p:nvSpPr>
        <p:spPr>
          <a:xfrm>
            <a:off x="6438900" y="2696633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刊p673–675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5100" y="2937933"/>
            <a:ext cx="0" cy="19050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286500" y="3153833"/>
            <a:ext cx="5537200" cy="1528233"/>
          </a:xfrm>
          <a:prstGeom prst="rect">
            <a:avLst/>
          </a:prstGeom>
          <a:solidFill>
            <a:srgbClr val="FFF4E8"/>
          </a:solidFill>
          <a:ln w="7620">
            <a:solidFill>
              <a:srgbClr val="A95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3  分开读取指标"/>
          <p:cNvSpPr txBox="1"/>
          <p:nvPr/>
        </p:nvSpPr>
        <p:spPr>
          <a:xfrm>
            <a:off x="6438900" y="3242733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3  分开读取指标</a:t>
            </a:r>
          </a:p>
        </p:txBody>
      </p:sp>
      <p:sp>
        <p:nvSpPr>
          <p:cNvPr id="17" name="GCC/CCFD组均值与多变量关联分别记录；数值不得当个体切点。"/>
          <p:cNvSpPr txBox="1"/>
          <p:nvPr/>
        </p:nvSpPr>
        <p:spPr>
          <a:xfrm>
            <a:off x="6438900" y="3547533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GCC/CCFD组均值与多变量关联分别记录；数值不得当个体切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点。</a:t>
            </a:r>
          </a:p>
        </p:txBody>
      </p:sp>
      <p:sp>
        <p:nvSpPr>
          <p:cNvPr id="18" name="2026 刊p673、675、677–678"/>
          <p:cNvSpPr txBox="1"/>
          <p:nvPr/>
        </p:nvSpPr>
        <p:spPr>
          <a:xfrm>
            <a:off x="6438900" y="4466166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刊p673、675、677–678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930900" y="3917950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68300" y="3153833"/>
            <a:ext cx="5537200" cy="1528233"/>
          </a:xfrm>
          <a:prstGeom prst="rect">
            <a:avLst/>
          </a:prstGeom>
          <a:solidFill>
            <a:srgbClr val="F3EFF8"/>
          </a:solidFill>
          <a:ln w="7620">
            <a:solidFill>
              <a:srgbClr val="6952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4  检查验证规模"/>
          <p:cNvSpPr txBox="1"/>
          <p:nvPr/>
        </p:nvSpPr>
        <p:spPr>
          <a:xfrm>
            <a:off x="520700" y="3242733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4  检查验证规模</a:t>
            </a:r>
          </a:p>
        </p:txBody>
      </p:sp>
      <p:sp>
        <p:nvSpPr>
          <p:cNvPr id="22" name="AUC来自21人测试集，可能高估；补充/外部验证不足 → 保持研究结论。"/>
          <p:cNvSpPr txBox="1"/>
          <p:nvPr/>
        </p:nvSpPr>
        <p:spPr>
          <a:xfrm>
            <a:off x="520700" y="3547533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AUC来自21人测试集，可能高估；补充/外部验证不足 → 保持研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究结论。</a:t>
            </a:r>
          </a:p>
        </p:txBody>
      </p:sp>
      <p:sp>
        <p:nvSpPr>
          <p:cNvPr id="23" name="2026 刊p673、675–676、679"/>
          <p:cNvSpPr txBox="1"/>
          <p:nvPr/>
        </p:nvSpPr>
        <p:spPr>
          <a:xfrm>
            <a:off x="520700" y="4466166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136900" y="4707466"/>
            <a:ext cx="0" cy="19050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8300" y="4923366"/>
            <a:ext cx="5537200" cy="1528233"/>
          </a:xfrm>
          <a:prstGeom prst="rect">
            <a:avLst/>
          </a:prstGeom>
          <a:solidFill>
            <a:srgbClr val="FCEFF0"/>
          </a:solidFill>
          <a:ln w="7620">
            <a:solidFill>
              <a:srgbClr val="A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5  认知评估衔接"/>
          <p:cNvSpPr txBox="1"/>
          <p:nvPr/>
        </p:nvSpPr>
        <p:spPr>
          <a:xfrm>
            <a:off x="520700" y="5012266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5  认知评估衔接</a:t>
            </a:r>
          </a:p>
        </p:txBody>
      </p:sp>
      <p:sp>
        <p:nvSpPr>
          <p:cNvPr id="27" name="认知诊断依原有ADRC/NIA-AA评估；OCTA为候选辅助方向，具体转诊阈值未明确。"/>
          <p:cNvSpPr txBox="1"/>
          <p:nvPr/>
        </p:nvSpPr>
        <p:spPr>
          <a:xfrm>
            <a:off x="520700" y="5317066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认知诊断依原有ADRC/NIA-AA评估；OCTA为候选辅助方向，具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体转诊阈值未明确。</a:t>
            </a:r>
          </a:p>
        </p:txBody>
      </p:sp>
      <p:sp>
        <p:nvSpPr>
          <p:cNvPr id="28" name="2026 刊p673–674、679"/>
          <p:cNvSpPr txBox="1"/>
          <p:nvPr/>
        </p:nvSpPr>
        <p:spPr>
          <a:xfrm>
            <a:off x="520700" y="6235699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刊p673–674、679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30900" y="5687483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286500" y="4923366"/>
            <a:ext cx="5537200" cy="1528233"/>
          </a:xfrm>
          <a:prstGeom prst="rect">
            <a:avLst/>
          </a:prstGeom>
          <a:solidFill>
            <a:srgbClr val="F3EFF8"/>
          </a:solidFill>
          <a:ln w="7620">
            <a:solidFill>
              <a:srgbClr val="6952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6  随访与治疗"/>
          <p:cNvSpPr txBox="1"/>
          <p:nvPr/>
        </p:nvSpPr>
        <p:spPr>
          <a:xfrm>
            <a:off x="6438900" y="5012266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6  随访与治疗</a:t>
            </a:r>
          </a:p>
        </p:txBody>
      </p:sp>
      <p:sp>
        <p:nvSpPr>
          <p:cNvPr id="32" name="预测时限、OCTA复查间隔及治疗方案未明确；不从本文补编临床处方。"/>
          <p:cNvSpPr txBox="1"/>
          <p:nvPr/>
        </p:nvSpPr>
        <p:spPr>
          <a:xfrm>
            <a:off x="6438900" y="5317066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预测时限、OCTA复查间隔及治疗方案未明确；不从本文补编临床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处方。</a:t>
            </a:r>
          </a:p>
        </p:txBody>
      </p:sp>
      <p:sp>
        <p:nvSpPr>
          <p:cNvPr id="33" name="2026 刊p673、679"/>
          <p:cNvSpPr txBox="1"/>
          <p:nvPr/>
        </p:nvSpPr>
        <p:spPr>
          <a:xfrm>
            <a:off x="6438900" y="6235699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34" name="流程为整理表达；原文未明确的切点、剂量或等级不补编。完整证据与特殊分支见提取表。"/>
          <p:cNvSpPr txBox="1"/>
          <p:nvPr/>
        </p:nvSpPr>
        <p:spPr>
          <a:xfrm>
            <a:off x="368300" y="6604000"/>
            <a:ext cx="11455400" cy="2020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91"/>
              </a:lnSpc>
              <a:spcBef>
                <a:spcPts val="0"/>
              </a:spcBef>
              <a:spcAft>
                <a:spcPts val="0"/>
              </a:spcAft>
            </a:pPr>
            <a:r>
              <a:rPr sz="88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流程为整理表达；原文未明确的切点、剂量或等级不补编。完整证据与特殊分支见提取表。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OCTA与阿尔茨海默病：研究解读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