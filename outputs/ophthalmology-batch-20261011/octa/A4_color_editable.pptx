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octa-01 研究设计：103名受试者的横断面分析：正常认知49、MCI 29、AD痴呆25。不是预测未来发病的纵向研究。</a:t>
            </a:r>
          </a:p>
          <a:p>
            <a:r>
              <a:t>来源：2026 刊p673 / PDF1；类别：研究设计；推荐等级：原文未明确。</a:t>
            </a:r>
          </a:p>
          <a:p>
            <a:r>
              <a:t>原文锚点：irment(MCI),andADdementia.DESIGN,SETTING,ANDPARTICIPANTSThiscross-sectionalstudyenrolled103individualsreferredfromtheUniversityofWashingtonAlzheimer’sDiseaseResearchCenter(ADRC)betweenApril2022andSeptember2024.Participantsincluded49cognitivelynormalcontrols,29</a:t>
            </a:r>
          </a:p>
          <a:p/>
          <a:p>
            <a:r>
              <a:t>octa-03 认知参照标准：AD痴呆和MCI由ADRC研究评估，并采用NIA-AA标准；眼部影像不是认知诊断的独立参照标准。</a:t>
            </a:r>
          </a:p>
          <a:p>
            <a:r>
              <a:t>来源：2026 刊p674 / PDF2；类别：诊断；推荐等级：原文未明确。</a:t>
            </a:r>
          </a:p>
          <a:p>
            <a:r>
              <a:t>原文锚点：ishedHowever,despitegrowinginterest,retinalandchoroidalusingNationalInstituteonAging–Alzheimer’sAssociationbiomarkersforADandmildcognitiveimpairment(MCI)re-criteria.6,12,13Participantswithnon-ADdementiaorinad-maininconsistentacrossstudies.Someinvestigationshav</a:t>
            </a:r>
          </a:p>
          <a:p/>
          <a:p>
            <a:r>
              <a:t>octa-04 OCTA采集：PLEX Elite 9000扫频OCTA；黄斑中心6 mm × 6 mm扫描。具体质量排除细则见补充材料，当前上传文件未附补充全文。</a:t>
            </a:r>
          </a:p>
          <a:p>
            <a:r>
              <a:t>来源：2026 刊p674 / PDF2；类别：检查；推荐等级：原文未明确。</a:t>
            </a:r>
          </a:p>
          <a:p>
            <a:r>
              <a:t>原文锚点：ieshighlightsubstantialgapsinourunder-9000,CarlZeissMeditec;6×6-mmfovea-centeredproto-standingofocularstructuralandperfusionchangesassoci-col),withenfaceimagesgeneratedusingopticalmicroangiog-atedwithcognitiveimpairment.raphyalgorithm.50,51Tenretinal,choriocap</a:t>
            </a:r>
          </a:p>
          <a:p/>
          <a:p>
            <a:r>
              <a:t>octa-06 GCC组间结果：调整均值：AD痴呆63.31 μm，正常67.93 μm；差−4.62 μm，95%CI −8.92至−0.31 μm，P=.03。是组均值，不是个体切点。</a:t>
            </a:r>
          </a:p>
          <a:p>
            <a:r>
              <a:t>来源：2026 刊p673、675 / PDF1、3；类别：研究发现；推荐等级：原文未明确。</a:t>
            </a:r>
          </a:p>
          <a:p>
            <a:r>
              <a:t>原文锚点：eand53male[51.5%]),theadjustedmeanGCCwasthinnerinADdementia(63.31μm)vscontrols(67.93μm)(difference,−4.62μm;95%CI,−8.92to−0.31μm;P=.03).AdjustedmeanCCFDwaslowerinMCI(8.12%)thanADdementia(9.07%)(difference,−0.95%;95%CI,−1.71to−0.19;P=.01)buthigherinADdementiatha</a:t>
            </a:r>
          </a:p>
          <a:p/>
          <a:p>
            <a:r>
              <a:t>octa-07 CCFD双相结果：调整均值：MCI 8.12%，AD痴呆9.07%，正常8.33%；MCI与痴呆差−0.95%，P=.01；痴呆与正常差0.74%，P=.04。</a:t>
            </a:r>
          </a:p>
          <a:p>
            <a:r>
              <a:t>来源：2026 刊p673、675、678 / PDF1、3、6；类别：研究发现；推荐等级：原文未明确。</a:t>
            </a:r>
          </a:p>
          <a:p>
            <a:r>
              <a:t>原文锚点：m;95%CI,−8.92to−0.31μm;P=.03).AdjustedmeanCCFDwaslowerinMCI(8.12%)thanADdementia(9.07%)(difference,−0.95%;95%CI,−1.71to−0.19;P=.01)buthigherinADdementiathancontrols(8.33%)(difference,0.74%;95%CI,0.02-1.46;P=.04).Inmultivariablemodels,VSD(MCI:oddsratio[OR],0.79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octa-08 不能混写的显著性：VSD、VAD、flux虽呈下降趋势，但组间ANCOVA在FDR校正后未达显著；VSD在多变量模型中存在关联。两类统计结果须分开。</a:t>
            </a:r>
          </a:p>
          <a:p>
            <a:r>
              <a:t>来源：2026 刊p675、677–678 / PDF3、5–6；类别：研究发现；推荐等级：原文未明确。</a:t>
            </a:r>
          </a:p>
          <a:p>
            <a:r>
              <a:t>原文锚点：lldisplayeddecreasingtrendsfromcontrolsResultstodementia,butnodifferencesweredetectedafterFDRcor-DemographicInformationrection.TheFAZareaalsoshowednodifference(Figure2D).Of106participantsinitiallyenrolled,103wereincludedinthefinalanalysisafterexcluding3non-ADd</a:t>
            </a:r>
          </a:p>
          <a:p/>
          <a:p>
            <a:r>
              <a:t>octa-09 模型验证范围：80/20训练测试拆分；测试集仅21人（正常10、MCI 6、AD痴呆5）。AUC 0.72~0.87为这一小测试集内的区分能力。</a:t>
            </a:r>
          </a:p>
          <a:p>
            <a:r>
              <a:t>来源：2026 刊p673、675–676、679 / PDF1、3–4、7；类别：研究发现；推荐等级：原文未明确。</a:t>
            </a:r>
          </a:p>
          <a:p>
            <a:r>
              <a:t>原文锚点：edwithcognitivestatus,withanareaunderthecurveof0.72to0.87ina21-participanttestset(10controls,6MCI,5ADdementia).CONCLUSIONSANDRELEVANCEInarelativelysmallcohortstudy,OCTArevealeddistinctmicrovascularsignaturesacrosscognitivestages.VSDdecreased,andCCFDshowedabiph</a:t>
            </a:r>
          </a:p>
          <a:p/>
          <a:p>
            <a:r>
              <a:t>octa-10 AUC不能作诊断阈值：研究设计及统计效能不足以建立临床可操作阈值；没有用于个体诊断的GCC/CCFD/VSD切点、预测时限或用药方案。</a:t>
            </a:r>
          </a:p>
          <a:p>
            <a:r>
              <a:t>来源：2026 刊p679 / PDF7；类别：原文未明确；推荐等级：原文未明确。</a:t>
            </a:r>
          </a:p>
          <a:p>
            <a:r>
              <a:t>原文锚点：etherthesealterationsprecede,accompany,orfol-eredtoestablishclinicallyactionablethresholdsorgeneralizelowcognitivedecline.Third,notallparticipantswithMCIhadtothebroaderdementiapopulation,andallfindingsshouldbiomarker-confirmedADpathology,andtheMCIgroupthere-be</a:t>
            </a:r>
          </a:p>
          <a:p/>
          <a:p>
            <a:r>
              <a:t>octa-11 模型不稳定：作者指出小测试集的AUC可能被高估；事后5折交叉验证结果更保守，需要更大样本外部与纵向验证。</a:t>
            </a:r>
          </a:p>
          <a:p>
            <a:r>
              <a:t>来源：2026 刊p679 / PDF7；类别：研究局限；推荐等级：原文未明确。</a:t>
            </a:r>
          </a:p>
          <a:p>
            <a:r>
              <a:t>原文锚点：weprovidedacomprehensiveassessmentofboth80/20splitwerelikelyinflatedduetothesmalltestsetsize.structuralandperfusionOCTAbiomarkersacrosstheretina,AlthoughtheOCTA-inclusivemodelconsistentlyoutper-choroid,andchoriocapillarisinrelationtocognitivestatus.VSDformedth</a:t>
            </a:r>
          </a:p>
          <a:p/>
          <a:p>
            <a:r>
              <a:t>octa-12 局限与外推：MCI未全部用AD生物标志物确证，病因混合；性别分布差异、眼病与系统血管因素可能残余混杂。不能证明因果或变化先后。</a:t>
            </a:r>
          </a:p>
          <a:p>
            <a:r>
              <a:t>来源：2026 刊p679 / PDF7；类别：研究局限；推荐等级：原文未明确。</a:t>
            </a:r>
          </a:p>
          <a:p>
            <a:r>
              <a:t>原文锚点：lyactionablethresholdsorgeneralizelowcognitivedecline.Third,notallparticipantswithMCIhadtothebroaderdementiapopulation,andallfindingsshouldbiomarker-confirmedADpathology,andtheMCIgroupthere-beconsideredpreliminary.Validationinlargerandlongitudi-forerepresentsa</a:t>
            </a:r>
          </a:p>
          <a:p/>
          <a:p>
            <a:r>
              <a:t>octa-13 临床解读边界：OCTA可能是辅助筛查与神经评估衔接的研究方向；不能凭组均值给个体贴AD标签，也不能单独据此启动治疗。</a:t>
            </a:r>
          </a:p>
          <a:p>
            <a:r>
              <a:t>来源：2026 刊p674、679 / PDF2、7；类别：研究解读；推荐等级：原文未明确。</a:t>
            </a:r>
          </a:p>
          <a:p>
            <a:r>
              <a:t>原文锚点：onanceimaging(MRI),andcognitiveimpairmentandguidereferralforneurologicalcerebrospinalfluid(CSF)biomarkeranalysis,areestablishedevaluation.diagnostictoolsforclinicalADdementiawithintheAmyloid/Tau/Neurodegenerationframework,5-13withsensitivityandspecificityhighe</a:t>
            </a:r>
          </a:p>
          <a:p/>
          <a:p>
            <a:r>
              <a:t>octa-14 未提供的临床项目：统一筛查适用年龄、转诊数值切点、复查频率、风险评分、治疗/禁忌与正式推荐等级：原文未明确。</a:t>
            </a:r>
          </a:p>
          <a:p>
            <a:r>
              <a:t>来源：2026 刊p673、679 / PDF1、7；类别：原文未明确；推荐等级：原文未明确。</a:t>
            </a:r>
          </a:p>
          <a:p>
            <a:r>
              <a:t>原文锚点：marker-confirmedADpathology,andtheMCIgroupthere-beconsideredpreliminary.Validationinlargerandlongitudi-forerepresentsamixedetiologypopulationthatmaycon-nalstudieswillbeessentialtodeterminetheirprognosticvaluefoundthebiphasicCCFDpattern.Futurestudieswithlargera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78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CTA与阿尔茨海默病：研究解读"/>
          <p:cNvSpPr txBox="1"/>
          <p:nvPr/>
        </p:nvSpPr>
        <p:spPr>
          <a:xfrm>
            <a:off x="23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" name="2026 单篇研究 · 正面"/>
          <p:cNvSpPr txBox="1"/>
          <p:nvPr/>
        </p:nvSpPr>
        <p:spPr>
          <a:xfrm>
            <a:off x="23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6222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研究定位"/>
          <p:cNvSpPr txBox="1"/>
          <p:nvPr/>
        </p:nvSpPr>
        <p:spPr>
          <a:xfrm>
            <a:off x="27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研究定位</a:t>
            </a:r>
          </a:p>
        </p:txBody>
      </p:sp>
      <p:sp>
        <p:nvSpPr>
          <p:cNvPr id="7" name="2026横断面研究，103人：正常49、MCI 29、AD痴呆25。不能预测个体未来发病。"/>
          <p:cNvSpPr txBox="1"/>
          <p:nvPr/>
        </p:nvSpPr>
        <p:spPr>
          <a:xfrm>
            <a:off x="27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2026横断面研究，103人：正常49、MCI 29、AD痴呆25。不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能预测个体未来发病。</a:t>
            </a:r>
          </a:p>
        </p:txBody>
      </p:sp>
      <p:sp>
        <p:nvSpPr>
          <p:cNvPr id="8" name="2026 刊p673"/>
          <p:cNvSpPr txBox="1"/>
          <p:nvPr/>
        </p:nvSpPr>
        <p:spPr>
          <a:xfrm>
            <a:off x="27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2930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检查条件"/>
          <p:cNvSpPr txBox="1"/>
          <p:nvPr/>
        </p:nvSpPr>
        <p:spPr>
          <a:xfrm>
            <a:off x="27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检查条件</a:t>
            </a:r>
          </a:p>
        </p:txBody>
      </p:sp>
      <p:sp>
        <p:nvSpPr>
          <p:cNvPr id="11" name="SS-OCTA黄斑中心6 mm × 6 mm扫描；PLEX Elite 9000。认知诊断参照ADR"/>
          <p:cNvSpPr txBox="1"/>
          <p:nvPr/>
        </p:nvSpPr>
        <p:spPr>
          <a:xfrm>
            <a:off x="27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SS-OCTA黄斑中心6 mm × 6 mm扫描；PLEX Elite 9000。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认知诊断参照ADRC/NIA-AA，非单凭影像。</a:t>
            </a:r>
          </a:p>
        </p:txBody>
      </p:sp>
      <p:sp>
        <p:nvSpPr>
          <p:cNvPr id="12" name="2026 刊p674"/>
          <p:cNvSpPr txBox="1"/>
          <p:nvPr/>
        </p:nvSpPr>
        <p:spPr>
          <a:xfrm>
            <a:off x="27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9638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CC观察"/>
          <p:cNvSpPr txBox="1"/>
          <p:nvPr/>
        </p:nvSpPr>
        <p:spPr>
          <a:xfrm>
            <a:off x="27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GCC观察</a:t>
            </a:r>
          </a:p>
        </p:txBody>
      </p:sp>
      <p:sp>
        <p:nvSpPr>
          <p:cNvPr id="15" name="AD痴呆63.31 μm，正常67.93 μm；差−4.62 μm（95%CI −8.92至−0.3"/>
          <p:cNvSpPr txBox="1"/>
          <p:nvPr/>
        </p:nvSpPr>
        <p:spPr>
          <a:xfrm>
            <a:off x="27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AD痴呆63.31 μm，正常67.93 μm；差−4.62 μm（95%CI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−8.92至−0.31），P=.03。非诊断切点。</a:t>
            </a:r>
          </a:p>
        </p:txBody>
      </p:sp>
      <p:sp>
        <p:nvSpPr>
          <p:cNvPr id="16" name="2026 刊p673、675"/>
          <p:cNvSpPr txBox="1"/>
          <p:nvPr/>
        </p:nvSpPr>
        <p:spPr>
          <a:xfrm>
            <a:off x="27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6346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CFD观察"/>
          <p:cNvSpPr txBox="1"/>
          <p:nvPr/>
        </p:nvSpPr>
        <p:spPr>
          <a:xfrm>
            <a:off x="27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CCFD观察</a:t>
            </a:r>
          </a:p>
        </p:txBody>
      </p:sp>
      <p:sp>
        <p:nvSpPr>
          <p:cNvPr id="19" name="MCI 8.12%、AD痴呆9.07%、正常8.33%，呈双相分布。以上均为调整组均值。"/>
          <p:cNvSpPr txBox="1"/>
          <p:nvPr/>
        </p:nvSpPr>
        <p:spPr>
          <a:xfrm>
            <a:off x="27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MCI 8.12%、AD痴呆9.07%、正常8.33%，呈双相分布。以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上均为调整组均值。</a:t>
            </a:r>
          </a:p>
        </p:txBody>
      </p:sp>
      <p:sp>
        <p:nvSpPr>
          <p:cNvPr id="20" name="2026 刊p673、675、678"/>
          <p:cNvSpPr txBox="1"/>
          <p:nvPr/>
        </p:nvSpPr>
        <p:spPr>
          <a:xfrm>
            <a:off x="27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刊p673、675、678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0020" y="178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CTA与阿尔茨海默病：研究解读"/>
          <p:cNvSpPr txBox="1"/>
          <p:nvPr/>
        </p:nvSpPr>
        <p:spPr>
          <a:xfrm>
            <a:off x="401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24" name="2026 单篇研究 · 正面"/>
          <p:cNvSpPr txBox="1"/>
          <p:nvPr/>
        </p:nvSpPr>
        <p:spPr>
          <a:xfrm>
            <a:off x="401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2720" y="76222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研究定位"/>
          <p:cNvSpPr txBox="1"/>
          <p:nvPr/>
        </p:nvSpPr>
        <p:spPr>
          <a:xfrm>
            <a:off x="405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研究定位</a:t>
            </a:r>
          </a:p>
        </p:txBody>
      </p:sp>
      <p:sp>
        <p:nvSpPr>
          <p:cNvPr id="27" name="2026横断面研究，103人：正常49、MCI 29、AD痴呆25。不能预测个体未来发病。"/>
          <p:cNvSpPr txBox="1"/>
          <p:nvPr/>
        </p:nvSpPr>
        <p:spPr>
          <a:xfrm>
            <a:off x="405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2026横断面研究，103人：正常49、MCI 29、AD痴呆25。不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能预测个体未来发病。</a:t>
            </a:r>
          </a:p>
        </p:txBody>
      </p:sp>
      <p:sp>
        <p:nvSpPr>
          <p:cNvPr id="28" name="2026 刊p673"/>
          <p:cNvSpPr txBox="1"/>
          <p:nvPr/>
        </p:nvSpPr>
        <p:spPr>
          <a:xfrm>
            <a:off x="405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52720" y="152930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检查条件"/>
          <p:cNvSpPr txBox="1"/>
          <p:nvPr/>
        </p:nvSpPr>
        <p:spPr>
          <a:xfrm>
            <a:off x="405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检查条件</a:t>
            </a:r>
          </a:p>
        </p:txBody>
      </p:sp>
      <p:sp>
        <p:nvSpPr>
          <p:cNvPr id="31" name="SS-OCTA黄斑中心6 mm × 6 mm扫描；PLEX Elite 9000。认知诊断参照ADR"/>
          <p:cNvSpPr txBox="1"/>
          <p:nvPr/>
        </p:nvSpPr>
        <p:spPr>
          <a:xfrm>
            <a:off x="405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SS-OCTA黄斑中心6 mm × 6 mm扫描；PLEX Elite 9000。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认知诊断参照ADRC/NIA-AA，非单凭影像。</a:t>
            </a:r>
          </a:p>
        </p:txBody>
      </p:sp>
      <p:sp>
        <p:nvSpPr>
          <p:cNvPr id="32" name="2026 刊p674"/>
          <p:cNvSpPr txBox="1"/>
          <p:nvPr/>
        </p:nvSpPr>
        <p:spPr>
          <a:xfrm>
            <a:off x="405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2720" y="229638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CC观察"/>
          <p:cNvSpPr txBox="1"/>
          <p:nvPr/>
        </p:nvSpPr>
        <p:spPr>
          <a:xfrm>
            <a:off x="405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GCC观察</a:t>
            </a:r>
          </a:p>
        </p:txBody>
      </p:sp>
      <p:sp>
        <p:nvSpPr>
          <p:cNvPr id="35" name="AD痴呆63.31 μm，正常67.93 μm；差−4.62 μm（95%CI −8.92至−0.3"/>
          <p:cNvSpPr txBox="1"/>
          <p:nvPr/>
        </p:nvSpPr>
        <p:spPr>
          <a:xfrm>
            <a:off x="405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AD痴呆63.31 μm，正常67.93 μm；差−4.62 μm（95%CI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−8.92至−0.31），P=.03。非诊断切点。</a:t>
            </a:r>
          </a:p>
        </p:txBody>
      </p:sp>
      <p:sp>
        <p:nvSpPr>
          <p:cNvPr id="36" name="2026 刊p673、675"/>
          <p:cNvSpPr txBox="1"/>
          <p:nvPr/>
        </p:nvSpPr>
        <p:spPr>
          <a:xfrm>
            <a:off x="405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2720" y="306346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CFD观察"/>
          <p:cNvSpPr txBox="1"/>
          <p:nvPr/>
        </p:nvSpPr>
        <p:spPr>
          <a:xfrm>
            <a:off x="405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CCFD观察</a:t>
            </a:r>
          </a:p>
        </p:txBody>
      </p:sp>
      <p:sp>
        <p:nvSpPr>
          <p:cNvPr id="39" name="MCI 8.12%、AD痴呆9.07%、正常8.33%，呈双相分布。以上均为调整组均值。"/>
          <p:cNvSpPr txBox="1"/>
          <p:nvPr/>
        </p:nvSpPr>
        <p:spPr>
          <a:xfrm>
            <a:off x="405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MCI 8.12%、AD痴呆9.07%、正常8.33%，呈双相分布。以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上均为调整组均值。</a:t>
            </a:r>
          </a:p>
        </p:txBody>
      </p:sp>
      <p:sp>
        <p:nvSpPr>
          <p:cNvPr id="40" name="2026 刊p673、675、678"/>
          <p:cNvSpPr txBox="1"/>
          <p:nvPr/>
        </p:nvSpPr>
        <p:spPr>
          <a:xfrm>
            <a:off x="405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刊p673、675、678</a:t>
            </a:r>
          </a:p>
        </p:txBody>
      </p:sp>
      <p:sp>
        <p:nvSpPr>
          <p:cNvPr id="41" name="单篇研究方案，不等同指南推荐。详见提取表。&#10;100%原尺寸 · 双面长边翻转"/>
          <p:cNvSpPr txBox="1"/>
          <p:nvPr/>
        </p:nvSpPr>
        <p:spPr>
          <a:xfrm>
            <a:off x="397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" y="5506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CTA与阿尔茨海默病：研究解读"/>
          <p:cNvSpPr txBox="1"/>
          <p:nvPr/>
        </p:nvSpPr>
        <p:spPr>
          <a:xfrm>
            <a:off x="23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4" name="2026 单篇研究 · 正面"/>
          <p:cNvSpPr txBox="1"/>
          <p:nvPr/>
        </p:nvSpPr>
        <p:spPr>
          <a:xfrm>
            <a:off x="23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2720" y="609022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研究定位"/>
          <p:cNvSpPr txBox="1"/>
          <p:nvPr/>
        </p:nvSpPr>
        <p:spPr>
          <a:xfrm>
            <a:off x="27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研究定位</a:t>
            </a:r>
          </a:p>
        </p:txBody>
      </p:sp>
      <p:sp>
        <p:nvSpPr>
          <p:cNvPr id="47" name="2026横断面研究，103人：正常49、MCI 29、AD痴呆25。不能预测个体未来发病。"/>
          <p:cNvSpPr txBox="1"/>
          <p:nvPr/>
        </p:nvSpPr>
        <p:spPr>
          <a:xfrm>
            <a:off x="27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2026横断面研究，103人：正常49、MCI 29、AD痴呆25。不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能预测个体未来发病。</a:t>
            </a:r>
          </a:p>
        </p:txBody>
      </p:sp>
      <p:sp>
        <p:nvSpPr>
          <p:cNvPr id="48" name="2026 刊p673"/>
          <p:cNvSpPr txBox="1"/>
          <p:nvPr/>
        </p:nvSpPr>
        <p:spPr>
          <a:xfrm>
            <a:off x="27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720" y="685730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检查条件"/>
          <p:cNvSpPr txBox="1"/>
          <p:nvPr/>
        </p:nvSpPr>
        <p:spPr>
          <a:xfrm>
            <a:off x="27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检查条件</a:t>
            </a:r>
          </a:p>
        </p:txBody>
      </p:sp>
      <p:sp>
        <p:nvSpPr>
          <p:cNvPr id="51" name="SS-OCTA黄斑中心6 mm × 6 mm扫描；PLEX Elite 9000。认知诊断参照ADR"/>
          <p:cNvSpPr txBox="1"/>
          <p:nvPr/>
        </p:nvSpPr>
        <p:spPr>
          <a:xfrm>
            <a:off x="27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SS-OCTA黄斑中心6 mm × 6 mm扫描；PLEX Elite 9000。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认知诊断参照ADRC/NIA-AA，非单凭影像。</a:t>
            </a:r>
          </a:p>
        </p:txBody>
      </p:sp>
      <p:sp>
        <p:nvSpPr>
          <p:cNvPr id="52" name="2026 刊p674"/>
          <p:cNvSpPr txBox="1"/>
          <p:nvPr/>
        </p:nvSpPr>
        <p:spPr>
          <a:xfrm>
            <a:off x="27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2720" y="762438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CC观察"/>
          <p:cNvSpPr txBox="1"/>
          <p:nvPr/>
        </p:nvSpPr>
        <p:spPr>
          <a:xfrm>
            <a:off x="27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GCC观察</a:t>
            </a:r>
          </a:p>
        </p:txBody>
      </p:sp>
      <p:sp>
        <p:nvSpPr>
          <p:cNvPr id="55" name="AD痴呆63.31 μm，正常67.93 μm；差−4.62 μm（95%CI −8.92至−0.3"/>
          <p:cNvSpPr txBox="1"/>
          <p:nvPr/>
        </p:nvSpPr>
        <p:spPr>
          <a:xfrm>
            <a:off x="27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AD痴呆63.31 μm，正常67.93 μm；差−4.62 μm（95%CI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−8.92至−0.31），P=.03。非诊断切点。</a:t>
            </a:r>
          </a:p>
        </p:txBody>
      </p:sp>
      <p:sp>
        <p:nvSpPr>
          <p:cNvPr id="56" name="2026 刊p673、675"/>
          <p:cNvSpPr txBox="1"/>
          <p:nvPr/>
        </p:nvSpPr>
        <p:spPr>
          <a:xfrm>
            <a:off x="27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720" y="839146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CFD观察"/>
          <p:cNvSpPr txBox="1"/>
          <p:nvPr/>
        </p:nvSpPr>
        <p:spPr>
          <a:xfrm>
            <a:off x="27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CCFD观察</a:t>
            </a:r>
          </a:p>
        </p:txBody>
      </p:sp>
      <p:sp>
        <p:nvSpPr>
          <p:cNvPr id="59" name="MCI 8.12%、AD痴呆9.07%、正常8.33%，呈双相分布。以上均为调整组均值。"/>
          <p:cNvSpPr txBox="1"/>
          <p:nvPr/>
        </p:nvSpPr>
        <p:spPr>
          <a:xfrm>
            <a:off x="27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MCI 8.12%、AD痴呆9.07%、正常8.33%，呈双相分布。以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上均为调整组均值。</a:t>
            </a:r>
          </a:p>
        </p:txBody>
      </p:sp>
      <p:sp>
        <p:nvSpPr>
          <p:cNvPr id="60" name="2026 刊p673、675、678"/>
          <p:cNvSpPr txBox="1"/>
          <p:nvPr/>
        </p:nvSpPr>
        <p:spPr>
          <a:xfrm>
            <a:off x="27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刊p673、675、678</a:t>
            </a:r>
          </a:p>
        </p:txBody>
      </p:sp>
      <p:sp>
        <p:nvSpPr>
          <p:cNvPr id="61" name="单篇研究方案，不等同指南推荐。详见提取表。&#10;100%原尺寸 · 双面长边翻转"/>
          <p:cNvSpPr txBox="1"/>
          <p:nvPr/>
        </p:nvSpPr>
        <p:spPr>
          <a:xfrm>
            <a:off x="19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0020" y="5506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CTA与阿尔茨海默病：研究解读"/>
          <p:cNvSpPr txBox="1"/>
          <p:nvPr/>
        </p:nvSpPr>
        <p:spPr>
          <a:xfrm>
            <a:off x="401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64" name="2026 单篇研究 · 正面"/>
          <p:cNvSpPr txBox="1"/>
          <p:nvPr/>
        </p:nvSpPr>
        <p:spPr>
          <a:xfrm>
            <a:off x="401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52720" y="609022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研究定位"/>
          <p:cNvSpPr txBox="1"/>
          <p:nvPr/>
        </p:nvSpPr>
        <p:spPr>
          <a:xfrm>
            <a:off x="405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研究定位</a:t>
            </a:r>
          </a:p>
        </p:txBody>
      </p:sp>
      <p:sp>
        <p:nvSpPr>
          <p:cNvPr id="67" name="2026横断面研究，103人：正常49、MCI 29、AD痴呆25。不能预测个体未来发病。"/>
          <p:cNvSpPr txBox="1"/>
          <p:nvPr/>
        </p:nvSpPr>
        <p:spPr>
          <a:xfrm>
            <a:off x="405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2026横断面研究，103人：正常49、MCI 29、AD痴呆25。不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能预测个体未来发病。</a:t>
            </a:r>
          </a:p>
        </p:txBody>
      </p:sp>
      <p:sp>
        <p:nvSpPr>
          <p:cNvPr id="68" name="2026 刊p673"/>
          <p:cNvSpPr txBox="1"/>
          <p:nvPr/>
        </p:nvSpPr>
        <p:spPr>
          <a:xfrm>
            <a:off x="405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52720" y="685730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检查条件"/>
          <p:cNvSpPr txBox="1"/>
          <p:nvPr/>
        </p:nvSpPr>
        <p:spPr>
          <a:xfrm>
            <a:off x="405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检查条件</a:t>
            </a:r>
          </a:p>
        </p:txBody>
      </p:sp>
      <p:sp>
        <p:nvSpPr>
          <p:cNvPr id="71" name="SS-OCTA黄斑中心6 mm × 6 mm扫描；PLEX Elite 9000。认知诊断参照ADR"/>
          <p:cNvSpPr txBox="1"/>
          <p:nvPr/>
        </p:nvSpPr>
        <p:spPr>
          <a:xfrm>
            <a:off x="405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SS-OCTA黄斑中心6 mm × 6 mm扫描；PLEX Elite 9000。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认知诊断参照ADRC/NIA-AA，非单凭影像。</a:t>
            </a:r>
          </a:p>
        </p:txBody>
      </p:sp>
      <p:sp>
        <p:nvSpPr>
          <p:cNvPr id="72" name="2026 刊p674"/>
          <p:cNvSpPr txBox="1"/>
          <p:nvPr/>
        </p:nvSpPr>
        <p:spPr>
          <a:xfrm>
            <a:off x="405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52720" y="762438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CC观察"/>
          <p:cNvSpPr txBox="1"/>
          <p:nvPr/>
        </p:nvSpPr>
        <p:spPr>
          <a:xfrm>
            <a:off x="405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GCC观察</a:t>
            </a:r>
          </a:p>
        </p:txBody>
      </p:sp>
      <p:sp>
        <p:nvSpPr>
          <p:cNvPr id="75" name="AD痴呆63.31 μm，正常67.93 μm；差−4.62 μm（95%CI −8.92至−0.3"/>
          <p:cNvSpPr txBox="1"/>
          <p:nvPr/>
        </p:nvSpPr>
        <p:spPr>
          <a:xfrm>
            <a:off x="405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AD痴呆63.31 μm，正常67.93 μm；差−4.62 μm（95%CI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−8.92至−0.31），P=.03。非诊断切点。</a:t>
            </a:r>
          </a:p>
        </p:txBody>
      </p:sp>
      <p:sp>
        <p:nvSpPr>
          <p:cNvPr id="76" name="2026 刊p673、675"/>
          <p:cNvSpPr txBox="1"/>
          <p:nvPr/>
        </p:nvSpPr>
        <p:spPr>
          <a:xfrm>
            <a:off x="405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2720" y="839146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CFD观察"/>
          <p:cNvSpPr txBox="1"/>
          <p:nvPr/>
        </p:nvSpPr>
        <p:spPr>
          <a:xfrm>
            <a:off x="405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CCFD观察</a:t>
            </a:r>
          </a:p>
        </p:txBody>
      </p:sp>
      <p:sp>
        <p:nvSpPr>
          <p:cNvPr id="79" name="MCI 8.12%、AD痴呆9.07%、正常8.33%，呈双相分布。以上均为调整组均值。"/>
          <p:cNvSpPr txBox="1"/>
          <p:nvPr/>
        </p:nvSpPr>
        <p:spPr>
          <a:xfrm>
            <a:off x="405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MCI 8.12%、AD痴呆9.07%、正常8.33%，呈双相分布。以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上均为调整组均值。</a:t>
            </a:r>
          </a:p>
        </p:txBody>
      </p:sp>
      <p:sp>
        <p:nvSpPr>
          <p:cNvPr id="80" name="2026 刊p673、675、678"/>
          <p:cNvSpPr txBox="1"/>
          <p:nvPr/>
        </p:nvSpPr>
        <p:spPr>
          <a:xfrm>
            <a:off x="405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刊p673、675、678</a:t>
            </a:r>
          </a:p>
        </p:txBody>
      </p:sp>
      <p:sp>
        <p:nvSpPr>
          <p:cNvPr id="81" name="单篇研究方案，不等同指南推荐。详见提取表。&#10;100%原尺寸 · 双面长边翻转"/>
          <p:cNvSpPr txBox="1"/>
          <p:nvPr/>
        </p:nvSpPr>
        <p:spPr>
          <a:xfrm>
            <a:off x="397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78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CTA与阿尔茨海默病：研究解读"/>
          <p:cNvSpPr txBox="1"/>
          <p:nvPr/>
        </p:nvSpPr>
        <p:spPr>
          <a:xfrm>
            <a:off x="23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" name="2026 单篇研究 · 背面"/>
          <p:cNvSpPr txBox="1"/>
          <p:nvPr/>
        </p:nvSpPr>
        <p:spPr>
          <a:xfrm>
            <a:off x="23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6222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统计提醒"/>
          <p:cNvSpPr txBox="1"/>
          <p:nvPr/>
        </p:nvSpPr>
        <p:spPr>
          <a:xfrm>
            <a:off x="27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统计提醒</a:t>
            </a:r>
          </a:p>
        </p:txBody>
      </p:sp>
      <p:sp>
        <p:nvSpPr>
          <p:cNvPr id="7" name="VSD组间FDR校正后不显著；多变量模型关联不能混作组间差异或因果证据。"/>
          <p:cNvSpPr txBox="1"/>
          <p:nvPr/>
        </p:nvSpPr>
        <p:spPr>
          <a:xfrm>
            <a:off x="27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VSD组间FDR校正后不显著；多变量模型关联不能混作组间差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异或因果证据。</a:t>
            </a:r>
          </a:p>
        </p:txBody>
      </p:sp>
      <p:sp>
        <p:nvSpPr>
          <p:cNvPr id="8" name="2026 刊p675、677–678"/>
          <p:cNvSpPr txBox="1"/>
          <p:nvPr/>
        </p:nvSpPr>
        <p:spPr>
          <a:xfrm>
            <a:off x="27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刊p675、677–678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2930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模型性能"/>
          <p:cNvSpPr txBox="1"/>
          <p:nvPr/>
        </p:nvSpPr>
        <p:spPr>
          <a:xfrm>
            <a:off x="27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模型性能</a:t>
            </a:r>
          </a:p>
        </p:txBody>
      </p:sp>
      <p:sp>
        <p:nvSpPr>
          <p:cNvPr id="11" name="测试集21人：10/6/5；AUC 0.72~0.87。事后5折验证更保守，小样本性能可能高估。"/>
          <p:cNvSpPr txBox="1"/>
          <p:nvPr/>
        </p:nvSpPr>
        <p:spPr>
          <a:xfrm>
            <a:off x="27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测试集21人：10/6/5；AUC 0.72~0.87。事后5折验证更保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守，小样本性能可能高估。</a:t>
            </a:r>
          </a:p>
        </p:txBody>
      </p:sp>
      <p:sp>
        <p:nvSpPr>
          <p:cNvPr id="12" name="2026 刊p673、675–676、679"/>
          <p:cNvSpPr txBox="1"/>
          <p:nvPr/>
        </p:nvSpPr>
        <p:spPr>
          <a:xfrm>
            <a:off x="27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刊p673、675–676、679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9638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临床边界"/>
          <p:cNvSpPr txBox="1"/>
          <p:nvPr/>
        </p:nvSpPr>
        <p:spPr>
          <a:xfrm>
            <a:off x="27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临床边界</a:t>
            </a:r>
          </a:p>
        </p:txBody>
      </p:sp>
      <p:sp>
        <p:nvSpPr>
          <p:cNvPr id="15" name="原文未建立个体诊断、转诊数值切点、筛查年龄、复查频率或治疗方案。不可凭组均值判定AD。"/>
          <p:cNvSpPr txBox="1"/>
          <p:nvPr/>
        </p:nvSpPr>
        <p:spPr>
          <a:xfrm>
            <a:off x="27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原文未建立个体诊断、转诊数值切点、筛查年龄、复查频率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或治疗方案。不可凭组均值判定AD。</a:t>
            </a:r>
          </a:p>
        </p:txBody>
      </p:sp>
      <p:sp>
        <p:nvSpPr>
          <p:cNvPr id="16" name="2026 刊p673、679"/>
          <p:cNvSpPr txBox="1"/>
          <p:nvPr/>
        </p:nvSpPr>
        <p:spPr>
          <a:xfrm>
            <a:off x="27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6346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下一步与局限"/>
          <p:cNvSpPr txBox="1"/>
          <p:nvPr/>
        </p:nvSpPr>
        <p:spPr>
          <a:xfrm>
            <a:off x="27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下一步与局限</a:t>
            </a:r>
          </a:p>
        </p:txBody>
      </p:sp>
      <p:sp>
        <p:nvSpPr>
          <p:cNvPr id="19" name="用于研究解读及神经评估衔接；MCI病因混合、性别差异及残余混杂，待外部/纵向验证。"/>
          <p:cNvSpPr txBox="1"/>
          <p:nvPr/>
        </p:nvSpPr>
        <p:spPr>
          <a:xfrm>
            <a:off x="27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用于研究解读及神经评估衔接；MCI病因混合、性别差异及残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余混杂，待外部/纵向验证。</a:t>
            </a:r>
          </a:p>
        </p:txBody>
      </p:sp>
      <p:sp>
        <p:nvSpPr>
          <p:cNvPr id="20" name="2026 刊p674、679"/>
          <p:cNvSpPr txBox="1"/>
          <p:nvPr/>
        </p:nvSpPr>
        <p:spPr>
          <a:xfrm>
            <a:off x="27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刊p674、679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0020" y="178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CTA与阿尔茨海默病：研究解读"/>
          <p:cNvSpPr txBox="1"/>
          <p:nvPr/>
        </p:nvSpPr>
        <p:spPr>
          <a:xfrm>
            <a:off x="401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24" name="2026 单篇研究 · 背面"/>
          <p:cNvSpPr txBox="1"/>
          <p:nvPr/>
        </p:nvSpPr>
        <p:spPr>
          <a:xfrm>
            <a:off x="401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2720" y="76222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统计提醒"/>
          <p:cNvSpPr txBox="1"/>
          <p:nvPr/>
        </p:nvSpPr>
        <p:spPr>
          <a:xfrm>
            <a:off x="405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统计提醒</a:t>
            </a:r>
          </a:p>
        </p:txBody>
      </p:sp>
      <p:sp>
        <p:nvSpPr>
          <p:cNvPr id="27" name="VSD组间FDR校正后不显著；多变量模型关联不能混作组间差异或因果证据。"/>
          <p:cNvSpPr txBox="1"/>
          <p:nvPr/>
        </p:nvSpPr>
        <p:spPr>
          <a:xfrm>
            <a:off x="405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VSD组间FDR校正后不显著；多变量模型关联不能混作组间差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异或因果证据。</a:t>
            </a:r>
          </a:p>
        </p:txBody>
      </p:sp>
      <p:sp>
        <p:nvSpPr>
          <p:cNvPr id="28" name="2026 刊p675、677–678"/>
          <p:cNvSpPr txBox="1"/>
          <p:nvPr/>
        </p:nvSpPr>
        <p:spPr>
          <a:xfrm>
            <a:off x="405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刊p675、677–678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52720" y="152930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模型性能"/>
          <p:cNvSpPr txBox="1"/>
          <p:nvPr/>
        </p:nvSpPr>
        <p:spPr>
          <a:xfrm>
            <a:off x="405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模型性能</a:t>
            </a:r>
          </a:p>
        </p:txBody>
      </p:sp>
      <p:sp>
        <p:nvSpPr>
          <p:cNvPr id="31" name="测试集21人：10/6/5；AUC 0.72~0.87。事后5折验证更保守，小样本性能可能高估。"/>
          <p:cNvSpPr txBox="1"/>
          <p:nvPr/>
        </p:nvSpPr>
        <p:spPr>
          <a:xfrm>
            <a:off x="405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测试集21人：10/6/5；AUC 0.72~0.87。事后5折验证更保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守，小样本性能可能高估。</a:t>
            </a:r>
          </a:p>
        </p:txBody>
      </p:sp>
      <p:sp>
        <p:nvSpPr>
          <p:cNvPr id="32" name="2026 刊p673、675–676、679"/>
          <p:cNvSpPr txBox="1"/>
          <p:nvPr/>
        </p:nvSpPr>
        <p:spPr>
          <a:xfrm>
            <a:off x="405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刊p673、675–676、679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2720" y="229638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临床边界"/>
          <p:cNvSpPr txBox="1"/>
          <p:nvPr/>
        </p:nvSpPr>
        <p:spPr>
          <a:xfrm>
            <a:off x="405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临床边界</a:t>
            </a:r>
          </a:p>
        </p:txBody>
      </p:sp>
      <p:sp>
        <p:nvSpPr>
          <p:cNvPr id="35" name="原文未建立个体诊断、转诊数值切点、筛查年龄、复查频率或治疗方案。不可凭组均值判定AD。"/>
          <p:cNvSpPr txBox="1"/>
          <p:nvPr/>
        </p:nvSpPr>
        <p:spPr>
          <a:xfrm>
            <a:off x="405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原文未建立个体诊断、转诊数值切点、筛查年龄、复查频率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或治疗方案。不可凭组均值判定AD。</a:t>
            </a:r>
          </a:p>
        </p:txBody>
      </p:sp>
      <p:sp>
        <p:nvSpPr>
          <p:cNvPr id="36" name="2026 刊p673、679"/>
          <p:cNvSpPr txBox="1"/>
          <p:nvPr/>
        </p:nvSpPr>
        <p:spPr>
          <a:xfrm>
            <a:off x="405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2720" y="306346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下一步与局限"/>
          <p:cNvSpPr txBox="1"/>
          <p:nvPr/>
        </p:nvSpPr>
        <p:spPr>
          <a:xfrm>
            <a:off x="405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下一步与局限</a:t>
            </a:r>
          </a:p>
        </p:txBody>
      </p:sp>
      <p:sp>
        <p:nvSpPr>
          <p:cNvPr id="39" name="用于研究解读及神经评估衔接；MCI病因混合、性别差异及残余混杂，待外部/纵向验证。"/>
          <p:cNvSpPr txBox="1"/>
          <p:nvPr/>
        </p:nvSpPr>
        <p:spPr>
          <a:xfrm>
            <a:off x="405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用于研究解读及神经评估衔接；MCI病因混合、性别差异及残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余混杂，待外部/纵向验证。</a:t>
            </a:r>
          </a:p>
        </p:txBody>
      </p:sp>
      <p:sp>
        <p:nvSpPr>
          <p:cNvPr id="40" name="2026 刊p674、679"/>
          <p:cNvSpPr txBox="1"/>
          <p:nvPr/>
        </p:nvSpPr>
        <p:spPr>
          <a:xfrm>
            <a:off x="405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刊p674、679</a:t>
            </a:r>
          </a:p>
        </p:txBody>
      </p:sp>
      <p:sp>
        <p:nvSpPr>
          <p:cNvPr id="41" name="单篇研究方案，不等同指南推荐。详见提取表。&#10;100%原尺寸 · 双面长边翻转"/>
          <p:cNvSpPr txBox="1"/>
          <p:nvPr/>
        </p:nvSpPr>
        <p:spPr>
          <a:xfrm>
            <a:off x="397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" y="5506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CTA与阿尔茨海默病：研究解读"/>
          <p:cNvSpPr txBox="1"/>
          <p:nvPr/>
        </p:nvSpPr>
        <p:spPr>
          <a:xfrm>
            <a:off x="23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4" name="2026 单篇研究 · 背面"/>
          <p:cNvSpPr txBox="1"/>
          <p:nvPr/>
        </p:nvSpPr>
        <p:spPr>
          <a:xfrm>
            <a:off x="23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2720" y="609022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统计提醒"/>
          <p:cNvSpPr txBox="1"/>
          <p:nvPr/>
        </p:nvSpPr>
        <p:spPr>
          <a:xfrm>
            <a:off x="27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统计提醒</a:t>
            </a:r>
          </a:p>
        </p:txBody>
      </p:sp>
      <p:sp>
        <p:nvSpPr>
          <p:cNvPr id="47" name="VSD组间FDR校正后不显著；多变量模型关联不能混作组间差异或因果证据。"/>
          <p:cNvSpPr txBox="1"/>
          <p:nvPr/>
        </p:nvSpPr>
        <p:spPr>
          <a:xfrm>
            <a:off x="27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VSD组间FDR校正后不显著；多变量模型关联不能混作组间差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异或因果证据。</a:t>
            </a:r>
          </a:p>
        </p:txBody>
      </p:sp>
      <p:sp>
        <p:nvSpPr>
          <p:cNvPr id="48" name="2026 刊p675、677–678"/>
          <p:cNvSpPr txBox="1"/>
          <p:nvPr/>
        </p:nvSpPr>
        <p:spPr>
          <a:xfrm>
            <a:off x="27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刊p675、677–678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720" y="685730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模型性能"/>
          <p:cNvSpPr txBox="1"/>
          <p:nvPr/>
        </p:nvSpPr>
        <p:spPr>
          <a:xfrm>
            <a:off x="27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模型性能</a:t>
            </a:r>
          </a:p>
        </p:txBody>
      </p:sp>
      <p:sp>
        <p:nvSpPr>
          <p:cNvPr id="51" name="测试集21人：10/6/5；AUC 0.72~0.87。事后5折验证更保守，小样本性能可能高估。"/>
          <p:cNvSpPr txBox="1"/>
          <p:nvPr/>
        </p:nvSpPr>
        <p:spPr>
          <a:xfrm>
            <a:off x="27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测试集21人：10/6/5；AUC 0.72~0.87。事后5折验证更保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守，小样本性能可能高估。</a:t>
            </a:r>
          </a:p>
        </p:txBody>
      </p:sp>
      <p:sp>
        <p:nvSpPr>
          <p:cNvPr id="52" name="2026 刊p673、675–676、679"/>
          <p:cNvSpPr txBox="1"/>
          <p:nvPr/>
        </p:nvSpPr>
        <p:spPr>
          <a:xfrm>
            <a:off x="27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刊p673、675–676、679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2720" y="762438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临床边界"/>
          <p:cNvSpPr txBox="1"/>
          <p:nvPr/>
        </p:nvSpPr>
        <p:spPr>
          <a:xfrm>
            <a:off x="27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临床边界</a:t>
            </a:r>
          </a:p>
        </p:txBody>
      </p:sp>
      <p:sp>
        <p:nvSpPr>
          <p:cNvPr id="55" name="原文未建立个体诊断、转诊数值切点、筛查年龄、复查频率或治疗方案。不可凭组均值判定AD。"/>
          <p:cNvSpPr txBox="1"/>
          <p:nvPr/>
        </p:nvSpPr>
        <p:spPr>
          <a:xfrm>
            <a:off x="27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原文未建立个体诊断、转诊数值切点、筛查年龄、复查频率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或治疗方案。不可凭组均值判定AD。</a:t>
            </a:r>
          </a:p>
        </p:txBody>
      </p:sp>
      <p:sp>
        <p:nvSpPr>
          <p:cNvPr id="56" name="2026 刊p673、679"/>
          <p:cNvSpPr txBox="1"/>
          <p:nvPr/>
        </p:nvSpPr>
        <p:spPr>
          <a:xfrm>
            <a:off x="27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720" y="839146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下一步与局限"/>
          <p:cNvSpPr txBox="1"/>
          <p:nvPr/>
        </p:nvSpPr>
        <p:spPr>
          <a:xfrm>
            <a:off x="27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下一步与局限</a:t>
            </a:r>
          </a:p>
        </p:txBody>
      </p:sp>
      <p:sp>
        <p:nvSpPr>
          <p:cNvPr id="59" name="用于研究解读及神经评估衔接；MCI病因混合、性别差异及残余混杂，待外部/纵向验证。"/>
          <p:cNvSpPr txBox="1"/>
          <p:nvPr/>
        </p:nvSpPr>
        <p:spPr>
          <a:xfrm>
            <a:off x="27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用于研究解读及神经评估衔接；MCI病因混合、性别差异及残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余混杂，待外部/纵向验证。</a:t>
            </a:r>
          </a:p>
        </p:txBody>
      </p:sp>
      <p:sp>
        <p:nvSpPr>
          <p:cNvPr id="60" name="2026 刊p674、679"/>
          <p:cNvSpPr txBox="1"/>
          <p:nvPr/>
        </p:nvSpPr>
        <p:spPr>
          <a:xfrm>
            <a:off x="27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刊p674、679</a:t>
            </a:r>
          </a:p>
        </p:txBody>
      </p:sp>
      <p:sp>
        <p:nvSpPr>
          <p:cNvPr id="61" name="单篇研究方案，不等同指南推荐。详见提取表。&#10;100%原尺寸 · 双面长边翻转"/>
          <p:cNvSpPr txBox="1"/>
          <p:nvPr/>
        </p:nvSpPr>
        <p:spPr>
          <a:xfrm>
            <a:off x="19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0020" y="5506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CTA与阿尔茨海默病：研究解读"/>
          <p:cNvSpPr txBox="1"/>
          <p:nvPr/>
        </p:nvSpPr>
        <p:spPr>
          <a:xfrm>
            <a:off x="401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64" name="2026 单篇研究 · 背面"/>
          <p:cNvSpPr txBox="1"/>
          <p:nvPr/>
        </p:nvSpPr>
        <p:spPr>
          <a:xfrm>
            <a:off x="401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52720" y="609022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统计提醒"/>
          <p:cNvSpPr txBox="1"/>
          <p:nvPr/>
        </p:nvSpPr>
        <p:spPr>
          <a:xfrm>
            <a:off x="405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统计提醒</a:t>
            </a:r>
          </a:p>
        </p:txBody>
      </p:sp>
      <p:sp>
        <p:nvSpPr>
          <p:cNvPr id="67" name="VSD组间FDR校正后不显著；多变量模型关联不能混作组间差异或因果证据。"/>
          <p:cNvSpPr txBox="1"/>
          <p:nvPr/>
        </p:nvSpPr>
        <p:spPr>
          <a:xfrm>
            <a:off x="405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VSD组间FDR校正后不显著；多变量模型关联不能混作组间差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异或因果证据。</a:t>
            </a:r>
          </a:p>
        </p:txBody>
      </p:sp>
      <p:sp>
        <p:nvSpPr>
          <p:cNvPr id="68" name="2026 刊p675、677–678"/>
          <p:cNvSpPr txBox="1"/>
          <p:nvPr/>
        </p:nvSpPr>
        <p:spPr>
          <a:xfrm>
            <a:off x="405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刊p675、677–678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52720" y="685730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模型性能"/>
          <p:cNvSpPr txBox="1"/>
          <p:nvPr/>
        </p:nvSpPr>
        <p:spPr>
          <a:xfrm>
            <a:off x="405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模型性能</a:t>
            </a:r>
          </a:p>
        </p:txBody>
      </p:sp>
      <p:sp>
        <p:nvSpPr>
          <p:cNvPr id="71" name="测试集21人：10/6/5；AUC 0.72~0.87。事后5折验证更保守，小样本性能可能高估。"/>
          <p:cNvSpPr txBox="1"/>
          <p:nvPr/>
        </p:nvSpPr>
        <p:spPr>
          <a:xfrm>
            <a:off x="405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测试集21人：10/6/5；AUC 0.72~0.87。事后5折验证更保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守，小样本性能可能高估。</a:t>
            </a:r>
          </a:p>
        </p:txBody>
      </p:sp>
      <p:sp>
        <p:nvSpPr>
          <p:cNvPr id="72" name="2026 刊p673、675–676、679"/>
          <p:cNvSpPr txBox="1"/>
          <p:nvPr/>
        </p:nvSpPr>
        <p:spPr>
          <a:xfrm>
            <a:off x="405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刊p673、675–676、679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52720" y="762438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临床边界"/>
          <p:cNvSpPr txBox="1"/>
          <p:nvPr/>
        </p:nvSpPr>
        <p:spPr>
          <a:xfrm>
            <a:off x="405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临床边界</a:t>
            </a:r>
          </a:p>
        </p:txBody>
      </p:sp>
      <p:sp>
        <p:nvSpPr>
          <p:cNvPr id="75" name="原文未建立个体诊断、转诊数值切点、筛查年龄、复查频率或治疗方案。不可凭组均值判定AD。"/>
          <p:cNvSpPr txBox="1"/>
          <p:nvPr/>
        </p:nvSpPr>
        <p:spPr>
          <a:xfrm>
            <a:off x="405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原文未建立个体诊断、转诊数值切点、筛查年龄、复查频率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或治疗方案。不可凭组均值判定AD。</a:t>
            </a:r>
          </a:p>
        </p:txBody>
      </p:sp>
      <p:sp>
        <p:nvSpPr>
          <p:cNvPr id="76" name="2026 刊p673、679"/>
          <p:cNvSpPr txBox="1"/>
          <p:nvPr/>
        </p:nvSpPr>
        <p:spPr>
          <a:xfrm>
            <a:off x="405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2720" y="839146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下一步与局限"/>
          <p:cNvSpPr txBox="1"/>
          <p:nvPr/>
        </p:nvSpPr>
        <p:spPr>
          <a:xfrm>
            <a:off x="405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下一步与局限</a:t>
            </a:r>
          </a:p>
        </p:txBody>
      </p:sp>
      <p:sp>
        <p:nvSpPr>
          <p:cNvPr id="79" name="用于研究解读及神经评估衔接；MCI病因混合、性别差异及残余混杂，待外部/纵向验证。"/>
          <p:cNvSpPr txBox="1"/>
          <p:nvPr/>
        </p:nvSpPr>
        <p:spPr>
          <a:xfrm>
            <a:off x="405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用于研究解读及神经评估衔接；MCI病因混合、性别差异及残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余混杂，待外部/纵向验证。</a:t>
            </a:r>
          </a:p>
        </p:txBody>
      </p:sp>
      <p:sp>
        <p:nvSpPr>
          <p:cNvPr id="80" name="2026 刊p674、679"/>
          <p:cNvSpPr txBox="1"/>
          <p:nvPr/>
        </p:nvSpPr>
        <p:spPr>
          <a:xfrm>
            <a:off x="405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刊p674、679</a:t>
            </a:r>
          </a:p>
        </p:txBody>
      </p:sp>
      <p:sp>
        <p:nvSpPr>
          <p:cNvPr id="81" name="单篇研究方案，不等同指南推荐。详见提取表。&#10;100%原尺寸 · 双面长边翻转"/>
          <p:cNvSpPr txBox="1"/>
          <p:nvPr/>
        </p:nvSpPr>
        <p:spPr>
          <a:xfrm>
            <a:off x="397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OCTA与阿尔茨海默病：研究解读 A4 color</dc:title>
  <dc:subject>上传文献原文摘录；原生可编辑文字和图形</dc:subject>
  <dc:creator>眼科临床速查资料整理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