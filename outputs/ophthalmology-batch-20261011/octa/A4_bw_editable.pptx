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</p:sldIdLst>
  <p:sldSz cx="7560000" cy="10692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octa-01 研究设计：103名受试者的横断面分析：正常认知49、MCI 29、AD痴呆25。不是预测未来发病的纵向研究。</a:t>
            </a:r>
          </a:p>
          <a:p>
            <a:r>
              <a:t>来源：2026 刊p673 / PDF1；类别：研究设计；推荐等级：原文未明确。</a:t>
            </a:r>
          </a:p>
          <a:p>
            <a:r>
              <a:t>原文锚点：irment(MCI),andADdementia.DESIGN,SETTING,ANDPARTICIPANTSThiscross-sectionalstudyenrolled103individualsreferredfromtheUniversityofWashingtonAlzheimer’sDiseaseResearchCenter(ADRC)betweenApril2022andSeptember2024.Participantsincluded49cognitivelynormalcontrols,29</a:t>
            </a:r>
          </a:p>
          <a:p/>
          <a:p>
            <a:r>
              <a:t>octa-03 认知参照标准：AD痴呆和MCI由ADRC研究评估，并采用NIA-AA标准；眼部影像不是认知诊断的独立参照标准。</a:t>
            </a:r>
          </a:p>
          <a:p>
            <a:r>
              <a:t>来源：2026 刊p674 / PDF2；类别：诊断；推荐等级：原文未明确。</a:t>
            </a:r>
          </a:p>
          <a:p>
            <a:r>
              <a:t>原文锚点：ishedHowever,despitegrowinginterest,retinalandchoroidalusingNationalInstituteonAging–Alzheimer’sAssociationbiomarkersforADandmildcognitiveimpairment(MCI)re-criteria.6,12,13Participantswithnon-ADdementiaorinad-maininconsistentacrossstudies.Someinvestigationshav</a:t>
            </a:r>
          </a:p>
          <a:p/>
          <a:p>
            <a:r>
              <a:t>octa-04 OCTA采集：PLEX Elite 9000扫频OCTA；黄斑中心6 mm × 6 mm扫描。具体质量排除细则见补充材料，当前上传文件未附补充全文。</a:t>
            </a:r>
          </a:p>
          <a:p>
            <a:r>
              <a:t>来源：2026 刊p674 / PDF2；类别：检查；推荐等级：原文未明确。</a:t>
            </a:r>
          </a:p>
          <a:p>
            <a:r>
              <a:t>原文锚点：ieshighlightsubstantialgapsinourunder-9000,CarlZeissMeditec;6×6-mmfovea-centeredproto-standingofocularstructuralandperfusionchangesassoci-col),withenfaceimagesgeneratedusingopticalmicroangiog-atedwithcognitiveimpairment.raphyalgorithm.50,51Tenretinal,choriocap</a:t>
            </a:r>
          </a:p>
          <a:p/>
          <a:p>
            <a:r>
              <a:t>octa-06 GCC组间结果：调整均值：AD痴呆63.31 μm，正常67.93 μm；差−4.62 μm，95%CI −8.92至−0.31 μm，P=.03。是组均值，不是个体切点。</a:t>
            </a:r>
          </a:p>
          <a:p>
            <a:r>
              <a:t>来源：2026 刊p673、675 / PDF1、3；类别：研究发现；推荐等级：原文未明确。</a:t>
            </a:r>
          </a:p>
          <a:p>
            <a:r>
              <a:t>原文锚点：eand53male[51.5%]),theadjustedmeanGCCwasthinnerinADdementia(63.31μm)vscontrols(67.93μm)(difference,−4.62μm;95%CI,−8.92to−0.31μm;P=.03).AdjustedmeanCCFDwaslowerinMCI(8.12%)thanADdementia(9.07%)(difference,−0.95%;95%CI,−1.71to−0.19;P=.01)buthigherinADdementiatha</a:t>
            </a:r>
          </a:p>
          <a:p/>
          <a:p>
            <a:r>
              <a:t>octa-07 CCFD双相结果：调整均值：MCI 8.12%，AD痴呆9.07%，正常8.33%；MCI与痴呆差−0.95%，P=.01；痴呆与正常差0.74%，P=.04。</a:t>
            </a:r>
          </a:p>
          <a:p>
            <a:r>
              <a:t>来源：2026 刊p673、675、678 / PDF1、3、6；类别：研究发现；推荐等级：原文未明确。</a:t>
            </a:r>
          </a:p>
          <a:p>
            <a:r>
              <a:t>原文锚点：m;95%CI,−8.92to−0.31μm;P=.03).AdjustedmeanCCFDwaslowerinMCI(8.12%)thanADdementia(9.07%)(difference,−0.95%;95%CI,−1.71to−0.19;P=.01)buthigherinADdementiathancontrols(8.33%)(difference,0.74%;95%CI,0.02-1.46;P=.04).Inmultivariablemodels,VSD(MCI:oddsratio[OR],0.79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octa-08 不能混写的显著性：VSD、VAD、flux虽呈下降趋势，但组间ANCOVA在FDR校正后未达显著；VSD在多变量模型中存在关联。两类统计结果须分开。</a:t>
            </a:r>
          </a:p>
          <a:p>
            <a:r>
              <a:t>来源：2026 刊p675、677–678 / PDF3、5–6；类别：研究发现；推荐等级：原文未明确。</a:t>
            </a:r>
          </a:p>
          <a:p>
            <a:r>
              <a:t>原文锚点：lldisplayeddecreasingtrendsfromcontrolsResultstodementia,butnodifferencesweredetectedafterFDRcor-DemographicInformationrection.TheFAZareaalsoshowednodifference(Figure2D).Of106participantsinitiallyenrolled,103wereincludedinthefinalanalysisafterexcluding3non-ADd</a:t>
            </a:r>
          </a:p>
          <a:p/>
          <a:p>
            <a:r>
              <a:t>octa-09 模型验证范围：80/20训练测试拆分；测试集仅21人（正常10、MCI 6、AD痴呆5）。AUC 0.72~0.87为这一小测试集内的区分能力。</a:t>
            </a:r>
          </a:p>
          <a:p>
            <a:r>
              <a:t>来源：2026 刊p673、675–676、679 / PDF1、3–4、7；类别：研究发现；推荐等级：原文未明确。</a:t>
            </a:r>
          </a:p>
          <a:p>
            <a:r>
              <a:t>原文锚点：edwithcognitivestatus,withanareaunderthecurveof0.72to0.87ina21-participanttestset(10controls,6MCI,5ADdementia).CONCLUSIONSANDRELEVANCEInarelativelysmallcohortstudy,OCTArevealeddistinctmicrovascularsignaturesacrosscognitivestages.VSDdecreased,andCCFDshowedabiph</a:t>
            </a:r>
          </a:p>
          <a:p/>
          <a:p>
            <a:r>
              <a:t>octa-10 AUC不能作诊断阈值：研究设计及统计效能不足以建立临床可操作阈值；没有用于个体诊断的GCC/CCFD/VSD切点、预测时限或用药方案。</a:t>
            </a:r>
          </a:p>
          <a:p>
            <a:r>
              <a:t>来源：2026 刊p679 / PDF7；类别：原文未明确；推荐等级：原文未明确。</a:t>
            </a:r>
          </a:p>
          <a:p>
            <a:r>
              <a:t>原文锚点：etherthesealterationsprecede,accompany,orfol-eredtoestablishclinicallyactionablethresholdsorgeneralizelowcognitivedecline.Third,notallparticipantswithMCIhadtothebroaderdementiapopulation,andallfindingsshouldbiomarker-confirmedADpathology,andtheMCIgroupthere-be</a:t>
            </a:r>
          </a:p>
          <a:p/>
          <a:p>
            <a:r>
              <a:t>octa-11 模型不稳定：作者指出小测试集的AUC可能被高估；事后5折交叉验证结果更保守，需要更大样本外部与纵向验证。</a:t>
            </a:r>
          </a:p>
          <a:p>
            <a:r>
              <a:t>来源：2026 刊p679 / PDF7；类别：研究局限；推荐等级：原文未明确。</a:t>
            </a:r>
          </a:p>
          <a:p>
            <a:r>
              <a:t>原文锚点：weprovidedacomprehensiveassessmentofboth80/20splitwerelikelyinflatedduetothesmalltestsetsize.structuralandperfusionOCTAbiomarkersacrosstheretina,AlthoughtheOCTA-inclusivemodelconsistentlyoutper-choroid,andchoriocapillarisinrelationtocognitivestatus.VSDformedth</a:t>
            </a:r>
          </a:p>
          <a:p/>
          <a:p>
            <a:r>
              <a:t>octa-12 局限与外推：MCI未全部用AD生物标志物确证，病因混合；性别分布差异、眼病与系统血管因素可能残余混杂。不能证明因果或变化先后。</a:t>
            </a:r>
          </a:p>
          <a:p>
            <a:r>
              <a:t>来源：2026 刊p679 / PDF7；类别：研究局限；推荐等级：原文未明确。</a:t>
            </a:r>
          </a:p>
          <a:p>
            <a:r>
              <a:t>原文锚点：lyactionablethresholdsorgeneralizelowcognitivedecline.Third,notallparticipantswithMCIhadtothebroaderdementiapopulation,andallfindingsshouldbiomarker-confirmedADpathology,andtheMCIgroupthere-beconsideredpreliminary.Validationinlargerandlongitudi-forerepresentsa</a:t>
            </a:r>
          </a:p>
          <a:p/>
          <a:p>
            <a:r>
              <a:t>octa-13 临床解读边界：OCTA可能是辅助筛查与神经评估衔接的研究方向；不能凭组均值给个体贴AD标签，也不能单独据此启动治疗。</a:t>
            </a:r>
          </a:p>
          <a:p>
            <a:r>
              <a:t>来源：2026 刊p674、679 / PDF2、7；类别：研究解读；推荐等级：原文未明确。</a:t>
            </a:r>
          </a:p>
          <a:p>
            <a:r>
              <a:t>原文锚点：onanceimaging(MRI),andcognitiveimpairmentandguidereferralforneurologicalcerebrospinalfluid(CSF)biomarkeranalysis,areestablishedevaluation.diagnostictoolsforclinicalADdementiawithintheAmyloid/Tau/Neurodegenerationframework,5-13withsensitivityandspecificityhighe</a:t>
            </a:r>
          </a:p>
          <a:p/>
          <a:p>
            <a:r>
              <a:t>octa-14 未提供的临床项目：统一筛查适用年龄、转诊数值切点、复查频率、风险评分、治疗/禁忌与正式推荐等级：原文未明确。</a:t>
            </a:r>
          </a:p>
          <a:p>
            <a:r>
              <a:t>来源：2026 刊p673、679 / PDF1、7；类别：原文未明确；推荐等级：原文未明确。</a:t>
            </a:r>
          </a:p>
          <a:p>
            <a:r>
              <a:t>原文锚点：marker-confirmedADpathology,andtheMCIgroupthere-beconsideredpreliminary.Validationinlargerandlongitudi-forerepresentsamixedetiologypopulationthatmaycon-nalstudieswillbeessentialtodeterminetheirprognosticvaluefoundthebiphasicCCFDpattern.Futurestudieswithlargera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160020" y="178020"/>
            <a:ext cx="3459960" cy="520700"/>
          </a:xfrm>
          <a:prstGeom prst="rect">
            <a:avLst/>
          </a:prstGeom>
          <a:solidFill>
            <a:srgbClr val="FFFFFF"/>
          </a:solidFill>
          <a:ln w="7620">
            <a:solidFill>
              <a:srgbClr val="6D7A8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CTA与阿尔茨海默病：研究解读"/>
          <p:cNvSpPr txBox="1"/>
          <p:nvPr/>
        </p:nvSpPr>
        <p:spPr>
          <a:xfrm>
            <a:off x="236220" y="216120"/>
            <a:ext cx="3307560" cy="241300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ts val="1400"/>
              </a:lnSpc>
              <a:spcBef>
                <a:spcPts val="0"/>
              </a:spcBef>
              <a:spcAft>
                <a:spcPts val="0"/>
              </a:spcAft>
            </a:pPr>
            <a:r>
              <a:rPr sz="1150" b="1" lang="zh-CN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rPr>
              <a:t>OCTA与阿尔茨海默病：研究解读</a:t>
            </a:r>
          </a:p>
        </p:txBody>
      </p:sp>
      <p:sp>
        <p:nvSpPr>
          <p:cNvPr id="4" name="2026 单篇研究 · 正面"/>
          <p:cNvSpPr txBox="1"/>
          <p:nvPr/>
        </p:nvSpPr>
        <p:spPr>
          <a:xfrm>
            <a:off x="236220" y="432020"/>
            <a:ext cx="3307560" cy="193040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ts val="1019"/>
              </a:lnSpc>
              <a:spcBef>
                <a:spcPts val="0"/>
              </a:spcBef>
              <a:spcAft>
                <a:spcPts val="0"/>
              </a:spcAft>
            </a:pPr>
            <a:r>
              <a:rPr sz="850" b="0" lang="zh-CN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rPr>
              <a:t>2026 单篇研究 · 正面</a:t>
            </a:r>
          </a:p>
        </p:txBody>
      </p:sp>
      <p:sp>
        <p:nvSpPr>
          <p:cNvPr id="5" name="Rectangle 4"/>
          <p:cNvSpPr/>
          <p:nvPr/>
        </p:nvSpPr>
        <p:spPr>
          <a:xfrm>
            <a:off x="172720" y="762220"/>
            <a:ext cx="3434560" cy="716280"/>
          </a:xfrm>
          <a:prstGeom prst="rect">
            <a:avLst/>
          </a:prstGeom>
          <a:solidFill>
            <a:srgbClr val="FFFFFF"/>
          </a:solidFill>
          <a:ln w="7620">
            <a:solidFill>
              <a:srgbClr val="7E8A9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研究定位"/>
          <p:cNvSpPr txBox="1"/>
          <p:nvPr/>
        </p:nvSpPr>
        <p:spPr>
          <a:xfrm>
            <a:off x="274320" y="800320"/>
            <a:ext cx="3231360" cy="215900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ts val="12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 lang="zh-CN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rPr>
              <a:t>研究定位</a:t>
            </a:r>
          </a:p>
        </p:txBody>
      </p:sp>
      <p:sp>
        <p:nvSpPr>
          <p:cNvPr id="7" name="2026横断面研究，103人：正常49、MCI 29、AD痴呆25。不能预测个体未来发病。"/>
          <p:cNvSpPr txBox="1"/>
          <p:nvPr/>
        </p:nvSpPr>
        <p:spPr>
          <a:xfrm>
            <a:off x="274320" y="952720"/>
            <a:ext cx="3231360" cy="358140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ts val="1160"/>
              </a:lnSpc>
              <a:spcBef>
                <a:spcPts val="0"/>
              </a:spcBef>
              <a:spcAft>
                <a:spcPts val="0"/>
              </a:spcAft>
            </a:pPr>
            <a:r>
              <a:rPr sz="950" b="0" lang="zh-CN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rPr>
              <a:t>2026横断面研究，103人：正常49、MCI 29、AD痴呆25。不</a:t>
            </a:r>
          </a:p>
          <a:p>
            <a:pPr>
              <a:lnSpc>
                <a:spcPts val="1160"/>
              </a:lnSpc>
              <a:spcBef>
                <a:spcPts val="0"/>
              </a:spcBef>
              <a:spcAft>
                <a:spcPts val="0"/>
              </a:spcAft>
            </a:pPr>
            <a:r>
              <a:rPr sz="950" b="0" lang="zh-CN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rPr>
              <a:t>能预测个体未来发病。</a:t>
            </a:r>
          </a:p>
        </p:txBody>
      </p:sp>
      <p:sp>
        <p:nvSpPr>
          <p:cNvPr id="8" name="2026 刊p673"/>
          <p:cNvSpPr txBox="1"/>
          <p:nvPr/>
        </p:nvSpPr>
        <p:spPr>
          <a:xfrm>
            <a:off x="274320" y="1272760"/>
            <a:ext cx="3231360" cy="193040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ts val="1019"/>
              </a:lnSpc>
              <a:spcBef>
                <a:spcPts val="0"/>
              </a:spcBef>
              <a:spcAft>
                <a:spcPts val="0"/>
              </a:spcAft>
            </a:pPr>
            <a:r>
              <a:rPr sz="850" b="0" lang="zh-CN">
                <a:solidFill>
                  <a:srgbClr val="404040"/>
                </a:solidFill>
                <a:latin typeface="Microsoft YaHei"/>
                <a:ea typeface="Microsoft YaHei"/>
                <a:cs typeface="Microsoft YaHei"/>
              </a:rPr>
              <a:t>2026 刊p673</a:t>
            </a:r>
          </a:p>
        </p:txBody>
      </p:sp>
      <p:sp>
        <p:nvSpPr>
          <p:cNvPr id="9" name="Rectangle 8"/>
          <p:cNvSpPr/>
          <p:nvPr/>
        </p:nvSpPr>
        <p:spPr>
          <a:xfrm>
            <a:off x="172720" y="1529300"/>
            <a:ext cx="3434560" cy="716280"/>
          </a:xfrm>
          <a:prstGeom prst="rect">
            <a:avLst/>
          </a:prstGeom>
          <a:solidFill>
            <a:srgbClr val="FFFFFF"/>
          </a:solidFill>
          <a:ln w="7620">
            <a:solidFill>
              <a:srgbClr val="7E8A9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检查条件"/>
          <p:cNvSpPr txBox="1"/>
          <p:nvPr/>
        </p:nvSpPr>
        <p:spPr>
          <a:xfrm>
            <a:off x="274320" y="1567400"/>
            <a:ext cx="3231360" cy="215900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ts val="12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 lang="zh-CN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rPr>
              <a:t>检查条件</a:t>
            </a:r>
          </a:p>
        </p:txBody>
      </p:sp>
      <p:sp>
        <p:nvSpPr>
          <p:cNvPr id="11" name="SS-OCTA黄斑中心6 mm × 6 mm扫描；PLEX Elite 9000。认知诊断参照ADR"/>
          <p:cNvSpPr txBox="1"/>
          <p:nvPr/>
        </p:nvSpPr>
        <p:spPr>
          <a:xfrm>
            <a:off x="274320" y="1719800"/>
            <a:ext cx="3231360" cy="358140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ts val="1160"/>
              </a:lnSpc>
              <a:spcBef>
                <a:spcPts val="0"/>
              </a:spcBef>
              <a:spcAft>
                <a:spcPts val="0"/>
              </a:spcAft>
            </a:pPr>
            <a:r>
              <a:rPr sz="950" b="0" lang="zh-CN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rPr>
              <a:t>SS-OCTA黄斑中心6 mm × 6 mm扫描；PLEX Elite 9000。</a:t>
            </a:r>
          </a:p>
          <a:p>
            <a:pPr>
              <a:lnSpc>
                <a:spcPts val="1160"/>
              </a:lnSpc>
              <a:spcBef>
                <a:spcPts val="0"/>
              </a:spcBef>
              <a:spcAft>
                <a:spcPts val="0"/>
              </a:spcAft>
            </a:pPr>
            <a:r>
              <a:rPr sz="950" b="0" lang="zh-CN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rPr>
              <a:t>认知诊断参照ADRC/NIA-AA，非单凭影像。</a:t>
            </a:r>
          </a:p>
        </p:txBody>
      </p:sp>
      <p:sp>
        <p:nvSpPr>
          <p:cNvPr id="12" name="2026 刊p674"/>
          <p:cNvSpPr txBox="1"/>
          <p:nvPr/>
        </p:nvSpPr>
        <p:spPr>
          <a:xfrm>
            <a:off x="274320" y="2039840"/>
            <a:ext cx="3231360" cy="193040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ts val="1019"/>
              </a:lnSpc>
              <a:spcBef>
                <a:spcPts val="0"/>
              </a:spcBef>
              <a:spcAft>
                <a:spcPts val="0"/>
              </a:spcAft>
            </a:pPr>
            <a:r>
              <a:rPr sz="850" b="0" lang="zh-CN">
                <a:solidFill>
                  <a:srgbClr val="404040"/>
                </a:solidFill>
                <a:latin typeface="Microsoft YaHei"/>
                <a:ea typeface="Microsoft YaHei"/>
                <a:cs typeface="Microsoft YaHei"/>
              </a:rPr>
              <a:t>2026 刊p674</a:t>
            </a:r>
          </a:p>
        </p:txBody>
      </p:sp>
      <p:sp>
        <p:nvSpPr>
          <p:cNvPr id="13" name="Rectangle 12"/>
          <p:cNvSpPr/>
          <p:nvPr/>
        </p:nvSpPr>
        <p:spPr>
          <a:xfrm>
            <a:off x="172720" y="2296380"/>
            <a:ext cx="3434560" cy="716280"/>
          </a:xfrm>
          <a:prstGeom prst="rect">
            <a:avLst/>
          </a:prstGeom>
          <a:solidFill>
            <a:srgbClr val="FFFFFF"/>
          </a:solidFill>
          <a:ln w="7620">
            <a:solidFill>
              <a:srgbClr val="7E8A9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GCC观察"/>
          <p:cNvSpPr txBox="1"/>
          <p:nvPr/>
        </p:nvSpPr>
        <p:spPr>
          <a:xfrm>
            <a:off x="274320" y="2334480"/>
            <a:ext cx="3231360" cy="215900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ts val="12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 lang="zh-CN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rPr>
              <a:t>GCC观察</a:t>
            </a:r>
          </a:p>
        </p:txBody>
      </p:sp>
      <p:sp>
        <p:nvSpPr>
          <p:cNvPr id="15" name="AD痴呆63.31 μm，正常67.93 μm；差−4.62 μm（95%CI −8.92至−0.3"/>
          <p:cNvSpPr txBox="1"/>
          <p:nvPr/>
        </p:nvSpPr>
        <p:spPr>
          <a:xfrm>
            <a:off x="274320" y="2486880"/>
            <a:ext cx="3231360" cy="358140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ts val="1160"/>
              </a:lnSpc>
              <a:spcBef>
                <a:spcPts val="0"/>
              </a:spcBef>
              <a:spcAft>
                <a:spcPts val="0"/>
              </a:spcAft>
            </a:pPr>
            <a:r>
              <a:rPr sz="950" b="0" lang="zh-CN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rPr>
              <a:t>AD痴呆63.31 μm，正常67.93 μm；差−4.62 μm（95%CI</a:t>
            </a:r>
          </a:p>
          <a:p>
            <a:pPr>
              <a:lnSpc>
                <a:spcPts val="1160"/>
              </a:lnSpc>
              <a:spcBef>
                <a:spcPts val="0"/>
              </a:spcBef>
              <a:spcAft>
                <a:spcPts val="0"/>
              </a:spcAft>
            </a:pPr>
            <a:r>
              <a:rPr sz="950" b="0" lang="zh-CN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rPr>
              <a:t>−8.92至−0.31），P=.03。非诊断切点。</a:t>
            </a:r>
          </a:p>
        </p:txBody>
      </p:sp>
      <p:sp>
        <p:nvSpPr>
          <p:cNvPr id="16" name="2026 刊p673、675"/>
          <p:cNvSpPr txBox="1"/>
          <p:nvPr/>
        </p:nvSpPr>
        <p:spPr>
          <a:xfrm>
            <a:off x="274320" y="2806920"/>
            <a:ext cx="3231360" cy="193040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ts val="1019"/>
              </a:lnSpc>
              <a:spcBef>
                <a:spcPts val="0"/>
              </a:spcBef>
              <a:spcAft>
                <a:spcPts val="0"/>
              </a:spcAft>
            </a:pPr>
            <a:r>
              <a:rPr sz="850" b="0" lang="zh-CN">
                <a:solidFill>
                  <a:srgbClr val="404040"/>
                </a:solidFill>
                <a:latin typeface="Microsoft YaHei"/>
                <a:ea typeface="Microsoft YaHei"/>
                <a:cs typeface="Microsoft YaHei"/>
              </a:rPr>
              <a:t>2026 刊p673、675</a:t>
            </a:r>
          </a:p>
        </p:txBody>
      </p:sp>
      <p:sp>
        <p:nvSpPr>
          <p:cNvPr id="17" name="Rectangle 16"/>
          <p:cNvSpPr/>
          <p:nvPr/>
        </p:nvSpPr>
        <p:spPr>
          <a:xfrm>
            <a:off x="172720" y="3063460"/>
            <a:ext cx="3434560" cy="716280"/>
          </a:xfrm>
          <a:prstGeom prst="rect">
            <a:avLst/>
          </a:prstGeom>
          <a:solidFill>
            <a:srgbClr val="FFFFFF"/>
          </a:solidFill>
          <a:ln w="7620">
            <a:solidFill>
              <a:srgbClr val="7E8A9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CCFD观察"/>
          <p:cNvSpPr txBox="1"/>
          <p:nvPr/>
        </p:nvSpPr>
        <p:spPr>
          <a:xfrm>
            <a:off x="274320" y="3101560"/>
            <a:ext cx="3231360" cy="215900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ts val="12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 lang="zh-CN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rPr>
              <a:t>CCFD观察</a:t>
            </a:r>
          </a:p>
        </p:txBody>
      </p:sp>
      <p:sp>
        <p:nvSpPr>
          <p:cNvPr id="19" name="MCI 8.12%、AD痴呆9.07%、正常8.33%，呈双相分布。以上均为调整组均值。"/>
          <p:cNvSpPr txBox="1"/>
          <p:nvPr/>
        </p:nvSpPr>
        <p:spPr>
          <a:xfrm>
            <a:off x="274320" y="3253960"/>
            <a:ext cx="3231360" cy="358140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ts val="1160"/>
              </a:lnSpc>
              <a:spcBef>
                <a:spcPts val="0"/>
              </a:spcBef>
              <a:spcAft>
                <a:spcPts val="0"/>
              </a:spcAft>
            </a:pPr>
            <a:r>
              <a:rPr sz="950" b="0" lang="zh-CN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rPr>
              <a:t>MCI 8.12%、AD痴呆9.07%、正常8.33%，呈双相分布。以</a:t>
            </a:r>
          </a:p>
          <a:p>
            <a:pPr>
              <a:lnSpc>
                <a:spcPts val="1160"/>
              </a:lnSpc>
              <a:spcBef>
                <a:spcPts val="0"/>
              </a:spcBef>
              <a:spcAft>
                <a:spcPts val="0"/>
              </a:spcAft>
            </a:pPr>
            <a:r>
              <a:rPr sz="950" b="0" lang="zh-CN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rPr>
              <a:t>上均为调整组均值。</a:t>
            </a:r>
          </a:p>
        </p:txBody>
      </p:sp>
      <p:sp>
        <p:nvSpPr>
          <p:cNvPr id="20" name="2026 刊p673、675、678"/>
          <p:cNvSpPr txBox="1"/>
          <p:nvPr/>
        </p:nvSpPr>
        <p:spPr>
          <a:xfrm>
            <a:off x="274320" y="3574000"/>
            <a:ext cx="3231360" cy="193040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ts val="1019"/>
              </a:lnSpc>
              <a:spcBef>
                <a:spcPts val="0"/>
              </a:spcBef>
              <a:spcAft>
                <a:spcPts val="0"/>
              </a:spcAft>
            </a:pPr>
            <a:r>
              <a:rPr sz="850" b="0" lang="zh-CN">
                <a:solidFill>
                  <a:srgbClr val="404040"/>
                </a:solidFill>
                <a:latin typeface="Microsoft YaHei"/>
                <a:ea typeface="Microsoft YaHei"/>
                <a:cs typeface="Microsoft YaHei"/>
              </a:rPr>
              <a:t>2026 刊p673、675、678</a:t>
            </a:r>
          </a:p>
        </p:txBody>
      </p:sp>
      <p:sp>
        <p:nvSpPr>
          <p:cNvPr id="21" name="单篇研究方案，不等同指南推荐。详见提取表。&#10;100%原尺寸 · 双面长边翻转"/>
          <p:cNvSpPr txBox="1"/>
          <p:nvPr/>
        </p:nvSpPr>
        <p:spPr>
          <a:xfrm>
            <a:off x="198120" y="4888800"/>
            <a:ext cx="3383760" cy="322580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ts val="1019"/>
              </a:lnSpc>
              <a:spcBef>
                <a:spcPts val="0"/>
              </a:spcBef>
              <a:spcAft>
                <a:spcPts val="0"/>
              </a:spcAft>
            </a:pPr>
            <a:r>
              <a:rPr sz="850" b="0" lang="zh-CN">
                <a:solidFill>
                  <a:srgbClr val="404040"/>
                </a:solidFill>
                <a:latin typeface="Microsoft YaHei"/>
                <a:ea typeface="Microsoft YaHei"/>
                <a:cs typeface="Microsoft YaHei"/>
              </a:rPr>
              <a:t>单篇研究方案，不等同指南推荐。详见提取表。</a:t>
            </a:r>
          </a:p>
          <a:p>
            <a:pPr>
              <a:lnSpc>
                <a:spcPts val="1019"/>
              </a:lnSpc>
              <a:spcBef>
                <a:spcPts val="0"/>
              </a:spcBef>
              <a:spcAft>
                <a:spcPts val="0"/>
              </a:spcAft>
            </a:pPr>
            <a:r>
              <a:rPr sz="850" b="0" lang="zh-CN">
                <a:solidFill>
                  <a:srgbClr val="404040"/>
                </a:solidFill>
                <a:latin typeface="Microsoft YaHei"/>
                <a:ea typeface="Microsoft YaHei"/>
                <a:cs typeface="Microsoft YaHei"/>
              </a:rPr>
              <a:t>100%原尺寸 · 双面长边翻转</a:t>
            </a:r>
          </a:p>
        </p:txBody>
      </p:sp>
      <p:sp>
        <p:nvSpPr>
          <p:cNvPr id="22" name="Rectangle 21"/>
          <p:cNvSpPr/>
          <p:nvPr/>
        </p:nvSpPr>
        <p:spPr>
          <a:xfrm>
            <a:off x="3940020" y="178020"/>
            <a:ext cx="3459960" cy="520700"/>
          </a:xfrm>
          <a:prstGeom prst="rect">
            <a:avLst/>
          </a:prstGeom>
          <a:solidFill>
            <a:srgbClr val="FFFFFF"/>
          </a:solidFill>
          <a:ln w="7620">
            <a:solidFill>
              <a:srgbClr val="6D7A8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OCTA与阿尔茨海默病：研究解读"/>
          <p:cNvSpPr txBox="1"/>
          <p:nvPr/>
        </p:nvSpPr>
        <p:spPr>
          <a:xfrm>
            <a:off x="4016220" y="216120"/>
            <a:ext cx="3307560" cy="241300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ts val="1400"/>
              </a:lnSpc>
              <a:spcBef>
                <a:spcPts val="0"/>
              </a:spcBef>
              <a:spcAft>
                <a:spcPts val="0"/>
              </a:spcAft>
            </a:pPr>
            <a:r>
              <a:rPr sz="1150" b="1" lang="zh-CN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rPr>
              <a:t>OCTA与阿尔茨海默病：研究解读</a:t>
            </a:r>
          </a:p>
        </p:txBody>
      </p:sp>
      <p:sp>
        <p:nvSpPr>
          <p:cNvPr id="24" name="2026 单篇研究 · 正面"/>
          <p:cNvSpPr txBox="1"/>
          <p:nvPr/>
        </p:nvSpPr>
        <p:spPr>
          <a:xfrm>
            <a:off x="4016220" y="432020"/>
            <a:ext cx="3307560" cy="193040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ts val="1019"/>
              </a:lnSpc>
              <a:spcBef>
                <a:spcPts val="0"/>
              </a:spcBef>
              <a:spcAft>
                <a:spcPts val="0"/>
              </a:spcAft>
            </a:pPr>
            <a:r>
              <a:rPr sz="850" b="0" lang="zh-CN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rPr>
              <a:t>2026 单篇研究 · 正面</a:t>
            </a:r>
          </a:p>
        </p:txBody>
      </p:sp>
      <p:sp>
        <p:nvSpPr>
          <p:cNvPr id="25" name="Rectangle 24"/>
          <p:cNvSpPr/>
          <p:nvPr/>
        </p:nvSpPr>
        <p:spPr>
          <a:xfrm>
            <a:off x="3952720" y="762220"/>
            <a:ext cx="3434560" cy="716280"/>
          </a:xfrm>
          <a:prstGeom prst="rect">
            <a:avLst/>
          </a:prstGeom>
          <a:solidFill>
            <a:srgbClr val="FFFFFF"/>
          </a:solidFill>
          <a:ln w="7620">
            <a:solidFill>
              <a:srgbClr val="7E8A9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研究定位"/>
          <p:cNvSpPr txBox="1"/>
          <p:nvPr/>
        </p:nvSpPr>
        <p:spPr>
          <a:xfrm>
            <a:off x="4054320" y="800320"/>
            <a:ext cx="3231360" cy="215900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ts val="12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 lang="zh-CN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rPr>
              <a:t>研究定位</a:t>
            </a:r>
          </a:p>
        </p:txBody>
      </p:sp>
      <p:sp>
        <p:nvSpPr>
          <p:cNvPr id="27" name="2026横断面研究，103人：正常49、MCI 29、AD痴呆25。不能预测个体未来发病。"/>
          <p:cNvSpPr txBox="1"/>
          <p:nvPr/>
        </p:nvSpPr>
        <p:spPr>
          <a:xfrm>
            <a:off x="4054320" y="952720"/>
            <a:ext cx="3231360" cy="358140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ts val="1160"/>
              </a:lnSpc>
              <a:spcBef>
                <a:spcPts val="0"/>
              </a:spcBef>
              <a:spcAft>
                <a:spcPts val="0"/>
              </a:spcAft>
            </a:pPr>
            <a:r>
              <a:rPr sz="950" b="0" lang="zh-CN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rPr>
              <a:t>2026横断面研究，103人：正常49、MCI 29、AD痴呆25。不</a:t>
            </a:r>
          </a:p>
          <a:p>
            <a:pPr>
              <a:lnSpc>
                <a:spcPts val="1160"/>
              </a:lnSpc>
              <a:spcBef>
                <a:spcPts val="0"/>
              </a:spcBef>
              <a:spcAft>
                <a:spcPts val="0"/>
              </a:spcAft>
            </a:pPr>
            <a:r>
              <a:rPr sz="950" b="0" lang="zh-CN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rPr>
              <a:t>能预测个体未来发病。</a:t>
            </a:r>
          </a:p>
        </p:txBody>
      </p:sp>
      <p:sp>
        <p:nvSpPr>
          <p:cNvPr id="28" name="2026 刊p673"/>
          <p:cNvSpPr txBox="1"/>
          <p:nvPr/>
        </p:nvSpPr>
        <p:spPr>
          <a:xfrm>
            <a:off x="4054320" y="1272760"/>
            <a:ext cx="3231360" cy="193040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ts val="1019"/>
              </a:lnSpc>
              <a:spcBef>
                <a:spcPts val="0"/>
              </a:spcBef>
              <a:spcAft>
                <a:spcPts val="0"/>
              </a:spcAft>
            </a:pPr>
            <a:r>
              <a:rPr sz="850" b="0" lang="zh-CN">
                <a:solidFill>
                  <a:srgbClr val="404040"/>
                </a:solidFill>
                <a:latin typeface="Microsoft YaHei"/>
                <a:ea typeface="Microsoft YaHei"/>
                <a:cs typeface="Microsoft YaHei"/>
              </a:rPr>
              <a:t>2026 刊p673</a:t>
            </a:r>
          </a:p>
        </p:txBody>
      </p:sp>
      <p:sp>
        <p:nvSpPr>
          <p:cNvPr id="29" name="Rectangle 28"/>
          <p:cNvSpPr/>
          <p:nvPr/>
        </p:nvSpPr>
        <p:spPr>
          <a:xfrm>
            <a:off x="3952720" y="1529300"/>
            <a:ext cx="3434560" cy="716280"/>
          </a:xfrm>
          <a:prstGeom prst="rect">
            <a:avLst/>
          </a:prstGeom>
          <a:solidFill>
            <a:srgbClr val="FFFFFF"/>
          </a:solidFill>
          <a:ln w="7620">
            <a:solidFill>
              <a:srgbClr val="7E8A9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检查条件"/>
          <p:cNvSpPr txBox="1"/>
          <p:nvPr/>
        </p:nvSpPr>
        <p:spPr>
          <a:xfrm>
            <a:off x="4054320" y="1567400"/>
            <a:ext cx="3231360" cy="215900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ts val="12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 lang="zh-CN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rPr>
              <a:t>检查条件</a:t>
            </a:r>
          </a:p>
        </p:txBody>
      </p:sp>
      <p:sp>
        <p:nvSpPr>
          <p:cNvPr id="31" name="SS-OCTA黄斑中心6 mm × 6 mm扫描；PLEX Elite 9000。认知诊断参照ADR"/>
          <p:cNvSpPr txBox="1"/>
          <p:nvPr/>
        </p:nvSpPr>
        <p:spPr>
          <a:xfrm>
            <a:off x="4054320" y="1719800"/>
            <a:ext cx="3231360" cy="358140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ts val="1160"/>
              </a:lnSpc>
              <a:spcBef>
                <a:spcPts val="0"/>
              </a:spcBef>
              <a:spcAft>
                <a:spcPts val="0"/>
              </a:spcAft>
            </a:pPr>
            <a:r>
              <a:rPr sz="950" b="0" lang="zh-CN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rPr>
              <a:t>SS-OCTA黄斑中心6 mm × 6 mm扫描；PLEX Elite 9000。</a:t>
            </a:r>
          </a:p>
          <a:p>
            <a:pPr>
              <a:lnSpc>
                <a:spcPts val="1160"/>
              </a:lnSpc>
              <a:spcBef>
                <a:spcPts val="0"/>
              </a:spcBef>
              <a:spcAft>
                <a:spcPts val="0"/>
              </a:spcAft>
            </a:pPr>
            <a:r>
              <a:rPr sz="950" b="0" lang="zh-CN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rPr>
              <a:t>认知诊断参照ADRC/NIA-AA，非单凭影像。</a:t>
            </a:r>
          </a:p>
        </p:txBody>
      </p:sp>
      <p:sp>
        <p:nvSpPr>
          <p:cNvPr id="32" name="2026 刊p674"/>
          <p:cNvSpPr txBox="1"/>
          <p:nvPr/>
        </p:nvSpPr>
        <p:spPr>
          <a:xfrm>
            <a:off x="4054320" y="2039840"/>
            <a:ext cx="3231360" cy="193040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ts val="1019"/>
              </a:lnSpc>
              <a:spcBef>
                <a:spcPts val="0"/>
              </a:spcBef>
              <a:spcAft>
                <a:spcPts val="0"/>
              </a:spcAft>
            </a:pPr>
            <a:r>
              <a:rPr sz="850" b="0" lang="zh-CN">
                <a:solidFill>
                  <a:srgbClr val="404040"/>
                </a:solidFill>
                <a:latin typeface="Microsoft YaHei"/>
                <a:ea typeface="Microsoft YaHei"/>
                <a:cs typeface="Microsoft YaHei"/>
              </a:rPr>
              <a:t>2026 刊p674</a:t>
            </a:r>
          </a:p>
        </p:txBody>
      </p:sp>
      <p:sp>
        <p:nvSpPr>
          <p:cNvPr id="33" name="Rectangle 32"/>
          <p:cNvSpPr/>
          <p:nvPr/>
        </p:nvSpPr>
        <p:spPr>
          <a:xfrm>
            <a:off x="3952720" y="2296380"/>
            <a:ext cx="3434560" cy="716280"/>
          </a:xfrm>
          <a:prstGeom prst="rect">
            <a:avLst/>
          </a:prstGeom>
          <a:solidFill>
            <a:srgbClr val="FFFFFF"/>
          </a:solidFill>
          <a:ln w="7620">
            <a:solidFill>
              <a:srgbClr val="7E8A9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GCC观察"/>
          <p:cNvSpPr txBox="1"/>
          <p:nvPr/>
        </p:nvSpPr>
        <p:spPr>
          <a:xfrm>
            <a:off x="4054320" y="2334480"/>
            <a:ext cx="3231360" cy="215900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ts val="12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 lang="zh-CN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rPr>
              <a:t>GCC观察</a:t>
            </a:r>
          </a:p>
        </p:txBody>
      </p:sp>
      <p:sp>
        <p:nvSpPr>
          <p:cNvPr id="35" name="AD痴呆63.31 μm，正常67.93 μm；差−4.62 μm（95%CI −8.92至−0.3"/>
          <p:cNvSpPr txBox="1"/>
          <p:nvPr/>
        </p:nvSpPr>
        <p:spPr>
          <a:xfrm>
            <a:off x="4054320" y="2486880"/>
            <a:ext cx="3231360" cy="358140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ts val="1160"/>
              </a:lnSpc>
              <a:spcBef>
                <a:spcPts val="0"/>
              </a:spcBef>
              <a:spcAft>
                <a:spcPts val="0"/>
              </a:spcAft>
            </a:pPr>
            <a:r>
              <a:rPr sz="950" b="0" lang="zh-CN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rPr>
              <a:t>AD痴呆63.31 μm，正常67.93 μm；差−4.62 μm（95%CI</a:t>
            </a:r>
          </a:p>
          <a:p>
            <a:pPr>
              <a:lnSpc>
                <a:spcPts val="1160"/>
              </a:lnSpc>
              <a:spcBef>
                <a:spcPts val="0"/>
              </a:spcBef>
              <a:spcAft>
                <a:spcPts val="0"/>
              </a:spcAft>
            </a:pPr>
            <a:r>
              <a:rPr sz="950" b="0" lang="zh-CN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rPr>
              <a:t>−8.92至−0.31），P=.03。非诊断切点。</a:t>
            </a:r>
          </a:p>
        </p:txBody>
      </p:sp>
      <p:sp>
        <p:nvSpPr>
          <p:cNvPr id="36" name="2026 刊p673、675"/>
          <p:cNvSpPr txBox="1"/>
          <p:nvPr/>
        </p:nvSpPr>
        <p:spPr>
          <a:xfrm>
            <a:off x="4054320" y="2806920"/>
            <a:ext cx="3231360" cy="193040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ts val="1019"/>
              </a:lnSpc>
              <a:spcBef>
                <a:spcPts val="0"/>
              </a:spcBef>
              <a:spcAft>
                <a:spcPts val="0"/>
              </a:spcAft>
            </a:pPr>
            <a:r>
              <a:rPr sz="850" b="0" lang="zh-CN">
                <a:solidFill>
                  <a:srgbClr val="404040"/>
                </a:solidFill>
                <a:latin typeface="Microsoft YaHei"/>
                <a:ea typeface="Microsoft YaHei"/>
                <a:cs typeface="Microsoft YaHei"/>
              </a:rPr>
              <a:t>2026 刊p673、675</a:t>
            </a:r>
          </a:p>
        </p:txBody>
      </p:sp>
      <p:sp>
        <p:nvSpPr>
          <p:cNvPr id="37" name="Rectangle 36"/>
          <p:cNvSpPr/>
          <p:nvPr/>
        </p:nvSpPr>
        <p:spPr>
          <a:xfrm>
            <a:off x="3952720" y="3063460"/>
            <a:ext cx="3434560" cy="716280"/>
          </a:xfrm>
          <a:prstGeom prst="rect">
            <a:avLst/>
          </a:prstGeom>
          <a:solidFill>
            <a:srgbClr val="FFFFFF"/>
          </a:solidFill>
          <a:ln w="7620">
            <a:solidFill>
              <a:srgbClr val="7E8A9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CCFD观察"/>
          <p:cNvSpPr txBox="1"/>
          <p:nvPr/>
        </p:nvSpPr>
        <p:spPr>
          <a:xfrm>
            <a:off x="4054320" y="3101560"/>
            <a:ext cx="3231360" cy="215900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ts val="12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 lang="zh-CN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rPr>
              <a:t>CCFD观察</a:t>
            </a:r>
          </a:p>
        </p:txBody>
      </p:sp>
      <p:sp>
        <p:nvSpPr>
          <p:cNvPr id="39" name="MCI 8.12%、AD痴呆9.07%、正常8.33%，呈双相分布。以上均为调整组均值。"/>
          <p:cNvSpPr txBox="1"/>
          <p:nvPr/>
        </p:nvSpPr>
        <p:spPr>
          <a:xfrm>
            <a:off x="4054320" y="3253960"/>
            <a:ext cx="3231360" cy="358140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ts val="1160"/>
              </a:lnSpc>
              <a:spcBef>
                <a:spcPts val="0"/>
              </a:spcBef>
              <a:spcAft>
                <a:spcPts val="0"/>
              </a:spcAft>
            </a:pPr>
            <a:r>
              <a:rPr sz="950" b="0" lang="zh-CN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rPr>
              <a:t>MCI 8.12%、AD痴呆9.07%、正常8.33%，呈双相分布。以</a:t>
            </a:r>
          </a:p>
          <a:p>
            <a:pPr>
              <a:lnSpc>
                <a:spcPts val="1160"/>
              </a:lnSpc>
              <a:spcBef>
                <a:spcPts val="0"/>
              </a:spcBef>
              <a:spcAft>
                <a:spcPts val="0"/>
              </a:spcAft>
            </a:pPr>
            <a:r>
              <a:rPr sz="950" b="0" lang="zh-CN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rPr>
              <a:t>上均为调整组均值。</a:t>
            </a:r>
          </a:p>
        </p:txBody>
      </p:sp>
      <p:sp>
        <p:nvSpPr>
          <p:cNvPr id="40" name="2026 刊p673、675、678"/>
          <p:cNvSpPr txBox="1"/>
          <p:nvPr/>
        </p:nvSpPr>
        <p:spPr>
          <a:xfrm>
            <a:off x="4054320" y="3574000"/>
            <a:ext cx="3231360" cy="193040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ts val="1019"/>
              </a:lnSpc>
              <a:spcBef>
                <a:spcPts val="0"/>
              </a:spcBef>
              <a:spcAft>
                <a:spcPts val="0"/>
              </a:spcAft>
            </a:pPr>
            <a:r>
              <a:rPr sz="850" b="0" lang="zh-CN">
                <a:solidFill>
                  <a:srgbClr val="404040"/>
                </a:solidFill>
                <a:latin typeface="Microsoft YaHei"/>
                <a:ea typeface="Microsoft YaHei"/>
                <a:cs typeface="Microsoft YaHei"/>
              </a:rPr>
              <a:t>2026 刊p673、675、678</a:t>
            </a:r>
          </a:p>
        </p:txBody>
      </p:sp>
      <p:sp>
        <p:nvSpPr>
          <p:cNvPr id="41" name="单篇研究方案，不等同指南推荐。详见提取表。&#10;100%原尺寸 · 双面长边翻转"/>
          <p:cNvSpPr txBox="1"/>
          <p:nvPr/>
        </p:nvSpPr>
        <p:spPr>
          <a:xfrm>
            <a:off x="3978120" y="4888800"/>
            <a:ext cx="3383760" cy="322580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ts val="1019"/>
              </a:lnSpc>
              <a:spcBef>
                <a:spcPts val="0"/>
              </a:spcBef>
              <a:spcAft>
                <a:spcPts val="0"/>
              </a:spcAft>
            </a:pPr>
            <a:r>
              <a:rPr sz="850" b="0" lang="zh-CN">
                <a:solidFill>
                  <a:srgbClr val="404040"/>
                </a:solidFill>
                <a:latin typeface="Microsoft YaHei"/>
                <a:ea typeface="Microsoft YaHei"/>
                <a:cs typeface="Microsoft YaHei"/>
              </a:rPr>
              <a:t>单篇研究方案，不等同指南推荐。详见提取表。</a:t>
            </a:r>
          </a:p>
          <a:p>
            <a:pPr>
              <a:lnSpc>
                <a:spcPts val="1019"/>
              </a:lnSpc>
              <a:spcBef>
                <a:spcPts val="0"/>
              </a:spcBef>
              <a:spcAft>
                <a:spcPts val="0"/>
              </a:spcAft>
            </a:pPr>
            <a:r>
              <a:rPr sz="850" b="0" lang="zh-CN">
                <a:solidFill>
                  <a:srgbClr val="404040"/>
                </a:solidFill>
                <a:latin typeface="Microsoft YaHei"/>
                <a:ea typeface="Microsoft YaHei"/>
                <a:cs typeface="Microsoft YaHei"/>
              </a:rPr>
              <a:t>100%原尺寸 · 双面长边翻转</a:t>
            </a:r>
          </a:p>
        </p:txBody>
      </p:sp>
      <p:sp>
        <p:nvSpPr>
          <p:cNvPr id="42" name="Rectangle 41"/>
          <p:cNvSpPr/>
          <p:nvPr/>
        </p:nvSpPr>
        <p:spPr>
          <a:xfrm>
            <a:off x="160020" y="5506020"/>
            <a:ext cx="3459960" cy="520700"/>
          </a:xfrm>
          <a:prstGeom prst="rect">
            <a:avLst/>
          </a:prstGeom>
          <a:solidFill>
            <a:srgbClr val="FFFFFF"/>
          </a:solidFill>
          <a:ln w="7620">
            <a:solidFill>
              <a:srgbClr val="6D7A8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OCTA与阿尔茨海默病：研究解读"/>
          <p:cNvSpPr txBox="1"/>
          <p:nvPr/>
        </p:nvSpPr>
        <p:spPr>
          <a:xfrm>
            <a:off x="236220" y="5544120"/>
            <a:ext cx="3307560" cy="241300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ts val="1400"/>
              </a:lnSpc>
              <a:spcBef>
                <a:spcPts val="0"/>
              </a:spcBef>
              <a:spcAft>
                <a:spcPts val="0"/>
              </a:spcAft>
            </a:pPr>
            <a:r>
              <a:rPr sz="1150" b="1" lang="zh-CN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rPr>
              <a:t>OCTA与阿尔茨海默病：研究解读</a:t>
            </a:r>
          </a:p>
        </p:txBody>
      </p:sp>
      <p:sp>
        <p:nvSpPr>
          <p:cNvPr id="44" name="2026 单篇研究 · 正面"/>
          <p:cNvSpPr txBox="1"/>
          <p:nvPr/>
        </p:nvSpPr>
        <p:spPr>
          <a:xfrm>
            <a:off x="236220" y="5760020"/>
            <a:ext cx="3307560" cy="193040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ts val="1019"/>
              </a:lnSpc>
              <a:spcBef>
                <a:spcPts val="0"/>
              </a:spcBef>
              <a:spcAft>
                <a:spcPts val="0"/>
              </a:spcAft>
            </a:pPr>
            <a:r>
              <a:rPr sz="850" b="0" lang="zh-CN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rPr>
              <a:t>2026 单篇研究 · 正面</a:t>
            </a:r>
          </a:p>
        </p:txBody>
      </p:sp>
      <p:sp>
        <p:nvSpPr>
          <p:cNvPr id="45" name="Rectangle 44"/>
          <p:cNvSpPr/>
          <p:nvPr/>
        </p:nvSpPr>
        <p:spPr>
          <a:xfrm>
            <a:off x="172720" y="6090220"/>
            <a:ext cx="3434560" cy="716280"/>
          </a:xfrm>
          <a:prstGeom prst="rect">
            <a:avLst/>
          </a:prstGeom>
          <a:solidFill>
            <a:srgbClr val="FFFFFF"/>
          </a:solidFill>
          <a:ln w="7620">
            <a:solidFill>
              <a:srgbClr val="7E8A9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研究定位"/>
          <p:cNvSpPr txBox="1"/>
          <p:nvPr/>
        </p:nvSpPr>
        <p:spPr>
          <a:xfrm>
            <a:off x="274320" y="6128320"/>
            <a:ext cx="3231360" cy="215900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ts val="12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 lang="zh-CN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rPr>
              <a:t>研究定位</a:t>
            </a:r>
          </a:p>
        </p:txBody>
      </p:sp>
      <p:sp>
        <p:nvSpPr>
          <p:cNvPr id="47" name="2026横断面研究，103人：正常49、MCI 29、AD痴呆25。不能预测个体未来发病。"/>
          <p:cNvSpPr txBox="1"/>
          <p:nvPr/>
        </p:nvSpPr>
        <p:spPr>
          <a:xfrm>
            <a:off x="274320" y="6280720"/>
            <a:ext cx="3231360" cy="358140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ts val="1160"/>
              </a:lnSpc>
              <a:spcBef>
                <a:spcPts val="0"/>
              </a:spcBef>
              <a:spcAft>
                <a:spcPts val="0"/>
              </a:spcAft>
            </a:pPr>
            <a:r>
              <a:rPr sz="950" b="0" lang="zh-CN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rPr>
              <a:t>2026横断面研究，103人：正常49、MCI 29、AD痴呆25。不</a:t>
            </a:r>
          </a:p>
          <a:p>
            <a:pPr>
              <a:lnSpc>
                <a:spcPts val="1160"/>
              </a:lnSpc>
              <a:spcBef>
                <a:spcPts val="0"/>
              </a:spcBef>
              <a:spcAft>
                <a:spcPts val="0"/>
              </a:spcAft>
            </a:pPr>
            <a:r>
              <a:rPr sz="950" b="0" lang="zh-CN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rPr>
              <a:t>能预测个体未来发病。</a:t>
            </a:r>
          </a:p>
        </p:txBody>
      </p:sp>
      <p:sp>
        <p:nvSpPr>
          <p:cNvPr id="48" name="2026 刊p673"/>
          <p:cNvSpPr txBox="1"/>
          <p:nvPr/>
        </p:nvSpPr>
        <p:spPr>
          <a:xfrm>
            <a:off x="274320" y="6600760"/>
            <a:ext cx="3231360" cy="193040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ts val="1019"/>
              </a:lnSpc>
              <a:spcBef>
                <a:spcPts val="0"/>
              </a:spcBef>
              <a:spcAft>
                <a:spcPts val="0"/>
              </a:spcAft>
            </a:pPr>
            <a:r>
              <a:rPr sz="850" b="0" lang="zh-CN">
                <a:solidFill>
                  <a:srgbClr val="404040"/>
                </a:solidFill>
                <a:latin typeface="Microsoft YaHei"/>
                <a:ea typeface="Microsoft YaHei"/>
                <a:cs typeface="Microsoft YaHei"/>
              </a:rPr>
              <a:t>2026 刊p673</a:t>
            </a:r>
          </a:p>
        </p:txBody>
      </p:sp>
      <p:sp>
        <p:nvSpPr>
          <p:cNvPr id="49" name="Rectangle 48"/>
          <p:cNvSpPr/>
          <p:nvPr/>
        </p:nvSpPr>
        <p:spPr>
          <a:xfrm>
            <a:off x="172720" y="6857300"/>
            <a:ext cx="3434560" cy="716280"/>
          </a:xfrm>
          <a:prstGeom prst="rect">
            <a:avLst/>
          </a:prstGeom>
          <a:solidFill>
            <a:srgbClr val="FFFFFF"/>
          </a:solidFill>
          <a:ln w="7620">
            <a:solidFill>
              <a:srgbClr val="7E8A9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检查条件"/>
          <p:cNvSpPr txBox="1"/>
          <p:nvPr/>
        </p:nvSpPr>
        <p:spPr>
          <a:xfrm>
            <a:off x="274320" y="6895400"/>
            <a:ext cx="3231360" cy="215900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ts val="12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 lang="zh-CN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rPr>
              <a:t>检查条件</a:t>
            </a:r>
          </a:p>
        </p:txBody>
      </p:sp>
      <p:sp>
        <p:nvSpPr>
          <p:cNvPr id="51" name="SS-OCTA黄斑中心6 mm × 6 mm扫描；PLEX Elite 9000。认知诊断参照ADR"/>
          <p:cNvSpPr txBox="1"/>
          <p:nvPr/>
        </p:nvSpPr>
        <p:spPr>
          <a:xfrm>
            <a:off x="274320" y="7047800"/>
            <a:ext cx="3231360" cy="358140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ts val="1160"/>
              </a:lnSpc>
              <a:spcBef>
                <a:spcPts val="0"/>
              </a:spcBef>
              <a:spcAft>
                <a:spcPts val="0"/>
              </a:spcAft>
            </a:pPr>
            <a:r>
              <a:rPr sz="950" b="0" lang="zh-CN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rPr>
              <a:t>SS-OCTA黄斑中心6 mm × 6 mm扫描；PLEX Elite 9000。</a:t>
            </a:r>
          </a:p>
          <a:p>
            <a:pPr>
              <a:lnSpc>
                <a:spcPts val="1160"/>
              </a:lnSpc>
              <a:spcBef>
                <a:spcPts val="0"/>
              </a:spcBef>
              <a:spcAft>
                <a:spcPts val="0"/>
              </a:spcAft>
            </a:pPr>
            <a:r>
              <a:rPr sz="950" b="0" lang="zh-CN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rPr>
              <a:t>认知诊断参照ADRC/NIA-AA，非单凭影像。</a:t>
            </a:r>
          </a:p>
        </p:txBody>
      </p:sp>
      <p:sp>
        <p:nvSpPr>
          <p:cNvPr id="52" name="2026 刊p674"/>
          <p:cNvSpPr txBox="1"/>
          <p:nvPr/>
        </p:nvSpPr>
        <p:spPr>
          <a:xfrm>
            <a:off x="274320" y="7367840"/>
            <a:ext cx="3231360" cy="193040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ts val="1019"/>
              </a:lnSpc>
              <a:spcBef>
                <a:spcPts val="0"/>
              </a:spcBef>
              <a:spcAft>
                <a:spcPts val="0"/>
              </a:spcAft>
            </a:pPr>
            <a:r>
              <a:rPr sz="850" b="0" lang="zh-CN">
                <a:solidFill>
                  <a:srgbClr val="404040"/>
                </a:solidFill>
                <a:latin typeface="Microsoft YaHei"/>
                <a:ea typeface="Microsoft YaHei"/>
                <a:cs typeface="Microsoft YaHei"/>
              </a:rPr>
              <a:t>2026 刊p674</a:t>
            </a:r>
          </a:p>
        </p:txBody>
      </p:sp>
      <p:sp>
        <p:nvSpPr>
          <p:cNvPr id="53" name="Rectangle 52"/>
          <p:cNvSpPr/>
          <p:nvPr/>
        </p:nvSpPr>
        <p:spPr>
          <a:xfrm>
            <a:off x="172720" y="7624380"/>
            <a:ext cx="3434560" cy="716280"/>
          </a:xfrm>
          <a:prstGeom prst="rect">
            <a:avLst/>
          </a:prstGeom>
          <a:solidFill>
            <a:srgbClr val="FFFFFF"/>
          </a:solidFill>
          <a:ln w="7620">
            <a:solidFill>
              <a:srgbClr val="7E8A9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GCC观察"/>
          <p:cNvSpPr txBox="1"/>
          <p:nvPr/>
        </p:nvSpPr>
        <p:spPr>
          <a:xfrm>
            <a:off x="274320" y="7662480"/>
            <a:ext cx="3231360" cy="215900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ts val="12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 lang="zh-CN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rPr>
              <a:t>GCC观察</a:t>
            </a:r>
          </a:p>
        </p:txBody>
      </p:sp>
      <p:sp>
        <p:nvSpPr>
          <p:cNvPr id="55" name="AD痴呆63.31 μm，正常67.93 μm；差−4.62 μm（95%CI −8.92至−0.3"/>
          <p:cNvSpPr txBox="1"/>
          <p:nvPr/>
        </p:nvSpPr>
        <p:spPr>
          <a:xfrm>
            <a:off x="274320" y="7814880"/>
            <a:ext cx="3231360" cy="358140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ts val="1160"/>
              </a:lnSpc>
              <a:spcBef>
                <a:spcPts val="0"/>
              </a:spcBef>
              <a:spcAft>
                <a:spcPts val="0"/>
              </a:spcAft>
            </a:pPr>
            <a:r>
              <a:rPr sz="950" b="0" lang="zh-CN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rPr>
              <a:t>AD痴呆63.31 μm，正常67.93 μm；差−4.62 μm（95%CI</a:t>
            </a:r>
          </a:p>
          <a:p>
            <a:pPr>
              <a:lnSpc>
                <a:spcPts val="1160"/>
              </a:lnSpc>
              <a:spcBef>
                <a:spcPts val="0"/>
              </a:spcBef>
              <a:spcAft>
                <a:spcPts val="0"/>
              </a:spcAft>
            </a:pPr>
            <a:r>
              <a:rPr sz="950" b="0" lang="zh-CN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rPr>
              <a:t>−8.92至−0.31），P=.03。非诊断切点。</a:t>
            </a:r>
          </a:p>
        </p:txBody>
      </p:sp>
      <p:sp>
        <p:nvSpPr>
          <p:cNvPr id="56" name="2026 刊p673、675"/>
          <p:cNvSpPr txBox="1"/>
          <p:nvPr/>
        </p:nvSpPr>
        <p:spPr>
          <a:xfrm>
            <a:off x="274320" y="8134920"/>
            <a:ext cx="3231360" cy="193040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ts val="1019"/>
              </a:lnSpc>
              <a:spcBef>
                <a:spcPts val="0"/>
              </a:spcBef>
              <a:spcAft>
                <a:spcPts val="0"/>
              </a:spcAft>
            </a:pPr>
            <a:r>
              <a:rPr sz="850" b="0" lang="zh-CN">
                <a:solidFill>
                  <a:srgbClr val="404040"/>
                </a:solidFill>
                <a:latin typeface="Microsoft YaHei"/>
                <a:ea typeface="Microsoft YaHei"/>
                <a:cs typeface="Microsoft YaHei"/>
              </a:rPr>
              <a:t>2026 刊p673、675</a:t>
            </a:r>
          </a:p>
        </p:txBody>
      </p:sp>
      <p:sp>
        <p:nvSpPr>
          <p:cNvPr id="57" name="Rectangle 56"/>
          <p:cNvSpPr/>
          <p:nvPr/>
        </p:nvSpPr>
        <p:spPr>
          <a:xfrm>
            <a:off x="172720" y="8391460"/>
            <a:ext cx="3434560" cy="716280"/>
          </a:xfrm>
          <a:prstGeom prst="rect">
            <a:avLst/>
          </a:prstGeom>
          <a:solidFill>
            <a:srgbClr val="FFFFFF"/>
          </a:solidFill>
          <a:ln w="7620">
            <a:solidFill>
              <a:srgbClr val="7E8A9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CCFD观察"/>
          <p:cNvSpPr txBox="1"/>
          <p:nvPr/>
        </p:nvSpPr>
        <p:spPr>
          <a:xfrm>
            <a:off x="274320" y="8429560"/>
            <a:ext cx="3231360" cy="215900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ts val="12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 lang="zh-CN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rPr>
              <a:t>CCFD观察</a:t>
            </a:r>
          </a:p>
        </p:txBody>
      </p:sp>
      <p:sp>
        <p:nvSpPr>
          <p:cNvPr id="59" name="MCI 8.12%、AD痴呆9.07%、正常8.33%，呈双相分布。以上均为调整组均值。"/>
          <p:cNvSpPr txBox="1"/>
          <p:nvPr/>
        </p:nvSpPr>
        <p:spPr>
          <a:xfrm>
            <a:off x="274320" y="8581960"/>
            <a:ext cx="3231360" cy="358140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ts val="1160"/>
              </a:lnSpc>
              <a:spcBef>
                <a:spcPts val="0"/>
              </a:spcBef>
              <a:spcAft>
                <a:spcPts val="0"/>
              </a:spcAft>
            </a:pPr>
            <a:r>
              <a:rPr sz="950" b="0" lang="zh-CN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rPr>
              <a:t>MCI 8.12%、AD痴呆9.07%、正常8.33%，呈双相分布。以</a:t>
            </a:r>
          </a:p>
          <a:p>
            <a:pPr>
              <a:lnSpc>
                <a:spcPts val="1160"/>
              </a:lnSpc>
              <a:spcBef>
                <a:spcPts val="0"/>
              </a:spcBef>
              <a:spcAft>
                <a:spcPts val="0"/>
              </a:spcAft>
            </a:pPr>
            <a:r>
              <a:rPr sz="950" b="0" lang="zh-CN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rPr>
              <a:t>上均为调整组均值。</a:t>
            </a:r>
          </a:p>
        </p:txBody>
      </p:sp>
      <p:sp>
        <p:nvSpPr>
          <p:cNvPr id="60" name="2026 刊p673、675、678"/>
          <p:cNvSpPr txBox="1"/>
          <p:nvPr/>
        </p:nvSpPr>
        <p:spPr>
          <a:xfrm>
            <a:off x="274320" y="8902000"/>
            <a:ext cx="3231360" cy="193040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ts val="1019"/>
              </a:lnSpc>
              <a:spcBef>
                <a:spcPts val="0"/>
              </a:spcBef>
              <a:spcAft>
                <a:spcPts val="0"/>
              </a:spcAft>
            </a:pPr>
            <a:r>
              <a:rPr sz="850" b="0" lang="zh-CN">
                <a:solidFill>
                  <a:srgbClr val="404040"/>
                </a:solidFill>
                <a:latin typeface="Microsoft YaHei"/>
                <a:ea typeface="Microsoft YaHei"/>
                <a:cs typeface="Microsoft YaHei"/>
              </a:rPr>
              <a:t>2026 刊p673、675、678</a:t>
            </a:r>
          </a:p>
        </p:txBody>
      </p:sp>
      <p:sp>
        <p:nvSpPr>
          <p:cNvPr id="61" name="单篇研究方案，不等同指南推荐。详见提取表。&#10;100%原尺寸 · 双面长边翻转"/>
          <p:cNvSpPr txBox="1"/>
          <p:nvPr/>
        </p:nvSpPr>
        <p:spPr>
          <a:xfrm>
            <a:off x="198120" y="10216800"/>
            <a:ext cx="3383760" cy="322580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ts val="1019"/>
              </a:lnSpc>
              <a:spcBef>
                <a:spcPts val="0"/>
              </a:spcBef>
              <a:spcAft>
                <a:spcPts val="0"/>
              </a:spcAft>
            </a:pPr>
            <a:r>
              <a:rPr sz="850" b="0" lang="zh-CN">
                <a:solidFill>
                  <a:srgbClr val="404040"/>
                </a:solidFill>
                <a:latin typeface="Microsoft YaHei"/>
                <a:ea typeface="Microsoft YaHei"/>
                <a:cs typeface="Microsoft YaHei"/>
              </a:rPr>
              <a:t>单篇研究方案，不等同指南推荐。详见提取表。</a:t>
            </a:r>
          </a:p>
          <a:p>
            <a:pPr>
              <a:lnSpc>
                <a:spcPts val="1019"/>
              </a:lnSpc>
              <a:spcBef>
                <a:spcPts val="0"/>
              </a:spcBef>
              <a:spcAft>
                <a:spcPts val="0"/>
              </a:spcAft>
            </a:pPr>
            <a:r>
              <a:rPr sz="850" b="0" lang="zh-CN">
                <a:solidFill>
                  <a:srgbClr val="404040"/>
                </a:solidFill>
                <a:latin typeface="Microsoft YaHei"/>
                <a:ea typeface="Microsoft YaHei"/>
                <a:cs typeface="Microsoft YaHei"/>
              </a:rPr>
              <a:t>100%原尺寸 · 双面长边翻转</a:t>
            </a:r>
          </a:p>
        </p:txBody>
      </p:sp>
      <p:sp>
        <p:nvSpPr>
          <p:cNvPr id="62" name="Rectangle 61"/>
          <p:cNvSpPr/>
          <p:nvPr/>
        </p:nvSpPr>
        <p:spPr>
          <a:xfrm>
            <a:off x="3940020" y="5506020"/>
            <a:ext cx="3459960" cy="520700"/>
          </a:xfrm>
          <a:prstGeom prst="rect">
            <a:avLst/>
          </a:prstGeom>
          <a:solidFill>
            <a:srgbClr val="FFFFFF"/>
          </a:solidFill>
          <a:ln w="7620">
            <a:solidFill>
              <a:srgbClr val="6D7A8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" name="OCTA与阿尔茨海默病：研究解读"/>
          <p:cNvSpPr txBox="1"/>
          <p:nvPr/>
        </p:nvSpPr>
        <p:spPr>
          <a:xfrm>
            <a:off x="4016220" y="5544120"/>
            <a:ext cx="3307560" cy="241300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ts val="1400"/>
              </a:lnSpc>
              <a:spcBef>
                <a:spcPts val="0"/>
              </a:spcBef>
              <a:spcAft>
                <a:spcPts val="0"/>
              </a:spcAft>
            </a:pPr>
            <a:r>
              <a:rPr sz="1150" b="1" lang="zh-CN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rPr>
              <a:t>OCTA与阿尔茨海默病：研究解读</a:t>
            </a:r>
          </a:p>
        </p:txBody>
      </p:sp>
      <p:sp>
        <p:nvSpPr>
          <p:cNvPr id="64" name="2026 单篇研究 · 正面"/>
          <p:cNvSpPr txBox="1"/>
          <p:nvPr/>
        </p:nvSpPr>
        <p:spPr>
          <a:xfrm>
            <a:off x="4016220" y="5760020"/>
            <a:ext cx="3307560" cy="193040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ts val="1019"/>
              </a:lnSpc>
              <a:spcBef>
                <a:spcPts val="0"/>
              </a:spcBef>
              <a:spcAft>
                <a:spcPts val="0"/>
              </a:spcAft>
            </a:pPr>
            <a:r>
              <a:rPr sz="850" b="0" lang="zh-CN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rPr>
              <a:t>2026 单篇研究 · 正面</a:t>
            </a:r>
          </a:p>
        </p:txBody>
      </p:sp>
      <p:sp>
        <p:nvSpPr>
          <p:cNvPr id="65" name="Rectangle 64"/>
          <p:cNvSpPr/>
          <p:nvPr/>
        </p:nvSpPr>
        <p:spPr>
          <a:xfrm>
            <a:off x="3952720" y="6090220"/>
            <a:ext cx="3434560" cy="716280"/>
          </a:xfrm>
          <a:prstGeom prst="rect">
            <a:avLst/>
          </a:prstGeom>
          <a:solidFill>
            <a:srgbClr val="FFFFFF"/>
          </a:solidFill>
          <a:ln w="7620">
            <a:solidFill>
              <a:srgbClr val="7E8A9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6" name="研究定位"/>
          <p:cNvSpPr txBox="1"/>
          <p:nvPr/>
        </p:nvSpPr>
        <p:spPr>
          <a:xfrm>
            <a:off x="4054320" y="6128320"/>
            <a:ext cx="3231360" cy="215900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ts val="12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 lang="zh-CN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rPr>
              <a:t>研究定位</a:t>
            </a:r>
          </a:p>
        </p:txBody>
      </p:sp>
      <p:sp>
        <p:nvSpPr>
          <p:cNvPr id="67" name="2026横断面研究，103人：正常49、MCI 29、AD痴呆25。不能预测个体未来发病。"/>
          <p:cNvSpPr txBox="1"/>
          <p:nvPr/>
        </p:nvSpPr>
        <p:spPr>
          <a:xfrm>
            <a:off x="4054320" y="6280720"/>
            <a:ext cx="3231360" cy="358140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ts val="1160"/>
              </a:lnSpc>
              <a:spcBef>
                <a:spcPts val="0"/>
              </a:spcBef>
              <a:spcAft>
                <a:spcPts val="0"/>
              </a:spcAft>
            </a:pPr>
            <a:r>
              <a:rPr sz="950" b="0" lang="zh-CN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rPr>
              <a:t>2026横断面研究，103人：正常49、MCI 29、AD痴呆25。不</a:t>
            </a:r>
          </a:p>
          <a:p>
            <a:pPr>
              <a:lnSpc>
                <a:spcPts val="1160"/>
              </a:lnSpc>
              <a:spcBef>
                <a:spcPts val="0"/>
              </a:spcBef>
              <a:spcAft>
                <a:spcPts val="0"/>
              </a:spcAft>
            </a:pPr>
            <a:r>
              <a:rPr sz="950" b="0" lang="zh-CN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rPr>
              <a:t>能预测个体未来发病。</a:t>
            </a:r>
          </a:p>
        </p:txBody>
      </p:sp>
      <p:sp>
        <p:nvSpPr>
          <p:cNvPr id="68" name="2026 刊p673"/>
          <p:cNvSpPr txBox="1"/>
          <p:nvPr/>
        </p:nvSpPr>
        <p:spPr>
          <a:xfrm>
            <a:off x="4054320" y="6600760"/>
            <a:ext cx="3231360" cy="193040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ts val="1019"/>
              </a:lnSpc>
              <a:spcBef>
                <a:spcPts val="0"/>
              </a:spcBef>
              <a:spcAft>
                <a:spcPts val="0"/>
              </a:spcAft>
            </a:pPr>
            <a:r>
              <a:rPr sz="850" b="0" lang="zh-CN">
                <a:solidFill>
                  <a:srgbClr val="404040"/>
                </a:solidFill>
                <a:latin typeface="Microsoft YaHei"/>
                <a:ea typeface="Microsoft YaHei"/>
                <a:cs typeface="Microsoft YaHei"/>
              </a:rPr>
              <a:t>2026 刊p673</a:t>
            </a:r>
          </a:p>
        </p:txBody>
      </p:sp>
      <p:sp>
        <p:nvSpPr>
          <p:cNvPr id="69" name="Rectangle 68"/>
          <p:cNvSpPr/>
          <p:nvPr/>
        </p:nvSpPr>
        <p:spPr>
          <a:xfrm>
            <a:off x="3952720" y="6857300"/>
            <a:ext cx="3434560" cy="716280"/>
          </a:xfrm>
          <a:prstGeom prst="rect">
            <a:avLst/>
          </a:prstGeom>
          <a:solidFill>
            <a:srgbClr val="FFFFFF"/>
          </a:solidFill>
          <a:ln w="7620">
            <a:solidFill>
              <a:srgbClr val="7E8A9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0" name="检查条件"/>
          <p:cNvSpPr txBox="1"/>
          <p:nvPr/>
        </p:nvSpPr>
        <p:spPr>
          <a:xfrm>
            <a:off x="4054320" y="6895400"/>
            <a:ext cx="3231360" cy="215900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ts val="12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 lang="zh-CN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rPr>
              <a:t>检查条件</a:t>
            </a:r>
          </a:p>
        </p:txBody>
      </p:sp>
      <p:sp>
        <p:nvSpPr>
          <p:cNvPr id="71" name="SS-OCTA黄斑中心6 mm × 6 mm扫描；PLEX Elite 9000。认知诊断参照ADR"/>
          <p:cNvSpPr txBox="1"/>
          <p:nvPr/>
        </p:nvSpPr>
        <p:spPr>
          <a:xfrm>
            <a:off x="4054320" y="7047800"/>
            <a:ext cx="3231360" cy="358140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ts val="1160"/>
              </a:lnSpc>
              <a:spcBef>
                <a:spcPts val="0"/>
              </a:spcBef>
              <a:spcAft>
                <a:spcPts val="0"/>
              </a:spcAft>
            </a:pPr>
            <a:r>
              <a:rPr sz="950" b="0" lang="zh-CN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rPr>
              <a:t>SS-OCTA黄斑中心6 mm × 6 mm扫描；PLEX Elite 9000。</a:t>
            </a:r>
          </a:p>
          <a:p>
            <a:pPr>
              <a:lnSpc>
                <a:spcPts val="1160"/>
              </a:lnSpc>
              <a:spcBef>
                <a:spcPts val="0"/>
              </a:spcBef>
              <a:spcAft>
                <a:spcPts val="0"/>
              </a:spcAft>
            </a:pPr>
            <a:r>
              <a:rPr sz="950" b="0" lang="zh-CN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rPr>
              <a:t>认知诊断参照ADRC/NIA-AA，非单凭影像。</a:t>
            </a:r>
          </a:p>
        </p:txBody>
      </p:sp>
      <p:sp>
        <p:nvSpPr>
          <p:cNvPr id="72" name="2026 刊p674"/>
          <p:cNvSpPr txBox="1"/>
          <p:nvPr/>
        </p:nvSpPr>
        <p:spPr>
          <a:xfrm>
            <a:off x="4054320" y="7367840"/>
            <a:ext cx="3231360" cy="193040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ts val="1019"/>
              </a:lnSpc>
              <a:spcBef>
                <a:spcPts val="0"/>
              </a:spcBef>
              <a:spcAft>
                <a:spcPts val="0"/>
              </a:spcAft>
            </a:pPr>
            <a:r>
              <a:rPr sz="850" b="0" lang="zh-CN">
                <a:solidFill>
                  <a:srgbClr val="404040"/>
                </a:solidFill>
                <a:latin typeface="Microsoft YaHei"/>
                <a:ea typeface="Microsoft YaHei"/>
                <a:cs typeface="Microsoft YaHei"/>
              </a:rPr>
              <a:t>2026 刊p674</a:t>
            </a:r>
          </a:p>
        </p:txBody>
      </p:sp>
      <p:sp>
        <p:nvSpPr>
          <p:cNvPr id="73" name="Rectangle 72"/>
          <p:cNvSpPr/>
          <p:nvPr/>
        </p:nvSpPr>
        <p:spPr>
          <a:xfrm>
            <a:off x="3952720" y="7624380"/>
            <a:ext cx="3434560" cy="716280"/>
          </a:xfrm>
          <a:prstGeom prst="rect">
            <a:avLst/>
          </a:prstGeom>
          <a:solidFill>
            <a:srgbClr val="FFFFFF"/>
          </a:solidFill>
          <a:ln w="7620">
            <a:solidFill>
              <a:srgbClr val="7E8A9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4" name="GCC观察"/>
          <p:cNvSpPr txBox="1"/>
          <p:nvPr/>
        </p:nvSpPr>
        <p:spPr>
          <a:xfrm>
            <a:off x="4054320" y="7662480"/>
            <a:ext cx="3231360" cy="215900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ts val="12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 lang="zh-CN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rPr>
              <a:t>GCC观察</a:t>
            </a:r>
          </a:p>
        </p:txBody>
      </p:sp>
      <p:sp>
        <p:nvSpPr>
          <p:cNvPr id="75" name="AD痴呆63.31 μm，正常67.93 μm；差−4.62 μm（95%CI −8.92至−0.3"/>
          <p:cNvSpPr txBox="1"/>
          <p:nvPr/>
        </p:nvSpPr>
        <p:spPr>
          <a:xfrm>
            <a:off x="4054320" y="7814880"/>
            <a:ext cx="3231360" cy="358140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ts val="1160"/>
              </a:lnSpc>
              <a:spcBef>
                <a:spcPts val="0"/>
              </a:spcBef>
              <a:spcAft>
                <a:spcPts val="0"/>
              </a:spcAft>
            </a:pPr>
            <a:r>
              <a:rPr sz="950" b="0" lang="zh-CN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rPr>
              <a:t>AD痴呆63.31 μm，正常67.93 μm；差−4.62 μm（95%CI</a:t>
            </a:r>
          </a:p>
          <a:p>
            <a:pPr>
              <a:lnSpc>
                <a:spcPts val="1160"/>
              </a:lnSpc>
              <a:spcBef>
                <a:spcPts val="0"/>
              </a:spcBef>
              <a:spcAft>
                <a:spcPts val="0"/>
              </a:spcAft>
            </a:pPr>
            <a:r>
              <a:rPr sz="950" b="0" lang="zh-CN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rPr>
              <a:t>−8.92至−0.31），P=.03。非诊断切点。</a:t>
            </a:r>
          </a:p>
        </p:txBody>
      </p:sp>
      <p:sp>
        <p:nvSpPr>
          <p:cNvPr id="76" name="2026 刊p673、675"/>
          <p:cNvSpPr txBox="1"/>
          <p:nvPr/>
        </p:nvSpPr>
        <p:spPr>
          <a:xfrm>
            <a:off x="4054320" y="8134920"/>
            <a:ext cx="3231360" cy="193040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ts val="1019"/>
              </a:lnSpc>
              <a:spcBef>
                <a:spcPts val="0"/>
              </a:spcBef>
              <a:spcAft>
                <a:spcPts val="0"/>
              </a:spcAft>
            </a:pPr>
            <a:r>
              <a:rPr sz="850" b="0" lang="zh-CN">
                <a:solidFill>
                  <a:srgbClr val="404040"/>
                </a:solidFill>
                <a:latin typeface="Microsoft YaHei"/>
                <a:ea typeface="Microsoft YaHei"/>
                <a:cs typeface="Microsoft YaHei"/>
              </a:rPr>
              <a:t>2026 刊p673、675</a:t>
            </a:r>
          </a:p>
        </p:txBody>
      </p:sp>
      <p:sp>
        <p:nvSpPr>
          <p:cNvPr id="77" name="Rectangle 76"/>
          <p:cNvSpPr/>
          <p:nvPr/>
        </p:nvSpPr>
        <p:spPr>
          <a:xfrm>
            <a:off x="3952720" y="8391460"/>
            <a:ext cx="3434560" cy="716280"/>
          </a:xfrm>
          <a:prstGeom prst="rect">
            <a:avLst/>
          </a:prstGeom>
          <a:solidFill>
            <a:srgbClr val="FFFFFF"/>
          </a:solidFill>
          <a:ln w="7620">
            <a:solidFill>
              <a:srgbClr val="7E8A9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8" name="CCFD观察"/>
          <p:cNvSpPr txBox="1"/>
          <p:nvPr/>
        </p:nvSpPr>
        <p:spPr>
          <a:xfrm>
            <a:off x="4054320" y="8429560"/>
            <a:ext cx="3231360" cy="215900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ts val="12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 lang="zh-CN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rPr>
              <a:t>CCFD观察</a:t>
            </a:r>
          </a:p>
        </p:txBody>
      </p:sp>
      <p:sp>
        <p:nvSpPr>
          <p:cNvPr id="79" name="MCI 8.12%、AD痴呆9.07%、正常8.33%，呈双相分布。以上均为调整组均值。"/>
          <p:cNvSpPr txBox="1"/>
          <p:nvPr/>
        </p:nvSpPr>
        <p:spPr>
          <a:xfrm>
            <a:off x="4054320" y="8581960"/>
            <a:ext cx="3231360" cy="358140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ts val="1160"/>
              </a:lnSpc>
              <a:spcBef>
                <a:spcPts val="0"/>
              </a:spcBef>
              <a:spcAft>
                <a:spcPts val="0"/>
              </a:spcAft>
            </a:pPr>
            <a:r>
              <a:rPr sz="950" b="0" lang="zh-CN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rPr>
              <a:t>MCI 8.12%、AD痴呆9.07%、正常8.33%，呈双相分布。以</a:t>
            </a:r>
          </a:p>
          <a:p>
            <a:pPr>
              <a:lnSpc>
                <a:spcPts val="1160"/>
              </a:lnSpc>
              <a:spcBef>
                <a:spcPts val="0"/>
              </a:spcBef>
              <a:spcAft>
                <a:spcPts val="0"/>
              </a:spcAft>
            </a:pPr>
            <a:r>
              <a:rPr sz="950" b="0" lang="zh-CN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rPr>
              <a:t>上均为调整组均值。</a:t>
            </a:r>
          </a:p>
        </p:txBody>
      </p:sp>
      <p:sp>
        <p:nvSpPr>
          <p:cNvPr id="80" name="2026 刊p673、675、678"/>
          <p:cNvSpPr txBox="1"/>
          <p:nvPr/>
        </p:nvSpPr>
        <p:spPr>
          <a:xfrm>
            <a:off x="4054320" y="8902000"/>
            <a:ext cx="3231360" cy="193040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ts val="1019"/>
              </a:lnSpc>
              <a:spcBef>
                <a:spcPts val="0"/>
              </a:spcBef>
              <a:spcAft>
                <a:spcPts val="0"/>
              </a:spcAft>
            </a:pPr>
            <a:r>
              <a:rPr sz="850" b="0" lang="zh-CN">
                <a:solidFill>
                  <a:srgbClr val="404040"/>
                </a:solidFill>
                <a:latin typeface="Microsoft YaHei"/>
                <a:ea typeface="Microsoft YaHei"/>
                <a:cs typeface="Microsoft YaHei"/>
              </a:rPr>
              <a:t>2026 刊p673、675、678</a:t>
            </a:r>
          </a:p>
        </p:txBody>
      </p:sp>
      <p:sp>
        <p:nvSpPr>
          <p:cNvPr id="81" name="单篇研究方案，不等同指南推荐。详见提取表。&#10;100%原尺寸 · 双面长边翻转"/>
          <p:cNvSpPr txBox="1"/>
          <p:nvPr/>
        </p:nvSpPr>
        <p:spPr>
          <a:xfrm>
            <a:off x="3978120" y="10216800"/>
            <a:ext cx="3383760" cy="322580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ts val="1019"/>
              </a:lnSpc>
              <a:spcBef>
                <a:spcPts val="0"/>
              </a:spcBef>
              <a:spcAft>
                <a:spcPts val="0"/>
              </a:spcAft>
            </a:pPr>
            <a:r>
              <a:rPr sz="850" b="0" lang="zh-CN">
                <a:solidFill>
                  <a:srgbClr val="404040"/>
                </a:solidFill>
                <a:latin typeface="Microsoft YaHei"/>
                <a:ea typeface="Microsoft YaHei"/>
                <a:cs typeface="Microsoft YaHei"/>
              </a:rPr>
              <a:t>单篇研究方案，不等同指南推荐。详见提取表。</a:t>
            </a:r>
          </a:p>
          <a:p>
            <a:pPr>
              <a:lnSpc>
                <a:spcPts val="1019"/>
              </a:lnSpc>
              <a:spcBef>
                <a:spcPts val="0"/>
              </a:spcBef>
              <a:spcAft>
                <a:spcPts val="0"/>
              </a:spcAft>
            </a:pPr>
            <a:r>
              <a:rPr sz="850" b="0" lang="zh-CN">
                <a:solidFill>
                  <a:srgbClr val="404040"/>
                </a:solidFill>
                <a:latin typeface="Microsoft YaHei"/>
                <a:ea typeface="Microsoft YaHei"/>
                <a:cs typeface="Microsoft YaHei"/>
              </a:rPr>
              <a:t>100%原尺寸 · 双面长边翻转</a:t>
            </a:r>
          </a:p>
        </p:txBody>
      </p:sp>
      <p:cxnSp>
        <p:nvCxnSpPr>
          <p:cNvPr id="82" name="Connector 81"/>
          <p:cNvCxnSpPr/>
          <p:nvPr/>
        </p:nvCxnSpPr>
        <p:spPr>
          <a:xfrm>
            <a:off x="3780000" y="0"/>
            <a:ext cx="0" cy="10692000"/>
          </a:xfrm>
          <a:prstGeom prst="line">
            <a:avLst/>
          </a:prstGeom>
          <a:ln w="3175">
            <a:solidFill>
              <a:srgbClr val="91919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3" name="Connector 82"/>
          <p:cNvCxnSpPr/>
          <p:nvPr/>
        </p:nvCxnSpPr>
        <p:spPr>
          <a:xfrm>
            <a:off x="0" y="18000"/>
            <a:ext cx="7560000" cy="0"/>
          </a:xfrm>
          <a:prstGeom prst="line">
            <a:avLst/>
          </a:prstGeom>
          <a:ln w="3175">
            <a:solidFill>
              <a:srgbClr val="91919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4" name="Connector 83"/>
          <p:cNvCxnSpPr/>
          <p:nvPr/>
        </p:nvCxnSpPr>
        <p:spPr>
          <a:xfrm>
            <a:off x="0" y="5346000"/>
            <a:ext cx="7560000" cy="0"/>
          </a:xfrm>
          <a:prstGeom prst="line">
            <a:avLst/>
          </a:prstGeom>
          <a:ln w="3175">
            <a:solidFill>
              <a:srgbClr val="91919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5" name="Connector 84"/>
          <p:cNvCxnSpPr/>
          <p:nvPr/>
        </p:nvCxnSpPr>
        <p:spPr>
          <a:xfrm>
            <a:off x="0" y="10674000"/>
            <a:ext cx="7560000" cy="0"/>
          </a:xfrm>
          <a:prstGeom prst="line">
            <a:avLst/>
          </a:prstGeom>
          <a:ln w="3175">
            <a:solidFill>
              <a:srgbClr val="91919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160020" y="178020"/>
            <a:ext cx="3459960" cy="520700"/>
          </a:xfrm>
          <a:prstGeom prst="rect">
            <a:avLst/>
          </a:prstGeom>
          <a:solidFill>
            <a:srgbClr val="FFFFFF"/>
          </a:solidFill>
          <a:ln w="7620">
            <a:solidFill>
              <a:srgbClr val="6D7A8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CTA与阿尔茨海默病：研究解读"/>
          <p:cNvSpPr txBox="1"/>
          <p:nvPr/>
        </p:nvSpPr>
        <p:spPr>
          <a:xfrm>
            <a:off x="236220" y="216120"/>
            <a:ext cx="3307560" cy="241300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ts val="1400"/>
              </a:lnSpc>
              <a:spcBef>
                <a:spcPts val="0"/>
              </a:spcBef>
              <a:spcAft>
                <a:spcPts val="0"/>
              </a:spcAft>
            </a:pPr>
            <a:r>
              <a:rPr sz="1150" b="1" lang="zh-CN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rPr>
              <a:t>OCTA与阿尔茨海默病：研究解读</a:t>
            </a:r>
          </a:p>
        </p:txBody>
      </p:sp>
      <p:sp>
        <p:nvSpPr>
          <p:cNvPr id="4" name="2026 单篇研究 · 背面"/>
          <p:cNvSpPr txBox="1"/>
          <p:nvPr/>
        </p:nvSpPr>
        <p:spPr>
          <a:xfrm>
            <a:off x="236220" y="432020"/>
            <a:ext cx="3307560" cy="193040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ts val="1019"/>
              </a:lnSpc>
              <a:spcBef>
                <a:spcPts val="0"/>
              </a:spcBef>
              <a:spcAft>
                <a:spcPts val="0"/>
              </a:spcAft>
            </a:pPr>
            <a:r>
              <a:rPr sz="850" b="0" lang="zh-CN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rPr>
              <a:t>2026 单篇研究 · 背面</a:t>
            </a:r>
          </a:p>
        </p:txBody>
      </p:sp>
      <p:sp>
        <p:nvSpPr>
          <p:cNvPr id="5" name="Rectangle 4"/>
          <p:cNvSpPr/>
          <p:nvPr/>
        </p:nvSpPr>
        <p:spPr>
          <a:xfrm>
            <a:off x="172720" y="762220"/>
            <a:ext cx="3434560" cy="716280"/>
          </a:xfrm>
          <a:prstGeom prst="rect">
            <a:avLst/>
          </a:prstGeom>
          <a:solidFill>
            <a:srgbClr val="FFFFFF"/>
          </a:solidFill>
          <a:ln w="7620">
            <a:solidFill>
              <a:srgbClr val="7E8A9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统计提醒"/>
          <p:cNvSpPr txBox="1"/>
          <p:nvPr/>
        </p:nvSpPr>
        <p:spPr>
          <a:xfrm>
            <a:off x="274320" y="800320"/>
            <a:ext cx="3231360" cy="215900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ts val="12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 lang="zh-CN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rPr>
              <a:t>统计提醒</a:t>
            </a:r>
          </a:p>
        </p:txBody>
      </p:sp>
      <p:sp>
        <p:nvSpPr>
          <p:cNvPr id="7" name="VSD组间FDR校正后不显著；多变量模型关联不能混作组间差异或因果证据。"/>
          <p:cNvSpPr txBox="1"/>
          <p:nvPr/>
        </p:nvSpPr>
        <p:spPr>
          <a:xfrm>
            <a:off x="274320" y="952720"/>
            <a:ext cx="3231360" cy="358140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ts val="1160"/>
              </a:lnSpc>
              <a:spcBef>
                <a:spcPts val="0"/>
              </a:spcBef>
              <a:spcAft>
                <a:spcPts val="0"/>
              </a:spcAft>
            </a:pPr>
            <a:r>
              <a:rPr sz="950" b="0" lang="zh-CN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rPr>
              <a:t>VSD组间FDR校正后不显著；多变量模型关联不能混作组间差</a:t>
            </a:r>
          </a:p>
          <a:p>
            <a:pPr>
              <a:lnSpc>
                <a:spcPts val="1160"/>
              </a:lnSpc>
              <a:spcBef>
                <a:spcPts val="0"/>
              </a:spcBef>
              <a:spcAft>
                <a:spcPts val="0"/>
              </a:spcAft>
            </a:pPr>
            <a:r>
              <a:rPr sz="950" b="0" lang="zh-CN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rPr>
              <a:t>异或因果证据。</a:t>
            </a:r>
          </a:p>
        </p:txBody>
      </p:sp>
      <p:sp>
        <p:nvSpPr>
          <p:cNvPr id="8" name="2026 刊p675、677–678"/>
          <p:cNvSpPr txBox="1"/>
          <p:nvPr/>
        </p:nvSpPr>
        <p:spPr>
          <a:xfrm>
            <a:off x="274320" y="1272760"/>
            <a:ext cx="3231360" cy="193040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ts val="1019"/>
              </a:lnSpc>
              <a:spcBef>
                <a:spcPts val="0"/>
              </a:spcBef>
              <a:spcAft>
                <a:spcPts val="0"/>
              </a:spcAft>
            </a:pPr>
            <a:r>
              <a:rPr sz="850" b="0" lang="zh-CN">
                <a:solidFill>
                  <a:srgbClr val="404040"/>
                </a:solidFill>
                <a:latin typeface="Microsoft YaHei"/>
                <a:ea typeface="Microsoft YaHei"/>
                <a:cs typeface="Microsoft YaHei"/>
              </a:rPr>
              <a:t>2026 刊p675、677–678</a:t>
            </a:r>
          </a:p>
        </p:txBody>
      </p:sp>
      <p:sp>
        <p:nvSpPr>
          <p:cNvPr id="9" name="Rectangle 8"/>
          <p:cNvSpPr/>
          <p:nvPr/>
        </p:nvSpPr>
        <p:spPr>
          <a:xfrm>
            <a:off x="172720" y="1529300"/>
            <a:ext cx="3434560" cy="716280"/>
          </a:xfrm>
          <a:prstGeom prst="rect">
            <a:avLst/>
          </a:prstGeom>
          <a:solidFill>
            <a:srgbClr val="FFFFFF"/>
          </a:solidFill>
          <a:ln w="7620">
            <a:solidFill>
              <a:srgbClr val="7E8A9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模型性能"/>
          <p:cNvSpPr txBox="1"/>
          <p:nvPr/>
        </p:nvSpPr>
        <p:spPr>
          <a:xfrm>
            <a:off x="274320" y="1567400"/>
            <a:ext cx="3231360" cy="215900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ts val="12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 lang="zh-CN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rPr>
              <a:t>模型性能</a:t>
            </a:r>
          </a:p>
        </p:txBody>
      </p:sp>
      <p:sp>
        <p:nvSpPr>
          <p:cNvPr id="11" name="测试集21人：10/6/5；AUC 0.72~0.87。事后5折验证更保守，小样本性能可能高估。"/>
          <p:cNvSpPr txBox="1"/>
          <p:nvPr/>
        </p:nvSpPr>
        <p:spPr>
          <a:xfrm>
            <a:off x="274320" y="1719800"/>
            <a:ext cx="3231360" cy="358140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ts val="1160"/>
              </a:lnSpc>
              <a:spcBef>
                <a:spcPts val="0"/>
              </a:spcBef>
              <a:spcAft>
                <a:spcPts val="0"/>
              </a:spcAft>
            </a:pPr>
            <a:r>
              <a:rPr sz="950" b="0" lang="zh-CN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rPr>
              <a:t>测试集21人：10/6/5；AUC 0.72~0.87。事后5折验证更保</a:t>
            </a:r>
          </a:p>
          <a:p>
            <a:pPr>
              <a:lnSpc>
                <a:spcPts val="1160"/>
              </a:lnSpc>
              <a:spcBef>
                <a:spcPts val="0"/>
              </a:spcBef>
              <a:spcAft>
                <a:spcPts val="0"/>
              </a:spcAft>
            </a:pPr>
            <a:r>
              <a:rPr sz="950" b="0" lang="zh-CN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rPr>
              <a:t>守，小样本性能可能高估。</a:t>
            </a:r>
          </a:p>
        </p:txBody>
      </p:sp>
      <p:sp>
        <p:nvSpPr>
          <p:cNvPr id="12" name="2026 刊p673、675–676、679"/>
          <p:cNvSpPr txBox="1"/>
          <p:nvPr/>
        </p:nvSpPr>
        <p:spPr>
          <a:xfrm>
            <a:off x="274320" y="2039840"/>
            <a:ext cx="3231360" cy="193040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ts val="1019"/>
              </a:lnSpc>
              <a:spcBef>
                <a:spcPts val="0"/>
              </a:spcBef>
              <a:spcAft>
                <a:spcPts val="0"/>
              </a:spcAft>
            </a:pPr>
            <a:r>
              <a:rPr sz="850" b="0" lang="zh-CN">
                <a:solidFill>
                  <a:srgbClr val="404040"/>
                </a:solidFill>
                <a:latin typeface="Microsoft YaHei"/>
                <a:ea typeface="Microsoft YaHei"/>
                <a:cs typeface="Microsoft YaHei"/>
              </a:rPr>
              <a:t>2026 刊p673、675–676、679</a:t>
            </a:r>
          </a:p>
        </p:txBody>
      </p:sp>
      <p:sp>
        <p:nvSpPr>
          <p:cNvPr id="13" name="Rectangle 12"/>
          <p:cNvSpPr/>
          <p:nvPr/>
        </p:nvSpPr>
        <p:spPr>
          <a:xfrm>
            <a:off x="172720" y="2296380"/>
            <a:ext cx="3434560" cy="716280"/>
          </a:xfrm>
          <a:prstGeom prst="rect">
            <a:avLst/>
          </a:prstGeom>
          <a:solidFill>
            <a:srgbClr val="FFFFFF"/>
          </a:solidFill>
          <a:ln w="7620">
            <a:solidFill>
              <a:srgbClr val="7E8A9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临床边界"/>
          <p:cNvSpPr txBox="1"/>
          <p:nvPr/>
        </p:nvSpPr>
        <p:spPr>
          <a:xfrm>
            <a:off x="274320" y="2334480"/>
            <a:ext cx="3231360" cy="215900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ts val="12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 lang="zh-CN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rPr>
              <a:t>临床边界</a:t>
            </a:r>
          </a:p>
        </p:txBody>
      </p:sp>
      <p:sp>
        <p:nvSpPr>
          <p:cNvPr id="15" name="原文未建立个体诊断、转诊数值切点、筛查年龄、复查频率或治疗方案。不可凭组均值判定AD。"/>
          <p:cNvSpPr txBox="1"/>
          <p:nvPr/>
        </p:nvSpPr>
        <p:spPr>
          <a:xfrm>
            <a:off x="274320" y="2486880"/>
            <a:ext cx="3231360" cy="358140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ts val="1160"/>
              </a:lnSpc>
              <a:spcBef>
                <a:spcPts val="0"/>
              </a:spcBef>
              <a:spcAft>
                <a:spcPts val="0"/>
              </a:spcAft>
            </a:pPr>
            <a:r>
              <a:rPr sz="950" b="0" lang="zh-CN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rPr>
              <a:t>原文未建立个体诊断、转诊数值切点、筛查年龄、复查频率</a:t>
            </a:r>
          </a:p>
          <a:p>
            <a:pPr>
              <a:lnSpc>
                <a:spcPts val="1160"/>
              </a:lnSpc>
              <a:spcBef>
                <a:spcPts val="0"/>
              </a:spcBef>
              <a:spcAft>
                <a:spcPts val="0"/>
              </a:spcAft>
            </a:pPr>
            <a:r>
              <a:rPr sz="950" b="0" lang="zh-CN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rPr>
              <a:t>或治疗方案。不可凭组均值判定AD。</a:t>
            </a:r>
          </a:p>
        </p:txBody>
      </p:sp>
      <p:sp>
        <p:nvSpPr>
          <p:cNvPr id="16" name="2026 刊p673、679"/>
          <p:cNvSpPr txBox="1"/>
          <p:nvPr/>
        </p:nvSpPr>
        <p:spPr>
          <a:xfrm>
            <a:off x="274320" y="2806920"/>
            <a:ext cx="3231360" cy="193040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ts val="1019"/>
              </a:lnSpc>
              <a:spcBef>
                <a:spcPts val="0"/>
              </a:spcBef>
              <a:spcAft>
                <a:spcPts val="0"/>
              </a:spcAft>
            </a:pPr>
            <a:r>
              <a:rPr sz="850" b="0" lang="zh-CN">
                <a:solidFill>
                  <a:srgbClr val="404040"/>
                </a:solidFill>
                <a:latin typeface="Microsoft YaHei"/>
                <a:ea typeface="Microsoft YaHei"/>
                <a:cs typeface="Microsoft YaHei"/>
              </a:rPr>
              <a:t>2026 刊p673、679</a:t>
            </a:r>
          </a:p>
        </p:txBody>
      </p:sp>
      <p:sp>
        <p:nvSpPr>
          <p:cNvPr id="17" name="Rectangle 16"/>
          <p:cNvSpPr/>
          <p:nvPr/>
        </p:nvSpPr>
        <p:spPr>
          <a:xfrm>
            <a:off x="172720" y="3063460"/>
            <a:ext cx="3434560" cy="716280"/>
          </a:xfrm>
          <a:prstGeom prst="rect">
            <a:avLst/>
          </a:prstGeom>
          <a:solidFill>
            <a:srgbClr val="FFFFFF"/>
          </a:solidFill>
          <a:ln w="7620">
            <a:solidFill>
              <a:srgbClr val="7E8A9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下一步与局限"/>
          <p:cNvSpPr txBox="1"/>
          <p:nvPr/>
        </p:nvSpPr>
        <p:spPr>
          <a:xfrm>
            <a:off x="274320" y="3101560"/>
            <a:ext cx="3231360" cy="215900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ts val="12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 lang="zh-CN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rPr>
              <a:t>下一步与局限</a:t>
            </a:r>
          </a:p>
        </p:txBody>
      </p:sp>
      <p:sp>
        <p:nvSpPr>
          <p:cNvPr id="19" name="用于研究解读及神经评估衔接；MCI病因混合、性别差异及残余混杂，待外部/纵向验证。"/>
          <p:cNvSpPr txBox="1"/>
          <p:nvPr/>
        </p:nvSpPr>
        <p:spPr>
          <a:xfrm>
            <a:off x="274320" y="3253960"/>
            <a:ext cx="3231360" cy="358140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ts val="1160"/>
              </a:lnSpc>
              <a:spcBef>
                <a:spcPts val="0"/>
              </a:spcBef>
              <a:spcAft>
                <a:spcPts val="0"/>
              </a:spcAft>
            </a:pPr>
            <a:r>
              <a:rPr sz="950" b="0" lang="zh-CN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rPr>
              <a:t>用于研究解读及神经评估衔接；MCI病因混合、性别差异及残</a:t>
            </a:r>
          </a:p>
          <a:p>
            <a:pPr>
              <a:lnSpc>
                <a:spcPts val="1160"/>
              </a:lnSpc>
              <a:spcBef>
                <a:spcPts val="0"/>
              </a:spcBef>
              <a:spcAft>
                <a:spcPts val="0"/>
              </a:spcAft>
            </a:pPr>
            <a:r>
              <a:rPr sz="950" b="0" lang="zh-CN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rPr>
              <a:t>余混杂，待外部/纵向验证。</a:t>
            </a:r>
          </a:p>
        </p:txBody>
      </p:sp>
      <p:sp>
        <p:nvSpPr>
          <p:cNvPr id="20" name="2026 刊p674、679"/>
          <p:cNvSpPr txBox="1"/>
          <p:nvPr/>
        </p:nvSpPr>
        <p:spPr>
          <a:xfrm>
            <a:off x="274320" y="3574000"/>
            <a:ext cx="3231360" cy="193040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ts val="1019"/>
              </a:lnSpc>
              <a:spcBef>
                <a:spcPts val="0"/>
              </a:spcBef>
              <a:spcAft>
                <a:spcPts val="0"/>
              </a:spcAft>
            </a:pPr>
            <a:r>
              <a:rPr sz="850" b="0" lang="zh-CN">
                <a:solidFill>
                  <a:srgbClr val="404040"/>
                </a:solidFill>
                <a:latin typeface="Microsoft YaHei"/>
                <a:ea typeface="Microsoft YaHei"/>
                <a:cs typeface="Microsoft YaHei"/>
              </a:rPr>
              <a:t>2026 刊p674、679</a:t>
            </a:r>
          </a:p>
        </p:txBody>
      </p:sp>
      <p:sp>
        <p:nvSpPr>
          <p:cNvPr id="21" name="单篇研究方案，不等同指南推荐。详见提取表。&#10;100%原尺寸 · 双面长边翻转"/>
          <p:cNvSpPr txBox="1"/>
          <p:nvPr/>
        </p:nvSpPr>
        <p:spPr>
          <a:xfrm>
            <a:off x="198120" y="4888800"/>
            <a:ext cx="3383760" cy="322580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ts val="1019"/>
              </a:lnSpc>
              <a:spcBef>
                <a:spcPts val="0"/>
              </a:spcBef>
              <a:spcAft>
                <a:spcPts val="0"/>
              </a:spcAft>
            </a:pPr>
            <a:r>
              <a:rPr sz="850" b="0" lang="zh-CN">
                <a:solidFill>
                  <a:srgbClr val="404040"/>
                </a:solidFill>
                <a:latin typeface="Microsoft YaHei"/>
                <a:ea typeface="Microsoft YaHei"/>
                <a:cs typeface="Microsoft YaHei"/>
              </a:rPr>
              <a:t>单篇研究方案，不等同指南推荐。详见提取表。</a:t>
            </a:r>
          </a:p>
          <a:p>
            <a:pPr>
              <a:lnSpc>
                <a:spcPts val="1019"/>
              </a:lnSpc>
              <a:spcBef>
                <a:spcPts val="0"/>
              </a:spcBef>
              <a:spcAft>
                <a:spcPts val="0"/>
              </a:spcAft>
            </a:pPr>
            <a:r>
              <a:rPr sz="850" b="0" lang="zh-CN">
                <a:solidFill>
                  <a:srgbClr val="404040"/>
                </a:solidFill>
                <a:latin typeface="Microsoft YaHei"/>
                <a:ea typeface="Microsoft YaHei"/>
                <a:cs typeface="Microsoft YaHei"/>
              </a:rPr>
              <a:t>100%原尺寸 · 双面长边翻转</a:t>
            </a:r>
          </a:p>
        </p:txBody>
      </p:sp>
      <p:sp>
        <p:nvSpPr>
          <p:cNvPr id="22" name="Rectangle 21"/>
          <p:cNvSpPr/>
          <p:nvPr/>
        </p:nvSpPr>
        <p:spPr>
          <a:xfrm>
            <a:off x="3940020" y="178020"/>
            <a:ext cx="3459960" cy="520700"/>
          </a:xfrm>
          <a:prstGeom prst="rect">
            <a:avLst/>
          </a:prstGeom>
          <a:solidFill>
            <a:srgbClr val="FFFFFF"/>
          </a:solidFill>
          <a:ln w="7620">
            <a:solidFill>
              <a:srgbClr val="6D7A8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OCTA与阿尔茨海默病：研究解读"/>
          <p:cNvSpPr txBox="1"/>
          <p:nvPr/>
        </p:nvSpPr>
        <p:spPr>
          <a:xfrm>
            <a:off x="4016220" y="216120"/>
            <a:ext cx="3307560" cy="241300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ts val="1400"/>
              </a:lnSpc>
              <a:spcBef>
                <a:spcPts val="0"/>
              </a:spcBef>
              <a:spcAft>
                <a:spcPts val="0"/>
              </a:spcAft>
            </a:pPr>
            <a:r>
              <a:rPr sz="1150" b="1" lang="zh-CN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rPr>
              <a:t>OCTA与阿尔茨海默病：研究解读</a:t>
            </a:r>
          </a:p>
        </p:txBody>
      </p:sp>
      <p:sp>
        <p:nvSpPr>
          <p:cNvPr id="24" name="2026 单篇研究 · 背面"/>
          <p:cNvSpPr txBox="1"/>
          <p:nvPr/>
        </p:nvSpPr>
        <p:spPr>
          <a:xfrm>
            <a:off x="4016220" y="432020"/>
            <a:ext cx="3307560" cy="193040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ts val="1019"/>
              </a:lnSpc>
              <a:spcBef>
                <a:spcPts val="0"/>
              </a:spcBef>
              <a:spcAft>
                <a:spcPts val="0"/>
              </a:spcAft>
            </a:pPr>
            <a:r>
              <a:rPr sz="850" b="0" lang="zh-CN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rPr>
              <a:t>2026 单篇研究 · 背面</a:t>
            </a:r>
          </a:p>
        </p:txBody>
      </p:sp>
      <p:sp>
        <p:nvSpPr>
          <p:cNvPr id="25" name="Rectangle 24"/>
          <p:cNvSpPr/>
          <p:nvPr/>
        </p:nvSpPr>
        <p:spPr>
          <a:xfrm>
            <a:off x="3952720" y="762220"/>
            <a:ext cx="3434560" cy="716280"/>
          </a:xfrm>
          <a:prstGeom prst="rect">
            <a:avLst/>
          </a:prstGeom>
          <a:solidFill>
            <a:srgbClr val="FFFFFF"/>
          </a:solidFill>
          <a:ln w="7620">
            <a:solidFill>
              <a:srgbClr val="7E8A9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统计提醒"/>
          <p:cNvSpPr txBox="1"/>
          <p:nvPr/>
        </p:nvSpPr>
        <p:spPr>
          <a:xfrm>
            <a:off x="4054320" y="800320"/>
            <a:ext cx="3231360" cy="215900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ts val="12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 lang="zh-CN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rPr>
              <a:t>统计提醒</a:t>
            </a:r>
          </a:p>
        </p:txBody>
      </p:sp>
      <p:sp>
        <p:nvSpPr>
          <p:cNvPr id="27" name="VSD组间FDR校正后不显著；多变量模型关联不能混作组间差异或因果证据。"/>
          <p:cNvSpPr txBox="1"/>
          <p:nvPr/>
        </p:nvSpPr>
        <p:spPr>
          <a:xfrm>
            <a:off x="4054320" y="952720"/>
            <a:ext cx="3231360" cy="358140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ts val="1160"/>
              </a:lnSpc>
              <a:spcBef>
                <a:spcPts val="0"/>
              </a:spcBef>
              <a:spcAft>
                <a:spcPts val="0"/>
              </a:spcAft>
            </a:pPr>
            <a:r>
              <a:rPr sz="950" b="0" lang="zh-CN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rPr>
              <a:t>VSD组间FDR校正后不显著；多变量模型关联不能混作组间差</a:t>
            </a:r>
          </a:p>
          <a:p>
            <a:pPr>
              <a:lnSpc>
                <a:spcPts val="1160"/>
              </a:lnSpc>
              <a:spcBef>
                <a:spcPts val="0"/>
              </a:spcBef>
              <a:spcAft>
                <a:spcPts val="0"/>
              </a:spcAft>
            </a:pPr>
            <a:r>
              <a:rPr sz="950" b="0" lang="zh-CN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rPr>
              <a:t>异或因果证据。</a:t>
            </a:r>
          </a:p>
        </p:txBody>
      </p:sp>
      <p:sp>
        <p:nvSpPr>
          <p:cNvPr id="28" name="2026 刊p675、677–678"/>
          <p:cNvSpPr txBox="1"/>
          <p:nvPr/>
        </p:nvSpPr>
        <p:spPr>
          <a:xfrm>
            <a:off x="4054320" y="1272760"/>
            <a:ext cx="3231360" cy="193040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ts val="1019"/>
              </a:lnSpc>
              <a:spcBef>
                <a:spcPts val="0"/>
              </a:spcBef>
              <a:spcAft>
                <a:spcPts val="0"/>
              </a:spcAft>
            </a:pPr>
            <a:r>
              <a:rPr sz="850" b="0" lang="zh-CN">
                <a:solidFill>
                  <a:srgbClr val="404040"/>
                </a:solidFill>
                <a:latin typeface="Microsoft YaHei"/>
                <a:ea typeface="Microsoft YaHei"/>
                <a:cs typeface="Microsoft YaHei"/>
              </a:rPr>
              <a:t>2026 刊p675、677–678</a:t>
            </a:r>
          </a:p>
        </p:txBody>
      </p:sp>
      <p:sp>
        <p:nvSpPr>
          <p:cNvPr id="29" name="Rectangle 28"/>
          <p:cNvSpPr/>
          <p:nvPr/>
        </p:nvSpPr>
        <p:spPr>
          <a:xfrm>
            <a:off x="3952720" y="1529300"/>
            <a:ext cx="3434560" cy="716280"/>
          </a:xfrm>
          <a:prstGeom prst="rect">
            <a:avLst/>
          </a:prstGeom>
          <a:solidFill>
            <a:srgbClr val="FFFFFF"/>
          </a:solidFill>
          <a:ln w="7620">
            <a:solidFill>
              <a:srgbClr val="7E8A9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模型性能"/>
          <p:cNvSpPr txBox="1"/>
          <p:nvPr/>
        </p:nvSpPr>
        <p:spPr>
          <a:xfrm>
            <a:off x="4054320" y="1567400"/>
            <a:ext cx="3231360" cy="215900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ts val="12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 lang="zh-CN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rPr>
              <a:t>模型性能</a:t>
            </a:r>
          </a:p>
        </p:txBody>
      </p:sp>
      <p:sp>
        <p:nvSpPr>
          <p:cNvPr id="31" name="测试集21人：10/6/5；AUC 0.72~0.87。事后5折验证更保守，小样本性能可能高估。"/>
          <p:cNvSpPr txBox="1"/>
          <p:nvPr/>
        </p:nvSpPr>
        <p:spPr>
          <a:xfrm>
            <a:off x="4054320" y="1719800"/>
            <a:ext cx="3231360" cy="358140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ts val="1160"/>
              </a:lnSpc>
              <a:spcBef>
                <a:spcPts val="0"/>
              </a:spcBef>
              <a:spcAft>
                <a:spcPts val="0"/>
              </a:spcAft>
            </a:pPr>
            <a:r>
              <a:rPr sz="950" b="0" lang="zh-CN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rPr>
              <a:t>测试集21人：10/6/5；AUC 0.72~0.87。事后5折验证更保</a:t>
            </a:r>
          </a:p>
          <a:p>
            <a:pPr>
              <a:lnSpc>
                <a:spcPts val="1160"/>
              </a:lnSpc>
              <a:spcBef>
                <a:spcPts val="0"/>
              </a:spcBef>
              <a:spcAft>
                <a:spcPts val="0"/>
              </a:spcAft>
            </a:pPr>
            <a:r>
              <a:rPr sz="950" b="0" lang="zh-CN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rPr>
              <a:t>守，小样本性能可能高估。</a:t>
            </a:r>
          </a:p>
        </p:txBody>
      </p:sp>
      <p:sp>
        <p:nvSpPr>
          <p:cNvPr id="32" name="2026 刊p673、675–676、679"/>
          <p:cNvSpPr txBox="1"/>
          <p:nvPr/>
        </p:nvSpPr>
        <p:spPr>
          <a:xfrm>
            <a:off x="4054320" y="2039840"/>
            <a:ext cx="3231360" cy="193040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ts val="1019"/>
              </a:lnSpc>
              <a:spcBef>
                <a:spcPts val="0"/>
              </a:spcBef>
              <a:spcAft>
                <a:spcPts val="0"/>
              </a:spcAft>
            </a:pPr>
            <a:r>
              <a:rPr sz="850" b="0" lang="zh-CN">
                <a:solidFill>
                  <a:srgbClr val="404040"/>
                </a:solidFill>
                <a:latin typeface="Microsoft YaHei"/>
                <a:ea typeface="Microsoft YaHei"/>
                <a:cs typeface="Microsoft YaHei"/>
              </a:rPr>
              <a:t>2026 刊p673、675–676、679</a:t>
            </a:r>
          </a:p>
        </p:txBody>
      </p:sp>
      <p:sp>
        <p:nvSpPr>
          <p:cNvPr id="33" name="Rectangle 32"/>
          <p:cNvSpPr/>
          <p:nvPr/>
        </p:nvSpPr>
        <p:spPr>
          <a:xfrm>
            <a:off x="3952720" y="2296380"/>
            <a:ext cx="3434560" cy="716280"/>
          </a:xfrm>
          <a:prstGeom prst="rect">
            <a:avLst/>
          </a:prstGeom>
          <a:solidFill>
            <a:srgbClr val="FFFFFF"/>
          </a:solidFill>
          <a:ln w="7620">
            <a:solidFill>
              <a:srgbClr val="7E8A9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临床边界"/>
          <p:cNvSpPr txBox="1"/>
          <p:nvPr/>
        </p:nvSpPr>
        <p:spPr>
          <a:xfrm>
            <a:off x="4054320" y="2334480"/>
            <a:ext cx="3231360" cy="215900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ts val="12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 lang="zh-CN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rPr>
              <a:t>临床边界</a:t>
            </a:r>
          </a:p>
        </p:txBody>
      </p:sp>
      <p:sp>
        <p:nvSpPr>
          <p:cNvPr id="35" name="原文未建立个体诊断、转诊数值切点、筛查年龄、复查频率或治疗方案。不可凭组均值判定AD。"/>
          <p:cNvSpPr txBox="1"/>
          <p:nvPr/>
        </p:nvSpPr>
        <p:spPr>
          <a:xfrm>
            <a:off x="4054320" y="2486880"/>
            <a:ext cx="3231360" cy="358140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ts val="1160"/>
              </a:lnSpc>
              <a:spcBef>
                <a:spcPts val="0"/>
              </a:spcBef>
              <a:spcAft>
                <a:spcPts val="0"/>
              </a:spcAft>
            </a:pPr>
            <a:r>
              <a:rPr sz="950" b="0" lang="zh-CN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rPr>
              <a:t>原文未建立个体诊断、转诊数值切点、筛查年龄、复查频率</a:t>
            </a:r>
          </a:p>
          <a:p>
            <a:pPr>
              <a:lnSpc>
                <a:spcPts val="1160"/>
              </a:lnSpc>
              <a:spcBef>
                <a:spcPts val="0"/>
              </a:spcBef>
              <a:spcAft>
                <a:spcPts val="0"/>
              </a:spcAft>
            </a:pPr>
            <a:r>
              <a:rPr sz="950" b="0" lang="zh-CN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rPr>
              <a:t>或治疗方案。不可凭组均值判定AD。</a:t>
            </a:r>
          </a:p>
        </p:txBody>
      </p:sp>
      <p:sp>
        <p:nvSpPr>
          <p:cNvPr id="36" name="2026 刊p673、679"/>
          <p:cNvSpPr txBox="1"/>
          <p:nvPr/>
        </p:nvSpPr>
        <p:spPr>
          <a:xfrm>
            <a:off x="4054320" y="2806920"/>
            <a:ext cx="3231360" cy="193040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ts val="1019"/>
              </a:lnSpc>
              <a:spcBef>
                <a:spcPts val="0"/>
              </a:spcBef>
              <a:spcAft>
                <a:spcPts val="0"/>
              </a:spcAft>
            </a:pPr>
            <a:r>
              <a:rPr sz="850" b="0" lang="zh-CN">
                <a:solidFill>
                  <a:srgbClr val="404040"/>
                </a:solidFill>
                <a:latin typeface="Microsoft YaHei"/>
                <a:ea typeface="Microsoft YaHei"/>
                <a:cs typeface="Microsoft YaHei"/>
              </a:rPr>
              <a:t>2026 刊p673、679</a:t>
            </a:r>
          </a:p>
        </p:txBody>
      </p:sp>
      <p:sp>
        <p:nvSpPr>
          <p:cNvPr id="37" name="Rectangle 36"/>
          <p:cNvSpPr/>
          <p:nvPr/>
        </p:nvSpPr>
        <p:spPr>
          <a:xfrm>
            <a:off x="3952720" y="3063460"/>
            <a:ext cx="3434560" cy="716280"/>
          </a:xfrm>
          <a:prstGeom prst="rect">
            <a:avLst/>
          </a:prstGeom>
          <a:solidFill>
            <a:srgbClr val="FFFFFF"/>
          </a:solidFill>
          <a:ln w="7620">
            <a:solidFill>
              <a:srgbClr val="7E8A9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下一步与局限"/>
          <p:cNvSpPr txBox="1"/>
          <p:nvPr/>
        </p:nvSpPr>
        <p:spPr>
          <a:xfrm>
            <a:off x="4054320" y="3101560"/>
            <a:ext cx="3231360" cy="215900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ts val="12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 lang="zh-CN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rPr>
              <a:t>下一步与局限</a:t>
            </a:r>
          </a:p>
        </p:txBody>
      </p:sp>
      <p:sp>
        <p:nvSpPr>
          <p:cNvPr id="39" name="用于研究解读及神经评估衔接；MCI病因混合、性别差异及残余混杂，待外部/纵向验证。"/>
          <p:cNvSpPr txBox="1"/>
          <p:nvPr/>
        </p:nvSpPr>
        <p:spPr>
          <a:xfrm>
            <a:off x="4054320" y="3253960"/>
            <a:ext cx="3231360" cy="358140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ts val="1160"/>
              </a:lnSpc>
              <a:spcBef>
                <a:spcPts val="0"/>
              </a:spcBef>
              <a:spcAft>
                <a:spcPts val="0"/>
              </a:spcAft>
            </a:pPr>
            <a:r>
              <a:rPr sz="950" b="0" lang="zh-CN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rPr>
              <a:t>用于研究解读及神经评估衔接；MCI病因混合、性别差异及残</a:t>
            </a:r>
          </a:p>
          <a:p>
            <a:pPr>
              <a:lnSpc>
                <a:spcPts val="1160"/>
              </a:lnSpc>
              <a:spcBef>
                <a:spcPts val="0"/>
              </a:spcBef>
              <a:spcAft>
                <a:spcPts val="0"/>
              </a:spcAft>
            </a:pPr>
            <a:r>
              <a:rPr sz="950" b="0" lang="zh-CN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rPr>
              <a:t>余混杂，待外部/纵向验证。</a:t>
            </a:r>
          </a:p>
        </p:txBody>
      </p:sp>
      <p:sp>
        <p:nvSpPr>
          <p:cNvPr id="40" name="2026 刊p674、679"/>
          <p:cNvSpPr txBox="1"/>
          <p:nvPr/>
        </p:nvSpPr>
        <p:spPr>
          <a:xfrm>
            <a:off x="4054320" y="3574000"/>
            <a:ext cx="3231360" cy="193040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ts val="1019"/>
              </a:lnSpc>
              <a:spcBef>
                <a:spcPts val="0"/>
              </a:spcBef>
              <a:spcAft>
                <a:spcPts val="0"/>
              </a:spcAft>
            </a:pPr>
            <a:r>
              <a:rPr sz="850" b="0" lang="zh-CN">
                <a:solidFill>
                  <a:srgbClr val="404040"/>
                </a:solidFill>
                <a:latin typeface="Microsoft YaHei"/>
                <a:ea typeface="Microsoft YaHei"/>
                <a:cs typeface="Microsoft YaHei"/>
              </a:rPr>
              <a:t>2026 刊p674、679</a:t>
            </a:r>
          </a:p>
        </p:txBody>
      </p:sp>
      <p:sp>
        <p:nvSpPr>
          <p:cNvPr id="41" name="单篇研究方案，不等同指南推荐。详见提取表。&#10;100%原尺寸 · 双面长边翻转"/>
          <p:cNvSpPr txBox="1"/>
          <p:nvPr/>
        </p:nvSpPr>
        <p:spPr>
          <a:xfrm>
            <a:off x="3978120" y="4888800"/>
            <a:ext cx="3383760" cy="322580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ts val="1019"/>
              </a:lnSpc>
              <a:spcBef>
                <a:spcPts val="0"/>
              </a:spcBef>
              <a:spcAft>
                <a:spcPts val="0"/>
              </a:spcAft>
            </a:pPr>
            <a:r>
              <a:rPr sz="850" b="0" lang="zh-CN">
                <a:solidFill>
                  <a:srgbClr val="404040"/>
                </a:solidFill>
                <a:latin typeface="Microsoft YaHei"/>
                <a:ea typeface="Microsoft YaHei"/>
                <a:cs typeface="Microsoft YaHei"/>
              </a:rPr>
              <a:t>单篇研究方案，不等同指南推荐。详见提取表。</a:t>
            </a:r>
          </a:p>
          <a:p>
            <a:pPr>
              <a:lnSpc>
                <a:spcPts val="1019"/>
              </a:lnSpc>
              <a:spcBef>
                <a:spcPts val="0"/>
              </a:spcBef>
              <a:spcAft>
                <a:spcPts val="0"/>
              </a:spcAft>
            </a:pPr>
            <a:r>
              <a:rPr sz="850" b="0" lang="zh-CN">
                <a:solidFill>
                  <a:srgbClr val="404040"/>
                </a:solidFill>
                <a:latin typeface="Microsoft YaHei"/>
                <a:ea typeface="Microsoft YaHei"/>
                <a:cs typeface="Microsoft YaHei"/>
              </a:rPr>
              <a:t>100%原尺寸 · 双面长边翻转</a:t>
            </a:r>
          </a:p>
        </p:txBody>
      </p:sp>
      <p:sp>
        <p:nvSpPr>
          <p:cNvPr id="42" name="Rectangle 41"/>
          <p:cNvSpPr/>
          <p:nvPr/>
        </p:nvSpPr>
        <p:spPr>
          <a:xfrm>
            <a:off x="160020" y="5506020"/>
            <a:ext cx="3459960" cy="520700"/>
          </a:xfrm>
          <a:prstGeom prst="rect">
            <a:avLst/>
          </a:prstGeom>
          <a:solidFill>
            <a:srgbClr val="FFFFFF"/>
          </a:solidFill>
          <a:ln w="7620">
            <a:solidFill>
              <a:srgbClr val="6D7A8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OCTA与阿尔茨海默病：研究解读"/>
          <p:cNvSpPr txBox="1"/>
          <p:nvPr/>
        </p:nvSpPr>
        <p:spPr>
          <a:xfrm>
            <a:off x="236220" y="5544120"/>
            <a:ext cx="3307560" cy="241300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ts val="1400"/>
              </a:lnSpc>
              <a:spcBef>
                <a:spcPts val="0"/>
              </a:spcBef>
              <a:spcAft>
                <a:spcPts val="0"/>
              </a:spcAft>
            </a:pPr>
            <a:r>
              <a:rPr sz="1150" b="1" lang="zh-CN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rPr>
              <a:t>OCTA与阿尔茨海默病：研究解读</a:t>
            </a:r>
          </a:p>
        </p:txBody>
      </p:sp>
      <p:sp>
        <p:nvSpPr>
          <p:cNvPr id="44" name="2026 单篇研究 · 背面"/>
          <p:cNvSpPr txBox="1"/>
          <p:nvPr/>
        </p:nvSpPr>
        <p:spPr>
          <a:xfrm>
            <a:off x="236220" y="5760020"/>
            <a:ext cx="3307560" cy="193040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ts val="1019"/>
              </a:lnSpc>
              <a:spcBef>
                <a:spcPts val="0"/>
              </a:spcBef>
              <a:spcAft>
                <a:spcPts val="0"/>
              </a:spcAft>
            </a:pPr>
            <a:r>
              <a:rPr sz="850" b="0" lang="zh-CN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rPr>
              <a:t>2026 单篇研究 · 背面</a:t>
            </a:r>
          </a:p>
        </p:txBody>
      </p:sp>
      <p:sp>
        <p:nvSpPr>
          <p:cNvPr id="45" name="Rectangle 44"/>
          <p:cNvSpPr/>
          <p:nvPr/>
        </p:nvSpPr>
        <p:spPr>
          <a:xfrm>
            <a:off x="172720" y="6090220"/>
            <a:ext cx="3434560" cy="716280"/>
          </a:xfrm>
          <a:prstGeom prst="rect">
            <a:avLst/>
          </a:prstGeom>
          <a:solidFill>
            <a:srgbClr val="FFFFFF"/>
          </a:solidFill>
          <a:ln w="7620">
            <a:solidFill>
              <a:srgbClr val="7E8A9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统计提醒"/>
          <p:cNvSpPr txBox="1"/>
          <p:nvPr/>
        </p:nvSpPr>
        <p:spPr>
          <a:xfrm>
            <a:off x="274320" y="6128320"/>
            <a:ext cx="3231360" cy="215900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ts val="12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 lang="zh-CN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rPr>
              <a:t>统计提醒</a:t>
            </a:r>
          </a:p>
        </p:txBody>
      </p:sp>
      <p:sp>
        <p:nvSpPr>
          <p:cNvPr id="47" name="VSD组间FDR校正后不显著；多变量模型关联不能混作组间差异或因果证据。"/>
          <p:cNvSpPr txBox="1"/>
          <p:nvPr/>
        </p:nvSpPr>
        <p:spPr>
          <a:xfrm>
            <a:off x="274320" y="6280720"/>
            <a:ext cx="3231360" cy="358140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ts val="1160"/>
              </a:lnSpc>
              <a:spcBef>
                <a:spcPts val="0"/>
              </a:spcBef>
              <a:spcAft>
                <a:spcPts val="0"/>
              </a:spcAft>
            </a:pPr>
            <a:r>
              <a:rPr sz="950" b="0" lang="zh-CN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rPr>
              <a:t>VSD组间FDR校正后不显著；多变量模型关联不能混作组间差</a:t>
            </a:r>
          </a:p>
          <a:p>
            <a:pPr>
              <a:lnSpc>
                <a:spcPts val="1160"/>
              </a:lnSpc>
              <a:spcBef>
                <a:spcPts val="0"/>
              </a:spcBef>
              <a:spcAft>
                <a:spcPts val="0"/>
              </a:spcAft>
            </a:pPr>
            <a:r>
              <a:rPr sz="950" b="0" lang="zh-CN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rPr>
              <a:t>异或因果证据。</a:t>
            </a:r>
          </a:p>
        </p:txBody>
      </p:sp>
      <p:sp>
        <p:nvSpPr>
          <p:cNvPr id="48" name="2026 刊p675、677–678"/>
          <p:cNvSpPr txBox="1"/>
          <p:nvPr/>
        </p:nvSpPr>
        <p:spPr>
          <a:xfrm>
            <a:off x="274320" y="6600760"/>
            <a:ext cx="3231360" cy="193040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ts val="1019"/>
              </a:lnSpc>
              <a:spcBef>
                <a:spcPts val="0"/>
              </a:spcBef>
              <a:spcAft>
                <a:spcPts val="0"/>
              </a:spcAft>
            </a:pPr>
            <a:r>
              <a:rPr sz="850" b="0" lang="zh-CN">
                <a:solidFill>
                  <a:srgbClr val="404040"/>
                </a:solidFill>
                <a:latin typeface="Microsoft YaHei"/>
                <a:ea typeface="Microsoft YaHei"/>
                <a:cs typeface="Microsoft YaHei"/>
              </a:rPr>
              <a:t>2026 刊p675、677–678</a:t>
            </a:r>
          </a:p>
        </p:txBody>
      </p:sp>
      <p:sp>
        <p:nvSpPr>
          <p:cNvPr id="49" name="Rectangle 48"/>
          <p:cNvSpPr/>
          <p:nvPr/>
        </p:nvSpPr>
        <p:spPr>
          <a:xfrm>
            <a:off x="172720" y="6857300"/>
            <a:ext cx="3434560" cy="716280"/>
          </a:xfrm>
          <a:prstGeom prst="rect">
            <a:avLst/>
          </a:prstGeom>
          <a:solidFill>
            <a:srgbClr val="FFFFFF"/>
          </a:solidFill>
          <a:ln w="7620">
            <a:solidFill>
              <a:srgbClr val="7E8A9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模型性能"/>
          <p:cNvSpPr txBox="1"/>
          <p:nvPr/>
        </p:nvSpPr>
        <p:spPr>
          <a:xfrm>
            <a:off x="274320" y="6895400"/>
            <a:ext cx="3231360" cy="215900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ts val="12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 lang="zh-CN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rPr>
              <a:t>模型性能</a:t>
            </a:r>
          </a:p>
        </p:txBody>
      </p:sp>
      <p:sp>
        <p:nvSpPr>
          <p:cNvPr id="51" name="测试集21人：10/6/5；AUC 0.72~0.87。事后5折验证更保守，小样本性能可能高估。"/>
          <p:cNvSpPr txBox="1"/>
          <p:nvPr/>
        </p:nvSpPr>
        <p:spPr>
          <a:xfrm>
            <a:off x="274320" y="7047800"/>
            <a:ext cx="3231360" cy="358140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ts val="1160"/>
              </a:lnSpc>
              <a:spcBef>
                <a:spcPts val="0"/>
              </a:spcBef>
              <a:spcAft>
                <a:spcPts val="0"/>
              </a:spcAft>
            </a:pPr>
            <a:r>
              <a:rPr sz="950" b="0" lang="zh-CN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rPr>
              <a:t>测试集21人：10/6/5；AUC 0.72~0.87。事后5折验证更保</a:t>
            </a:r>
          </a:p>
          <a:p>
            <a:pPr>
              <a:lnSpc>
                <a:spcPts val="1160"/>
              </a:lnSpc>
              <a:spcBef>
                <a:spcPts val="0"/>
              </a:spcBef>
              <a:spcAft>
                <a:spcPts val="0"/>
              </a:spcAft>
            </a:pPr>
            <a:r>
              <a:rPr sz="950" b="0" lang="zh-CN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rPr>
              <a:t>守，小样本性能可能高估。</a:t>
            </a:r>
          </a:p>
        </p:txBody>
      </p:sp>
      <p:sp>
        <p:nvSpPr>
          <p:cNvPr id="52" name="2026 刊p673、675–676、679"/>
          <p:cNvSpPr txBox="1"/>
          <p:nvPr/>
        </p:nvSpPr>
        <p:spPr>
          <a:xfrm>
            <a:off x="274320" y="7367840"/>
            <a:ext cx="3231360" cy="193040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ts val="1019"/>
              </a:lnSpc>
              <a:spcBef>
                <a:spcPts val="0"/>
              </a:spcBef>
              <a:spcAft>
                <a:spcPts val="0"/>
              </a:spcAft>
            </a:pPr>
            <a:r>
              <a:rPr sz="850" b="0" lang="zh-CN">
                <a:solidFill>
                  <a:srgbClr val="404040"/>
                </a:solidFill>
                <a:latin typeface="Microsoft YaHei"/>
                <a:ea typeface="Microsoft YaHei"/>
                <a:cs typeface="Microsoft YaHei"/>
              </a:rPr>
              <a:t>2026 刊p673、675–676、679</a:t>
            </a:r>
          </a:p>
        </p:txBody>
      </p:sp>
      <p:sp>
        <p:nvSpPr>
          <p:cNvPr id="53" name="Rectangle 52"/>
          <p:cNvSpPr/>
          <p:nvPr/>
        </p:nvSpPr>
        <p:spPr>
          <a:xfrm>
            <a:off x="172720" y="7624380"/>
            <a:ext cx="3434560" cy="716280"/>
          </a:xfrm>
          <a:prstGeom prst="rect">
            <a:avLst/>
          </a:prstGeom>
          <a:solidFill>
            <a:srgbClr val="FFFFFF"/>
          </a:solidFill>
          <a:ln w="7620">
            <a:solidFill>
              <a:srgbClr val="7E8A9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临床边界"/>
          <p:cNvSpPr txBox="1"/>
          <p:nvPr/>
        </p:nvSpPr>
        <p:spPr>
          <a:xfrm>
            <a:off x="274320" y="7662480"/>
            <a:ext cx="3231360" cy="215900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ts val="12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 lang="zh-CN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rPr>
              <a:t>临床边界</a:t>
            </a:r>
          </a:p>
        </p:txBody>
      </p:sp>
      <p:sp>
        <p:nvSpPr>
          <p:cNvPr id="55" name="原文未建立个体诊断、转诊数值切点、筛查年龄、复查频率或治疗方案。不可凭组均值判定AD。"/>
          <p:cNvSpPr txBox="1"/>
          <p:nvPr/>
        </p:nvSpPr>
        <p:spPr>
          <a:xfrm>
            <a:off x="274320" y="7814880"/>
            <a:ext cx="3231360" cy="358140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ts val="1160"/>
              </a:lnSpc>
              <a:spcBef>
                <a:spcPts val="0"/>
              </a:spcBef>
              <a:spcAft>
                <a:spcPts val="0"/>
              </a:spcAft>
            </a:pPr>
            <a:r>
              <a:rPr sz="950" b="0" lang="zh-CN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rPr>
              <a:t>原文未建立个体诊断、转诊数值切点、筛查年龄、复查频率</a:t>
            </a:r>
          </a:p>
          <a:p>
            <a:pPr>
              <a:lnSpc>
                <a:spcPts val="1160"/>
              </a:lnSpc>
              <a:spcBef>
                <a:spcPts val="0"/>
              </a:spcBef>
              <a:spcAft>
                <a:spcPts val="0"/>
              </a:spcAft>
            </a:pPr>
            <a:r>
              <a:rPr sz="950" b="0" lang="zh-CN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rPr>
              <a:t>或治疗方案。不可凭组均值判定AD。</a:t>
            </a:r>
          </a:p>
        </p:txBody>
      </p:sp>
      <p:sp>
        <p:nvSpPr>
          <p:cNvPr id="56" name="2026 刊p673、679"/>
          <p:cNvSpPr txBox="1"/>
          <p:nvPr/>
        </p:nvSpPr>
        <p:spPr>
          <a:xfrm>
            <a:off x="274320" y="8134920"/>
            <a:ext cx="3231360" cy="193040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ts val="1019"/>
              </a:lnSpc>
              <a:spcBef>
                <a:spcPts val="0"/>
              </a:spcBef>
              <a:spcAft>
                <a:spcPts val="0"/>
              </a:spcAft>
            </a:pPr>
            <a:r>
              <a:rPr sz="850" b="0" lang="zh-CN">
                <a:solidFill>
                  <a:srgbClr val="404040"/>
                </a:solidFill>
                <a:latin typeface="Microsoft YaHei"/>
                <a:ea typeface="Microsoft YaHei"/>
                <a:cs typeface="Microsoft YaHei"/>
              </a:rPr>
              <a:t>2026 刊p673、679</a:t>
            </a:r>
          </a:p>
        </p:txBody>
      </p:sp>
      <p:sp>
        <p:nvSpPr>
          <p:cNvPr id="57" name="Rectangle 56"/>
          <p:cNvSpPr/>
          <p:nvPr/>
        </p:nvSpPr>
        <p:spPr>
          <a:xfrm>
            <a:off x="172720" y="8391460"/>
            <a:ext cx="3434560" cy="716280"/>
          </a:xfrm>
          <a:prstGeom prst="rect">
            <a:avLst/>
          </a:prstGeom>
          <a:solidFill>
            <a:srgbClr val="FFFFFF"/>
          </a:solidFill>
          <a:ln w="7620">
            <a:solidFill>
              <a:srgbClr val="7E8A9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下一步与局限"/>
          <p:cNvSpPr txBox="1"/>
          <p:nvPr/>
        </p:nvSpPr>
        <p:spPr>
          <a:xfrm>
            <a:off x="274320" y="8429560"/>
            <a:ext cx="3231360" cy="215900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ts val="12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 lang="zh-CN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rPr>
              <a:t>下一步与局限</a:t>
            </a:r>
          </a:p>
        </p:txBody>
      </p:sp>
      <p:sp>
        <p:nvSpPr>
          <p:cNvPr id="59" name="用于研究解读及神经评估衔接；MCI病因混合、性别差异及残余混杂，待外部/纵向验证。"/>
          <p:cNvSpPr txBox="1"/>
          <p:nvPr/>
        </p:nvSpPr>
        <p:spPr>
          <a:xfrm>
            <a:off x="274320" y="8581960"/>
            <a:ext cx="3231360" cy="358140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ts val="1160"/>
              </a:lnSpc>
              <a:spcBef>
                <a:spcPts val="0"/>
              </a:spcBef>
              <a:spcAft>
                <a:spcPts val="0"/>
              </a:spcAft>
            </a:pPr>
            <a:r>
              <a:rPr sz="950" b="0" lang="zh-CN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rPr>
              <a:t>用于研究解读及神经评估衔接；MCI病因混合、性别差异及残</a:t>
            </a:r>
          </a:p>
          <a:p>
            <a:pPr>
              <a:lnSpc>
                <a:spcPts val="1160"/>
              </a:lnSpc>
              <a:spcBef>
                <a:spcPts val="0"/>
              </a:spcBef>
              <a:spcAft>
                <a:spcPts val="0"/>
              </a:spcAft>
            </a:pPr>
            <a:r>
              <a:rPr sz="950" b="0" lang="zh-CN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rPr>
              <a:t>余混杂，待外部/纵向验证。</a:t>
            </a:r>
          </a:p>
        </p:txBody>
      </p:sp>
      <p:sp>
        <p:nvSpPr>
          <p:cNvPr id="60" name="2026 刊p674、679"/>
          <p:cNvSpPr txBox="1"/>
          <p:nvPr/>
        </p:nvSpPr>
        <p:spPr>
          <a:xfrm>
            <a:off x="274320" y="8902000"/>
            <a:ext cx="3231360" cy="193040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ts val="1019"/>
              </a:lnSpc>
              <a:spcBef>
                <a:spcPts val="0"/>
              </a:spcBef>
              <a:spcAft>
                <a:spcPts val="0"/>
              </a:spcAft>
            </a:pPr>
            <a:r>
              <a:rPr sz="850" b="0" lang="zh-CN">
                <a:solidFill>
                  <a:srgbClr val="404040"/>
                </a:solidFill>
                <a:latin typeface="Microsoft YaHei"/>
                <a:ea typeface="Microsoft YaHei"/>
                <a:cs typeface="Microsoft YaHei"/>
              </a:rPr>
              <a:t>2026 刊p674、679</a:t>
            </a:r>
          </a:p>
        </p:txBody>
      </p:sp>
      <p:sp>
        <p:nvSpPr>
          <p:cNvPr id="61" name="单篇研究方案，不等同指南推荐。详见提取表。&#10;100%原尺寸 · 双面长边翻转"/>
          <p:cNvSpPr txBox="1"/>
          <p:nvPr/>
        </p:nvSpPr>
        <p:spPr>
          <a:xfrm>
            <a:off x="198120" y="10216800"/>
            <a:ext cx="3383760" cy="322580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ts val="1019"/>
              </a:lnSpc>
              <a:spcBef>
                <a:spcPts val="0"/>
              </a:spcBef>
              <a:spcAft>
                <a:spcPts val="0"/>
              </a:spcAft>
            </a:pPr>
            <a:r>
              <a:rPr sz="850" b="0" lang="zh-CN">
                <a:solidFill>
                  <a:srgbClr val="404040"/>
                </a:solidFill>
                <a:latin typeface="Microsoft YaHei"/>
                <a:ea typeface="Microsoft YaHei"/>
                <a:cs typeface="Microsoft YaHei"/>
              </a:rPr>
              <a:t>单篇研究方案，不等同指南推荐。详见提取表。</a:t>
            </a:r>
          </a:p>
          <a:p>
            <a:pPr>
              <a:lnSpc>
                <a:spcPts val="1019"/>
              </a:lnSpc>
              <a:spcBef>
                <a:spcPts val="0"/>
              </a:spcBef>
              <a:spcAft>
                <a:spcPts val="0"/>
              </a:spcAft>
            </a:pPr>
            <a:r>
              <a:rPr sz="850" b="0" lang="zh-CN">
                <a:solidFill>
                  <a:srgbClr val="404040"/>
                </a:solidFill>
                <a:latin typeface="Microsoft YaHei"/>
                <a:ea typeface="Microsoft YaHei"/>
                <a:cs typeface="Microsoft YaHei"/>
              </a:rPr>
              <a:t>100%原尺寸 · 双面长边翻转</a:t>
            </a:r>
          </a:p>
        </p:txBody>
      </p:sp>
      <p:sp>
        <p:nvSpPr>
          <p:cNvPr id="62" name="Rectangle 61"/>
          <p:cNvSpPr/>
          <p:nvPr/>
        </p:nvSpPr>
        <p:spPr>
          <a:xfrm>
            <a:off x="3940020" y="5506020"/>
            <a:ext cx="3459960" cy="520700"/>
          </a:xfrm>
          <a:prstGeom prst="rect">
            <a:avLst/>
          </a:prstGeom>
          <a:solidFill>
            <a:srgbClr val="FFFFFF"/>
          </a:solidFill>
          <a:ln w="7620">
            <a:solidFill>
              <a:srgbClr val="6D7A8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" name="OCTA与阿尔茨海默病：研究解读"/>
          <p:cNvSpPr txBox="1"/>
          <p:nvPr/>
        </p:nvSpPr>
        <p:spPr>
          <a:xfrm>
            <a:off x="4016220" y="5544120"/>
            <a:ext cx="3307560" cy="241300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ts val="1400"/>
              </a:lnSpc>
              <a:spcBef>
                <a:spcPts val="0"/>
              </a:spcBef>
              <a:spcAft>
                <a:spcPts val="0"/>
              </a:spcAft>
            </a:pPr>
            <a:r>
              <a:rPr sz="1150" b="1" lang="zh-CN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rPr>
              <a:t>OCTA与阿尔茨海默病：研究解读</a:t>
            </a:r>
          </a:p>
        </p:txBody>
      </p:sp>
      <p:sp>
        <p:nvSpPr>
          <p:cNvPr id="64" name="2026 单篇研究 · 背面"/>
          <p:cNvSpPr txBox="1"/>
          <p:nvPr/>
        </p:nvSpPr>
        <p:spPr>
          <a:xfrm>
            <a:off x="4016220" y="5760020"/>
            <a:ext cx="3307560" cy="193040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ts val="1019"/>
              </a:lnSpc>
              <a:spcBef>
                <a:spcPts val="0"/>
              </a:spcBef>
              <a:spcAft>
                <a:spcPts val="0"/>
              </a:spcAft>
            </a:pPr>
            <a:r>
              <a:rPr sz="850" b="0" lang="zh-CN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rPr>
              <a:t>2026 单篇研究 · 背面</a:t>
            </a:r>
          </a:p>
        </p:txBody>
      </p:sp>
      <p:sp>
        <p:nvSpPr>
          <p:cNvPr id="65" name="Rectangle 64"/>
          <p:cNvSpPr/>
          <p:nvPr/>
        </p:nvSpPr>
        <p:spPr>
          <a:xfrm>
            <a:off x="3952720" y="6090220"/>
            <a:ext cx="3434560" cy="716280"/>
          </a:xfrm>
          <a:prstGeom prst="rect">
            <a:avLst/>
          </a:prstGeom>
          <a:solidFill>
            <a:srgbClr val="FFFFFF"/>
          </a:solidFill>
          <a:ln w="7620">
            <a:solidFill>
              <a:srgbClr val="7E8A9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6" name="统计提醒"/>
          <p:cNvSpPr txBox="1"/>
          <p:nvPr/>
        </p:nvSpPr>
        <p:spPr>
          <a:xfrm>
            <a:off x="4054320" y="6128320"/>
            <a:ext cx="3231360" cy="215900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ts val="12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 lang="zh-CN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rPr>
              <a:t>统计提醒</a:t>
            </a:r>
          </a:p>
        </p:txBody>
      </p:sp>
      <p:sp>
        <p:nvSpPr>
          <p:cNvPr id="67" name="VSD组间FDR校正后不显著；多变量模型关联不能混作组间差异或因果证据。"/>
          <p:cNvSpPr txBox="1"/>
          <p:nvPr/>
        </p:nvSpPr>
        <p:spPr>
          <a:xfrm>
            <a:off x="4054320" y="6280720"/>
            <a:ext cx="3231360" cy="358140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ts val="1160"/>
              </a:lnSpc>
              <a:spcBef>
                <a:spcPts val="0"/>
              </a:spcBef>
              <a:spcAft>
                <a:spcPts val="0"/>
              </a:spcAft>
            </a:pPr>
            <a:r>
              <a:rPr sz="950" b="0" lang="zh-CN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rPr>
              <a:t>VSD组间FDR校正后不显著；多变量模型关联不能混作组间差</a:t>
            </a:r>
          </a:p>
          <a:p>
            <a:pPr>
              <a:lnSpc>
                <a:spcPts val="1160"/>
              </a:lnSpc>
              <a:spcBef>
                <a:spcPts val="0"/>
              </a:spcBef>
              <a:spcAft>
                <a:spcPts val="0"/>
              </a:spcAft>
            </a:pPr>
            <a:r>
              <a:rPr sz="950" b="0" lang="zh-CN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rPr>
              <a:t>异或因果证据。</a:t>
            </a:r>
          </a:p>
        </p:txBody>
      </p:sp>
      <p:sp>
        <p:nvSpPr>
          <p:cNvPr id="68" name="2026 刊p675、677–678"/>
          <p:cNvSpPr txBox="1"/>
          <p:nvPr/>
        </p:nvSpPr>
        <p:spPr>
          <a:xfrm>
            <a:off x="4054320" y="6600760"/>
            <a:ext cx="3231360" cy="193040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ts val="1019"/>
              </a:lnSpc>
              <a:spcBef>
                <a:spcPts val="0"/>
              </a:spcBef>
              <a:spcAft>
                <a:spcPts val="0"/>
              </a:spcAft>
            </a:pPr>
            <a:r>
              <a:rPr sz="850" b="0" lang="zh-CN">
                <a:solidFill>
                  <a:srgbClr val="404040"/>
                </a:solidFill>
                <a:latin typeface="Microsoft YaHei"/>
                <a:ea typeface="Microsoft YaHei"/>
                <a:cs typeface="Microsoft YaHei"/>
              </a:rPr>
              <a:t>2026 刊p675、677–678</a:t>
            </a:r>
          </a:p>
        </p:txBody>
      </p:sp>
      <p:sp>
        <p:nvSpPr>
          <p:cNvPr id="69" name="Rectangle 68"/>
          <p:cNvSpPr/>
          <p:nvPr/>
        </p:nvSpPr>
        <p:spPr>
          <a:xfrm>
            <a:off x="3952720" y="6857300"/>
            <a:ext cx="3434560" cy="716280"/>
          </a:xfrm>
          <a:prstGeom prst="rect">
            <a:avLst/>
          </a:prstGeom>
          <a:solidFill>
            <a:srgbClr val="FFFFFF"/>
          </a:solidFill>
          <a:ln w="7620">
            <a:solidFill>
              <a:srgbClr val="7E8A9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0" name="模型性能"/>
          <p:cNvSpPr txBox="1"/>
          <p:nvPr/>
        </p:nvSpPr>
        <p:spPr>
          <a:xfrm>
            <a:off x="4054320" y="6895400"/>
            <a:ext cx="3231360" cy="215900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ts val="12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 lang="zh-CN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rPr>
              <a:t>模型性能</a:t>
            </a:r>
          </a:p>
        </p:txBody>
      </p:sp>
      <p:sp>
        <p:nvSpPr>
          <p:cNvPr id="71" name="测试集21人：10/6/5；AUC 0.72~0.87。事后5折验证更保守，小样本性能可能高估。"/>
          <p:cNvSpPr txBox="1"/>
          <p:nvPr/>
        </p:nvSpPr>
        <p:spPr>
          <a:xfrm>
            <a:off x="4054320" y="7047800"/>
            <a:ext cx="3231360" cy="358140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ts val="1160"/>
              </a:lnSpc>
              <a:spcBef>
                <a:spcPts val="0"/>
              </a:spcBef>
              <a:spcAft>
                <a:spcPts val="0"/>
              </a:spcAft>
            </a:pPr>
            <a:r>
              <a:rPr sz="950" b="0" lang="zh-CN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rPr>
              <a:t>测试集21人：10/6/5；AUC 0.72~0.87。事后5折验证更保</a:t>
            </a:r>
          </a:p>
          <a:p>
            <a:pPr>
              <a:lnSpc>
                <a:spcPts val="1160"/>
              </a:lnSpc>
              <a:spcBef>
                <a:spcPts val="0"/>
              </a:spcBef>
              <a:spcAft>
                <a:spcPts val="0"/>
              </a:spcAft>
            </a:pPr>
            <a:r>
              <a:rPr sz="950" b="0" lang="zh-CN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rPr>
              <a:t>守，小样本性能可能高估。</a:t>
            </a:r>
          </a:p>
        </p:txBody>
      </p:sp>
      <p:sp>
        <p:nvSpPr>
          <p:cNvPr id="72" name="2026 刊p673、675–676、679"/>
          <p:cNvSpPr txBox="1"/>
          <p:nvPr/>
        </p:nvSpPr>
        <p:spPr>
          <a:xfrm>
            <a:off x="4054320" y="7367840"/>
            <a:ext cx="3231360" cy="193040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ts val="1019"/>
              </a:lnSpc>
              <a:spcBef>
                <a:spcPts val="0"/>
              </a:spcBef>
              <a:spcAft>
                <a:spcPts val="0"/>
              </a:spcAft>
            </a:pPr>
            <a:r>
              <a:rPr sz="850" b="0" lang="zh-CN">
                <a:solidFill>
                  <a:srgbClr val="404040"/>
                </a:solidFill>
                <a:latin typeface="Microsoft YaHei"/>
                <a:ea typeface="Microsoft YaHei"/>
                <a:cs typeface="Microsoft YaHei"/>
              </a:rPr>
              <a:t>2026 刊p673、675–676、679</a:t>
            </a:r>
          </a:p>
        </p:txBody>
      </p:sp>
      <p:sp>
        <p:nvSpPr>
          <p:cNvPr id="73" name="Rectangle 72"/>
          <p:cNvSpPr/>
          <p:nvPr/>
        </p:nvSpPr>
        <p:spPr>
          <a:xfrm>
            <a:off x="3952720" y="7624380"/>
            <a:ext cx="3434560" cy="716280"/>
          </a:xfrm>
          <a:prstGeom prst="rect">
            <a:avLst/>
          </a:prstGeom>
          <a:solidFill>
            <a:srgbClr val="FFFFFF"/>
          </a:solidFill>
          <a:ln w="7620">
            <a:solidFill>
              <a:srgbClr val="7E8A9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4" name="临床边界"/>
          <p:cNvSpPr txBox="1"/>
          <p:nvPr/>
        </p:nvSpPr>
        <p:spPr>
          <a:xfrm>
            <a:off x="4054320" y="7662480"/>
            <a:ext cx="3231360" cy="215900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ts val="12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 lang="zh-CN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rPr>
              <a:t>临床边界</a:t>
            </a:r>
          </a:p>
        </p:txBody>
      </p:sp>
      <p:sp>
        <p:nvSpPr>
          <p:cNvPr id="75" name="原文未建立个体诊断、转诊数值切点、筛查年龄、复查频率或治疗方案。不可凭组均值判定AD。"/>
          <p:cNvSpPr txBox="1"/>
          <p:nvPr/>
        </p:nvSpPr>
        <p:spPr>
          <a:xfrm>
            <a:off x="4054320" y="7814880"/>
            <a:ext cx="3231360" cy="358140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ts val="1160"/>
              </a:lnSpc>
              <a:spcBef>
                <a:spcPts val="0"/>
              </a:spcBef>
              <a:spcAft>
                <a:spcPts val="0"/>
              </a:spcAft>
            </a:pPr>
            <a:r>
              <a:rPr sz="950" b="0" lang="zh-CN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rPr>
              <a:t>原文未建立个体诊断、转诊数值切点、筛查年龄、复查频率</a:t>
            </a:r>
          </a:p>
          <a:p>
            <a:pPr>
              <a:lnSpc>
                <a:spcPts val="1160"/>
              </a:lnSpc>
              <a:spcBef>
                <a:spcPts val="0"/>
              </a:spcBef>
              <a:spcAft>
                <a:spcPts val="0"/>
              </a:spcAft>
            </a:pPr>
            <a:r>
              <a:rPr sz="950" b="0" lang="zh-CN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rPr>
              <a:t>或治疗方案。不可凭组均值判定AD。</a:t>
            </a:r>
          </a:p>
        </p:txBody>
      </p:sp>
      <p:sp>
        <p:nvSpPr>
          <p:cNvPr id="76" name="2026 刊p673、679"/>
          <p:cNvSpPr txBox="1"/>
          <p:nvPr/>
        </p:nvSpPr>
        <p:spPr>
          <a:xfrm>
            <a:off x="4054320" y="8134920"/>
            <a:ext cx="3231360" cy="193040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ts val="1019"/>
              </a:lnSpc>
              <a:spcBef>
                <a:spcPts val="0"/>
              </a:spcBef>
              <a:spcAft>
                <a:spcPts val="0"/>
              </a:spcAft>
            </a:pPr>
            <a:r>
              <a:rPr sz="850" b="0" lang="zh-CN">
                <a:solidFill>
                  <a:srgbClr val="404040"/>
                </a:solidFill>
                <a:latin typeface="Microsoft YaHei"/>
                <a:ea typeface="Microsoft YaHei"/>
                <a:cs typeface="Microsoft YaHei"/>
              </a:rPr>
              <a:t>2026 刊p673、679</a:t>
            </a:r>
          </a:p>
        </p:txBody>
      </p:sp>
      <p:sp>
        <p:nvSpPr>
          <p:cNvPr id="77" name="Rectangle 76"/>
          <p:cNvSpPr/>
          <p:nvPr/>
        </p:nvSpPr>
        <p:spPr>
          <a:xfrm>
            <a:off x="3952720" y="8391460"/>
            <a:ext cx="3434560" cy="716280"/>
          </a:xfrm>
          <a:prstGeom prst="rect">
            <a:avLst/>
          </a:prstGeom>
          <a:solidFill>
            <a:srgbClr val="FFFFFF"/>
          </a:solidFill>
          <a:ln w="7620">
            <a:solidFill>
              <a:srgbClr val="7E8A9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8" name="下一步与局限"/>
          <p:cNvSpPr txBox="1"/>
          <p:nvPr/>
        </p:nvSpPr>
        <p:spPr>
          <a:xfrm>
            <a:off x="4054320" y="8429560"/>
            <a:ext cx="3231360" cy="215900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ts val="12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 lang="zh-CN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rPr>
              <a:t>下一步与局限</a:t>
            </a:r>
          </a:p>
        </p:txBody>
      </p:sp>
      <p:sp>
        <p:nvSpPr>
          <p:cNvPr id="79" name="用于研究解读及神经评估衔接；MCI病因混合、性别差异及残余混杂，待外部/纵向验证。"/>
          <p:cNvSpPr txBox="1"/>
          <p:nvPr/>
        </p:nvSpPr>
        <p:spPr>
          <a:xfrm>
            <a:off x="4054320" y="8581960"/>
            <a:ext cx="3231360" cy="358140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ts val="1160"/>
              </a:lnSpc>
              <a:spcBef>
                <a:spcPts val="0"/>
              </a:spcBef>
              <a:spcAft>
                <a:spcPts val="0"/>
              </a:spcAft>
            </a:pPr>
            <a:r>
              <a:rPr sz="950" b="0" lang="zh-CN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rPr>
              <a:t>用于研究解读及神经评估衔接；MCI病因混合、性别差异及残</a:t>
            </a:r>
          </a:p>
          <a:p>
            <a:pPr>
              <a:lnSpc>
                <a:spcPts val="1160"/>
              </a:lnSpc>
              <a:spcBef>
                <a:spcPts val="0"/>
              </a:spcBef>
              <a:spcAft>
                <a:spcPts val="0"/>
              </a:spcAft>
            </a:pPr>
            <a:r>
              <a:rPr sz="950" b="0" lang="zh-CN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rPr>
              <a:t>余混杂，待外部/纵向验证。</a:t>
            </a:r>
          </a:p>
        </p:txBody>
      </p:sp>
      <p:sp>
        <p:nvSpPr>
          <p:cNvPr id="80" name="2026 刊p674、679"/>
          <p:cNvSpPr txBox="1"/>
          <p:nvPr/>
        </p:nvSpPr>
        <p:spPr>
          <a:xfrm>
            <a:off x="4054320" y="8902000"/>
            <a:ext cx="3231360" cy="193040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ts val="1019"/>
              </a:lnSpc>
              <a:spcBef>
                <a:spcPts val="0"/>
              </a:spcBef>
              <a:spcAft>
                <a:spcPts val="0"/>
              </a:spcAft>
            </a:pPr>
            <a:r>
              <a:rPr sz="850" b="0" lang="zh-CN">
                <a:solidFill>
                  <a:srgbClr val="404040"/>
                </a:solidFill>
                <a:latin typeface="Microsoft YaHei"/>
                <a:ea typeface="Microsoft YaHei"/>
                <a:cs typeface="Microsoft YaHei"/>
              </a:rPr>
              <a:t>2026 刊p674、679</a:t>
            </a:r>
          </a:p>
        </p:txBody>
      </p:sp>
      <p:sp>
        <p:nvSpPr>
          <p:cNvPr id="81" name="单篇研究方案，不等同指南推荐。详见提取表。&#10;100%原尺寸 · 双面长边翻转"/>
          <p:cNvSpPr txBox="1"/>
          <p:nvPr/>
        </p:nvSpPr>
        <p:spPr>
          <a:xfrm>
            <a:off x="3978120" y="10216800"/>
            <a:ext cx="3383760" cy="322580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ts val="1019"/>
              </a:lnSpc>
              <a:spcBef>
                <a:spcPts val="0"/>
              </a:spcBef>
              <a:spcAft>
                <a:spcPts val="0"/>
              </a:spcAft>
            </a:pPr>
            <a:r>
              <a:rPr sz="850" b="0" lang="zh-CN">
                <a:solidFill>
                  <a:srgbClr val="404040"/>
                </a:solidFill>
                <a:latin typeface="Microsoft YaHei"/>
                <a:ea typeface="Microsoft YaHei"/>
                <a:cs typeface="Microsoft YaHei"/>
              </a:rPr>
              <a:t>单篇研究方案，不等同指南推荐。详见提取表。</a:t>
            </a:r>
          </a:p>
          <a:p>
            <a:pPr>
              <a:lnSpc>
                <a:spcPts val="1019"/>
              </a:lnSpc>
              <a:spcBef>
                <a:spcPts val="0"/>
              </a:spcBef>
              <a:spcAft>
                <a:spcPts val="0"/>
              </a:spcAft>
            </a:pPr>
            <a:r>
              <a:rPr sz="850" b="0" lang="zh-CN">
                <a:solidFill>
                  <a:srgbClr val="404040"/>
                </a:solidFill>
                <a:latin typeface="Microsoft YaHei"/>
                <a:ea typeface="Microsoft YaHei"/>
                <a:cs typeface="Microsoft YaHei"/>
              </a:rPr>
              <a:t>100%原尺寸 · 双面长边翻转</a:t>
            </a:r>
          </a:p>
        </p:txBody>
      </p:sp>
      <p:cxnSp>
        <p:nvCxnSpPr>
          <p:cNvPr id="82" name="Connector 81"/>
          <p:cNvCxnSpPr/>
          <p:nvPr/>
        </p:nvCxnSpPr>
        <p:spPr>
          <a:xfrm>
            <a:off x="3780000" y="0"/>
            <a:ext cx="0" cy="10692000"/>
          </a:xfrm>
          <a:prstGeom prst="line">
            <a:avLst/>
          </a:prstGeom>
          <a:ln w="3175">
            <a:solidFill>
              <a:srgbClr val="91919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3" name="Connector 82"/>
          <p:cNvCxnSpPr/>
          <p:nvPr/>
        </p:nvCxnSpPr>
        <p:spPr>
          <a:xfrm>
            <a:off x="0" y="18000"/>
            <a:ext cx="7560000" cy="0"/>
          </a:xfrm>
          <a:prstGeom prst="line">
            <a:avLst/>
          </a:prstGeom>
          <a:ln w="3175">
            <a:solidFill>
              <a:srgbClr val="91919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4" name="Connector 83"/>
          <p:cNvCxnSpPr/>
          <p:nvPr/>
        </p:nvCxnSpPr>
        <p:spPr>
          <a:xfrm>
            <a:off x="0" y="5346000"/>
            <a:ext cx="7560000" cy="0"/>
          </a:xfrm>
          <a:prstGeom prst="line">
            <a:avLst/>
          </a:prstGeom>
          <a:ln w="3175">
            <a:solidFill>
              <a:srgbClr val="91919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5" name="Connector 84"/>
          <p:cNvCxnSpPr/>
          <p:nvPr/>
        </p:nvCxnSpPr>
        <p:spPr>
          <a:xfrm>
            <a:off x="0" y="10674000"/>
            <a:ext cx="7560000" cy="0"/>
          </a:xfrm>
          <a:prstGeom prst="line">
            <a:avLst/>
          </a:prstGeom>
          <a:ln w="3175">
            <a:solidFill>
              <a:srgbClr val="91919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OCTA与阿尔茨海默病：研究解读 A4 bw</dc:title>
  <dc:subject>上传文献原文摘录；原生可编辑文字和图形</dc:subject>
  <dc:creator>眼科临床速查资料整理</dc:creator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