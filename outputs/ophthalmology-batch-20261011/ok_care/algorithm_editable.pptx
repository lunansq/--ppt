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ok_care-02 晚间戴镜：先观察镜片完整洁净；洗手擦干；多功能护理液适度揉搓、彻底冲洗；凹面加足量润滑液/润眼液后戴镜；清洁配件。</a:t>
            </a:r>
          </a:p>
          <a:p>
            <a:r>
              <a:t>来源：2024 刊p242 / PDF2；类别：护理；推荐等级：原文未明确。</a:t>
            </a:r>
          </a:p>
          <a:p>
            <a:r>
              <a:t>原文锚点：期。2.1日护理的具体操作方法2.1.1护理前准备护理产品、镜盒、无屑纸巾、镜子、吸棒（视配戴者具体需求）等。2.1.2晚上戴镜主要包括洗手、清洁揉搓、戴镜、配件清洁。①观察镜片：观察镜片状态，是否完整、洁净。②清洁双手：建议严格执行六步洗手法进行手部消毒清洁[20-21]，并使用无屑纸巾或棉柔巾擦干双手。③清洁冲洗镜片：清洁揉搓并彻底冲洗镜片。镜片清洁主要使用全功能护理液进行揉搓。由于角膜塑形镜的内表面各弧度差异较大，其基弧平坦，反转弧突然变陡变窄，揉搓时应注意力度适中，在各弧的交接处不要过于用力，避免镜片的局部</a:t>
            </a:r>
          </a:p>
          <a:p/>
          <a:p>
            <a:r>
              <a:t>ok_care-04 摘后处理：摘下后即刻清洗揉搓，按护理产品规定时间消毒；储存首选多功能护理液；双氧水须用配套装置并按要求中和。</a:t>
            </a:r>
          </a:p>
          <a:p>
            <a:r>
              <a:t>来源：2024 刊p243、245 / PDF3、5；类别：护理；推荐等级：原文未明确。</a:t>
            </a:r>
          </a:p>
          <a:p>
            <a:r>
              <a:t>原文锚点：暴露出镜片的上方和下方边缘。吸棒摘镜法同硬镜的操作，应充分暴露睑裂，吸棒可以放置于下方靠镜片周边部。③摘镜后：建议摘下后即刻进行镜片清洗，避免泪液、蛋白沉淀变干后增加清洁难度。镜片清洁主要使用全功能护理液进行揉搓。④消毒与储存：消毒主要使用护理产品，需达到相关产品要求的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a:t>
            </a:r>
          </a:p>
          <a:p/>
          <a:p>
            <a:r>
              <a:t>ok_care-05 常规深度护理：建议每1～2周深度除蛋白，按实际清洁程度或医生指导调整；油脂多者增加专用清洁。</a:t>
            </a:r>
          </a:p>
          <a:p>
            <a:r>
              <a:t>来源：2024 刊p243 / PDF3；类别：护理；推荐等级：原文未明确。</a:t>
            </a:r>
          </a:p>
          <a:p>
            <a:r>
              <a:t>原文锚点：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护理产品对镜片进行深度消毒除蛋白[22-24]，专用除蛋白产品有除蛋白酶片（液）、以次氯酸钠为主要成分的护理液、电泳解离设备等，具体使用方法严格遵循各种产品说明书，或者在医生和专业从业者指导下操作使用、进行分级诊断和对应处理（对于镜片沉淀物分级情况，参考表1[25]和图</a:t>
            </a:r>
          </a:p>
          <a:p/>
          <a:p>
            <a:r>
              <a:t>ok_care-06 蛋白沉淀分级：2级：加强定期规范清洁；3级：强效消毒除蛋白，建议每周1次；4级：不适合配戴，复查眼表并重新验配更换镜片。</a:t>
            </a:r>
          </a:p>
          <a:p>
            <a:r>
              <a:t>来源：2024 刊p243 / PDF3；类别：风险分层；推荐等级：原文未明确。</a:t>
            </a:r>
          </a:p>
          <a:p>
            <a:r>
              <a:t>原文锚点：等沉淀及磨损4级镜片上有清晰可见的沉淀，呈连片状，见明显磨损痕迹1级2级图1.角膜塑形镜蛋白沉淀的分级示意图当沉淀物分级达到2级，需注意加强定期规范清洁；达到3级，则必须要进行专业医疗机构复查眼表健康状况，并重新验配更换镜片及重点宣教规范护理molVisSci,2024,26(4)·243·2.2.2除油脂护理如果配戴者油脂分泌物较多，还建议使用专用油脂清洁剂进行镜片的深度清洁护理。2.3护理配件清洁消毒方法流程护理配件使用前后建议先进行清洁、消毒的步骤。使用多功能护理液等进行清洁消毒，然后使用无菌0.9%氯化钠溶</a:t>
            </a:r>
          </a:p>
          <a:p/>
          <a:p>
            <a:r>
              <a:t>ok_care-07 镜片更换：正常建议1年左右更换，最长使用周期结合镜片和眼健康；明显划痕/大量沉淀尽早更换；形变、缺损、裂纹立即更换。</a:t>
            </a:r>
          </a:p>
          <a:p>
            <a:r>
              <a:t>来源：2024 刊p243 / PDF3；类别：护理；推荐等级：原文未明确。</a:t>
            </a:r>
          </a:p>
          <a:p>
            <a:r>
              <a:t>原文锚点：具体参考护理液的使用说明书），再进行强化清洁消毒或除蛋白，彻底冲洗镜片后再配戴。2.5角膜塑形镜更换周期正常情况下，建议1年左右更换镜片，镜片使用最长周期建议根据镜片表面状况及眼部健康状况来综合判断。镜片异常情况下，如镜片检查发现划痕明显及沉淀物较多，清洁度4级的镜片应尽早更换，若镜片出现形变、缺损、裂纹等情况，应立即更换。3级4级行强效消毒除蛋白，建议为每周1次；达到4级，则镜片不适合配戴，建议去理。</a:t>
            </a:r>
          </a:p>
          <a:p/>
          <a:p>
            <a:r>
              <a:t>ok_care-08 停戴保存：短期（如1周内）湿保存；长期（如1周及以上）消毒后晾干、阴凉干燥保存。复戴前足时浸泡消毒、强化清洁/除蛋白、彻底冲洗。</a:t>
            </a:r>
          </a:p>
          <a:p>
            <a:r>
              <a:t>来源：2024 刊p243 / PDF3；类别：护理；推荐等级：原文未明确。</a:t>
            </a:r>
          </a:p>
          <a:p>
            <a:r>
              <a:t>原文锚点：议定期更换配件，具体结合实际情况。2.4停戴期间角膜塑形镜保存方式停戴期间角膜塑形镜有湿保存和干保存2种方式。2.4.1湿储存短期停戴（如1周内），建议使用多功能护理液浸泡保存。2.4.2干储存长期停戴（如1周及以上），将消毒后的镜片自然晾干，放入镜盒且置于阴凉干燥处保存[26-27]。等下次需要配戴时，将镜片置于护理液浸泡消毒足够时间后（具体参考护理液的使用说明书），再进行强化清洁消毒或除蛋白，彻底冲洗镜片后再配戴。2.5角膜塑形镜更换周期正常情况下，建议1年左右更换镜片，镜片使用最长周期建议根据镜片表面状况及眼</a:t>
            </a:r>
          </a:p>
          <a:p/>
          <a:p>
            <a:r>
              <a:t>ok_care-09 配件清洁：使用前后多功能护理液清洁消毒，无菌0.9%氯化钠溶液冲洗，干燥通风清洁处风干；个人配件更换周期按情况，原文未统一明确。</a:t>
            </a:r>
          </a:p>
          <a:p>
            <a:r>
              <a:t>来源：2024 刊p243 / PDF3；类别：护理；推荐等级：原文未明确。</a:t>
            </a:r>
          </a:p>
          <a:p>
            <a:r>
              <a:t>原文锚点：26(4)·243·2.2.2除油脂护理如果配戴者油脂分泌物较多，还建议使用专用油脂清洁剂进行镜片的深度清洁护理。2.3护理配件清洁消毒方法流程护理配件使用前后建议先进行清洁、消毒的步骤。使用多功能护理液等进行清洁消毒，然后使用无菌0.9%氯化钠溶液冲洗，最后放置于干燥、通风、清洁处风干[26-27]。具体要结合配件的材料耐受条件等多方面考虑选择护理产品，另建议定期更换配件，具体结合实际情况。2.4停戴期间角膜塑形镜保存方式停戴期间角膜塑形镜有湿保存和干保存2种方式。2.4.1湿储存短期停戴（如1周内），建议使用多</a:t>
            </a:r>
          </a:p>
          <a:p/>
          <a:p>
            <a:r>
              <a:t>ok_care-11 试戴片周期管理：所有试戴片每2周统一清洁消毒和除蛋白；保存后7 d以上未用者，再次使用前加强消毒；污染或掉落后重新清洁消毒。</a:t>
            </a:r>
          </a:p>
          <a:p>
            <a:r>
              <a:t>来源：2024 刊p244–245 / PDF4–5；类别：机构管理；推荐等级：原文未明确。</a:t>
            </a:r>
          </a:p>
          <a:p>
            <a:r>
              <a:t>原文锚点：管理试戴片及护理配件的使用前后都应进行清洁、消毒，具体方法参照3.2及3.5。3.6.1试戴前消毒经过上述消毒后保存的、7d以上未使用过的试戴片如需进行后续配戴流程，应再次加强消毒。3.6.2污染后消毒若试戴过程中镜片、附属品掉落或与污染物品接触，需重新清洁、消毒，具体同上。3.6.3使用后消毒所有使用过的试戴片及其附属品，应放置在单独的区域，当日必须消毒。首先使用多功能护理液揉搓，再使用无菌0.9%氯化钠溶液冲洗。使用后就要检查试戴片是否破损，如有破损，及时丢弃；如无破损，当日消毒后储存。4注意事项4.1配戴者注</a:t>
            </a:r>
          </a:p>
          <a:p/>
          <a:p>
            <a:r>
              <a:t>ok_care-14 不适立即停戴：配戴中若眼红、不适等，立即停止配戴，就近到有资质的医疗机构检查；复查具体间隔原文未明确。</a:t>
            </a:r>
          </a:p>
          <a:p>
            <a:r>
              <a:t>来源：2024 刊p245 / PDF5；类别：危险信号；推荐等级：原文未明确。</a:t>
            </a:r>
          </a:p>
          <a:p>
            <a:r>
              <a:t>原文锚点：，及时丢弃；如无破损，当日消毒后储存。4注意事项4.1配戴者注意事项在配戴角膜塑形镜过程中，若发现有眼红、不适等症状，应立即停止配戴，就近到符合资质的医疗机构进行专业检查。4.2镜片护理注意事项4.2.1揉搓注意事项揉搓是有效清洁镜片的重要手段[32]，但揉搓不当容易造成镜片划伤、膜层破坏（可能导致蛋白容易沉淀）、镜片变形甚至碎片。因此，配戴者在首次取片时应充分学习正确的揉搓方式，配戴者或者操作者应及时修剪指甲，避免揉molVisSci,2024,26(4)·245·搓镜片时划伤或污染镜片。4.2.2定期复查注意事</a:t>
            </a:r>
          </a:p>
          <a:p/>
          <a:p>
            <a:r>
              <a:t>ok_care-15 护理产品红线：双氧水消毒后存放24 h或更久，戴前再次消毒；酶片浸泡一般不要超过2 h；单支无菌0.9%氯化钠溶液/注射用水开封即用，当次用完，不二次使用。</a:t>
            </a:r>
          </a:p>
          <a:p>
            <a:r>
              <a:t>来源：2024 刊p245 / PDF5；类别：禁忌；推荐等级：原文未明确。</a:t>
            </a:r>
          </a:p>
          <a:p>
            <a:r>
              <a:t>原文锚点：设备的操作流程等。4.3.2双氧水护理液使用注意事项双氧水护理液没有持续消毒储存作用，如果镜片经双氧水消毒后存放于镜盒中24h或更久，戴镜前要再次消毒。4.3.3除蛋白类护理产品使用注意事项A液或B液单独使用不具备杀菌消毒的作用，需同时使用；除蛋白酶片浸泡时间一般不要超过2h，否则会造成蛋白的二次沉积。不同类型的除蛋白产品建议按照相关产品使用说明操作。4.3.4含氯溶液的护理液和生成含氯溶液的电泳解离设备使用注意事项长时间浸泡镜片有褪色或变色的风险，须严格按照护理产品的使用说明来操作。4.3.5无菌0.9%氯化钠溶</a:t>
            </a:r>
          </a:p>
          <a:p/>
          <a:p>
            <a:r>
              <a:t>ok_care-16 记录与机构闭环：试戴片/产品固定存放并标明参数、批号、消毒时间、开封及有效期；使用后独立放置、当日消毒，破损及时丢弃。</a:t>
            </a:r>
          </a:p>
          <a:p>
            <a:r>
              <a:t>来源：2024 刊p244–245 / PDF4–5；类别：机构管理；推荐等级：原文未明确。</a:t>
            </a:r>
          </a:p>
          <a:p>
            <a:r>
              <a:t>原文锚点：再储存于干燥的镜盒中。具体要求可以参考《硬性透气性角膜接触镜试戴片临床使用管理专家共识（2023）》[30]。3.3正确标识试戴片及护理配件所有试戴片及相关护理产品应有固定存放位置，并标识清楚参数、批号及消毒时间，开封后应标明开封日期及有效期限。3.4双周强效消毒除蛋白所有试戴片每2周需统一进行清洁、消毒处理[29]。此外，建议同时使用除蛋白产品如除蛋白中华眼视光学与视觉科学杂志，2024，26（4）ChinJOptomOphthalm酶片、以次氯酸钠为主要成分的护理液或生成含氯溶液的电泳解离设备进行深度除蛋白。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6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角膜塑形镜护理"/>
          <p:cNvSpPr txBox="1"/>
          <p:nvPr/>
        </p:nvSpPr>
        <p:spPr>
          <a:xfrm>
            <a:off x="368300" y="203200"/>
            <a:ext cx="9955400" cy="425703"/>
          </a:xfrm>
          <a:prstGeom prst="rect">
            <a:avLst/>
          </a:prstGeom>
          <a:noFill/>
        </p:spPr>
        <p:txBody>
          <a:bodyPr wrap="none" lIns="0" rIns="0" tIns="0" bIns="0" anchor="t">
            <a:noAutofit/>
          </a:bodyPr>
          <a:lstStyle/>
          <a:p>
            <a:pPr>
              <a:lnSpc>
                <a:spcPts val="2852"/>
              </a:lnSpc>
              <a:spcBef>
                <a:spcPts val="0"/>
              </a:spcBef>
              <a:spcAft>
                <a:spcPts val="0"/>
              </a:spcAft>
            </a:pPr>
            <a:r>
              <a:rPr sz="2300" b="1" lang="zh-CN">
                <a:solidFill>
                  <a:srgbClr val="FFFFFF"/>
                </a:solidFill>
                <a:latin typeface="Microsoft YaHei"/>
                <a:ea typeface="Microsoft YaHei"/>
                <a:cs typeface="Microsoft YaHei"/>
              </a:rPr>
              <a:t>一页流程</a:t>
            </a:r>
            <a:r>
              <a:rPr sz="2300" b="1" lang="zh-CN">
                <a:solidFill>
                  <a:srgbClr val="FFFFFF"/>
                </a:solidFill>
                <a:latin typeface="Arial"/>
                <a:ea typeface="Arial"/>
                <a:cs typeface="Arial"/>
              </a:rPr>
              <a:t>｜</a:t>
            </a:r>
            <a:r>
              <a:rPr sz="2300" b="1" lang="zh-CN">
                <a:solidFill>
                  <a:srgbClr val="FFFFFF"/>
                </a:solidFill>
                <a:latin typeface="Microsoft YaHei"/>
                <a:ea typeface="Microsoft YaHei"/>
                <a:cs typeface="Microsoft YaHei"/>
              </a:rPr>
              <a:t>角膜塑形镜护理</a:t>
            </a:r>
          </a:p>
        </p:txBody>
      </p:sp>
      <p:sp>
        <p:nvSpPr>
          <p:cNvPr id="4" name="判断条件与下一步 · 按本篇原文整理 · 2024"/>
          <p:cNvSpPr txBox="1"/>
          <p:nvPr/>
        </p:nvSpPr>
        <p:spPr>
          <a:xfrm>
            <a:off x="368300" y="965200"/>
            <a:ext cx="99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2024</a:t>
            </a:r>
          </a:p>
        </p:txBody>
      </p:sp>
      <p:sp>
        <p:nvSpPr>
          <p:cNvPr id="5" name="Rectangle 4"/>
          <p:cNvSpPr/>
          <p:nvPr/>
        </p:nvSpPr>
        <p:spPr>
          <a:xfrm>
            <a:off x="368300" y="1384300"/>
            <a:ext cx="4787200" cy="1762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戴镜前检查"/>
          <p:cNvSpPr txBox="1"/>
          <p:nvPr/>
        </p:nvSpPr>
        <p:spPr>
          <a:xfrm>
            <a:off x="5207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戴镜前检查</a:t>
            </a:r>
          </a:p>
        </p:txBody>
      </p:sp>
      <p:sp>
        <p:nvSpPr>
          <p:cNvPr id="7" name="眼红/不适？是 → 停戴并专业检查；无 → 核对镜片完整和清洁。"/>
          <p:cNvSpPr txBox="1"/>
          <p:nvPr/>
        </p:nvSpPr>
        <p:spPr>
          <a:xfrm>
            <a:off x="5207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眼红/不适？是 → 停戴并专业检查；无 → 核对镜片完整</a:t>
            </a:r>
          </a:p>
          <a:p>
            <a:pPr>
              <a:lnSpc>
                <a:spcPts val="1630"/>
              </a:lnSpc>
              <a:spcBef>
                <a:spcPts val="0"/>
              </a:spcBef>
              <a:spcAft>
                <a:spcPts val="0"/>
              </a:spcAft>
            </a:pPr>
            <a:r>
              <a:rPr sz="1340" b="0" lang="zh-CN">
                <a:solidFill>
                  <a:srgbClr val="1E2E3B"/>
                </a:solidFill>
                <a:latin typeface="Microsoft YaHei"/>
                <a:ea typeface="Microsoft YaHei"/>
                <a:cs typeface="Microsoft YaHei"/>
              </a:rPr>
              <a:t>和清洁。</a:t>
            </a:r>
          </a:p>
        </p:txBody>
      </p:sp>
      <p:sp>
        <p:nvSpPr>
          <p:cNvPr id="8" name="2024 刊p242、245 / PDF2、5"/>
          <p:cNvSpPr txBox="1"/>
          <p:nvPr/>
        </p:nvSpPr>
        <p:spPr>
          <a:xfrm>
            <a:off x="5207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刊p242、245 / PDF2、5</a:t>
            </a:r>
          </a:p>
        </p:txBody>
      </p:sp>
      <p:cxnSp>
        <p:nvCxnSpPr>
          <p:cNvPr id="9" name="Connector 8"/>
          <p:cNvCxnSpPr/>
          <p:nvPr/>
        </p:nvCxnSpPr>
        <p:spPr>
          <a:xfrm>
            <a:off x="5180900" y="2265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536500" y="1384300"/>
            <a:ext cx="4787200" cy="1762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镜片可否继续使用？"/>
          <p:cNvSpPr txBox="1"/>
          <p:nvPr/>
        </p:nvSpPr>
        <p:spPr>
          <a:xfrm>
            <a:off x="56889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镜片可否继续使用？</a:t>
            </a:r>
          </a:p>
        </p:txBody>
      </p:sp>
      <p:sp>
        <p:nvSpPr>
          <p:cNvPr id="12" name="形变/缺损/裂纹 → 立即更换；沉淀4级 → 不适合戴，复查并换片。"/>
          <p:cNvSpPr txBox="1"/>
          <p:nvPr/>
        </p:nvSpPr>
        <p:spPr>
          <a:xfrm>
            <a:off x="56889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形变/缺损/裂纹 → 立即更换；沉淀4级 → 不适合戴，复</a:t>
            </a:r>
          </a:p>
          <a:p>
            <a:pPr>
              <a:lnSpc>
                <a:spcPts val="1630"/>
              </a:lnSpc>
              <a:spcBef>
                <a:spcPts val="0"/>
              </a:spcBef>
              <a:spcAft>
                <a:spcPts val="0"/>
              </a:spcAft>
            </a:pPr>
            <a:r>
              <a:rPr sz="1340" b="0" lang="zh-CN">
                <a:solidFill>
                  <a:srgbClr val="1E2E3B"/>
                </a:solidFill>
                <a:latin typeface="Microsoft YaHei"/>
                <a:ea typeface="Microsoft YaHei"/>
                <a:cs typeface="Microsoft YaHei"/>
              </a:rPr>
              <a:t>查并换片。</a:t>
            </a:r>
          </a:p>
        </p:txBody>
      </p:sp>
      <p:sp>
        <p:nvSpPr>
          <p:cNvPr id="13" name="2024 刊p243 / PDF3"/>
          <p:cNvSpPr txBox="1"/>
          <p:nvPr/>
        </p:nvSpPr>
        <p:spPr>
          <a:xfrm>
            <a:off x="56889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刊p243 / PDF3</a:t>
            </a:r>
          </a:p>
        </p:txBody>
      </p:sp>
      <p:cxnSp>
        <p:nvCxnSpPr>
          <p:cNvPr id="14" name="Connector 13"/>
          <p:cNvCxnSpPr/>
          <p:nvPr/>
        </p:nvCxnSpPr>
        <p:spPr>
          <a:xfrm>
            <a:off x="7930100" y="3171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536500" y="3387833"/>
            <a:ext cx="4787200" cy="1762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日常清洗与消毒"/>
          <p:cNvSpPr txBox="1"/>
          <p:nvPr/>
        </p:nvSpPr>
        <p:spPr>
          <a:xfrm>
            <a:off x="56889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日常清洗与消毒</a:t>
            </a:r>
          </a:p>
        </p:txBody>
      </p:sp>
      <p:sp>
        <p:nvSpPr>
          <p:cNvPr id="17" name="洗手擦干 → 适度揉搓、彻底冲洗 → 按说明书足时消毒；双氧水必须中和。"/>
          <p:cNvSpPr txBox="1"/>
          <p:nvPr/>
        </p:nvSpPr>
        <p:spPr>
          <a:xfrm>
            <a:off x="56889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洗手擦干 → 适度揉搓、彻底冲洗 → 按说明书足时消</a:t>
            </a:r>
          </a:p>
          <a:p>
            <a:pPr>
              <a:lnSpc>
                <a:spcPts val="1630"/>
              </a:lnSpc>
              <a:spcBef>
                <a:spcPts val="0"/>
              </a:spcBef>
              <a:spcAft>
                <a:spcPts val="0"/>
              </a:spcAft>
            </a:pPr>
            <a:r>
              <a:rPr sz="1340" b="0" lang="zh-CN">
                <a:solidFill>
                  <a:srgbClr val="1E2E3B"/>
                </a:solidFill>
                <a:latin typeface="Microsoft YaHei"/>
                <a:ea typeface="Microsoft YaHei"/>
                <a:cs typeface="Microsoft YaHei"/>
              </a:rPr>
              <a:t>毒；双氧水必须中和。</a:t>
            </a:r>
          </a:p>
        </p:txBody>
      </p:sp>
      <p:sp>
        <p:nvSpPr>
          <p:cNvPr id="18" name="2024 刊p242–243、245 / PDF2–3、5"/>
          <p:cNvSpPr txBox="1"/>
          <p:nvPr/>
        </p:nvSpPr>
        <p:spPr>
          <a:xfrm>
            <a:off x="56889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刊p242–243、245 / PDF2–3、5</a:t>
            </a:r>
          </a:p>
        </p:txBody>
      </p:sp>
      <p:cxnSp>
        <p:nvCxnSpPr>
          <p:cNvPr id="19" name="Connector 18"/>
          <p:cNvCxnSpPr/>
          <p:nvPr/>
        </p:nvCxnSpPr>
        <p:spPr>
          <a:xfrm flipH="1">
            <a:off x="5180900" y="4268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387833"/>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是否需强化护理？"/>
          <p:cNvSpPr txBox="1"/>
          <p:nvPr/>
        </p:nvSpPr>
        <p:spPr>
          <a:xfrm>
            <a:off x="5207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是否需强化护理？</a:t>
            </a:r>
          </a:p>
        </p:txBody>
      </p:sp>
      <p:sp>
        <p:nvSpPr>
          <p:cNvPr id="22" name="每1～2周；2级加强清洁，3级每周强效除蛋白；试戴片每2周统一处理。"/>
          <p:cNvSpPr txBox="1"/>
          <p:nvPr/>
        </p:nvSpPr>
        <p:spPr>
          <a:xfrm>
            <a:off x="5207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每1～2周；2级加强清洁，3级每周强效除蛋白；试戴片</a:t>
            </a:r>
          </a:p>
          <a:p>
            <a:pPr>
              <a:lnSpc>
                <a:spcPts val="1630"/>
              </a:lnSpc>
              <a:spcBef>
                <a:spcPts val="0"/>
              </a:spcBef>
              <a:spcAft>
                <a:spcPts val="0"/>
              </a:spcAft>
            </a:pPr>
            <a:r>
              <a:rPr sz="1340" b="0" lang="zh-CN">
                <a:solidFill>
                  <a:srgbClr val="1E2E3B"/>
                </a:solidFill>
                <a:latin typeface="Microsoft YaHei"/>
                <a:ea typeface="Microsoft YaHei"/>
                <a:cs typeface="Microsoft YaHei"/>
              </a:rPr>
              <a:t>每2周统一处理。</a:t>
            </a:r>
          </a:p>
        </p:txBody>
      </p:sp>
      <p:sp>
        <p:nvSpPr>
          <p:cNvPr id="23" name="2024 刊p243–245 / PDF3–5"/>
          <p:cNvSpPr txBox="1"/>
          <p:nvPr/>
        </p:nvSpPr>
        <p:spPr>
          <a:xfrm>
            <a:off x="5207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刊p243–245 / PDF3–5</a:t>
            </a:r>
          </a:p>
        </p:txBody>
      </p:sp>
      <p:cxnSp>
        <p:nvCxnSpPr>
          <p:cNvPr id="24" name="Connector 23"/>
          <p:cNvCxnSpPr/>
          <p:nvPr/>
        </p:nvCxnSpPr>
        <p:spPr>
          <a:xfrm>
            <a:off x="2761900" y="5175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5391366"/>
            <a:ext cx="4787200" cy="1762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停戴或复用"/>
          <p:cNvSpPr txBox="1"/>
          <p:nvPr/>
        </p:nvSpPr>
        <p:spPr>
          <a:xfrm>
            <a:off x="5207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停戴或复用</a:t>
            </a:r>
          </a:p>
        </p:txBody>
      </p:sp>
      <p:sp>
        <p:nvSpPr>
          <p:cNvPr id="27" name="长期如1周及以上干存；复戴足时消毒。双氧水后≥24 h或试戴片7 d以上未用 → 再消毒。"/>
          <p:cNvSpPr txBox="1"/>
          <p:nvPr/>
        </p:nvSpPr>
        <p:spPr>
          <a:xfrm>
            <a:off x="5207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长期如1周及以上干存；复戴足时消毒。双氧水后≥24</a:t>
            </a:r>
          </a:p>
          <a:p>
            <a:pPr>
              <a:lnSpc>
                <a:spcPts val="1630"/>
              </a:lnSpc>
              <a:spcBef>
                <a:spcPts val="0"/>
              </a:spcBef>
              <a:spcAft>
                <a:spcPts val="0"/>
              </a:spcAft>
            </a:pPr>
            <a:r>
              <a:rPr sz="1340" b="0" lang="zh-CN">
                <a:solidFill>
                  <a:srgbClr val="1E2E3B"/>
                </a:solidFill>
                <a:latin typeface="Microsoft YaHei"/>
                <a:ea typeface="Microsoft YaHei"/>
                <a:cs typeface="Microsoft YaHei"/>
              </a:rPr>
              <a:t>h或试戴片7 d以上未用 → 再消毒。</a:t>
            </a:r>
          </a:p>
        </p:txBody>
      </p:sp>
      <p:sp>
        <p:nvSpPr>
          <p:cNvPr id="28" name="2024 刊p243–245 / PDF3–5"/>
          <p:cNvSpPr txBox="1"/>
          <p:nvPr/>
        </p:nvSpPr>
        <p:spPr>
          <a:xfrm>
            <a:off x="5207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刊p243–245 / PDF3–5</a:t>
            </a:r>
          </a:p>
        </p:txBody>
      </p:sp>
      <p:cxnSp>
        <p:nvCxnSpPr>
          <p:cNvPr id="29" name="Connector 28"/>
          <p:cNvCxnSpPr/>
          <p:nvPr/>
        </p:nvCxnSpPr>
        <p:spPr>
          <a:xfrm>
            <a:off x="5180900" y="6272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536500" y="5391366"/>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复戴与闭环"/>
          <p:cNvSpPr txBox="1"/>
          <p:nvPr/>
        </p:nvSpPr>
        <p:spPr>
          <a:xfrm>
            <a:off x="56889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复戴与闭环</a:t>
            </a:r>
          </a:p>
        </p:txBody>
      </p:sp>
      <p:sp>
        <p:nvSpPr>
          <p:cNvPr id="32" name="确认洁净完整、护理配件消毒；出现不适即停戴；机构做好参数/批号/消毒/有效期记录。"/>
          <p:cNvSpPr txBox="1"/>
          <p:nvPr/>
        </p:nvSpPr>
        <p:spPr>
          <a:xfrm>
            <a:off x="56889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确认洁净完整、护理配件消毒；出现不适即停戴；机构</a:t>
            </a:r>
          </a:p>
          <a:p>
            <a:pPr>
              <a:lnSpc>
                <a:spcPts val="1630"/>
              </a:lnSpc>
              <a:spcBef>
                <a:spcPts val="0"/>
              </a:spcBef>
              <a:spcAft>
                <a:spcPts val="0"/>
              </a:spcAft>
            </a:pPr>
            <a:r>
              <a:rPr sz="1340" b="0" lang="zh-CN">
                <a:solidFill>
                  <a:srgbClr val="1E2E3B"/>
                </a:solidFill>
                <a:latin typeface="Microsoft YaHei"/>
                <a:ea typeface="Microsoft YaHei"/>
                <a:cs typeface="Microsoft YaHei"/>
              </a:rPr>
              <a:t>做好参数/批号/消毒/有效期记录。</a:t>
            </a:r>
          </a:p>
        </p:txBody>
      </p:sp>
      <p:sp>
        <p:nvSpPr>
          <p:cNvPr id="33" name="2024 刊p243–245 / PDF3–5"/>
          <p:cNvSpPr txBox="1"/>
          <p:nvPr/>
        </p:nvSpPr>
        <p:spPr>
          <a:xfrm>
            <a:off x="56889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刊p243–245 / PDF3–5</a:t>
            </a:r>
          </a:p>
        </p:txBody>
      </p:sp>
      <p:sp>
        <p:nvSpPr>
          <p:cNvPr id="34" name="流程为整理表达；原文未明确的切点、剂量或等级不补编。完整证据与特殊分支见提取表。"/>
          <p:cNvSpPr txBox="1"/>
          <p:nvPr/>
        </p:nvSpPr>
        <p:spPr>
          <a:xfrm>
            <a:off x="368300" y="7306000"/>
            <a:ext cx="99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角膜塑形镜护理 一页流程</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