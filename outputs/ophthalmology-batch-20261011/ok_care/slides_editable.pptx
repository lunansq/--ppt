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ok_care-01 适用对象：护理包括配戴者个人镜片，以及医疗机构试戴片、试戴区、护理配件和护理流程。</a:t>
            </a:r>
          </a:p>
          <a:p>
            <a:r>
              <a:t>来源：2024 刊p241 / PDF1；类别：适用人群；推荐等级：原文未明确。</a:t>
            </a:r>
          </a:p>
          <a:p>
            <a:r>
              <a:t>原文锚点：少年，规范的镜片护理可以为安全验配和有效近视防控保驾护航。角膜塑形镜的护理不仅包括配戴者个人的镜片护理，还包括医疗机构的试戴片方面护理。对角膜塑形镜试戴片和镜盒微生物污染检测的研究报告表明，临床使用的试戴片污染率高达43.0%，镜盒污染率高达57.0%，存在较高的安全隐患[9]。因此规范医疗机构的试戴片、试戴区/室、护理配件和护理流程也非常重要。本共识遵循临床共识的相关程序，包括临床访谈调研、开放讨论、多轮函审、多方面意见征求、修改和循证、审稿及定稿，围绕角膜塑形镜护理所使用的护理产品及护理配件、配戴者使用角膜塑形</a:t>
            </a:r>
          </a:p>
          <a:p/>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ok_care-03 晨起摘镜：洗手擦干；先滴润滑液并观察活动度，黏滞或推不动时再次滴液；确认镜片位置后摘镜，不强行牵拉。</a:t>
            </a:r>
          </a:p>
          <a:p>
            <a:r>
              <a:t>来源：2024 刊p242–243 / PDF2–3；类别：护理；推荐等级：原文未明确。</a:t>
            </a:r>
          </a:p>
          <a:p>
            <a:r>
              <a:t>原文锚点：齐全、干净。充分清洁双手——洗手后注意用无屑纸巾或棉柔巾擦干双手。向眼内滴入润滑液或润眼液，观察镜片是否有活动，如果镜片黏滞明显或用力下无法推动，则建议再次滴入润滑液或润眼液。②摘镜：摘镜者必须在摘镜前观察镜片的定中华眼视光学与视觉科学杂志，2024，26（4）ChinJOptomOphthalm位，确保镜片在角膜上或眼表上，方可开始尝试摘镜。具体方法分为手指摘镜法和吸棒摘镜法。方法基本同普通硬镜。由于角膜塑形镜直径相对大，注意使用手指摘镜法操作时，尽量拉开上下眼睑，暴露出镜片的上方和下方边缘。吸棒摘镜法同硬镜的操</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ok_care-09 配件清洁：使用前后多功能护理液清洁消毒，无菌0.9%氯化钠溶液冲洗，干燥通风清洁处风干；个人配件更换周期按情况，原文未统一明确。</a:t>
            </a:r>
          </a:p>
          <a:p>
            <a:r>
              <a:t>来源：2024 刊p243 / PDF3；类别：护理；推荐等级：原文未明确。</a:t>
            </a:r>
          </a:p>
          <a:p>
            <a:r>
              <a:t>原文锚点：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液冲洗，最后放置于干燥、通风、清洁处风干[26-27]。具体要结合配件的材料耐受条件等多方面考虑选择护理产品，另建议定期更换配件，具体结合实际情况。2.4停戴期间角膜塑形镜保存方式停戴期间角膜塑形镜有湿保存和干保存2种方式。2.4.1湿储存短期停戴（如1周内），建议使用多</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ok_care-18 未明确事项：本篇不提供近视验配数值范围、统一个人配件更换周期、所有护理产品浸泡时长、药物治疗方案或正式推荐等级；产品要求须按说明书。</a:t>
            </a:r>
          </a:p>
          <a:p>
            <a:r>
              <a:t>来源：2024 刊p241、243、245 / PDF1、3、5；类别：原文未明确；推荐等级：原文未明确。</a:t>
            </a:r>
          </a:p>
          <a:p>
            <a:r>
              <a:t>原文锚点：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1）。表1.角膜塑形镜蛋白沉淀的分级分级沉淀评估状况1级镜片上几乎无沉淀2级镜片上轻微沉淀3级反转弧可见中等沉淀及磨损4级镜片上有清晰可见的沉淀，呈连片状，见明显磨损痕迹1级2级图1.角膜塑形镜蛋白沉淀的分级示意图当沉淀物分级达到2级，需注意加强定期规范清洁；达到3级，则必须要进行专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ok_care-10 试戴片当次护理：多功能护理液揉搓20 s以上 → 无菌0.9%氯化钠溶液冲洗 → 按产品消毒 → 完全冲洗 → 储存。</a:t>
            </a:r>
          </a:p>
          <a:p>
            <a:r>
              <a:t>来源：2024 刊p244 / PDF4；类别：机构管理；推荐等级：原文未明确。</a:t>
            </a:r>
          </a:p>
          <a:p>
            <a:r>
              <a:t>原文锚点：·244·中华眼视光学与视觉科3专业机构使用的角膜塑形镜试戴片护理方法及流程中华人民共和国卫生行业标准2012年发布的《医疗机构消毒技术规范》中指出，重复操作的诊疗器械、器具和物品，使用后应先清洁，再进行消毒灭菌[28]。角膜塑形镜试戴片一般在专业验配机构使用，属于重复应用的医疗器械，对镜片表面需进行清洁、消毒、除蛋白和脂质，及对细菌、真菌、病毒、阿米巴原虫等微生物进行消杀。基于以上的原则，本共识专家团队对试戴片护理流程和规范进行了详细说明，具体见图2。3.1试戴区（室）消毒流程及操作人员规范3.</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ok_care-12 试戴配件更换：试戴片储存镜盒建议每2～3个月更换；试戴吸棒建议每月更换；套盒用75%乙醇擦拭、风干。</a:t>
            </a:r>
          </a:p>
          <a:p>
            <a:r>
              <a:t>来源：2024 刊p245 / PDF5；类别：机构管理；推荐等级：原文未明确。</a:t>
            </a:r>
          </a:p>
          <a:p>
            <a:r>
              <a:t>原文锚点：用吸棒，建议在使用前后均使用多功能护理液搓洗，并使用无菌0.9%氯化钠溶液冲洗后再进行操作或风干后保存于洁净容器中。建议每月更换吸棒。3.5.3试戴片套盒清洁消毒使用75%乙醇溶液擦拭消毒，放置于干燥、通风、清洁处风干。3.6试戴片及护理配件的清洁消毒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a:t>
            </a:r>
          </a:p>
          <a:p/>
          <a:p>
            <a:r>
              <a:t>ok_care-13 试戴区与手卫生：每日早晚紫外灯至少30 min，或循环风紫外空气消毒机至少1 h；物表/地面按原文500 mg/L含氯消毒；操作一片后重新手消毒。</a:t>
            </a:r>
          </a:p>
          <a:p>
            <a:r>
              <a:t>来源：2024 刊p244 / PDF4；类别：机构管理；推荐等级：原文未明确。</a:t>
            </a:r>
          </a:p>
          <a:p>
            <a:r>
              <a:t>原文锚点：详细说明，具体见图2。3.1试戴区（室）消毒流程及操作人员规范3.1.1试戴区（室）的空气消毒每日早晚使用紫外灯消毒至少30min，或使用循环风紫外空气消毒机至少1h。3.1.2试戴区（室）表面与环境的消毒每日使用500mg/L含氯消毒液消毒地面、台面，使用75%乙酸溶液消毒各种设施和仪器表面等。3.1.3操作人员手卫生接触试戴片前需严格遵循六步洗手法，进行手部消毒清洁[21]。原则上做到操作一只试戴镜片后，重新手部消毒后再操作另外一只试戴片，尤其是在接触物表或护理液瓶子的表面后，需要重新进行手部的消毒处理。图2.</a:t>
            </a:r>
          </a:p>
          <a:p/>
          <a:p>
            <a:r>
              <a:t>ok_care-17 原文疑义：环境表面消毒段写“75%乙酸溶液”，而套盒护理段写“75%乙醇溶液”。保留疑义，不擅自更正，也不把前者作为临床操作指令。</a:t>
            </a:r>
          </a:p>
          <a:p>
            <a:r>
              <a:t>来源：2024 刊p244–245 / PDF4–5；类别：原文核对事项；推荐等级：原文未明确。</a:t>
            </a:r>
          </a:p>
          <a:p>
            <a:r>
              <a:t>原文锚点：紫外空气消毒机至少1h。3.1.2试戴区（室）表面与环境的消毒每日使用500mg/L含氯消毒液消毒地面、台面，使用75%乙酸溶液消毒各种设施和仪器表面等。3.1.3操作人员手卫生接触试戴片前需严格遵循六步洗手法，进行手部消毒清洁[21]。原则上做到操作一只试戴镜片后，重新手部消毒后再操作另外一只试戴片，尤其是在接触物表或护理液瓶子的表面后，需要重新进行手部的消毒处理。图2.试戴片、试戴区（室）和护理配件的护理流程及规范科学杂志，2024，26（4）ChinJOptomOphthalmolVisSci,2024,26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a:p/>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a:p/>
          <a:p>
            <a:r>
              <a:t>ok_care-09 配件清洁：使用前后多功能护理液清洁消毒，无菌0.9%氯化钠溶液冲洗，干燥通风清洁处风干；个人配件更换周期按情况，原文未统一明确。</a:t>
            </a:r>
          </a:p>
          <a:p>
            <a:r>
              <a:t>来源：2024 刊p243 / PDF3；类别：护理；推荐等级：原文未明确。</a:t>
            </a:r>
          </a:p>
          <a:p>
            <a:r>
              <a:t>原文锚点：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液冲洗，最后放置于干燥、通风、清洁处风干[26-27]。具体要结合配件的材料耐受条件等多方面考虑选择护理产品，另建议定期更换配件，具体结合实际情况。2.4停戴期间角膜塑形镜保存方式停戴期间角膜塑形镜有湿保存和干保存2种方式。2.4.1湿储存短期停戴（如1周内），建议使用多</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护理适用范围与日常操作"/>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护理适用范围与日常操作</a:t>
            </a:r>
          </a:p>
        </p:txBody>
      </p:sp>
      <p:sp>
        <p:nvSpPr>
          <p:cNvPr id="4" name="01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07</a:t>
            </a:r>
          </a:p>
        </p:txBody>
      </p:sp>
      <p:sp>
        <p:nvSpPr>
          <p:cNvPr id="5" name="角膜塑形镜护理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角膜塑形镜护理 · 2024 专家共识</a:t>
            </a:r>
          </a:p>
        </p:txBody>
      </p:sp>
      <p:sp>
        <p:nvSpPr>
          <p:cNvPr id="6" name="Rectangle 5"/>
          <p:cNvSpPr/>
          <p:nvPr/>
        </p:nvSpPr>
        <p:spPr>
          <a:xfrm>
            <a:off x="444500" y="1384300"/>
            <a:ext cx="11303000" cy="148082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480820"/>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用对象"/>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适用对象</a:t>
            </a:r>
          </a:p>
        </p:txBody>
      </p:sp>
      <p:sp>
        <p:nvSpPr>
          <p:cNvPr id="9" name="护理包括配戴者个人镜片，以及医疗机构试戴片、试戴区、护理配件和护理流程。"/>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护理包括配戴者个人镜片，以及医疗机构试戴片、试戴区、护理配件和护理流程。</a:t>
            </a:r>
          </a:p>
        </p:txBody>
      </p:sp>
      <p:sp>
        <p:nvSpPr>
          <p:cNvPr id="10" name="2024 刊p241 / PDF1"/>
          <p:cNvSpPr txBox="1"/>
          <p:nvPr/>
        </p:nvSpPr>
        <p:spPr>
          <a:xfrm>
            <a:off x="622300" y="266192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刊p241 / PDF1</a:t>
            </a:r>
          </a:p>
        </p:txBody>
      </p:sp>
      <p:sp>
        <p:nvSpPr>
          <p:cNvPr id="11" name="Rectangle 10"/>
          <p:cNvSpPr/>
          <p:nvPr/>
        </p:nvSpPr>
        <p:spPr>
          <a:xfrm>
            <a:off x="444500" y="2979420"/>
            <a:ext cx="11303000" cy="175006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979420"/>
            <a:ext cx="38100" cy="1750060"/>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晚间戴镜"/>
          <p:cNvSpPr txBox="1"/>
          <p:nvPr/>
        </p:nvSpPr>
        <p:spPr>
          <a:xfrm>
            <a:off x="622300" y="308102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晚间戴镜</a:t>
            </a:r>
          </a:p>
        </p:txBody>
      </p:sp>
      <p:sp>
        <p:nvSpPr>
          <p:cNvPr id="14" name="先观察镜片完整洁净；洗手擦干；多功能护理液适度揉搓、彻底冲洗；凹面加足量润滑液/润眼液后戴镜；清洁配"/>
          <p:cNvSpPr txBox="1"/>
          <p:nvPr/>
        </p:nvSpPr>
        <p:spPr>
          <a:xfrm>
            <a:off x="622300" y="342392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先观察镜片完整洁净；洗手擦干；多功能护理液适度揉搓、彻底冲洗；凹面加足量润滑液/润眼液后戴</a:t>
            </a:r>
          </a:p>
          <a:p>
            <a:pPr>
              <a:lnSpc>
                <a:spcPts val="2120"/>
              </a:lnSpc>
              <a:spcBef>
                <a:spcPts val="0"/>
              </a:spcBef>
              <a:spcAft>
                <a:spcPts val="0"/>
              </a:spcAft>
            </a:pPr>
            <a:r>
              <a:rPr sz="1700" b="0" lang="zh-CN">
                <a:solidFill>
                  <a:srgbClr val="1E2E3B"/>
                </a:solidFill>
                <a:latin typeface="Microsoft YaHei"/>
                <a:ea typeface="Microsoft YaHei"/>
                <a:cs typeface="Microsoft YaHei"/>
              </a:rPr>
              <a:t>镜；清洁配件。</a:t>
            </a:r>
          </a:p>
        </p:txBody>
      </p:sp>
      <p:sp>
        <p:nvSpPr>
          <p:cNvPr id="15" name="2024 刊p242 / PDF2"/>
          <p:cNvSpPr txBox="1"/>
          <p:nvPr/>
        </p:nvSpPr>
        <p:spPr>
          <a:xfrm>
            <a:off x="622300" y="452628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刊p242 / PDF2</a:t>
            </a:r>
          </a:p>
        </p:txBody>
      </p:sp>
      <p:sp>
        <p:nvSpPr>
          <p:cNvPr id="16" name="Rectangle 15"/>
          <p:cNvSpPr/>
          <p:nvPr/>
        </p:nvSpPr>
        <p:spPr>
          <a:xfrm>
            <a:off x="444500" y="4843780"/>
            <a:ext cx="11303000" cy="148082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843780"/>
            <a:ext cx="38100" cy="1480820"/>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晨起摘镜"/>
          <p:cNvSpPr txBox="1"/>
          <p:nvPr/>
        </p:nvSpPr>
        <p:spPr>
          <a:xfrm>
            <a:off x="622300" y="494538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晨起摘镜</a:t>
            </a:r>
          </a:p>
        </p:txBody>
      </p:sp>
      <p:sp>
        <p:nvSpPr>
          <p:cNvPr id="19" name="洗手擦干；先滴润滑液并观察活动度，黏滞或推不动时再次滴液；确认镜片位置后摘镜，不强行牵拉。"/>
          <p:cNvSpPr txBox="1"/>
          <p:nvPr/>
        </p:nvSpPr>
        <p:spPr>
          <a:xfrm>
            <a:off x="622300" y="528828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洗手擦干；先滴润滑液并观察活动度，黏滞或推不动时再次滴液；确认镜片位置后摘镜，不强行牵拉。</a:t>
            </a:r>
          </a:p>
        </p:txBody>
      </p:sp>
      <p:sp>
        <p:nvSpPr>
          <p:cNvPr id="20" name="2024 刊p242–243 / PDF2–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刊p242–243 / PDF2–3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清洗、消毒与产品红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清洗、消毒与产品红线</a:t>
            </a:r>
          </a:p>
        </p:txBody>
      </p:sp>
      <p:sp>
        <p:nvSpPr>
          <p:cNvPr id="4" name="02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07</a:t>
            </a:r>
          </a:p>
        </p:txBody>
      </p:sp>
      <p:sp>
        <p:nvSpPr>
          <p:cNvPr id="5" name="角膜塑形镜护理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角膜塑形镜护理 · 2024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摘后处理"/>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摘后处理</a:t>
            </a:r>
          </a:p>
        </p:txBody>
      </p:sp>
      <p:sp>
        <p:nvSpPr>
          <p:cNvPr id="9" name="摘下后即刻清洗揉搓，按护理产品规定时间消毒；储存首选多功能护理液；双氧水须用配套装置并按要求中和。"/>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摘下后即刻清洗揉搓，按护理产品规定时间消毒；储存首选多功能护理液；双氧水须用配套装置并按要</a:t>
            </a:r>
          </a:p>
          <a:p>
            <a:pPr>
              <a:lnSpc>
                <a:spcPts val="2120"/>
              </a:lnSpc>
              <a:spcBef>
                <a:spcPts val="0"/>
              </a:spcBef>
              <a:spcAft>
                <a:spcPts val="0"/>
              </a:spcAft>
            </a:pPr>
            <a:r>
              <a:rPr sz="1700" b="0" lang="zh-CN">
                <a:solidFill>
                  <a:srgbClr val="1E2E3B"/>
                </a:solidFill>
                <a:latin typeface="Microsoft YaHei"/>
                <a:ea typeface="Microsoft YaHei"/>
                <a:cs typeface="Microsoft YaHei"/>
              </a:rPr>
              <a:t>求中和。</a:t>
            </a:r>
          </a:p>
        </p:txBody>
      </p:sp>
      <p:sp>
        <p:nvSpPr>
          <p:cNvPr id="10" name="2024 刊p243、245 / PDF3、5"/>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刊p243、245 / PDF3、5</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配件清洁"/>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配件清洁</a:t>
            </a:r>
          </a:p>
        </p:txBody>
      </p:sp>
      <p:sp>
        <p:nvSpPr>
          <p:cNvPr id="14" name="使用前后多功能护理液清洁消毒，无菌0.9%氯化钠溶液冲洗，干燥通风清洁处风干；个人配件更换周期按情况"/>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使用前后多功能护理液清洁消毒，无菌0.9%氯化钠溶液冲洗，干燥通风清洁处风干；个人配件更换周</a:t>
            </a:r>
          </a:p>
          <a:p>
            <a:pPr>
              <a:lnSpc>
                <a:spcPts val="2120"/>
              </a:lnSpc>
              <a:spcBef>
                <a:spcPts val="0"/>
              </a:spcBef>
              <a:spcAft>
                <a:spcPts val="0"/>
              </a:spcAft>
            </a:pPr>
            <a:r>
              <a:rPr sz="1700" b="0" lang="zh-CN">
                <a:solidFill>
                  <a:srgbClr val="1E2E3B"/>
                </a:solidFill>
                <a:latin typeface="Microsoft YaHei"/>
                <a:ea typeface="Microsoft YaHei"/>
                <a:cs typeface="Microsoft YaHei"/>
              </a:rPr>
              <a:t>期按情况，原文未统一明确。</a:t>
            </a:r>
          </a:p>
        </p:txBody>
      </p:sp>
      <p:sp>
        <p:nvSpPr>
          <p:cNvPr id="15" name="2024 刊p243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刊p243 / PDF3</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护理产品红线"/>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护理产品红线</a:t>
            </a:r>
          </a:p>
        </p:txBody>
      </p:sp>
      <p:sp>
        <p:nvSpPr>
          <p:cNvPr id="19" name="双氧水消毒后存放24 h或更久，戴前再次消毒；酶片浸泡一般不要超过2 h；单支无菌0.9%氯化钠溶液"/>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双氧水消毒后存放24 h或更久，戴前再次消毒；酶片浸泡一般不要超过2 h；单支无菌0.9%氯化钠溶液</a:t>
            </a:r>
          </a:p>
          <a:p>
            <a:pPr>
              <a:lnSpc>
                <a:spcPts val="2120"/>
              </a:lnSpc>
              <a:spcBef>
                <a:spcPts val="0"/>
              </a:spcBef>
              <a:spcAft>
                <a:spcPts val="0"/>
              </a:spcAft>
            </a:pPr>
            <a:r>
              <a:rPr sz="1700" b="0" lang="zh-CN">
                <a:solidFill>
                  <a:srgbClr val="1E2E3B"/>
                </a:solidFill>
                <a:latin typeface="Microsoft YaHei"/>
                <a:ea typeface="Microsoft YaHei"/>
                <a:cs typeface="Microsoft YaHei"/>
              </a:rPr>
              <a:t>/注射用水开封即用，当次用完，不二次使用。</a:t>
            </a:r>
          </a:p>
        </p:txBody>
      </p:sp>
      <p:sp>
        <p:nvSpPr>
          <p:cNvPr id="20" name="2024 刊p245 / PDF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刊p245 / PDF5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沉淀分级与镜片更换"/>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沉淀分级与镜片更换</a:t>
            </a:r>
          </a:p>
        </p:txBody>
      </p:sp>
      <p:sp>
        <p:nvSpPr>
          <p:cNvPr id="4" name="03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07</a:t>
            </a:r>
          </a:p>
        </p:txBody>
      </p:sp>
      <p:sp>
        <p:nvSpPr>
          <p:cNvPr id="5" name="角膜塑形镜护理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角膜塑形镜护理 · 2024 专家共识</a:t>
            </a:r>
          </a:p>
        </p:txBody>
      </p:sp>
      <p:sp>
        <p:nvSpPr>
          <p:cNvPr id="6" name="Rectangle 5"/>
          <p:cNvSpPr/>
          <p:nvPr/>
        </p:nvSpPr>
        <p:spPr>
          <a:xfrm>
            <a:off x="444500" y="1384300"/>
            <a:ext cx="11303000" cy="1391073"/>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391073"/>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常规深度护理"/>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常规深度护理</a:t>
            </a:r>
          </a:p>
        </p:txBody>
      </p:sp>
      <p:sp>
        <p:nvSpPr>
          <p:cNvPr id="9" name="建议每1～2周深度除蛋白，按实际清洁程度或医生指导调整；油脂多者增加专用清洁。"/>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建议每1～2周深度除蛋白，按实际清洁程度或医生指导调整；油脂多者增加专用清洁。</a:t>
            </a:r>
          </a:p>
        </p:txBody>
      </p:sp>
      <p:sp>
        <p:nvSpPr>
          <p:cNvPr id="10" name="2024 刊p243 / PDF3"/>
          <p:cNvSpPr txBox="1"/>
          <p:nvPr/>
        </p:nvSpPr>
        <p:spPr>
          <a:xfrm>
            <a:off x="622300" y="257217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刊p243 / PDF3</a:t>
            </a:r>
          </a:p>
        </p:txBody>
      </p:sp>
      <p:sp>
        <p:nvSpPr>
          <p:cNvPr id="11" name="Rectangle 10"/>
          <p:cNvSpPr/>
          <p:nvPr/>
        </p:nvSpPr>
        <p:spPr>
          <a:xfrm>
            <a:off x="444500" y="2889673"/>
            <a:ext cx="11303000" cy="1660313"/>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889673"/>
            <a:ext cx="38100" cy="1660313"/>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蛋白沉淀分级"/>
          <p:cNvSpPr txBox="1"/>
          <p:nvPr/>
        </p:nvSpPr>
        <p:spPr>
          <a:xfrm>
            <a:off x="622300" y="299127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蛋白沉淀分级</a:t>
            </a:r>
          </a:p>
        </p:txBody>
      </p:sp>
      <p:sp>
        <p:nvSpPr>
          <p:cNvPr id="14" name="2级：加强定期规范清洁；3级：强效消毒除蛋白，建议每周1次；4级：不适合配戴，复查眼表并重新验配更换"/>
          <p:cNvSpPr txBox="1"/>
          <p:nvPr/>
        </p:nvSpPr>
        <p:spPr>
          <a:xfrm>
            <a:off x="622300" y="333417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2级：加强定期规范清洁；3级：强效消毒除蛋白，建议每周1次；4级：不适合配戴，复查眼表并重新</a:t>
            </a:r>
          </a:p>
          <a:p>
            <a:pPr>
              <a:lnSpc>
                <a:spcPts val="2120"/>
              </a:lnSpc>
              <a:spcBef>
                <a:spcPts val="0"/>
              </a:spcBef>
              <a:spcAft>
                <a:spcPts val="0"/>
              </a:spcAft>
            </a:pPr>
            <a:r>
              <a:rPr sz="1700" b="0" lang="zh-CN">
                <a:solidFill>
                  <a:srgbClr val="1E2E3B"/>
                </a:solidFill>
                <a:latin typeface="Microsoft YaHei"/>
                <a:ea typeface="Microsoft YaHei"/>
                <a:cs typeface="Microsoft YaHei"/>
              </a:rPr>
              <a:t>验配更换镜片。</a:t>
            </a:r>
          </a:p>
        </p:txBody>
      </p:sp>
      <p:sp>
        <p:nvSpPr>
          <p:cNvPr id="15" name="2024 刊p243 / PDF3"/>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刊p243 / PDF3</a:t>
            </a:r>
          </a:p>
        </p:txBody>
      </p:sp>
      <p:sp>
        <p:nvSpPr>
          <p:cNvPr id="16" name="Rectangle 15"/>
          <p:cNvSpPr/>
          <p:nvPr/>
        </p:nvSpPr>
        <p:spPr>
          <a:xfrm>
            <a:off x="444500" y="4664286"/>
            <a:ext cx="11303000" cy="1660313"/>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镜片更换"/>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镜片更换</a:t>
            </a:r>
          </a:p>
        </p:txBody>
      </p:sp>
      <p:sp>
        <p:nvSpPr>
          <p:cNvPr id="19" name="正常建议1年左右更换，最长使用周期结合镜片和眼健康；明显划痕/大量沉淀尽早更换；形变、缺损、裂纹立即"/>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正常建议1年左右更换，最长使用周期结合镜片和眼健康；明显划痕/大量沉淀尽早更换；形变、缺损、</a:t>
            </a:r>
          </a:p>
          <a:p>
            <a:pPr>
              <a:lnSpc>
                <a:spcPts val="2120"/>
              </a:lnSpc>
              <a:spcBef>
                <a:spcPts val="0"/>
              </a:spcBef>
              <a:spcAft>
                <a:spcPts val="0"/>
              </a:spcAft>
            </a:pPr>
            <a:r>
              <a:rPr sz="1700" b="0" lang="zh-CN">
                <a:solidFill>
                  <a:srgbClr val="1E2E3B"/>
                </a:solidFill>
                <a:latin typeface="Microsoft YaHei"/>
                <a:ea typeface="Microsoft YaHei"/>
                <a:cs typeface="Microsoft YaHei"/>
              </a:rPr>
              <a:t>裂纹立即更换。</a:t>
            </a:r>
          </a:p>
        </p:txBody>
      </p:sp>
      <p:sp>
        <p:nvSpPr>
          <p:cNvPr id="20" name="2024 刊p243 / PDF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刊p243 / PDF3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停戴及复戴管理"/>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停戴及复戴管理</a:t>
            </a:r>
          </a:p>
        </p:txBody>
      </p:sp>
      <p:sp>
        <p:nvSpPr>
          <p:cNvPr id="4" name="04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07</a:t>
            </a:r>
          </a:p>
        </p:txBody>
      </p:sp>
      <p:sp>
        <p:nvSpPr>
          <p:cNvPr id="5" name="角膜塑形镜护理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角膜塑形镜护理 · 2024 专家共识</a:t>
            </a:r>
          </a:p>
        </p:txBody>
      </p:sp>
      <p:sp>
        <p:nvSpPr>
          <p:cNvPr id="6" name="Rectangle 5"/>
          <p:cNvSpPr/>
          <p:nvPr/>
        </p:nvSpPr>
        <p:spPr>
          <a:xfrm>
            <a:off x="444500" y="1384300"/>
            <a:ext cx="11303000" cy="1660313"/>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660313"/>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停戴保存"/>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停戴保存</a:t>
            </a:r>
          </a:p>
        </p:txBody>
      </p:sp>
      <p:sp>
        <p:nvSpPr>
          <p:cNvPr id="9" name="短期（如1周内）湿保存；长期（如1周及以上）消毒后晾干、阴凉干燥保存。复戴前足时浸泡消毒、强化清洁/"/>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短期（如1周内）湿保存；长期（如1周及以上）消毒后晾干、阴凉干燥保存。复戴前足时浸泡消毒、</a:t>
            </a:r>
          </a:p>
          <a:p>
            <a:pPr>
              <a:lnSpc>
                <a:spcPts val="2120"/>
              </a:lnSpc>
              <a:spcBef>
                <a:spcPts val="0"/>
              </a:spcBef>
              <a:spcAft>
                <a:spcPts val="0"/>
              </a:spcAft>
            </a:pPr>
            <a:r>
              <a:rPr sz="1700" b="0" lang="zh-CN">
                <a:solidFill>
                  <a:srgbClr val="1E2E3B"/>
                </a:solidFill>
                <a:latin typeface="Microsoft YaHei"/>
                <a:ea typeface="Microsoft YaHei"/>
                <a:cs typeface="Microsoft YaHei"/>
              </a:rPr>
              <a:t>强化清洁/除蛋白、彻底冲洗。</a:t>
            </a:r>
          </a:p>
        </p:txBody>
      </p:sp>
      <p:sp>
        <p:nvSpPr>
          <p:cNvPr id="10" name="2024 刊p243 / PDF3"/>
          <p:cNvSpPr txBox="1"/>
          <p:nvPr/>
        </p:nvSpPr>
        <p:spPr>
          <a:xfrm>
            <a:off x="622300" y="284141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刊p243 / PDF3</a:t>
            </a:r>
          </a:p>
        </p:txBody>
      </p:sp>
      <p:sp>
        <p:nvSpPr>
          <p:cNvPr id="11" name="Rectangle 10"/>
          <p:cNvSpPr/>
          <p:nvPr/>
        </p:nvSpPr>
        <p:spPr>
          <a:xfrm>
            <a:off x="444500" y="3158913"/>
            <a:ext cx="11303000" cy="139107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158913"/>
            <a:ext cx="38100" cy="139107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不适立即停戴"/>
          <p:cNvSpPr txBox="1"/>
          <p:nvPr/>
        </p:nvSpPr>
        <p:spPr>
          <a:xfrm>
            <a:off x="622300" y="326051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不适立即停戴</a:t>
            </a:r>
          </a:p>
        </p:txBody>
      </p:sp>
      <p:sp>
        <p:nvSpPr>
          <p:cNvPr id="14" name="配戴中若眼红、不适等，立即停止配戴，就近到有资质的医疗机构检查；复查具体间隔原文未明确。"/>
          <p:cNvSpPr txBox="1"/>
          <p:nvPr/>
        </p:nvSpPr>
        <p:spPr>
          <a:xfrm>
            <a:off x="622300" y="3603413"/>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配戴中若眼红、不适等，立即停止配戴，就近到有资质的医疗机构检查；复查具体间隔原文未明确。</a:t>
            </a:r>
          </a:p>
        </p:txBody>
      </p:sp>
      <p:sp>
        <p:nvSpPr>
          <p:cNvPr id="15" name="2024 刊p245 / PDF5"/>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刊p245 / PDF5</a:t>
            </a:r>
          </a:p>
        </p:txBody>
      </p:sp>
      <p:sp>
        <p:nvSpPr>
          <p:cNvPr id="16" name="Rectangle 15"/>
          <p:cNvSpPr/>
          <p:nvPr/>
        </p:nvSpPr>
        <p:spPr>
          <a:xfrm>
            <a:off x="444500" y="4664286"/>
            <a:ext cx="11303000" cy="1660313"/>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未明确事项"/>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未明确事项</a:t>
            </a:r>
          </a:p>
        </p:txBody>
      </p:sp>
      <p:sp>
        <p:nvSpPr>
          <p:cNvPr id="19" name="本篇不提供近视验配数值范围、统一个人配件更换周期、所有护理产品浸泡时长、药物治疗方案或正式推荐等级；"/>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本篇不提供近视验配数值范围、统一个人配件更换周期、所有护理产品浸泡时长、药物治疗方案或正式</a:t>
            </a:r>
          </a:p>
          <a:p>
            <a:pPr>
              <a:lnSpc>
                <a:spcPts val="2120"/>
              </a:lnSpc>
              <a:spcBef>
                <a:spcPts val="0"/>
              </a:spcBef>
              <a:spcAft>
                <a:spcPts val="0"/>
              </a:spcAft>
            </a:pPr>
            <a:r>
              <a:rPr sz="1700" b="0" lang="zh-CN">
                <a:solidFill>
                  <a:srgbClr val="1E2E3B"/>
                </a:solidFill>
                <a:latin typeface="Microsoft YaHei"/>
                <a:ea typeface="Microsoft YaHei"/>
                <a:cs typeface="Microsoft YaHei"/>
              </a:rPr>
              <a:t>推荐等级；产品要求须按说明书。</a:t>
            </a:r>
          </a:p>
        </p:txBody>
      </p:sp>
      <p:sp>
        <p:nvSpPr>
          <p:cNvPr id="20" name="2024 刊p241、243、245 / PDF1、3、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刊p241、243、245 / PDF1、3、5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机构试戴片：当次与周期"/>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机构试戴片：当次与周期</a:t>
            </a:r>
          </a:p>
        </p:txBody>
      </p:sp>
      <p:sp>
        <p:nvSpPr>
          <p:cNvPr id="4" name="05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07</a:t>
            </a:r>
          </a:p>
        </p:txBody>
      </p:sp>
      <p:sp>
        <p:nvSpPr>
          <p:cNvPr id="5" name="角膜塑形镜护理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角膜塑形镜护理 · 2024 专家共识</a:t>
            </a:r>
          </a:p>
        </p:txBody>
      </p:sp>
      <p:sp>
        <p:nvSpPr>
          <p:cNvPr id="6" name="Rectangle 5"/>
          <p:cNvSpPr/>
          <p:nvPr/>
        </p:nvSpPr>
        <p:spPr>
          <a:xfrm>
            <a:off x="444500" y="1384300"/>
            <a:ext cx="11303000" cy="1391073"/>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391073"/>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试戴片当次护理"/>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试戴片当次护理</a:t>
            </a:r>
          </a:p>
        </p:txBody>
      </p:sp>
      <p:sp>
        <p:nvSpPr>
          <p:cNvPr id="9" name="多功能护理液揉搓20 s以上 → 无菌0.9%氯化钠溶液冲洗 → 按产品消毒 → 完全冲洗 → 储存"/>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多功能护理液揉搓20 s以上 → 无菌0.9%氯化钠溶液冲洗 → 按产品消毒 → 完全冲洗 → 储存。</a:t>
            </a:r>
          </a:p>
        </p:txBody>
      </p:sp>
      <p:sp>
        <p:nvSpPr>
          <p:cNvPr id="10" name="2024 刊p244 / PDF4"/>
          <p:cNvSpPr txBox="1"/>
          <p:nvPr/>
        </p:nvSpPr>
        <p:spPr>
          <a:xfrm>
            <a:off x="622300" y="257217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刊p244 / PDF4</a:t>
            </a:r>
          </a:p>
        </p:txBody>
      </p:sp>
      <p:sp>
        <p:nvSpPr>
          <p:cNvPr id="11" name="Rectangle 10"/>
          <p:cNvSpPr/>
          <p:nvPr/>
        </p:nvSpPr>
        <p:spPr>
          <a:xfrm>
            <a:off x="444500" y="2889673"/>
            <a:ext cx="11303000" cy="1660313"/>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889673"/>
            <a:ext cx="38100" cy="1660313"/>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试戴片周期管理"/>
          <p:cNvSpPr txBox="1"/>
          <p:nvPr/>
        </p:nvSpPr>
        <p:spPr>
          <a:xfrm>
            <a:off x="622300" y="299127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试戴片周期管理</a:t>
            </a:r>
          </a:p>
        </p:txBody>
      </p:sp>
      <p:sp>
        <p:nvSpPr>
          <p:cNvPr id="14" name="所有试戴片每2周统一清洁消毒和除蛋白；保存后7 d以上未用者，再次使用前加强消毒；污染或掉落后重新清"/>
          <p:cNvSpPr txBox="1"/>
          <p:nvPr/>
        </p:nvSpPr>
        <p:spPr>
          <a:xfrm>
            <a:off x="622300" y="333417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所有试戴片每2周统一清洁消毒和除蛋白；保存后7 d以上未用者，再次使用前加强消毒；污染或掉落后</a:t>
            </a:r>
          </a:p>
          <a:p>
            <a:pPr>
              <a:lnSpc>
                <a:spcPts val="2120"/>
              </a:lnSpc>
              <a:spcBef>
                <a:spcPts val="0"/>
              </a:spcBef>
              <a:spcAft>
                <a:spcPts val="0"/>
              </a:spcAft>
            </a:pPr>
            <a:r>
              <a:rPr sz="1700" b="0" lang="zh-CN">
                <a:solidFill>
                  <a:srgbClr val="1E2E3B"/>
                </a:solidFill>
                <a:latin typeface="Microsoft YaHei"/>
                <a:ea typeface="Microsoft YaHei"/>
                <a:cs typeface="Microsoft YaHei"/>
              </a:rPr>
              <a:t>重新清洁消毒。</a:t>
            </a:r>
          </a:p>
        </p:txBody>
      </p:sp>
      <p:sp>
        <p:nvSpPr>
          <p:cNvPr id="15" name="2024 刊p244–245 / PDF4–5"/>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刊p244–245 / PDF4–5</a:t>
            </a:r>
          </a:p>
        </p:txBody>
      </p:sp>
      <p:sp>
        <p:nvSpPr>
          <p:cNvPr id="16" name="Rectangle 15"/>
          <p:cNvSpPr/>
          <p:nvPr/>
        </p:nvSpPr>
        <p:spPr>
          <a:xfrm>
            <a:off x="444500" y="4664286"/>
            <a:ext cx="11303000" cy="1660313"/>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记录与机构闭环"/>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记录与机构闭环</a:t>
            </a:r>
          </a:p>
        </p:txBody>
      </p:sp>
      <p:sp>
        <p:nvSpPr>
          <p:cNvPr id="19" name="试戴片/产品固定存放并标明参数、批号、消毒时间、开封及有效期；使用后独立放置、当日消毒，破损及时丢弃"/>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试戴片/产品固定存放并标明参数、批号、消毒时间、开封及有效期；使用后独立放置、当日消毒，破</a:t>
            </a:r>
          </a:p>
          <a:p>
            <a:pPr>
              <a:lnSpc>
                <a:spcPts val="2120"/>
              </a:lnSpc>
              <a:spcBef>
                <a:spcPts val="0"/>
              </a:spcBef>
              <a:spcAft>
                <a:spcPts val="0"/>
              </a:spcAft>
            </a:pPr>
            <a:r>
              <a:rPr sz="1700" b="0" lang="zh-CN">
                <a:solidFill>
                  <a:srgbClr val="1E2E3B"/>
                </a:solidFill>
                <a:latin typeface="Microsoft YaHei"/>
                <a:ea typeface="Microsoft YaHei"/>
                <a:cs typeface="Microsoft YaHei"/>
              </a:rPr>
              <a:t>损及时丢弃。</a:t>
            </a:r>
          </a:p>
        </p:txBody>
      </p:sp>
      <p:sp>
        <p:nvSpPr>
          <p:cNvPr id="20" name="2024 刊p244–245 / PDF4–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刊p244–245 / PDF4–5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试戴区域、配件与疑义"/>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试戴区域、配件与疑义</a:t>
            </a:r>
          </a:p>
        </p:txBody>
      </p:sp>
      <p:sp>
        <p:nvSpPr>
          <p:cNvPr id="4" name="06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07</a:t>
            </a:r>
          </a:p>
        </p:txBody>
      </p:sp>
      <p:sp>
        <p:nvSpPr>
          <p:cNvPr id="5" name="角膜塑形镜护理 · 2024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角膜塑形镜护理 · 2024 专家共识</a:t>
            </a:r>
          </a:p>
        </p:txBody>
      </p:sp>
      <p:sp>
        <p:nvSpPr>
          <p:cNvPr id="6" name="Rectangle 5"/>
          <p:cNvSpPr/>
          <p:nvPr/>
        </p:nvSpPr>
        <p:spPr>
          <a:xfrm>
            <a:off x="444500" y="1384300"/>
            <a:ext cx="11303000" cy="1391073"/>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391073"/>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试戴配件更换"/>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试戴配件更换</a:t>
            </a:r>
          </a:p>
        </p:txBody>
      </p:sp>
      <p:sp>
        <p:nvSpPr>
          <p:cNvPr id="9" name="试戴片储存镜盒建议每2～3个月更换；试戴吸棒建议每月更换；套盒用75%乙醇擦拭、风干。"/>
          <p:cNvSpPr txBox="1"/>
          <p:nvPr/>
        </p:nvSpPr>
        <p:spPr>
          <a:xfrm>
            <a:off x="622300" y="1828800"/>
            <a:ext cx="10858500" cy="33274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试戴片储存镜盒建议每2～3个月更换；试戴吸棒建议每月更换；套盒用75%乙醇擦拭、风干。</a:t>
            </a:r>
          </a:p>
        </p:txBody>
      </p:sp>
      <p:sp>
        <p:nvSpPr>
          <p:cNvPr id="10" name="2024 刊p245 / PDF5"/>
          <p:cNvSpPr txBox="1"/>
          <p:nvPr/>
        </p:nvSpPr>
        <p:spPr>
          <a:xfrm>
            <a:off x="622300" y="257217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刊p245 / PDF5</a:t>
            </a:r>
          </a:p>
        </p:txBody>
      </p:sp>
      <p:sp>
        <p:nvSpPr>
          <p:cNvPr id="11" name="Rectangle 10"/>
          <p:cNvSpPr/>
          <p:nvPr/>
        </p:nvSpPr>
        <p:spPr>
          <a:xfrm>
            <a:off x="444500" y="2889673"/>
            <a:ext cx="11303000" cy="1660313"/>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2889673"/>
            <a:ext cx="38100" cy="1660313"/>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试戴区与手卫生"/>
          <p:cNvSpPr txBox="1"/>
          <p:nvPr/>
        </p:nvSpPr>
        <p:spPr>
          <a:xfrm>
            <a:off x="622300" y="299127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试戴区与手卫生</a:t>
            </a:r>
          </a:p>
        </p:txBody>
      </p:sp>
      <p:sp>
        <p:nvSpPr>
          <p:cNvPr id="14" name="每日早晚紫外灯至少30 min，或循环风紫外空气消毒机至少1 h；物表/地面按原文500 mg/L含"/>
          <p:cNvSpPr txBox="1"/>
          <p:nvPr/>
        </p:nvSpPr>
        <p:spPr>
          <a:xfrm>
            <a:off x="622300" y="333417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每日早晚紫外灯至少30 min，或循环风紫外空气消毒机至少1 h；物表/地面按原文500 mg/L含氯消</a:t>
            </a:r>
          </a:p>
          <a:p>
            <a:pPr>
              <a:lnSpc>
                <a:spcPts val="2120"/>
              </a:lnSpc>
              <a:spcBef>
                <a:spcPts val="0"/>
              </a:spcBef>
              <a:spcAft>
                <a:spcPts val="0"/>
              </a:spcAft>
            </a:pPr>
            <a:r>
              <a:rPr sz="1700" b="0" lang="zh-CN">
                <a:solidFill>
                  <a:srgbClr val="1E2E3B"/>
                </a:solidFill>
                <a:latin typeface="Microsoft YaHei"/>
                <a:ea typeface="Microsoft YaHei"/>
                <a:cs typeface="Microsoft YaHei"/>
              </a:rPr>
              <a:t>毒；操作一片后重新手消毒。</a:t>
            </a:r>
          </a:p>
        </p:txBody>
      </p:sp>
      <p:sp>
        <p:nvSpPr>
          <p:cNvPr id="15" name="2024 刊p244 / PDF4"/>
          <p:cNvSpPr txBox="1"/>
          <p:nvPr/>
        </p:nvSpPr>
        <p:spPr>
          <a:xfrm>
            <a:off x="622300" y="434678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刊p244 / PDF4</a:t>
            </a:r>
          </a:p>
        </p:txBody>
      </p:sp>
      <p:sp>
        <p:nvSpPr>
          <p:cNvPr id="16" name="Rectangle 15"/>
          <p:cNvSpPr/>
          <p:nvPr/>
        </p:nvSpPr>
        <p:spPr>
          <a:xfrm>
            <a:off x="444500" y="4664286"/>
            <a:ext cx="11303000" cy="1660313"/>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664286"/>
            <a:ext cx="38100" cy="1660313"/>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原文疑义"/>
          <p:cNvSpPr txBox="1"/>
          <p:nvPr/>
        </p:nvSpPr>
        <p:spPr>
          <a:xfrm>
            <a:off x="622300" y="476588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原文疑义</a:t>
            </a:r>
          </a:p>
        </p:txBody>
      </p:sp>
      <p:sp>
        <p:nvSpPr>
          <p:cNvPr id="19" name="环境表面消毒段写“75%乙酸溶液”，而套盒护理段写“75%乙醇溶液”。保留疑义，不擅自更正，也不把前"/>
          <p:cNvSpPr txBox="1"/>
          <p:nvPr/>
        </p:nvSpPr>
        <p:spPr>
          <a:xfrm>
            <a:off x="622300" y="510878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环境表面消毒段写“75%乙酸溶液”，而套盒护理段写“75%乙醇溶液”。保留疑义，不擅自更正，</a:t>
            </a:r>
          </a:p>
          <a:p>
            <a:pPr>
              <a:lnSpc>
                <a:spcPts val="2120"/>
              </a:lnSpc>
              <a:spcBef>
                <a:spcPts val="0"/>
              </a:spcBef>
              <a:spcAft>
                <a:spcPts val="0"/>
              </a:spcAft>
            </a:pPr>
            <a:r>
              <a:rPr sz="1700" b="0" lang="zh-CN">
                <a:solidFill>
                  <a:srgbClr val="1E2E3B"/>
                </a:solidFill>
                <a:latin typeface="Microsoft YaHei"/>
                <a:ea typeface="Microsoft YaHei"/>
                <a:cs typeface="Microsoft YaHei"/>
              </a:rPr>
              <a:t>也不把前者作为临床操作指令。</a:t>
            </a:r>
          </a:p>
        </p:txBody>
      </p:sp>
      <p:sp>
        <p:nvSpPr>
          <p:cNvPr id="20" name="2024 刊p244–245 / PDF4–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2024 刊p244–245 / PDF4–5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角膜塑形镜护理"/>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角膜塑形镜护理</a:t>
            </a:r>
          </a:p>
        </p:txBody>
      </p:sp>
      <p:sp>
        <p:nvSpPr>
          <p:cNvPr id="4" name="判断条件与下一步 · 按本篇原文整理 · 2024"/>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2024</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戴镜前检查"/>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戴镜前检查</a:t>
            </a:r>
          </a:p>
        </p:txBody>
      </p:sp>
      <p:sp>
        <p:nvSpPr>
          <p:cNvPr id="7" name="眼红/不适？是 → 停戴并专业检查；无 → 核对镜片完整和清洁。"/>
          <p:cNvSpPr txBox="1"/>
          <p:nvPr/>
        </p:nvSpPr>
        <p:spPr>
          <a:xfrm>
            <a:off x="520700" y="1778000"/>
            <a:ext cx="5232400" cy="27051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眼红/不适？是 → 停戴并专业检查；无 → 核对镜片完整和清洁。</a:t>
            </a:r>
          </a:p>
        </p:txBody>
      </p:sp>
      <p:sp>
        <p:nvSpPr>
          <p:cNvPr id="8" name="2024 刊p242、245"/>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刊p242、245</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镜片可否继续使用？"/>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镜片可否继续使用？</a:t>
            </a:r>
          </a:p>
        </p:txBody>
      </p:sp>
      <p:sp>
        <p:nvSpPr>
          <p:cNvPr id="12" name="形变/缺损/裂纹 → 立即更换；沉淀4级 → 不适合戴，复查并换片。"/>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形变/缺损/裂纹 → 立即更换；沉淀4级 → 不适合戴，复查并换</a:t>
            </a:r>
          </a:p>
          <a:p>
            <a:pPr>
              <a:lnSpc>
                <a:spcPts val="1630"/>
              </a:lnSpc>
              <a:spcBef>
                <a:spcPts val="0"/>
              </a:spcBef>
              <a:spcAft>
                <a:spcPts val="0"/>
              </a:spcAft>
            </a:pPr>
            <a:r>
              <a:rPr sz="1350" b="0" lang="zh-CN">
                <a:solidFill>
                  <a:srgbClr val="1E2E3B"/>
                </a:solidFill>
                <a:latin typeface="Microsoft YaHei"/>
                <a:ea typeface="Microsoft YaHei"/>
                <a:cs typeface="Microsoft YaHei"/>
              </a:rPr>
              <a:t>片。</a:t>
            </a:r>
          </a:p>
        </p:txBody>
      </p:sp>
      <p:sp>
        <p:nvSpPr>
          <p:cNvPr id="13" name="2024 刊p243"/>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日常清洗与消毒"/>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日常清洗与消毒</a:t>
            </a:r>
          </a:p>
        </p:txBody>
      </p:sp>
      <p:sp>
        <p:nvSpPr>
          <p:cNvPr id="17" name="洗手擦干 → 适度揉搓、彻底冲洗 → 按说明书足时消毒；双氧水必须中和。"/>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洗手擦干 → 适度揉搓、彻底冲洗 → 按说明书足时消毒；双氧水</a:t>
            </a:r>
          </a:p>
          <a:p>
            <a:pPr>
              <a:lnSpc>
                <a:spcPts val="1630"/>
              </a:lnSpc>
              <a:spcBef>
                <a:spcPts val="0"/>
              </a:spcBef>
              <a:spcAft>
                <a:spcPts val="0"/>
              </a:spcAft>
            </a:pPr>
            <a:r>
              <a:rPr sz="1350" b="0" lang="zh-CN">
                <a:solidFill>
                  <a:srgbClr val="1E2E3B"/>
                </a:solidFill>
                <a:latin typeface="Microsoft YaHei"/>
                <a:ea typeface="Microsoft YaHei"/>
                <a:cs typeface="Microsoft YaHei"/>
              </a:rPr>
              <a:t>必须中和。</a:t>
            </a:r>
          </a:p>
        </p:txBody>
      </p:sp>
      <p:sp>
        <p:nvSpPr>
          <p:cNvPr id="18" name="2024 刊p242–243、245"/>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刊p242–243、245</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是否需强化护理？"/>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是否需强化护理？</a:t>
            </a:r>
          </a:p>
        </p:txBody>
      </p:sp>
      <p:sp>
        <p:nvSpPr>
          <p:cNvPr id="22" name="每1～2周；2级加强清洁，3级每周强效除蛋白；试戴片每2周统一处理。"/>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每1～2周；2级加强清洁，3级每周强效除蛋白；试戴片每2周统</a:t>
            </a:r>
          </a:p>
          <a:p>
            <a:pPr>
              <a:lnSpc>
                <a:spcPts val="1630"/>
              </a:lnSpc>
              <a:spcBef>
                <a:spcPts val="0"/>
              </a:spcBef>
              <a:spcAft>
                <a:spcPts val="0"/>
              </a:spcAft>
            </a:pPr>
            <a:r>
              <a:rPr sz="1350" b="0" lang="zh-CN">
                <a:solidFill>
                  <a:srgbClr val="1E2E3B"/>
                </a:solidFill>
                <a:latin typeface="Microsoft YaHei"/>
                <a:ea typeface="Microsoft YaHei"/>
                <a:cs typeface="Microsoft YaHei"/>
              </a:rPr>
              <a:t>一处理。</a:t>
            </a:r>
          </a:p>
        </p:txBody>
      </p:sp>
      <p:sp>
        <p:nvSpPr>
          <p:cNvPr id="23" name="2024 刊p243–245"/>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刊p243–245</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停戴或复用"/>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停戴或复用</a:t>
            </a:r>
          </a:p>
        </p:txBody>
      </p:sp>
      <p:sp>
        <p:nvSpPr>
          <p:cNvPr id="27" name="长期如1周及以上干存；复戴足时消毒。双氧水后≥24 h或试戴片7 d以上未用 → 再消毒。"/>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长期如1周及以上干存；复戴足时消毒。双氧水后≥24 h或试戴片</a:t>
            </a:r>
          </a:p>
          <a:p>
            <a:pPr>
              <a:lnSpc>
                <a:spcPts val="1630"/>
              </a:lnSpc>
              <a:spcBef>
                <a:spcPts val="0"/>
              </a:spcBef>
              <a:spcAft>
                <a:spcPts val="0"/>
              </a:spcAft>
            </a:pPr>
            <a:r>
              <a:rPr sz="1350" b="0" lang="zh-CN">
                <a:solidFill>
                  <a:srgbClr val="1E2E3B"/>
                </a:solidFill>
                <a:latin typeface="Microsoft YaHei"/>
                <a:ea typeface="Microsoft YaHei"/>
                <a:cs typeface="Microsoft YaHei"/>
              </a:rPr>
              <a:t>7 d以上未用 → 再消毒。</a:t>
            </a:r>
          </a:p>
        </p:txBody>
      </p:sp>
      <p:sp>
        <p:nvSpPr>
          <p:cNvPr id="28" name="2024 刊p243–245"/>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刊p243–245</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复戴与闭环"/>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复戴与闭环</a:t>
            </a:r>
          </a:p>
        </p:txBody>
      </p:sp>
      <p:sp>
        <p:nvSpPr>
          <p:cNvPr id="32" name="确认洁净完整、护理配件消毒；出现不适即停戴；机构做好参数/批号/消毒/有效期记录。"/>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确认洁净完整、护理配件消毒；出现不适即停戴；机构做好参数/</a:t>
            </a:r>
          </a:p>
          <a:p>
            <a:pPr>
              <a:lnSpc>
                <a:spcPts val="1630"/>
              </a:lnSpc>
              <a:spcBef>
                <a:spcPts val="0"/>
              </a:spcBef>
              <a:spcAft>
                <a:spcPts val="0"/>
              </a:spcAft>
            </a:pPr>
            <a:r>
              <a:rPr sz="1350" b="0" lang="zh-CN">
                <a:solidFill>
                  <a:srgbClr val="1E2E3B"/>
                </a:solidFill>
                <a:latin typeface="Microsoft YaHei"/>
                <a:ea typeface="Microsoft YaHei"/>
                <a:cs typeface="Microsoft YaHei"/>
              </a:rPr>
              <a:t>批号/消毒/有效期记录。</a:t>
            </a:r>
          </a:p>
        </p:txBody>
      </p:sp>
      <p:sp>
        <p:nvSpPr>
          <p:cNvPr id="33" name="2024 刊p243–245"/>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2024 刊p243–245</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角膜塑形镜护理</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