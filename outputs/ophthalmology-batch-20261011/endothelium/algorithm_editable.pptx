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endothelium-03 特殊眼前节：周边基质混浊不影响光学或刮除上皮下组织后基质正常可考虑；前粘连&gt;全周1/3、虹膜缺损/萎缩/大瞳等慎重，先改善异常。</a:t>
            </a:r>
          </a:p>
          <a:p>
            <a:r>
              <a:t>来源：2024 刊p114 / PDF2；类别：风险评估；推荐等级：原文未明确。</a:t>
            </a:r>
          </a:p>
          <a:p>
            <a:r>
              <a:t>原文锚点：人工晶状体植入术后再行角膜内皮移植术，不建议对晶状体‑虹膜隔不完整者行角膜内皮移植术。3.虹膜异常，如前粘连范围超过全周1/3、虹膜角膜内皮综合征、虹膜缺损、虹膜萎缩和瞳孔扩大等，是行角膜内皮移植术的主要障碍，选择角膜内皮移植术应慎重。程度较轻或术前、术中可有效改</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C3F8固定；气少/吸收快增脱离，过多致瞳孔阻滞。复杂DSEK可黏弹剂，DMEK不能黏弹剂固定。</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a:p/>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阻滞性青光眼：推荐6:00周边虹膜切除防阻滞；术后早期2~6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术后检查：第1天气体填大部前房但坐位避开6:00虹膜切除口；可疑脱离及时前节OCT；透明后尽早内皮计数并定期复查。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内皮移植术"/>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角膜内皮移植术</a:t>
            </a:r>
          </a:p>
        </p:txBody>
      </p:sp>
      <p:sp>
        <p:nvSpPr>
          <p:cNvPr id="4" name="判断条件与下一步 · 按本篇原文整理 · 2024"/>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2024</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内皮失代偿且基质相对正常？"/>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是否内皮失代偿且基质相对正常？</a:t>
            </a:r>
          </a:p>
        </p:txBody>
      </p:sp>
      <p:sp>
        <p:nvSpPr>
          <p:cNvPr id="7" name="是 → 排禁忌；视轴瘢痕/活动炎症/正常内皮等 → 不进入本常规路径。"/>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是 → 排禁忌；视轴瘢痕/活动炎症/正常内皮等 → 不进</a:t>
            </a:r>
          </a:p>
          <a:p>
            <a:pPr>
              <a:lnSpc>
                <a:spcPts val="1630"/>
              </a:lnSpc>
              <a:spcBef>
                <a:spcPts val="0"/>
              </a:spcBef>
              <a:spcAft>
                <a:spcPts val="0"/>
              </a:spcAft>
            </a:pPr>
            <a:r>
              <a:rPr sz="1340" b="0" lang="zh-CN">
                <a:solidFill>
                  <a:srgbClr val="1E2E3B"/>
                </a:solidFill>
                <a:latin typeface="Microsoft YaHei"/>
                <a:ea typeface="Microsoft YaHei"/>
                <a:cs typeface="Microsoft YaHei"/>
              </a:rPr>
              <a:t>入本常规路径。</a:t>
            </a:r>
          </a:p>
        </p:txBody>
      </p:sp>
      <p:sp>
        <p:nvSpPr>
          <p:cNvPr id="8" name="2024 刊p114 / PDF2"/>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 / PDF2</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控炎控压与解剖修复"/>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控炎控压与解剖修复</a:t>
            </a:r>
          </a:p>
        </p:txBody>
      </p:sp>
      <p:sp>
        <p:nvSpPr>
          <p:cNvPr id="12" name="炎症控制≥3个月、青光眼控压；虹膜隔/前粘连等需处理后评估。"/>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炎症控制≥3个月、青光眼控压；虹膜隔/前粘连等需处</a:t>
            </a:r>
          </a:p>
          <a:p>
            <a:pPr>
              <a:lnSpc>
                <a:spcPts val="1630"/>
              </a:lnSpc>
              <a:spcBef>
                <a:spcPts val="0"/>
              </a:spcBef>
              <a:spcAft>
                <a:spcPts val="0"/>
              </a:spcAft>
            </a:pPr>
            <a:r>
              <a:rPr sz="1340" b="0" lang="zh-CN">
                <a:solidFill>
                  <a:srgbClr val="1E2E3B"/>
                </a:solidFill>
                <a:latin typeface="Microsoft YaHei"/>
                <a:ea typeface="Microsoft YaHei"/>
                <a:cs typeface="Microsoft YaHei"/>
              </a:rPr>
              <a:t>理后评估。</a:t>
            </a:r>
          </a:p>
        </p:txBody>
      </p:sp>
      <p:sp>
        <p:nvSpPr>
          <p:cNvPr id="13" name="2024 刊p114–116 / PDF2–4"/>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刊p114–116 / PDF2–4</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术式选择"/>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术式选择</a:t>
            </a:r>
          </a:p>
        </p:txBody>
      </p:sp>
      <p:sp>
        <p:nvSpPr>
          <p:cNvPr id="17" name="眼条件好 → 倾向DMEK；复杂前节、后囊/阀/儿童等 → 倾向DSEK。"/>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眼条件好 → 倾向DMEK；复杂前节、后囊/阀/儿童等 →</a:t>
            </a:r>
          </a:p>
          <a:p>
            <a:pPr>
              <a:lnSpc>
                <a:spcPts val="1630"/>
              </a:lnSpc>
              <a:spcBef>
                <a:spcPts val="0"/>
              </a:spcBef>
              <a:spcAft>
                <a:spcPts val="0"/>
              </a:spcAft>
            </a:pPr>
            <a:r>
              <a:rPr sz="1340" b="0" lang="zh-CN">
                <a:solidFill>
                  <a:srgbClr val="1E2E3B"/>
                </a:solidFill>
                <a:latin typeface="Microsoft YaHei"/>
                <a:ea typeface="Microsoft YaHei"/>
                <a:cs typeface="Microsoft YaHei"/>
              </a:rPr>
              <a:t>倾向DSEK。</a:t>
            </a:r>
          </a:p>
        </p:txBody>
      </p:sp>
      <p:sp>
        <p:nvSpPr>
          <p:cNvPr id="18" name="2024 刊p115 / PDF3"/>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 / PDF3</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供体、方向与固定"/>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供体、方向与固定</a:t>
            </a:r>
          </a:p>
        </p:txBody>
      </p:sp>
      <p:sp>
        <p:nvSpPr>
          <p:cNvPr id="22" name="内皮≥2 500、直径7.75~8.00 mm；辨方向、非接触、周边虹膜切除及合适气体量。"/>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内皮≥2 500、直径7.75~8.00 mm；辨方向、非接触、</a:t>
            </a:r>
          </a:p>
          <a:p>
            <a:pPr>
              <a:lnSpc>
                <a:spcPts val="1630"/>
              </a:lnSpc>
              <a:spcBef>
                <a:spcPts val="0"/>
              </a:spcBef>
              <a:spcAft>
                <a:spcPts val="0"/>
              </a:spcAft>
            </a:pPr>
            <a:r>
              <a:rPr sz="1340" b="0" lang="zh-CN">
                <a:solidFill>
                  <a:srgbClr val="1E2E3B"/>
                </a:solidFill>
                <a:latin typeface="Microsoft YaHei"/>
                <a:ea typeface="Microsoft YaHei"/>
                <a:cs typeface="Microsoft YaHei"/>
              </a:rPr>
              <a:t>周边虹膜切除及合适气体量。</a:t>
            </a:r>
          </a:p>
        </p:txBody>
      </p:sp>
      <p:sp>
        <p:nvSpPr>
          <p:cNvPr id="23" name="2024 刊p115–116 / PDF3–4"/>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刊p115–116 / PDF3–4</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早期眼压和脱离？"/>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早期眼压和脱离？</a:t>
            </a:r>
          </a:p>
        </p:txBody>
      </p:sp>
      <p:sp>
        <p:nvSpPr>
          <p:cNvPr id="27" name="2~6 h密切眼压，阻滞必要释气；OCT见大范围脱离：DSEK&gt;1/3、DMEK&gt;1/4 → 再注气"/>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2~6 h密切眼压，阻滞必要释气；OCT见大范围脱离：</a:t>
            </a:r>
          </a:p>
          <a:p>
            <a:pPr>
              <a:lnSpc>
                <a:spcPts val="1630"/>
              </a:lnSpc>
              <a:spcBef>
                <a:spcPts val="0"/>
              </a:spcBef>
              <a:spcAft>
                <a:spcPts val="0"/>
              </a:spcAft>
            </a:pPr>
            <a:r>
              <a:rPr sz="1340" b="0" lang="zh-CN">
                <a:solidFill>
                  <a:srgbClr val="1E2E3B"/>
                </a:solidFill>
                <a:latin typeface="Microsoft YaHei"/>
                <a:ea typeface="Microsoft YaHei"/>
                <a:cs typeface="Microsoft YaHei"/>
              </a:rPr>
              <a:t>DSEK&gt;1/3、DMEK&gt;1/4 → 再注气。</a:t>
            </a:r>
          </a:p>
        </p:txBody>
      </p:sp>
      <p:sp>
        <p:nvSpPr>
          <p:cNvPr id="28" name="2024 刊p117 / PDF5"/>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刊p117 / PDF5</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观察、再注气与长期管理"/>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观察、再注气与长期管理</a:t>
            </a:r>
          </a:p>
        </p:txBody>
      </p:sp>
      <p:sp>
        <p:nvSpPr>
          <p:cNvPr id="32" name="&lt;1/4暂观；扩大/水肿不退再注气。中间阈值未明确；2周不用非接触测压，透明后内皮计数。"/>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&lt;1/4暂观；扩大/水肿不退再注气。中间阈值未明确；2</a:t>
            </a:r>
          </a:p>
          <a:p>
            <a:pPr>
              <a:lnSpc>
                <a:spcPts val="1630"/>
              </a:lnSpc>
              <a:spcBef>
                <a:spcPts val="0"/>
              </a:spcBef>
              <a:spcAft>
                <a:spcPts val="0"/>
              </a:spcAft>
            </a:pPr>
            <a:r>
              <a:rPr sz="1340" b="0" lang="zh-CN">
                <a:solidFill>
                  <a:srgbClr val="1E2E3B"/>
                </a:solidFill>
                <a:latin typeface="Microsoft YaHei"/>
                <a:ea typeface="Microsoft YaHei"/>
                <a:cs typeface="Microsoft YaHei"/>
              </a:rPr>
              <a:t>周不用非接触测压，透明后内皮计数。</a:t>
            </a:r>
          </a:p>
        </p:txBody>
      </p:sp>
      <p:sp>
        <p:nvSpPr>
          <p:cNvPr id="33" name="2024 刊p114、117 / PDF2、5"/>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刊p114、117 / PDF2、5</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