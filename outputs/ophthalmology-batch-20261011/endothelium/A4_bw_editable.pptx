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C3F8固定；气少/吸收快增脱离，过多致瞳孔阻滞。复杂DSEK可黏弹剂，DMEK不能黏弹剂固定。</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阻滞性青光眼：推荐6:00周边虹膜切除防阻滞；术后早期2~6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术后检查：第1天气体填大部前房但坐位避开6:00虹膜切除口；可疑脱离及时前节OCT；透明后尽早内皮计数并定期复查。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4" name="2024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应证/禁忌"/>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适应证/禁忌</a:t>
            </a:r>
          </a:p>
        </p:txBody>
      </p:sp>
      <p:sp>
        <p:nvSpPr>
          <p:cNvPr id="7" name="内皮失代偿+基质相对正常；视轴瘢痕/活动炎症禁忌，低眼压相对禁忌；不完整晶状体-虹膜隔先重建。"/>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000000"/>
                </a:solidFill>
                <a:latin typeface="Microsoft YaHei"/>
                <a:ea typeface="Microsoft YaHei"/>
                <a:cs typeface="Microsoft YaHei"/>
              </a:rPr>
              <a:t>压相对禁忌；不完整晶状体-虹膜隔先重建。</a:t>
            </a:r>
          </a:p>
        </p:txBody>
      </p:sp>
      <p:sp>
        <p:nvSpPr>
          <p:cNvPr id="8" name="2024 刊p114"/>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式选择"/>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术式选择</a:t>
            </a:r>
          </a:p>
        </p:txBody>
      </p:sp>
      <p:sp>
        <p:nvSpPr>
          <p:cNvPr id="11" name="眼条件好倾向DMEK；前房/虹膜异常、后囊不完整、引流阀、可见度差或儿童倾向DSEK。炎症控制至少3"/>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000000"/>
                </a:solidFill>
                <a:latin typeface="Microsoft YaHei"/>
                <a:ea typeface="Microsoft YaHei"/>
                <a:cs typeface="Microsoft YaHei"/>
              </a:rPr>
              <a:t>阀、可见度差或儿童倾向DSEK。炎症控制至少3月后考虑。</a:t>
            </a:r>
          </a:p>
        </p:txBody>
      </p:sp>
      <p:sp>
        <p:nvSpPr>
          <p:cNvPr id="12" name="2024 刊p11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供体/植片"/>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供体/植片</a:t>
            </a:r>
          </a:p>
        </p:txBody>
      </p:sp>
      <p:sp>
        <p:nvSpPr>
          <p:cNvPr id="15" name="内皮≥2 500个/mm²；DSEK供体≥10岁，DMEK≥50岁（资深可放宽）。直径7.75~8."/>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000000"/>
                </a:solidFill>
                <a:latin typeface="Microsoft YaHei"/>
                <a:ea typeface="Microsoft YaHei"/>
                <a:cs typeface="Microsoft YaHei"/>
              </a:rPr>
              <a:t>深可放宽）。直径7.75~8.00 mm；DSEK厚100~150 μm。</a:t>
            </a:r>
          </a:p>
        </p:txBody>
      </p:sp>
      <p:sp>
        <p:nvSpPr>
          <p:cNvPr id="16" name="2024 刊p115–116"/>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刊p115–116</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与预防"/>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固定与预防</a:t>
            </a:r>
          </a:p>
        </p:txBody>
      </p:sp>
      <p:sp>
        <p:nvSpPr>
          <p:cNvPr id="19" name="辨方向、减少接触；空气或10%~14% C3F8固定；周边虹膜切除防阻滞。DMEK不能黏弹剂固定。"/>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000000"/>
                </a:solidFill>
                <a:latin typeface="Microsoft YaHei"/>
                <a:ea typeface="Microsoft YaHei"/>
                <a:cs typeface="Microsoft YaHei"/>
              </a:rPr>
              <a:t>切除防阻滞。DMEK不能黏弹剂固定。</a:t>
            </a:r>
          </a:p>
        </p:txBody>
      </p:sp>
      <p:sp>
        <p:nvSpPr>
          <p:cNvPr id="20" name="2024 刊p116"/>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刊p116</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内皮移植术"/>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24" name="2024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适应证/禁忌"/>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适应证/禁忌</a:t>
            </a:r>
          </a:p>
        </p:txBody>
      </p:sp>
      <p:sp>
        <p:nvSpPr>
          <p:cNvPr id="27" name="内皮失代偿+基质相对正常；视轴瘢痕/活动炎症禁忌，低眼压相对禁忌；不完整晶状体-虹膜隔先重建。"/>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000000"/>
                </a:solidFill>
                <a:latin typeface="Microsoft YaHei"/>
                <a:ea typeface="Microsoft YaHei"/>
                <a:cs typeface="Microsoft YaHei"/>
              </a:rPr>
              <a:t>压相对禁忌；不完整晶状体-虹膜隔先重建。</a:t>
            </a:r>
          </a:p>
        </p:txBody>
      </p:sp>
      <p:sp>
        <p:nvSpPr>
          <p:cNvPr id="28" name="2024 刊p114"/>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式选择"/>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术式选择</a:t>
            </a:r>
          </a:p>
        </p:txBody>
      </p:sp>
      <p:sp>
        <p:nvSpPr>
          <p:cNvPr id="31" name="眼条件好倾向DMEK；前房/虹膜异常、后囊不完整、引流阀、可见度差或儿童倾向DSEK。炎症控制至少3"/>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000000"/>
                </a:solidFill>
                <a:latin typeface="Microsoft YaHei"/>
                <a:ea typeface="Microsoft YaHei"/>
                <a:cs typeface="Microsoft YaHei"/>
              </a:rPr>
              <a:t>阀、可见度差或儿童倾向DSEK。炎症控制至少3月后考虑。</a:t>
            </a:r>
          </a:p>
        </p:txBody>
      </p:sp>
      <p:sp>
        <p:nvSpPr>
          <p:cNvPr id="32" name="2024 刊p11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供体/植片"/>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供体/植片</a:t>
            </a:r>
          </a:p>
        </p:txBody>
      </p:sp>
      <p:sp>
        <p:nvSpPr>
          <p:cNvPr id="35" name="内皮≥2 500个/mm²；DSEK供体≥10岁，DMEK≥50岁（资深可放宽）。直径7.75~8."/>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000000"/>
                </a:solidFill>
                <a:latin typeface="Microsoft YaHei"/>
                <a:ea typeface="Microsoft YaHei"/>
                <a:cs typeface="Microsoft YaHei"/>
              </a:rPr>
              <a:t>深可放宽）。直径7.75~8.00 mm；DSEK厚100~150 μm。</a:t>
            </a:r>
          </a:p>
        </p:txBody>
      </p:sp>
      <p:sp>
        <p:nvSpPr>
          <p:cNvPr id="36" name="2024 刊p115–116"/>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刊p115–116</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固定与预防"/>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固定与预防</a:t>
            </a:r>
          </a:p>
        </p:txBody>
      </p:sp>
      <p:sp>
        <p:nvSpPr>
          <p:cNvPr id="39" name="辨方向、减少接触；空气或10%~14% C3F8固定；周边虹膜切除防阻滞。DMEK不能黏弹剂固定。"/>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000000"/>
                </a:solidFill>
                <a:latin typeface="Microsoft YaHei"/>
                <a:ea typeface="Microsoft YaHei"/>
                <a:cs typeface="Microsoft YaHei"/>
              </a:rPr>
              <a:t>切除防阻滞。DMEK不能黏弹剂固定。</a:t>
            </a:r>
          </a:p>
        </p:txBody>
      </p:sp>
      <p:sp>
        <p:nvSpPr>
          <p:cNvPr id="40" name="2024 刊p116"/>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刊p116</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内皮移植术"/>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44" name="2024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适应证/禁忌"/>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适应证/禁忌</a:t>
            </a:r>
          </a:p>
        </p:txBody>
      </p:sp>
      <p:sp>
        <p:nvSpPr>
          <p:cNvPr id="47" name="内皮失代偿+基质相对正常；视轴瘢痕/活动炎症禁忌，低眼压相对禁忌；不完整晶状体-虹膜隔先重建。"/>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000000"/>
                </a:solidFill>
                <a:latin typeface="Microsoft YaHei"/>
                <a:ea typeface="Microsoft YaHei"/>
                <a:cs typeface="Microsoft YaHei"/>
              </a:rPr>
              <a:t>压相对禁忌；不完整晶状体-虹膜隔先重建。</a:t>
            </a:r>
          </a:p>
        </p:txBody>
      </p:sp>
      <p:sp>
        <p:nvSpPr>
          <p:cNvPr id="48" name="2024 刊p114"/>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式选择"/>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术式选择</a:t>
            </a:r>
          </a:p>
        </p:txBody>
      </p:sp>
      <p:sp>
        <p:nvSpPr>
          <p:cNvPr id="51" name="眼条件好倾向DMEK；前房/虹膜异常、后囊不完整、引流阀、可见度差或儿童倾向DSEK。炎症控制至少3"/>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000000"/>
                </a:solidFill>
                <a:latin typeface="Microsoft YaHei"/>
                <a:ea typeface="Microsoft YaHei"/>
                <a:cs typeface="Microsoft YaHei"/>
              </a:rPr>
              <a:t>阀、可见度差或儿童倾向DSEK。炎症控制至少3月后考虑。</a:t>
            </a:r>
          </a:p>
        </p:txBody>
      </p:sp>
      <p:sp>
        <p:nvSpPr>
          <p:cNvPr id="52" name="2024 刊p11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供体/植片"/>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供体/植片</a:t>
            </a:r>
          </a:p>
        </p:txBody>
      </p:sp>
      <p:sp>
        <p:nvSpPr>
          <p:cNvPr id="55" name="内皮≥2 500个/mm²；DSEK供体≥10岁，DMEK≥50岁（资深可放宽）。直径7.75~8."/>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000000"/>
                </a:solidFill>
                <a:latin typeface="Microsoft YaHei"/>
                <a:ea typeface="Microsoft YaHei"/>
                <a:cs typeface="Microsoft YaHei"/>
              </a:rPr>
              <a:t>深可放宽）。直径7.75~8.00 mm；DSEK厚100~150 μm。</a:t>
            </a:r>
          </a:p>
        </p:txBody>
      </p:sp>
      <p:sp>
        <p:nvSpPr>
          <p:cNvPr id="56" name="2024 刊p115–116"/>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刊p115–116</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固定与预防"/>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固定与预防</a:t>
            </a:r>
          </a:p>
        </p:txBody>
      </p:sp>
      <p:sp>
        <p:nvSpPr>
          <p:cNvPr id="59" name="辨方向、减少接触；空气或10%~14% C3F8固定；周边虹膜切除防阻滞。DMEK不能黏弹剂固定。"/>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000000"/>
                </a:solidFill>
                <a:latin typeface="Microsoft YaHei"/>
                <a:ea typeface="Microsoft YaHei"/>
                <a:cs typeface="Microsoft YaHei"/>
              </a:rPr>
              <a:t>切除防阻滞。DMEK不能黏弹剂固定。</a:t>
            </a:r>
          </a:p>
        </p:txBody>
      </p:sp>
      <p:sp>
        <p:nvSpPr>
          <p:cNvPr id="60" name="2024 刊p116"/>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刊p116</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内皮移植术"/>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64" name="2024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适应证/禁忌"/>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适应证/禁忌</a:t>
            </a:r>
          </a:p>
        </p:txBody>
      </p:sp>
      <p:sp>
        <p:nvSpPr>
          <p:cNvPr id="67" name="内皮失代偿+基质相对正常；视轴瘢痕/活动炎症禁忌，低眼压相对禁忌；不完整晶状体-虹膜隔先重建。"/>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000000"/>
                </a:solidFill>
                <a:latin typeface="Microsoft YaHei"/>
                <a:ea typeface="Microsoft YaHei"/>
                <a:cs typeface="Microsoft YaHei"/>
              </a:rPr>
              <a:t>压相对禁忌；不完整晶状体-虹膜隔先重建。</a:t>
            </a:r>
          </a:p>
        </p:txBody>
      </p:sp>
      <p:sp>
        <p:nvSpPr>
          <p:cNvPr id="68" name="2024 刊p114"/>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式选择"/>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术式选择</a:t>
            </a:r>
          </a:p>
        </p:txBody>
      </p:sp>
      <p:sp>
        <p:nvSpPr>
          <p:cNvPr id="71" name="眼条件好倾向DMEK；前房/虹膜异常、后囊不完整、引流阀、可见度差或儿童倾向DSEK。炎症控制至少3"/>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000000"/>
                </a:solidFill>
                <a:latin typeface="Microsoft YaHei"/>
                <a:ea typeface="Microsoft YaHei"/>
                <a:cs typeface="Microsoft YaHei"/>
              </a:rPr>
              <a:t>阀、可见度差或儿童倾向DSEK。炎症控制至少3月后考虑。</a:t>
            </a:r>
          </a:p>
        </p:txBody>
      </p:sp>
      <p:sp>
        <p:nvSpPr>
          <p:cNvPr id="72" name="2024 刊p11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供体/植片"/>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供体/植片</a:t>
            </a:r>
          </a:p>
        </p:txBody>
      </p:sp>
      <p:sp>
        <p:nvSpPr>
          <p:cNvPr id="75" name="内皮≥2 500个/mm²；DSEK供体≥10岁，DMEK≥50岁（资深可放宽）。直径7.75~8."/>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000000"/>
                </a:solidFill>
                <a:latin typeface="Microsoft YaHei"/>
                <a:ea typeface="Microsoft YaHei"/>
                <a:cs typeface="Microsoft YaHei"/>
              </a:rPr>
              <a:t>深可放宽）。直径7.75~8.00 mm；DSEK厚100~150 μm。</a:t>
            </a:r>
          </a:p>
        </p:txBody>
      </p:sp>
      <p:sp>
        <p:nvSpPr>
          <p:cNvPr id="76" name="2024 刊p115–116"/>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刊p115–116</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固定与预防"/>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固定与预防</a:t>
            </a:r>
          </a:p>
        </p:txBody>
      </p:sp>
      <p:sp>
        <p:nvSpPr>
          <p:cNvPr id="79" name="辨方向、减少接触；空气或10%~14% C3F8固定；周边虹膜切除防阻滞。DMEK不能黏弹剂固定。"/>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辨方向、减少接触；空气或10%~14% C3F8固定；周边虹膜</a:t>
            </a:r>
          </a:p>
          <a:p>
            <a:pPr>
              <a:lnSpc>
                <a:spcPts val="1160"/>
              </a:lnSpc>
              <a:spcBef>
                <a:spcPts val="0"/>
              </a:spcBef>
              <a:spcAft>
                <a:spcPts val="0"/>
              </a:spcAft>
            </a:pPr>
            <a:r>
              <a:rPr sz="950" b="0" lang="zh-CN">
                <a:solidFill>
                  <a:srgbClr val="000000"/>
                </a:solidFill>
                <a:latin typeface="Microsoft YaHei"/>
                <a:ea typeface="Microsoft YaHei"/>
                <a:cs typeface="Microsoft YaHei"/>
              </a:rPr>
              <a:t>切除防阻滞。DMEK不能黏弹剂固定。</a:t>
            </a:r>
          </a:p>
        </p:txBody>
      </p:sp>
      <p:sp>
        <p:nvSpPr>
          <p:cNvPr id="80" name="2024 刊p116"/>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刊p116</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4" name="2024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脱离处理"/>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脱离处理</a:t>
            </a:r>
          </a:p>
        </p:txBody>
      </p:sp>
      <p:sp>
        <p:nvSpPr>
          <p:cNvPr id="7" name="DSEK&gt;1/3或DMEK&gt;1/4面积再注气；&lt;1/4可观察，扩大/水肿不退再注。DSEK中间区间及"/>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000000"/>
                </a:solidFill>
                <a:latin typeface="Microsoft YaHei"/>
                <a:ea typeface="Microsoft YaHei"/>
                <a:cs typeface="Microsoft YaHei"/>
              </a:rPr>
              <a:t>肿不退再注。DSEK中间区间及边界原文未明确。</a:t>
            </a:r>
          </a:p>
        </p:txBody>
      </p:sp>
      <p:sp>
        <p:nvSpPr>
          <p:cNvPr id="8" name="2024 刊p117"/>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压与体位"/>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眼压与体位</a:t>
            </a:r>
          </a:p>
        </p:txBody>
      </p:sp>
      <p:sp>
        <p:nvSpPr>
          <p:cNvPr id="11" name="术后2~6 h密切测压，阻滞必要释气；仰卧面朝上、限活动30~60 min；避免揉眼挤压。2周内不用"/>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000000"/>
                </a:solidFill>
                <a:latin typeface="Microsoft YaHei"/>
                <a:ea typeface="Microsoft YaHei"/>
                <a:cs typeface="Microsoft YaHei"/>
              </a:rPr>
              <a:t>30~60 min；避免揉眼挤压。2周内不用非接触测压。</a:t>
            </a:r>
          </a:p>
        </p:txBody>
      </p:sp>
      <p:sp>
        <p:nvSpPr>
          <p:cNvPr id="12" name="2024 刊p114、117"/>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复查重点"/>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复查重点</a:t>
            </a:r>
          </a:p>
        </p:txBody>
      </p:sp>
      <p:sp>
        <p:nvSpPr>
          <p:cNvPr id="15" name="保持24 h足量气体，坐位避开6:00虹膜切除口；可疑脱离做前节OCT；透明后尽早内皮计数、定期复查"/>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000000"/>
                </a:solidFill>
                <a:latin typeface="Microsoft YaHei"/>
                <a:ea typeface="Microsoft YaHei"/>
                <a:cs typeface="Microsoft YaHei"/>
              </a:rPr>
              <a:t>前节OCT；透明后尽早内皮计数、定期复查。</a:t>
            </a:r>
          </a:p>
        </p:txBody>
      </p:sp>
      <p:sp>
        <p:nvSpPr>
          <p:cNvPr id="16" name="2024 刊p114、117"/>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风险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风险与缺项</a:t>
            </a:r>
          </a:p>
        </p:txBody>
      </p:sp>
      <p:sp>
        <p:nvSpPr>
          <p:cNvPr id="19" name="疑感染尤其真菌尽早共焦。术后药物参考穿透移植；具体激素/免疫抑制剂量、递减及统一随访日程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000000"/>
                </a:solidFill>
                <a:latin typeface="Microsoft YaHei"/>
                <a:ea typeface="Microsoft YaHei"/>
                <a:cs typeface="Microsoft YaHei"/>
              </a:rPr>
              <a:t>素/免疫抑制剂量、递减及统一随访日程未明确。</a:t>
            </a:r>
          </a:p>
        </p:txBody>
      </p:sp>
      <p:sp>
        <p:nvSpPr>
          <p:cNvPr id="20" name="2024 刊p117"/>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内皮移植术"/>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24" name="2024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脱离处理"/>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脱离处理</a:t>
            </a:r>
          </a:p>
        </p:txBody>
      </p:sp>
      <p:sp>
        <p:nvSpPr>
          <p:cNvPr id="27" name="DSEK&gt;1/3或DMEK&gt;1/4面积再注气；&lt;1/4可观察，扩大/水肿不退再注。DSEK中间区间及"/>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000000"/>
                </a:solidFill>
                <a:latin typeface="Microsoft YaHei"/>
                <a:ea typeface="Microsoft YaHei"/>
                <a:cs typeface="Microsoft YaHei"/>
              </a:rPr>
              <a:t>肿不退再注。DSEK中间区间及边界原文未明确。</a:t>
            </a:r>
          </a:p>
        </p:txBody>
      </p:sp>
      <p:sp>
        <p:nvSpPr>
          <p:cNvPr id="28" name="2024 刊p117"/>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眼压与体位"/>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眼压与体位</a:t>
            </a:r>
          </a:p>
        </p:txBody>
      </p:sp>
      <p:sp>
        <p:nvSpPr>
          <p:cNvPr id="31" name="术后2~6 h密切测压，阻滞必要释气；仰卧面朝上、限活动30~60 min；避免揉眼挤压。2周内不用"/>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000000"/>
                </a:solidFill>
                <a:latin typeface="Microsoft YaHei"/>
                <a:ea typeface="Microsoft YaHei"/>
                <a:cs typeface="Microsoft YaHei"/>
              </a:rPr>
              <a:t>30~60 min；避免揉眼挤压。2周内不用非接触测压。</a:t>
            </a:r>
          </a:p>
        </p:txBody>
      </p:sp>
      <p:sp>
        <p:nvSpPr>
          <p:cNvPr id="32" name="2024 刊p114、117"/>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复查重点"/>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复查重点</a:t>
            </a:r>
          </a:p>
        </p:txBody>
      </p:sp>
      <p:sp>
        <p:nvSpPr>
          <p:cNvPr id="35" name="保持24 h足量气体，坐位避开6:00虹膜切除口；可疑脱离做前节OCT；透明后尽早内皮计数、定期复查"/>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000000"/>
                </a:solidFill>
                <a:latin typeface="Microsoft YaHei"/>
                <a:ea typeface="Microsoft YaHei"/>
                <a:cs typeface="Microsoft YaHei"/>
              </a:rPr>
              <a:t>前节OCT；透明后尽早内皮计数、定期复查。</a:t>
            </a:r>
          </a:p>
        </p:txBody>
      </p:sp>
      <p:sp>
        <p:nvSpPr>
          <p:cNvPr id="36" name="2024 刊p114、117"/>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风险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风险与缺项</a:t>
            </a:r>
          </a:p>
        </p:txBody>
      </p:sp>
      <p:sp>
        <p:nvSpPr>
          <p:cNvPr id="39" name="疑感染尤其真菌尽早共焦。术后药物参考穿透移植；具体激素/免疫抑制剂量、递减及统一随访日程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000000"/>
                </a:solidFill>
                <a:latin typeface="Microsoft YaHei"/>
                <a:ea typeface="Microsoft YaHei"/>
                <a:cs typeface="Microsoft YaHei"/>
              </a:rPr>
              <a:t>素/免疫抑制剂量、递减及统一随访日程未明确。</a:t>
            </a:r>
          </a:p>
        </p:txBody>
      </p:sp>
      <p:sp>
        <p:nvSpPr>
          <p:cNvPr id="40" name="2024 刊p117"/>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内皮移植术"/>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44" name="2024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脱离处理"/>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脱离处理</a:t>
            </a:r>
          </a:p>
        </p:txBody>
      </p:sp>
      <p:sp>
        <p:nvSpPr>
          <p:cNvPr id="47" name="DSEK&gt;1/3或DMEK&gt;1/4面积再注气；&lt;1/4可观察，扩大/水肿不退再注。DSEK中间区间及"/>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000000"/>
                </a:solidFill>
                <a:latin typeface="Microsoft YaHei"/>
                <a:ea typeface="Microsoft YaHei"/>
                <a:cs typeface="Microsoft YaHei"/>
              </a:rPr>
              <a:t>肿不退再注。DSEK中间区间及边界原文未明确。</a:t>
            </a:r>
          </a:p>
        </p:txBody>
      </p:sp>
      <p:sp>
        <p:nvSpPr>
          <p:cNvPr id="48" name="2024 刊p117"/>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眼压与体位"/>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眼压与体位</a:t>
            </a:r>
          </a:p>
        </p:txBody>
      </p:sp>
      <p:sp>
        <p:nvSpPr>
          <p:cNvPr id="51" name="术后2~6 h密切测压，阻滞必要释气；仰卧面朝上、限活动30~60 min；避免揉眼挤压。2周内不用"/>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000000"/>
                </a:solidFill>
                <a:latin typeface="Microsoft YaHei"/>
                <a:ea typeface="Microsoft YaHei"/>
                <a:cs typeface="Microsoft YaHei"/>
              </a:rPr>
              <a:t>30~60 min；避免揉眼挤压。2周内不用非接触测压。</a:t>
            </a:r>
          </a:p>
        </p:txBody>
      </p:sp>
      <p:sp>
        <p:nvSpPr>
          <p:cNvPr id="52" name="2024 刊p114、117"/>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复查重点"/>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复查重点</a:t>
            </a:r>
          </a:p>
        </p:txBody>
      </p:sp>
      <p:sp>
        <p:nvSpPr>
          <p:cNvPr id="55" name="保持24 h足量气体，坐位避开6:00虹膜切除口；可疑脱离做前节OCT；透明后尽早内皮计数、定期复查"/>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000000"/>
                </a:solidFill>
                <a:latin typeface="Microsoft YaHei"/>
                <a:ea typeface="Microsoft YaHei"/>
                <a:cs typeface="Microsoft YaHei"/>
              </a:rPr>
              <a:t>前节OCT；透明后尽早内皮计数、定期复查。</a:t>
            </a:r>
          </a:p>
        </p:txBody>
      </p:sp>
      <p:sp>
        <p:nvSpPr>
          <p:cNvPr id="56" name="2024 刊p114、117"/>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风险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风险与缺项</a:t>
            </a:r>
          </a:p>
        </p:txBody>
      </p:sp>
      <p:sp>
        <p:nvSpPr>
          <p:cNvPr id="59" name="疑感染尤其真菌尽早共焦。术后药物参考穿透移植；具体激素/免疫抑制剂量、递减及统一随访日程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000000"/>
                </a:solidFill>
                <a:latin typeface="Microsoft YaHei"/>
                <a:ea typeface="Microsoft YaHei"/>
                <a:cs typeface="Microsoft YaHei"/>
              </a:rPr>
              <a:t>素/免疫抑制剂量、递减及统一随访日程未明确。</a:t>
            </a:r>
          </a:p>
        </p:txBody>
      </p:sp>
      <p:sp>
        <p:nvSpPr>
          <p:cNvPr id="60" name="2024 刊p117"/>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内皮移植术"/>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角膜内皮移植术</a:t>
            </a:r>
          </a:p>
        </p:txBody>
      </p:sp>
      <p:sp>
        <p:nvSpPr>
          <p:cNvPr id="64" name="2024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脱离处理"/>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脱离处理</a:t>
            </a:r>
          </a:p>
        </p:txBody>
      </p:sp>
      <p:sp>
        <p:nvSpPr>
          <p:cNvPr id="67" name="DSEK&gt;1/3或DMEK&gt;1/4面积再注气；&lt;1/4可观察，扩大/水肿不退再注。DSEK中间区间及"/>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DSEK&gt;1/3或DMEK&gt;1/4面积再注气；&lt;1/4可观察，扩大/水</a:t>
            </a:r>
          </a:p>
          <a:p>
            <a:pPr>
              <a:lnSpc>
                <a:spcPts val="1160"/>
              </a:lnSpc>
              <a:spcBef>
                <a:spcPts val="0"/>
              </a:spcBef>
              <a:spcAft>
                <a:spcPts val="0"/>
              </a:spcAft>
            </a:pPr>
            <a:r>
              <a:rPr sz="950" b="0" lang="zh-CN">
                <a:solidFill>
                  <a:srgbClr val="000000"/>
                </a:solidFill>
                <a:latin typeface="Microsoft YaHei"/>
                <a:ea typeface="Microsoft YaHei"/>
                <a:cs typeface="Microsoft YaHei"/>
              </a:rPr>
              <a:t>肿不退再注。DSEK中间区间及边界原文未明确。</a:t>
            </a:r>
          </a:p>
        </p:txBody>
      </p:sp>
      <p:sp>
        <p:nvSpPr>
          <p:cNvPr id="68" name="2024 刊p117"/>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眼压与体位"/>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眼压与体位</a:t>
            </a:r>
          </a:p>
        </p:txBody>
      </p:sp>
      <p:sp>
        <p:nvSpPr>
          <p:cNvPr id="71" name="术后2~6 h密切测压，阻滞必要释气；仰卧面朝上、限活动30~60 min；避免揉眼挤压。2周内不用"/>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000000"/>
                </a:solidFill>
                <a:latin typeface="Microsoft YaHei"/>
                <a:ea typeface="Microsoft YaHei"/>
                <a:cs typeface="Microsoft YaHei"/>
              </a:rPr>
              <a:t>30~60 min；避免揉眼挤压。2周内不用非接触测压。</a:t>
            </a:r>
          </a:p>
        </p:txBody>
      </p:sp>
      <p:sp>
        <p:nvSpPr>
          <p:cNvPr id="72" name="2024 刊p114、117"/>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复查重点"/>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复查重点</a:t>
            </a:r>
          </a:p>
        </p:txBody>
      </p:sp>
      <p:sp>
        <p:nvSpPr>
          <p:cNvPr id="75" name="保持24 h足量气体，坐位避开6:00虹膜切除口；可疑脱离做前节OCT；透明后尽早内皮计数、定期复查"/>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保持24 h足量气体，坐位避开6:00虹膜切除口；可疑脱离做</a:t>
            </a:r>
          </a:p>
          <a:p>
            <a:pPr>
              <a:lnSpc>
                <a:spcPts val="1160"/>
              </a:lnSpc>
              <a:spcBef>
                <a:spcPts val="0"/>
              </a:spcBef>
              <a:spcAft>
                <a:spcPts val="0"/>
              </a:spcAft>
            </a:pPr>
            <a:r>
              <a:rPr sz="950" b="0" lang="zh-CN">
                <a:solidFill>
                  <a:srgbClr val="000000"/>
                </a:solidFill>
                <a:latin typeface="Microsoft YaHei"/>
                <a:ea typeface="Microsoft YaHei"/>
                <a:cs typeface="Microsoft YaHei"/>
              </a:rPr>
              <a:t>前节OCT；透明后尽早内皮计数、定期复查。</a:t>
            </a:r>
          </a:p>
        </p:txBody>
      </p:sp>
      <p:sp>
        <p:nvSpPr>
          <p:cNvPr id="76" name="2024 刊p114、117"/>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刊p114、117</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风险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风险与缺项</a:t>
            </a:r>
          </a:p>
        </p:txBody>
      </p:sp>
      <p:sp>
        <p:nvSpPr>
          <p:cNvPr id="79" name="疑感染尤其真菌尽早共焦。术后药物参考穿透移植；具体激素/免疫抑制剂量、递减及统一随访日程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000000"/>
                </a:solidFill>
                <a:latin typeface="Microsoft YaHei"/>
                <a:ea typeface="Microsoft YaHei"/>
                <a:cs typeface="Microsoft YaHei"/>
              </a:rPr>
              <a:t>素/免疫抑制剂量、递减及统一随访日程未明确。</a:t>
            </a:r>
          </a:p>
        </p:txBody>
      </p:sp>
      <p:sp>
        <p:nvSpPr>
          <p:cNvPr id="80" name="2024 刊p117"/>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刊p117</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