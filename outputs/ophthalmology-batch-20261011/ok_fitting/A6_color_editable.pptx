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ok_fitting-01 基本入选条件：近视/散光范围在国家药监注册适用范围内；顺规散光相对合适；角膜曲率39.00～48.00 D；卫生环境、理解与依从性满足要求。</a:t>
            </a:r>
          </a:p>
          <a:p>
            <a:r>
              <a:t>来源：2021 刊p1 / PDF1；类别：适用人群；推荐等级：原文未明确。</a:t>
            </a:r>
          </a:p>
          <a:p>
            <a:r>
              <a:t>原文锚点：者，并符合以下基本情况：①近视和散光屈光度范围在国家药品监督管理局注册适用范围之内，顺规性散光患者相对合适；②角膜曲率在39.00～48.00D之间。（2）环境条件、卫生条件和工作条件能满足本产品的配戴要求。（3）能够理解角膜塑形镜的作用机制和实际效果，依从性好，能及时、定期按要求前往医疗机构就诊。1.2禁忌证（1）8岁以下儿童。（2）使用影响或可能影响角膜塑形镜配戴的、可能会改变正常眼生理的药物。（3）不符合前述适用范围的患者。（4）活动性角膜感染，或其他眼前节急性、慢性炎症。（5）正在使用可能会导致干眼或影响视</a:t>
            </a:r>
          </a:p>
          <a:p/>
          <a:p>
            <a:r>
              <a:t>ok_fitting-02 明确数值禁忌：8岁以下儿童；角膜内皮细胞密度少于2 000个/mm²，为原文禁忌证。</a:t>
            </a:r>
          </a:p>
          <a:p>
            <a:r>
              <a:t>来源：2021 刊p1 / PDF1；类别：禁忌；推荐等级：原文未明确。</a:t>
            </a:r>
          </a:p>
          <a:p>
            <a:r>
              <a:t>原文锚点：膜感染，或其他眼前节急性、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a:t>
            </a:r>
          </a:p>
          <a:p/>
          <a:p>
            <a:r>
              <a:t>ok_fitting-03 眼部禁忌：活动性感染/前节炎症、明显上皮染色、角膜异常/手术或外伤史、角膜知觉减退、泪囊/眼睑病、眼压异常或青光眼等。</a:t>
            </a:r>
          </a:p>
          <a:p>
            <a:r>
              <a:t>来源：2021 刊p1 / PDF1；类别：禁忌；推荐等级：原文未明确。</a:t>
            </a:r>
          </a:p>
          <a:p>
            <a:r>
              <a:t>原文锚点：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近期计划怀孕者。如果配戴者</a:t>
            </a:r>
          </a:p>
          <a:p/>
          <a:p>
            <a:r>
              <a:t>ok_fitting-04 全身及用药禁忌：免疫低下或影响塑形的系统病、影响眼生理/干眼/视力/曲率的药物、接触镜/护理液过敏；孕妇、哺乳期或近期计划怀孕者。</a:t>
            </a:r>
          </a:p>
          <a:p>
            <a:r>
              <a:t>来源：2021 刊p1 / PDF1；类别：特殊人群；推荐等级：原文未明确。</a:t>
            </a:r>
          </a:p>
          <a:p>
            <a:r>
              <a:t>原文锚点：者（如急、慢性鼻窦炎，糖尿病，唐氏综合征，类风湿性关节炎，精神病患者等）。（10）有接触镜或接触镜护理液过敏史。（11）孕妇、哺乳期或近期计划怀孕者。如果配戴者属于禁忌证人群，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ok_fitting-06 初配前基线：病史；裸眼视力/电脑及主觉验光、裂隙灯、泪膜/角膜直径、角膜曲率/地形图、眼压/眼底/眼轴、角膜内皮/厚度；试戴前知情同意。</a:t>
            </a:r>
          </a:p>
          <a:p>
            <a:r>
              <a:t>来源：2021 刊p2 / PDF2；类别：检查；推荐等级：原文未明确。</a:t>
            </a:r>
          </a:p>
          <a:p>
            <a:r>
              <a:t>原文锚点：项及费用，并在试戴前让配戴者及（或）监护人充分知情同意。②检查项目务必完整、操作规范以确保角膜塑形术安全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a:t>
            </a:r>
          </a:p>
          <a:p/>
          <a:p>
            <a:r>
              <a:t>ok_fitting-07 试戴选择：不同品牌材料/设计不同，试戴镜不宜通用；评估可能多次摘戴比较参数，确认最终订片处方；同时示教洗手、摘戴与清洁。</a:t>
            </a:r>
          </a:p>
          <a:p>
            <a:r>
              <a:t>来源：2021 刊p2 / PDF2；类别：验配；推荐等级：原文未明确。</a:t>
            </a:r>
          </a:p>
          <a:p>
            <a:r>
              <a:t>原文锚点：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形镜初次配前检查流程Figure1.Theexaminationprocessbeforeinitial</a:t>
            </a:r>
          </a:p>
          <a:p/>
          <a:p>
            <a:r>
              <a:t>ok_fitting-08 取镜日流程：核验镜片信息和健康状态，评估裂隙灯、戴镜视力、配适及镜片状况；摘戴/护理教育放在评估最后，确保能独立或由监护人帮助完成。</a:t>
            </a:r>
          </a:p>
          <a:p>
            <a:r>
              <a:t>来源：2021 刊p2–3 / PDF2–3；类别：验配；推荐等级：原文未明确。</a:t>
            </a:r>
          </a:p>
          <a:p>
            <a:r>
              <a:t>原文锚点：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告知配戴角膜塑形镜的受益和风险，随访需要不良反应，注意事项及费用，并在试戴前让配戴者及（或）监护人充分知情同意。②检查项目务必完</a:t>
            </a:r>
          </a:p>
          <a:p/>
          <a:p>
            <a:r>
              <a:t>ok_fitting-09 首日复查条件：前夜戴镜睡眠不少于8 h；无不适者晨起2 h内戴镜复诊；强烈异物感或疼痛者摘镜后及时就诊。</a:t>
            </a:r>
          </a:p>
          <a:p>
            <a:r>
              <a:t>来源：2021 刊p2 / PDF2；类别：随访；推荐等级：原文未明确。</a:t>
            </a:r>
          </a:p>
          <a:p>
            <a:r>
              <a:t>原文锚点：完成完整的摘镜、戴镜、护理程序。角膜塑形镜取镜日检查流程见图2。2.3.3戴镜首日复查流程注意事项①随访的前夜，需不少于8h的戴镜睡眠时间。②如无不适，建议晨起后2h内于戴镜状态下及时复诊；但如异物感强烈甚至疼痛，则须摘镜后及时就诊。③镜片外观、划痕、沉淀物检查应作为复查流程检查的内容。④戴镜首日复查需要对初次配戴者的摘镜、戴镜、护理做出全程回顾，及时纠正不当的护理行为，籍此巩固其学习曲线[6]。配戴角膜塑形镜首日复查流程见图3。2.3.4配后复查流程注意事项①配后复查建议在过夜戴镜后摘镜前往复查。②随访时发现配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ok_fitting-05 特殊需求处理：禁忌证人群或屈光超范围但有特殊戴镜需求：经验丰富医师酌情评估，充分沟通，签特殊知情同意并加强监控，不能改作常规放宽。</a:t>
            </a:r>
          </a:p>
          <a:p>
            <a:r>
              <a:t>来源：2021 刊p1 / PDF1；类别：特殊人群；推荐等级：原文未明确。</a:t>
            </a:r>
          </a:p>
          <a:p>
            <a:r>
              <a:t>原文锚点：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ok_fitting-11 固定复查时间：初配后第1天、第1周、第2周、第1个月、第3个月，以后每2～3个月定期复查。</a:t>
            </a:r>
          </a:p>
          <a:p>
            <a:r>
              <a:t>来源：2021 刊p2 / PDF2；类别：随访；推荐等级：原文未明确。</a:t>
            </a:r>
          </a:p>
          <a:p>
            <a:r>
              <a:t>原文锚点：·2·中华眼视光学与视觉科2角膜塑形镜规范验配流程2.1验配流程初次配戴者需在配镜后第1天、第1周、第2周、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a:t>
            </a:r>
          </a:p>
          <a:p/>
          <a:p>
            <a:r>
              <a:t>ok_fitting-12 后续复查处置：过夜戴镜后摘镜来诊；配适或裸眼视力不良时结合眼表、地形图、配适及镜片状态决定调参或补偿框架眼镜。</a:t>
            </a:r>
          </a:p>
          <a:p>
            <a:r>
              <a:t>来源：2021 刊p2 / PDF2；类别：随访；推荐等级：原文未明确。</a:t>
            </a:r>
          </a:p>
          <a:p>
            <a:r>
              <a:t>原文锚点：]。配戴角膜塑形镜首日复查流程见图3。2.3.4配后复查流程注意事项①配后复查建议在过夜戴镜后摘镜前往复查。②随访时发现配适不良，需要结合眼表状况、角膜地形图形态、镜片配适及镜片状况确定是否需要调整镜片参数。③随访发现裸眼视力不良，需视情况戴镜检查并结合眼部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a:t>
            </a:r>
          </a:p>
          <a:p/>
          <a:p>
            <a:r>
              <a:t>ok_fitting-13 半年项目与配件：眼轴及角膜内皮细胞检查可结合情况/经验每半年一次，为可选项目；回顾摘戴护理，核对镜盒、吸棒清洁和更换、产品有效期。</a:t>
            </a:r>
          </a:p>
          <a:p>
            <a:r>
              <a:t>来源：2021 刊p2–3 / PDF2–3；类别：随访；推荐等级：原文未明确。</a:t>
            </a:r>
          </a:p>
          <a:p>
            <a:r>
              <a:t>原文锚点：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工具等出现超期使用。配戴角膜塑形镜后复查流程见图4。知lens.Q2xvdWRWZXJzaW9uLQo?中华眼视光学与视觉科学杂志，2021，23（1）ChinJOptomOphthalm裂隙灯显微镜检查图2.角膜塑形镜取镜日检查流程Figure2.Thee</a:t>
            </a:r>
          </a:p>
          <a:p/>
          <a:p>
            <a:r>
              <a:t>ok_fitting-14 验光规范：放松调节，主觉验光终点为最佳视力的最大正镜；初配以电脑/主觉球镜更负值参考基弧，戴镜验光须在镜片居中时测量。</a:t>
            </a:r>
          </a:p>
          <a:p>
            <a:r>
              <a:t>来源：2021 刊p4 / PDF4；类别：检查；推荐等级：原文未明确。</a:t>
            </a:r>
          </a:p>
          <a:p>
            <a:r>
              <a:t>原文锚点：量时，务必确保被检者的调节放松。主觉验光需确保测量终点达到最佳视力的最大正镜。初次验配的检查中，建议以2个检查中球镜度的更负值，作为基弧选择的参考依据。（2）试戴时根据不同镜片品牌的设计要求，选择戴镜电脑验光或戴镜主觉验光对镜片基弧进行调整，并注意基弧的调整是否影响镜片矢高，是否需要调整镜片相应参数进行补偿。戴镜验光时，需确认镜片定位居中时再进行测量。3.2角膜地形图检查（1）正确操作地形图检查，注意泪膜的稳定性，确保充足的采样面积，Kappa角的补偿，以及图像输出时色阶的调整。（2）合理选择不同的图像模式辅助评估</a:t>
            </a:r>
          </a:p>
          <a:p/>
          <a:p>
            <a:r>
              <a:t>ok_fitting-15 地形图规范：泪膜稳定、采样充分、Kappa角补偿和色阶调整；轴向图看整体屈光，切线图看治疗区/定位，高度图供设计参考；结合荧光配适。</a:t>
            </a:r>
          </a:p>
          <a:p>
            <a:r>
              <a:t>来源：2021 刊p4 / PDF4；类别：检查；推荐等级：原文未明确。</a:t>
            </a:r>
          </a:p>
          <a:p>
            <a:r>
              <a:t>原文锚点：模式辅助评估角膜状态及塑形镜的配适[7，8]：①利用轴向图（矢状图）反映角膜整体的屈光状态、角膜散光的种类和范围；②利用切线图对角膜前表面形态及其局部的屈光变化反应灵敏，评估塑形后治疗区的范围、镜片的位置以及封闭环的完整和居中性；③高度图可为角膜塑形镜球面或环曲面或双轴设计的选择提供参考。（3）在对塑形镜进行配适评估时，需要结合角膜地形图和荧光配适图进行综合分析。3.3裂隙灯显微镜检查（1）建议使用不含防腐剂的等渗生理盐水作为荧光素试纸条的湿润剂。荧光素条湿润后适量、轻柔（避免用试纸边缘）点于上方球结膜或下睑结膜位</a:t>
            </a:r>
          </a:p>
          <a:p/>
          <a:p>
            <a:r>
              <a:t>ok_fitting-16 荧光配适：荧光素条用不含防腐剂等渗盐水湿润，轻柔点结膜；结合静态/动态，观察居中、治疗区、活动度和弧区松紧，品牌标准可能不同。</a:t>
            </a:r>
          </a:p>
          <a:p>
            <a:r>
              <a:t>来源：2021 刊p4 / PDF4；类别：检查；推荐等级：原文未明确。</a:t>
            </a:r>
          </a:p>
          <a:p>
            <a:r>
              <a:t>原文锚点：）在对塑形镜进行配适评估时，需要结合角膜地形图和荧光配适图进行综合分析。3.3裂隙灯显微镜检查（1）建议使用不含防腐剂的等渗生理盐水作为荧光素试纸条的湿润剂。荧光素条湿润后适量、轻柔（避免用试纸边缘）点于上方球结膜或下睑结膜位置。（2）荧光配适评估需要结合动态和静态配适，注意观察镜片的中央定位、中央治疗区大小、镜片活动度以及各弧区的松紧度。由于镜片设计的不同，理想配适的判断标准可能存在差异。角膜塑形镜拥有暂时性降低近视和有效减缓近视进展的双重特点，使其在临床的验配得到更多关注，相关的安全有效研究也不断推进[3，9-</a:t>
            </a:r>
          </a:p>
          <a:p/>
          <a:p>
            <a:r>
              <a:t>ok_fitting-17 原文未明确：本篇未给统一近视/散光度数上下限、镜片活动度切点、具体停戴疗程和药物处方、正式推荐等级，不能用其他文献补作本篇规定。</a:t>
            </a:r>
          </a:p>
          <a:p>
            <a:r>
              <a:t>来源：2021 刊p1、4 / PDF1、4；类别：原文未明确；推荐等级：原文未明确。</a:t>
            </a:r>
          </a:p>
          <a:p>
            <a:r>
              <a:t>原文锚点：应证和配戴者选择基本条件（1）为近视伴或不伴规则散光患者，并符合以下基本情况：①近视和散光屈光度范围在国家药品监督管理局注册适用范围之内，顺规性散光患者相对合适；②角膜曲率在39.00～48.00D之间。（2）环境条件、卫生条件和工作条件能满足本产品的配戴要求。（3）能够理解角膜塑形镜的作用机制和实际效果，依从性好，能及时、定期按要求前往医疗机构就诊。1.2禁忌证（1）8岁以下儿童。（2）使用影响或可能影响角膜塑形镜配戴的、可能会改变正常眼生理的药物。（3）不符合前述适用范围的患者。（4）活动性角膜感染，或其他眼前</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塑形镜验配流程"/>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角膜塑形镜验配流程</a:t>
            </a:r>
          </a:p>
        </p:txBody>
      </p:sp>
      <p:sp>
        <p:nvSpPr>
          <p:cNvPr id="4" name="2021 专家共识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2021 专家共识 · 正面</a:t>
            </a:r>
          </a:p>
        </p:txBody>
      </p:sp>
      <p:sp>
        <p:nvSpPr>
          <p:cNvPr id="5" name="Rectangle 4"/>
          <p:cNvSpPr/>
          <p:nvPr/>
        </p:nvSpPr>
        <p:spPr>
          <a:xfrm>
            <a:off x="172720" y="744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入选条件"/>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入选条件</a:t>
            </a:r>
          </a:p>
        </p:txBody>
      </p:sp>
      <p:sp>
        <p:nvSpPr>
          <p:cNvPr id="7" name="按镜片注册范围；角膜曲率39.00～48.00 D；卫生、理解及依从性良好。禁忌：&lt;8岁，内皮密度&lt;"/>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按镜片注册范围；角膜曲率39.00～48.00 D；卫生、理解及</a:t>
            </a:r>
          </a:p>
          <a:p>
            <a:pPr>
              <a:lnSpc>
                <a:spcPts val="1160"/>
              </a:lnSpc>
              <a:spcBef>
                <a:spcPts val="0"/>
              </a:spcBef>
              <a:spcAft>
                <a:spcPts val="0"/>
              </a:spcAft>
            </a:pPr>
            <a:r>
              <a:rPr sz="950" b="0" lang="zh-CN">
                <a:solidFill>
                  <a:srgbClr val="1E2E3B"/>
                </a:solidFill>
                <a:latin typeface="Microsoft YaHei"/>
                <a:ea typeface="Microsoft YaHei"/>
                <a:cs typeface="Microsoft YaHei"/>
              </a:rPr>
              <a:t>依从性良好。禁忌：&lt;8岁，内皮密度&lt;2 000个/mm²。</a:t>
            </a:r>
          </a:p>
        </p:txBody>
      </p:sp>
      <p:sp>
        <p:nvSpPr>
          <p:cNvPr id="8" name="2021 刊p1"/>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刊p1</a:t>
            </a:r>
          </a:p>
        </p:txBody>
      </p:sp>
      <p:sp>
        <p:nvSpPr>
          <p:cNvPr id="9" name="Rectangle 8"/>
          <p:cNvSpPr/>
          <p:nvPr/>
        </p:nvSpPr>
        <p:spPr>
          <a:xfrm>
            <a:off x="172720" y="1511300"/>
            <a:ext cx="3434560" cy="8636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其他禁忌"/>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其他禁忌</a:t>
            </a:r>
          </a:p>
        </p:txBody>
      </p:sp>
      <p:sp>
        <p:nvSpPr>
          <p:cNvPr id="11" name="活动感染/前节炎症、角膜异常/明显染色、手术/外伤史、知觉减退、眼压异常；免疫病、相关药物、过敏及妊"/>
          <p:cNvSpPr txBox="1"/>
          <p:nvPr/>
        </p:nvSpPr>
        <p:spPr>
          <a:xfrm>
            <a:off x="274320" y="1701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活动感染/前节炎症、角膜异常/明显染色、手术/外伤史、知</a:t>
            </a:r>
          </a:p>
          <a:p>
            <a:pPr>
              <a:lnSpc>
                <a:spcPts val="1160"/>
              </a:lnSpc>
              <a:spcBef>
                <a:spcPts val="0"/>
              </a:spcBef>
              <a:spcAft>
                <a:spcPts val="0"/>
              </a:spcAft>
            </a:pPr>
            <a:r>
              <a:rPr sz="950" b="0" lang="zh-CN">
                <a:solidFill>
                  <a:srgbClr val="1E2E3B"/>
                </a:solidFill>
                <a:latin typeface="Microsoft YaHei"/>
                <a:ea typeface="Microsoft YaHei"/>
                <a:cs typeface="Microsoft YaHei"/>
              </a:rPr>
              <a:t>觉减退、眼压异常；免疫病、相关药物、过敏及妊娠/哺乳</a:t>
            </a:r>
          </a:p>
          <a:p>
            <a:pPr>
              <a:lnSpc>
                <a:spcPts val="1160"/>
              </a:lnSpc>
              <a:spcBef>
                <a:spcPts val="0"/>
              </a:spcBef>
              <a:spcAft>
                <a:spcPts val="0"/>
              </a:spcAft>
            </a:pPr>
            <a:r>
              <a:rPr sz="950" b="0" lang="zh-CN">
                <a:solidFill>
                  <a:srgbClr val="1E2E3B"/>
                </a:solidFill>
                <a:latin typeface="Microsoft YaHei"/>
                <a:ea typeface="Microsoft YaHei"/>
                <a:cs typeface="Microsoft YaHei"/>
              </a:rPr>
              <a:t>等。</a:t>
            </a:r>
          </a:p>
        </p:txBody>
      </p:sp>
      <p:sp>
        <p:nvSpPr>
          <p:cNvPr id="12" name="2021 刊p1"/>
          <p:cNvSpPr txBox="1"/>
          <p:nvPr/>
        </p:nvSpPr>
        <p:spPr>
          <a:xfrm>
            <a:off x="274320" y="2169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刊p1</a:t>
            </a:r>
          </a:p>
        </p:txBody>
      </p:sp>
      <p:sp>
        <p:nvSpPr>
          <p:cNvPr id="13" name="Rectangle 12"/>
          <p:cNvSpPr/>
          <p:nvPr/>
        </p:nvSpPr>
        <p:spPr>
          <a:xfrm>
            <a:off x="172720" y="24257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初配与取镜"/>
          <p:cNvSpPr txBox="1"/>
          <p:nvPr/>
        </p:nvSpPr>
        <p:spPr>
          <a:xfrm>
            <a:off x="274320" y="2463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初配与取镜</a:t>
            </a:r>
          </a:p>
        </p:txBody>
      </p:sp>
      <p:sp>
        <p:nvSpPr>
          <p:cNvPr id="15" name="完整基线并知情同意；品牌试戴镜不通用。取镜先评估，摘戴与护理教育最后进行。"/>
          <p:cNvSpPr txBox="1"/>
          <p:nvPr/>
        </p:nvSpPr>
        <p:spPr>
          <a:xfrm>
            <a:off x="274320" y="2616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完整基线并知情同意；品牌试戴镜不通用。取镜先评估，摘</a:t>
            </a:r>
          </a:p>
          <a:p>
            <a:pPr>
              <a:lnSpc>
                <a:spcPts val="1160"/>
              </a:lnSpc>
              <a:spcBef>
                <a:spcPts val="0"/>
              </a:spcBef>
              <a:spcAft>
                <a:spcPts val="0"/>
              </a:spcAft>
            </a:pPr>
            <a:r>
              <a:rPr sz="950" b="0" lang="zh-CN">
                <a:solidFill>
                  <a:srgbClr val="1E2E3B"/>
                </a:solidFill>
                <a:latin typeface="Microsoft YaHei"/>
                <a:ea typeface="Microsoft YaHei"/>
                <a:cs typeface="Microsoft YaHei"/>
              </a:rPr>
              <a:t>戴与护理教育最后进行。</a:t>
            </a:r>
          </a:p>
        </p:txBody>
      </p:sp>
      <p:sp>
        <p:nvSpPr>
          <p:cNvPr id="16" name="2021 刊p2–3"/>
          <p:cNvSpPr txBox="1"/>
          <p:nvPr/>
        </p:nvSpPr>
        <p:spPr>
          <a:xfrm>
            <a:off x="274320" y="2936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刊p2–3</a:t>
            </a:r>
          </a:p>
        </p:txBody>
      </p:sp>
      <p:sp>
        <p:nvSpPr>
          <p:cNvPr id="17" name="Rectangle 16"/>
          <p:cNvSpPr/>
          <p:nvPr/>
        </p:nvSpPr>
        <p:spPr>
          <a:xfrm>
            <a:off x="172720" y="31927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首日复查"/>
          <p:cNvSpPr txBox="1"/>
          <p:nvPr/>
        </p:nvSpPr>
        <p:spPr>
          <a:xfrm>
            <a:off x="274320" y="3230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首日复查</a:t>
            </a:r>
          </a:p>
        </p:txBody>
      </p:sp>
      <p:sp>
        <p:nvSpPr>
          <p:cNvPr id="19" name="前夜戴镜睡眠≥8 h；无不适晨起2 h内戴镜来诊；强烈异物感或痛先摘镜、及时就诊。"/>
          <p:cNvSpPr txBox="1"/>
          <p:nvPr/>
        </p:nvSpPr>
        <p:spPr>
          <a:xfrm>
            <a:off x="274320" y="338327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前夜戴镜睡眠≥8 h；无不适晨起2 h内戴镜来诊；强烈异物感</a:t>
            </a:r>
          </a:p>
          <a:p>
            <a:pPr>
              <a:lnSpc>
                <a:spcPts val="1160"/>
              </a:lnSpc>
              <a:spcBef>
                <a:spcPts val="0"/>
              </a:spcBef>
              <a:spcAft>
                <a:spcPts val="0"/>
              </a:spcAft>
            </a:pPr>
            <a:r>
              <a:rPr sz="950" b="0" lang="zh-CN">
                <a:solidFill>
                  <a:srgbClr val="1E2E3B"/>
                </a:solidFill>
                <a:latin typeface="Microsoft YaHei"/>
                <a:ea typeface="Microsoft YaHei"/>
                <a:cs typeface="Microsoft YaHei"/>
              </a:rPr>
              <a:t>或痛先摘镜、及时就诊。</a:t>
            </a:r>
          </a:p>
        </p:txBody>
      </p:sp>
      <p:sp>
        <p:nvSpPr>
          <p:cNvPr id="20" name="2021 刊p2"/>
          <p:cNvSpPr txBox="1"/>
          <p:nvPr/>
        </p:nvSpPr>
        <p:spPr>
          <a:xfrm>
            <a:off x="274320" y="370331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塑形镜验配流程"/>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角膜塑形镜验配流程</a:t>
            </a:r>
          </a:p>
        </p:txBody>
      </p:sp>
      <p:sp>
        <p:nvSpPr>
          <p:cNvPr id="4" name="2021 专家共识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2021 专家共识 · 背面</a:t>
            </a:r>
          </a:p>
        </p:txBody>
      </p:sp>
      <p:sp>
        <p:nvSpPr>
          <p:cNvPr id="5" name="Rectangle 4"/>
          <p:cNvSpPr/>
          <p:nvPr/>
        </p:nvSpPr>
        <p:spPr>
          <a:xfrm>
            <a:off x="172720" y="74422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随访时间"/>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随访时间</a:t>
            </a:r>
          </a:p>
        </p:txBody>
      </p:sp>
      <p:sp>
        <p:nvSpPr>
          <p:cNvPr id="7" name="第1天、1周、2周、1个月、3个月，后每2～3个月；眼轴/内皮可结合情况每半年检查。"/>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第1天、1周、2周、1个月、3个月，后每2～3个月；眼轴/内</a:t>
            </a:r>
          </a:p>
          <a:p>
            <a:pPr>
              <a:lnSpc>
                <a:spcPts val="1160"/>
              </a:lnSpc>
              <a:spcBef>
                <a:spcPts val="0"/>
              </a:spcBef>
              <a:spcAft>
                <a:spcPts val="0"/>
              </a:spcAft>
            </a:pPr>
            <a:r>
              <a:rPr sz="950" b="0" lang="zh-CN">
                <a:solidFill>
                  <a:srgbClr val="1E2E3B"/>
                </a:solidFill>
                <a:latin typeface="Microsoft YaHei"/>
                <a:ea typeface="Microsoft YaHei"/>
                <a:cs typeface="Microsoft YaHei"/>
              </a:rPr>
              <a:t>皮可结合情况每半年检查。</a:t>
            </a:r>
          </a:p>
        </p:txBody>
      </p:sp>
      <p:sp>
        <p:nvSpPr>
          <p:cNvPr id="8" name="2021 刊p2–3"/>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刊p2–3</a:t>
            </a:r>
          </a:p>
        </p:txBody>
      </p:sp>
      <p:sp>
        <p:nvSpPr>
          <p:cNvPr id="9" name="Rectangle 8"/>
          <p:cNvSpPr/>
          <p:nvPr/>
        </p:nvSpPr>
        <p:spPr>
          <a:xfrm>
            <a:off x="172720" y="15113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异常怎么处理"/>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异常怎么处理</a:t>
            </a:r>
          </a:p>
        </p:txBody>
      </p:sp>
      <p:sp>
        <p:nvSpPr>
          <p:cNvPr id="11" name="配适或视力不良：综合眼表、地形图、配适、镜片情况，再决定调参或补偿框架眼镜。"/>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配适或视力不良：综合眼表、地形图、配适、镜片情况，再</a:t>
            </a:r>
          </a:p>
          <a:p>
            <a:pPr>
              <a:lnSpc>
                <a:spcPts val="1160"/>
              </a:lnSpc>
              <a:spcBef>
                <a:spcPts val="0"/>
              </a:spcBef>
              <a:spcAft>
                <a:spcPts val="0"/>
              </a:spcAft>
            </a:pPr>
            <a:r>
              <a:rPr sz="950" b="0" lang="zh-CN">
                <a:solidFill>
                  <a:srgbClr val="1E2E3B"/>
                </a:solidFill>
                <a:latin typeface="Microsoft YaHei"/>
                <a:ea typeface="Microsoft YaHei"/>
                <a:cs typeface="Microsoft YaHei"/>
              </a:rPr>
              <a:t>决定调参或补偿框架眼镜。</a:t>
            </a:r>
          </a:p>
        </p:txBody>
      </p:sp>
      <p:sp>
        <p:nvSpPr>
          <p:cNvPr id="12" name="2021 刊p2"/>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a:t>
            </a:r>
          </a:p>
        </p:txBody>
      </p:sp>
      <p:sp>
        <p:nvSpPr>
          <p:cNvPr id="13" name="Rectangle 12"/>
          <p:cNvSpPr/>
          <p:nvPr/>
        </p:nvSpPr>
        <p:spPr>
          <a:xfrm>
            <a:off x="172720" y="2278380"/>
            <a:ext cx="3434560" cy="716280"/>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规范检查"/>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14746F"/>
                </a:solidFill>
                <a:latin typeface="Microsoft YaHei"/>
                <a:ea typeface="Microsoft YaHei"/>
                <a:cs typeface="Microsoft YaHei"/>
              </a:rPr>
              <a:t>规范检查</a:t>
            </a:r>
          </a:p>
        </p:txBody>
      </p:sp>
      <p:sp>
        <p:nvSpPr>
          <p:cNvPr id="15" name="调节放松，镜片居中验光；地形图泪膜稳定/采样完整；荧光配适结合动态与静态。"/>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调节放松，镜片居中验光；地形图泪膜稳定/采样完整；荧光</a:t>
            </a:r>
          </a:p>
          <a:p>
            <a:pPr>
              <a:lnSpc>
                <a:spcPts val="1160"/>
              </a:lnSpc>
              <a:spcBef>
                <a:spcPts val="0"/>
              </a:spcBef>
              <a:spcAft>
                <a:spcPts val="0"/>
              </a:spcAft>
            </a:pPr>
            <a:r>
              <a:rPr sz="950" b="0" lang="zh-CN">
                <a:solidFill>
                  <a:srgbClr val="1E2E3B"/>
                </a:solidFill>
                <a:latin typeface="Microsoft YaHei"/>
                <a:ea typeface="Microsoft YaHei"/>
                <a:cs typeface="Microsoft YaHei"/>
              </a:rPr>
              <a:t>配适结合动态与静态。</a:t>
            </a:r>
          </a:p>
        </p:txBody>
      </p:sp>
      <p:sp>
        <p:nvSpPr>
          <p:cNvPr id="16" name="2021 刊p4"/>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刊p4</a:t>
            </a:r>
          </a:p>
        </p:txBody>
      </p:sp>
      <p:sp>
        <p:nvSpPr>
          <p:cNvPr id="17" name="Rectangle 16"/>
          <p:cNvSpPr/>
          <p:nvPr/>
        </p:nvSpPr>
        <p:spPr>
          <a:xfrm>
            <a:off x="172720" y="3045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特殊需求与缺项"/>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特殊需求与缺项</a:t>
            </a:r>
          </a:p>
        </p:txBody>
      </p:sp>
      <p:sp>
        <p:nvSpPr>
          <p:cNvPr id="19" name="禁忌/超范围特殊需求由资深医师评估、特殊知情同意、加强监控。统一度数范围及药物方案未明确。"/>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禁忌/超范围特殊需求由资深医师评估、特殊知情同意、加强</a:t>
            </a:r>
          </a:p>
          <a:p>
            <a:pPr>
              <a:lnSpc>
                <a:spcPts val="1160"/>
              </a:lnSpc>
              <a:spcBef>
                <a:spcPts val="0"/>
              </a:spcBef>
              <a:spcAft>
                <a:spcPts val="0"/>
              </a:spcAft>
            </a:pPr>
            <a:r>
              <a:rPr sz="950" b="0" lang="zh-CN">
                <a:solidFill>
                  <a:srgbClr val="1E2E3B"/>
                </a:solidFill>
                <a:latin typeface="Microsoft YaHei"/>
                <a:ea typeface="Microsoft YaHei"/>
                <a:cs typeface="Microsoft YaHei"/>
              </a:rPr>
              <a:t>监控。统一度数范围及药物方案未明确。</a:t>
            </a:r>
          </a:p>
        </p:txBody>
      </p:sp>
      <p:sp>
        <p:nvSpPr>
          <p:cNvPr id="20" name="2021 刊p1、4"/>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刊p1、4</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角膜塑形镜验配流程 A6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