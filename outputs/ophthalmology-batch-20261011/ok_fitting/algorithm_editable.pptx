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a:p/>
          <a:p>
            <a:r>
              <a:t>ok_fitting-10 首日检查内容：回顾体验与护理；戴镜视力/配适/镜片状态，摘镜后裸眼视力、主觉或电脑验光、裂隙灯、角膜地形图、眼压，沟通并计划随访。</a:t>
            </a:r>
          </a:p>
          <a:p>
            <a:r>
              <a:t>来源：2021 刊p3 / PDF3；类别：检查；推荐等级：原文未明确。</a:t>
            </a:r>
          </a:p>
          <a:p>
            <a:r>
              <a:t>原文锚点：Theexaminationprocessonorthokeratologylensdispensingvisi配裂隙灯图3.配戴角膜塑形镜首日复查流程Figure3.Theexaminationprocessoforthokeratologylensonthefirstfollo裂隙灯显微镜检查/角膜地形图角膜内皮细胞眼轴长度图4.配戴角膜塑形镜后复查流程（带*的项目为可选项目）Figure4.Thefollowupvisitafterwearingorthokeratologylens(Itemswit3验配流</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塑形镜验配流程"/>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角膜塑形镜验配流程</a:t>
            </a:r>
          </a:p>
        </p:txBody>
      </p:sp>
      <p:sp>
        <p:nvSpPr>
          <p:cNvPr id="4" name="判断条件与下一步 · 按本篇原文整理 · 2021"/>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2021</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在注册范围并无禁忌？"/>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是否在注册范围并无禁忌？</a:t>
            </a:r>
          </a:p>
        </p:txBody>
      </p:sp>
      <p:sp>
        <p:nvSpPr>
          <p:cNvPr id="7" name="曲率39.00～48.00 D；&lt;8岁/内皮&lt;2 000等 → 非常规验配，特殊需求按原文专门评估。"/>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曲率39.00～48.00 D；&lt;8岁/内皮&lt;2 000等 → 非常规验</a:t>
            </a:r>
          </a:p>
          <a:p>
            <a:pPr>
              <a:lnSpc>
                <a:spcPts val="1630"/>
              </a:lnSpc>
              <a:spcBef>
                <a:spcPts val="0"/>
              </a:spcBef>
              <a:spcAft>
                <a:spcPts val="0"/>
              </a:spcAft>
            </a:pPr>
            <a:r>
              <a:rPr sz="1340" b="0" lang="zh-CN">
                <a:solidFill>
                  <a:srgbClr val="1E2E3B"/>
                </a:solidFill>
                <a:latin typeface="Microsoft YaHei"/>
                <a:ea typeface="Microsoft YaHei"/>
                <a:cs typeface="Microsoft YaHei"/>
              </a:rPr>
              <a:t>配，特殊需求按原文专门评估。</a:t>
            </a:r>
          </a:p>
        </p:txBody>
      </p:sp>
      <p:sp>
        <p:nvSpPr>
          <p:cNvPr id="8" name="2021 刊p1 / PDF1"/>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刊p1 / PDF1</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初配前检查与试戴"/>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初配前检查与试戴</a:t>
            </a:r>
          </a:p>
        </p:txBody>
      </p:sp>
      <p:sp>
        <p:nvSpPr>
          <p:cNvPr id="12" name="完整基线、知情同意 → 品牌匹配的试戴与调参 → 订片。"/>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完整基线、知情同意 → 品牌匹配的试戴与调参 → 订</a:t>
            </a:r>
          </a:p>
          <a:p>
            <a:pPr>
              <a:lnSpc>
                <a:spcPts val="1630"/>
              </a:lnSpc>
              <a:spcBef>
                <a:spcPts val="0"/>
              </a:spcBef>
              <a:spcAft>
                <a:spcPts val="0"/>
              </a:spcAft>
            </a:pPr>
            <a:r>
              <a:rPr sz="1340" b="0" lang="zh-CN">
                <a:solidFill>
                  <a:srgbClr val="1E2E3B"/>
                </a:solidFill>
                <a:latin typeface="Microsoft YaHei"/>
                <a:ea typeface="Microsoft YaHei"/>
                <a:cs typeface="Microsoft YaHei"/>
              </a:rPr>
              <a:t>片。</a:t>
            </a:r>
          </a:p>
        </p:txBody>
      </p:sp>
      <p:sp>
        <p:nvSpPr>
          <p:cNvPr id="13" name="2021 刊p2 / PDF2"/>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 / PDF2</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取镜日"/>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取镜日</a:t>
            </a:r>
          </a:p>
        </p:txBody>
      </p:sp>
      <p:sp>
        <p:nvSpPr>
          <p:cNvPr id="17" name="核验参数/健康 → 检查与配适 → 最后摘戴、护理培训 → 能完成后安排首日复查。"/>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核验参数/健康 → 检查与配适 → 最后摘戴、护理培训</a:t>
            </a:r>
          </a:p>
          <a:p>
            <a:pPr>
              <a:lnSpc>
                <a:spcPts val="1630"/>
              </a:lnSpc>
              <a:spcBef>
                <a:spcPts val="0"/>
              </a:spcBef>
              <a:spcAft>
                <a:spcPts val="0"/>
              </a:spcAft>
            </a:pPr>
            <a:r>
              <a:rPr sz="1340" b="0" lang="zh-CN">
                <a:solidFill>
                  <a:srgbClr val="1E2E3B"/>
                </a:solidFill>
                <a:latin typeface="Microsoft YaHei"/>
                <a:ea typeface="Microsoft YaHei"/>
                <a:cs typeface="Microsoft YaHei"/>
              </a:rPr>
              <a:t>→ 能完成后安排首日复查。</a:t>
            </a:r>
          </a:p>
        </p:txBody>
      </p:sp>
      <p:sp>
        <p:nvSpPr>
          <p:cNvPr id="18" name="2021 刊p2–3 / PDF2–3"/>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首日症状分支"/>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首日症状分支</a:t>
            </a:r>
          </a:p>
        </p:txBody>
      </p:sp>
      <p:sp>
        <p:nvSpPr>
          <p:cNvPr id="22" name="无不适：前夜≥8 h、晨起2 h内戴镜来诊；强烈异物感/痛：摘镜后及时就诊。"/>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无不适：前夜≥8 h、晨起2 h内戴镜来诊；强烈异物感/</a:t>
            </a:r>
          </a:p>
          <a:p>
            <a:pPr>
              <a:lnSpc>
                <a:spcPts val="1630"/>
              </a:lnSpc>
              <a:spcBef>
                <a:spcPts val="0"/>
              </a:spcBef>
              <a:spcAft>
                <a:spcPts val="0"/>
              </a:spcAft>
            </a:pPr>
            <a:r>
              <a:rPr sz="1340" b="0" lang="zh-CN">
                <a:solidFill>
                  <a:srgbClr val="1E2E3B"/>
                </a:solidFill>
                <a:latin typeface="Microsoft YaHei"/>
                <a:ea typeface="Microsoft YaHei"/>
                <a:cs typeface="Microsoft YaHei"/>
              </a:rPr>
              <a:t>痛：摘镜后及时就诊。</a:t>
            </a:r>
          </a:p>
        </p:txBody>
      </p:sp>
      <p:sp>
        <p:nvSpPr>
          <p:cNvPr id="23" name="2021 刊p2–3 / PDF2–3"/>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后续复查"/>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后续复查</a:t>
            </a:r>
          </a:p>
        </p:txBody>
      </p:sp>
      <p:sp>
        <p:nvSpPr>
          <p:cNvPr id="27" name="1周、2周、1月、3月，后每2～3月；摘镜检查，眼轴/内皮可半年一次。"/>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1周、2周、1月、3月，后每2～3月；摘镜检查，眼轴/</a:t>
            </a:r>
          </a:p>
          <a:p>
            <a:pPr>
              <a:lnSpc>
                <a:spcPts val="1630"/>
              </a:lnSpc>
              <a:spcBef>
                <a:spcPts val="0"/>
              </a:spcBef>
              <a:spcAft>
                <a:spcPts val="0"/>
              </a:spcAft>
            </a:pPr>
            <a:r>
              <a:rPr sz="1340" b="0" lang="zh-CN">
                <a:solidFill>
                  <a:srgbClr val="1E2E3B"/>
                </a:solidFill>
                <a:latin typeface="Microsoft YaHei"/>
                <a:ea typeface="Microsoft YaHei"/>
                <a:cs typeface="Microsoft YaHei"/>
              </a:rPr>
              <a:t>内皮可半年一次。</a:t>
            </a:r>
          </a:p>
        </p:txBody>
      </p:sp>
      <p:sp>
        <p:nvSpPr>
          <p:cNvPr id="28" name="2021 刊p2–3 / PDF2–3"/>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结果异常？"/>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结果异常？</a:t>
            </a:r>
          </a:p>
        </p:txBody>
      </p:sp>
      <p:sp>
        <p:nvSpPr>
          <p:cNvPr id="32" name="配适/视力不良 → 综合眼表、地形图、镜片评估调参/补偿；每次强化护理与配件管理。"/>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配适/视力不良 → 综合眼表、地形图、镜片评估调参/补</a:t>
            </a:r>
          </a:p>
          <a:p>
            <a:pPr>
              <a:lnSpc>
                <a:spcPts val="1630"/>
              </a:lnSpc>
              <a:spcBef>
                <a:spcPts val="0"/>
              </a:spcBef>
              <a:spcAft>
                <a:spcPts val="0"/>
              </a:spcAft>
            </a:pPr>
            <a:r>
              <a:rPr sz="1340" b="0" lang="zh-CN">
                <a:solidFill>
                  <a:srgbClr val="1E2E3B"/>
                </a:solidFill>
                <a:latin typeface="Microsoft YaHei"/>
                <a:ea typeface="Microsoft YaHei"/>
                <a:cs typeface="Microsoft YaHei"/>
              </a:rPr>
              <a:t>偿；每次强化护理与配件管理。</a:t>
            </a:r>
          </a:p>
        </p:txBody>
      </p:sp>
      <p:sp>
        <p:nvSpPr>
          <p:cNvPr id="33" name="2021 刊p2–3 / PDF2–3"/>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 / PDF2–3</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