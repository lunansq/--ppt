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a:p/>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4" name="2021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入选条件"/>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入选条件</a:t>
            </a:r>
          </a:p>
        </p:txBody>
      </p:sp>
      <p:sp>
        <p:nvSpPr>
          <p:cNvPr id="7" name="按镜片注册范围；角膜曲率39.00～48.00 D；卫生、理解及依从性良好。禁忌：&lt;8岁，内皮密度&lt;"/>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000000"/>
                </a:solidFill>
                <a:latin typeface="Microsoft YaHei"/>
                <a:ea typeface="Microsoft YaHei"/>
                <a:cs typeface="Microsoft YaHei"/>
              </a:rPr>
              <a:t>依从性良好。禁忌：&lt;8岁，内皮密度&lt;2 000个/mm²。</a:t>
            </a:r>
          </a:p>
        </p:txBody>
      </p:sp>
      <p:sp>
        <p:nvSpPr>
          <p:cNvPr id="8" name="2021 刊p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9" name="Rectangle 8"/>
          <p:cNvSpPr/>
          <p:nvPr/>
        </p:nvSpPr>
        <p:spPr>
          <a:xfrm>
            <a:off x="172720" y="1511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其他禁忌"/>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其他禁忌</a:t>
            </a:r>
          </a:p>
        </p:txBody>
      </p:sp>
      <p:sp>
        <p:nvSpPr>
          <p:cNvPr id="11" name="活动感染/前节炎症、角膜异常/明显染色、手术/外伤史、知觉减退、眼压异常；免疫病、相关药物、过敏及妊"/>
          <p:cNvSpPr txBox="1"/>
          <p:nvPr/>
        </p:nvSpPr>
        <p:spPr>
          <a:xfrm>
            <a:off x="274320" y="1701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000000"/>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000000"/>
                </a:solidFill>
                <a:latin typeface="Microsoft YaHei"/>
                <a:ea typeface="Microsoft YaHei"/>
                <a:cs typeface="Microsoft YaHei"/>
              </a:rPr>
              <a:t>等。</a:t>
            </a:r>
          </a:p>
        </p:txBody>
      </p:sp>
      <p:sp>
        <p:nvSpPr>
          <p:cNvPr id="12" name="2021 刊p1"/>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13" name="Rectangle 12"/>
          <p:cNvSpPr/>
          <p:nvPr/>
        </p:nvSpPr>
        <p:spPr>
          <a:xfrm>
            <a:off x="172720" y="2425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初配与取镜"/>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初配与取镜</a:t>
            </a:r>
          </a:p>
        </p:txBody>
      </p:sp>
      <p:sp>
        <p:nvSpPr>
          <p:cNvPr id="15" name="完整基线并知情同意；品牌试戴镜不通用。取镜先评估，摘戴与护理教育最后进行。"/>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000000"/>
                </a:solidFill>
                <a:latin typeface="Microsoft YaHei"/>
                <a:ea typeface="Microsoft YaHei"/>
                <a:cs typeface="Microsoft YaHei"/>
              </a:rPr>
              <a:t>戴与护理教育最后进行。</a:t>
            </a:r>
          </a:p>
        </p:txBody>
      </p:sp>
      <p:sp>
        <p:nvSpPr>
          <p:cNvPr id="16" name="2021 刊p2–3"/>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17" name="Rectangle 16"/>
          <p:cNvSpPr/>
          <p:nvPr/>
        </p:nvSpPr>
        <p:spPr>
          <a:xfrm>
            <a:off x="172720" y="3192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首日复查"/>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首日复查</a:t>
            </a:r>
          </a:p>
        </p:txBody>
      </p:sp>
      <p:sp>
        <p:nvSpPr>
          <p:cNvPr id="19" name="前夜戴镜睡眠≥8 h；无不适晨起2 h内戴镜来诊；强烈异物感或痛先摘镜、及时就诊。"/>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000000"/>
                </a:solidFill>
                <a:latin typeface="Microsoft YaHei"/>
                <a:ea typeface="Microsoft YaHei"/>
                <a:cs typeface="Microsoft YaHei"/>
              </a:rPr>
              <a:t>或痛先摘镜、及时就诊。</a:t>
            </a:r>
          </a:p>
        </p:txBody>
      </p:sp>
      <p:sp>
        <p:nvSpPr>
          <p:cNvPr id="20" name="2021 刊p2"/>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4" name="2021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背面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随访时间"/>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随访时间</a:t>
            </a:r>
          </a:p>
        </p:txBody>
      </p:sp>
      <p:sp>
        <p:nvSpPr>
          <p:cNvPr id="7" name="第1天、1周、2周、1个月、3个月，后每2～3个月；眼轴/内皮可结合情况每半年检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000000"/>
                </a:solidFill>
                <a:latin typeface="Microsoft YaHei"/>
                <a:ea typeface="Microsoft YaHei"/>
                <a:cs typeface="Microsoft YaHei"/>
              </a:rPr>
              <a:t>皮可结合情况每半年检查。</a:t>
            </a:r>
          </a:p>
        </p:txBody>
      </p:sp>
      <p:sp>
        <p:nvSpPr>
          <p:cNvPr id="8" name="2021 刊p2–3"/>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怎么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异常怎么处理</a:t>
            </a:r>
          </a:p>
        </p:txBody>
      </p:sp>
      <p:sp>
        <p:nvSpPr>
          <p:cNvPr id="11" name="配适或视力不良：综合眼表、地形图、配适、镜片情况，再决定调参或补偿框架眼镜。"/>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000000"/>
                </a:solidFill>
                <a:latin typeface="Microsoft YaHei"/>
                <a:ea typeface="Microsoft YaHei"/>
                <a:cs typeface="Microsoft YaHei"/>
              </a:rPr>
              <a:t>决定调参或补偿框架眼镜。</a:t>
            </a:r>
          </a:p>
        </p:txBody>
      </p:sp>
      <p:sp>
        <p:nvSpPr>
          <p:cNvPr id="12" name="2021 刊p2"/>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规范检查"/>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规范检查</a:t>
            </a:r>
          </a:p>
        </p:txBody>
      </p:sp>
      <p:sp>
        <p:nvSpPr>
          <p:cNvPr id="15" name="调节放松，镜片居中验光；地形图泪膜稳定/采样完整；荧光配适结合动态与静态。"/>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000000"/>
                </a:solidFill>
                <a:latin typeface="Microsoft YaHei"/>
                <a:ea typeface="Microsoft YaHei"/>
                <a:cs typeface="Microsoft YaHei"/>
              </a:rPr>
              <a:t>配适结合动态与静态。</a:t>
            </a:r>
          </a:p>
        </p:txBody>
      </p:sp>
      <p:sp>
        <p:nvSpPr>
          <p:cNvPr id="16" name="2021 刊p4"/>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刊p4</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需求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特殊需求与缺项</a:t>
            </a:r>
          </a:p>
        </p:txBody>
      </p:sp>
      <p:sp>
        <p:nvSpPr>
          <p:cNvPr id="19" name="禁忌/超范围特殊需求由资深医师评估、特殊知情同意、加强监控。统一度数范围及药物方案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000000"/>
                </a:solidFill>
                <a:latin typeface="Microsoft YaHei"/>
                <a:ea typeface="Microsoft YaHei"/>
                <a:cs typeface="Microsoft YaHei"/>
              </a:rPr>
              <a:t>监控。统一度数范围及药物方案未明确。</a:t>
            </a:r>
          </a:p>
        </p:txBody>
      </p:sp>
      <p:sp>
        <p:nvSpPr>
          <p:cNvPr id="20" name="2021 刊p1、4"/>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刊p1、4</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