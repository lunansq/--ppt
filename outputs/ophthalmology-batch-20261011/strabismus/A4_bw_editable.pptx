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间歇外斜分型：基本型远近差&lt;10△；分开过强远&gt;近≥15△，遮盖一眼30～60 min仍大；集合不足近&gt;远≥15△；类似分开过强型遮盖后近角增大。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 name="2026 指南 · 正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基本评估"/>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7" name="病史、远近视力、儿童麻痹验光；眼位/运动及双眼视。先矫屈光、治弱视；急性内斜先排颅内病。"/>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000000"/>
                </a:solidFill>
                <a:latin typeface="Microsoft YaHei"/>
                <a:ea typeface="Microsoft YaHei"/>
                <a:cs typeface="Microsoft YaHei"/>
              </a:rPr>
              <a:t>屈光、治弱视；急性内斜先排颅内病。</a:t>
            </a:r>
          </a:p>
        </p:txBody>
      </p:sp>
      <p:sp>
        <p:nvSpPr>
          <p:cNvPr id="8" name="2026 PDF1–4、7–8、19–20"/>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9" name="Rectangle 8"/>
          <p:cNvSpPr/>
          <p:nvPr/>
        </p:nvSpPr>
        <p:spPr>
          <a:xfrm>
            <a:off x="172720" y="1529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内斜分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11" name="全矫后正位→屈光调节性；残余&gt;10△→部分调节性，治弱视后手术。高AC/A&gt;6:1、视近内斜视度大于"/>
          <p:cNvSpPr txBox="1"/>
          <p:nvPr/>
        </p:nvSpPr>
        <p:spPr>
          <a:xfrm>
            <a:off x="27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12" name="2026 PDF5–7"/>
          <p:cNvSpPr txBox="1"/>
          <p:nvPr/>
        </p:nvSpPr>
        <p:spPr>
          <a:xfrm>
            <a:off x="27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13" name="Rectangle 12"/>
          <p:cNvSpPr/>
          <p:nvPr/>
        </p:nvSpPr>
        <p:spPr>
          <a:xfrm>
            <a:off x="17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先天斜视时机"/>
          <p:cNvSpPr txBox="1"/>
          <p:nvPr/>
        </p:nvSpPr>
        <p:spPr>
          <a:xfrm>
            <a:off x="27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15" name="先天内斜：≥+2.00 DS先戴镜观察3～6月，建议24月龄前手术。先天外斜12～18月，不稳可18"/>
          <p:cNvSpPr txBox="1"/>
          <p:nvPr/>
        </p:nvSpPr>
        <p:spPr>
          <a:xfrm>
            <a:off x="27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16" name="2026 PDF4–5、9–10"/>
          <p:cNvSpPr txBox="1"/>
          <p:nvPr/>
        </p:nvSpPr>
        <p:spPr>
          <a:xfrm>
            <a:off x="27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17" name="Rectangle 16"/>
          <p:cNvSpPr/>
          <p:nvPr/>
        </p:nvSpPr>
        <p:spPr>
          <a:xfrm>
            <a:off x="17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间歇外斜"/>
          <p:cNvSpPr txBox="1"/>
          <p:nvPr/>
        </p:nvSpPr>
        <p:spPr>
          <a:xfrm>
            <a:off x="27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19" name="控制好观察；频发、控制恶化、立体视/融合下降考虑手术。基本型差&lt;10△；分开过强/集合不足差≥15△"/>
          <p:cNvSpPr txBox="1"/>
          <p:nvPr/>
        </p:nvSpPr>
        <p:spPr>
          <a:xfrm>
            <a:off x="27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20" name="2026 PDF9–10"/>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斜视诊疗指南"/>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24" name="2026 指南 · 正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基本评估"/>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27" name="病史、远近视力、儿童麻痹验光；眼位/运动及双眼视。先矫屈光、治弱视；急性内斜先排颅内病。"/>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000000"/>
                </a:solidFill>
                <a:latin typeface="Microsoft YaHei"/>
                <a:ea typeface="Microsoft YaHei"/>
                <a:cs typeface="Microsoft YaHei"/>
              </a:rPr>
              <a:t>屈光、治弱视；急性内斜先排颅内病。</a:t>
            </a:r>
          </a:p>
        </p:txBody>
      </p:sp>
      <p:sp>
        <p:nvSpPr>
          <p:cNvPr id="28" name="2026 PDF1–4、7–8、19–20"/>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29" name="Rectangle 28"/>
          <p:cNvSpPr/>
          <p:nvPr/>
        </p:nvSpPr>
        <p:spPr>
          <a:xfrm>
            <a:off x="3952720" y="1529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内斜分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31" name="全矫后正位→屈光调节性；残余&gt;10△→部分调节性，治弱视后手术。高AC/A&gt;6:1、视近内斜视度大于"/>
          <p:cNvSpPr txBox="1"/>
          <p:nvPr/>
        </p:nvSpPr>
        <p:spPr>
          <a:xfrm>
            <a:off x="4054320" y="1719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32" name="2026 PDF5–7"/>
          <p:cNvSpPr txBox="1"/>
          <p:nvPr/>
        </p:nvSpPr>
        <p:spPr>
          <a:xfrm>
            <a:off x="4054320" y="2187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33" name="Rectangle 32"/>
          <p:cNvSpPr/>
          <p:nvPr/>
        </p:nvSpPr>
        <p:spPr>
          <a:xfrm>
            <a:off x="3952720" y="2443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先天斜视时机"/>
          <p:cNvSpPr txBox="1"/>
          <p:nvPr/>
        </p:nvSpPr>
        <p:spPr>
          <a:xfrm>
            <a:off x="4054320" y="2481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35" name="先天内斜：≥+2.00 DS先戴镜观察3～6月，建议24月龄前手术。先天外斜12～18月，不稳可18"/>
          <p:cNvSpPr txBox="1"/>
          <p:nvPr/>
        </p:nvSpPr>
        <p:spPr>
          <a:xfrm>
            <a:off x="4054320" y="2634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36" name="2026 PDF4–5、9–10"/>
          <p:cNvSpPr txBox="1"/>
          <p:nvPr/>
        </p:nvSpPr>
        <p:spPr>
          <a:xfrm>
            <a:off x="4054320" y="2954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37" name="Rectangle 36"/>
          <p:cNvSpPr/>
          <p:nvPr/>
        </p:nvSpPr>
        <p:spPr>
          <a:xfrm>
            <a:off x="3952720" y="3210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间歇外斜"/>
          <p:cNvSpPr txBox="1"/>
          <p:nvPr/>
        </p:nvSpPr>
        <p:spPr>
          <a:xfrm>
            <a:off x="4054320" y="3248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39" name="控制好观察；频发、控制恶化、立体视/融合下降考虑手术。基本型差&lt;10△；分开过强/集合不足差≥15△"/>
          <p:cNvSpPr txBox="1"/>
          <p:nvPr/>
        </p:nvSpPr>
        <p:spPr>
          <a:xfrm>
            <a:off x="4054320" y="3401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40" name="2026 PDF9–10"/>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斜视诊疗指南"/>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4" name="2026 指南 · 正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基本评估"/>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47" name="病史、远近视力、儿童麻痹验光；眼位/运动及双眼视。先矫屈光、治弱视；急性内斜先排颅内病。"/>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000000"/>
                </a:solidFill>
                <a:latin typeface="Microsoft YaHei"/>
                <a:ea typeface="Microsoft YaHei"/>
                <a:cs typeface="Microsoft YaHei"/>
              </a:rPr>
              <a:t>屈光、治弱视；急性内斜先排颅内病。</a:t>
            </a:r>
          </a:p>
        </p:txBody>
      </p:sp>
      <p:sp>
        <p:nvSpPr>
          <p:cNvPr id="48" name="2026 PDF1–4、7–8、19–20"/>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49" name="Rectangle 48"/>
          <p:cNvSpPr/>
          <p:nvPr/>
        </p:nvSpPr>
        <p:spPr>
          <a:xfrm>
            <a:off x="172720" y="6857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内斜分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51" name="全矫后正位→屈光调节性；残余&gt;10△→部分调节性，治弱视后手术。高AC/A&gt;6:1、视近内斜视度大于"/>
          <p:cNvSpPr txBox="1"/>
          <p:nvPr/>
        </p:nvSpPr>
        <p:spPr>
          <a:xfrm>
            <a:off x="27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52" name="2026 PDF5–7"/>
          <p:cNvSpPr txBox="1"/>
          <p:nvPr/>
        </p:nvSpPr>
        <p:spPr>
          <a:xfrm>
            <a:off x="27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53" name="Rectangle 52"/>
          <p:cNvSpPr/>
          <p:nvPr/>
        </p:nvSpPr>
        <p:spPr>
          <a:xfrm>
            <a:off x="17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先天斜视时机"/>
          <p:cNvSpPr txBox="1"/>
          <p:nvPr/>
        </p:nvSpPr>
        <p:spPr>
          <a:xfrm>
            <a:off x="27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55" name="先天内斜：≥+2.00 DS先戴镜观察3～6月，建议24月龄前手术。先天外斜12～18月，不稳可18"/>
          <p:cNvSpPr txBox="1"/>
          <p:nvPr/>
        </p:nvSpPr>
        <p:spPr>
          <a:xfrm>
            <a:off x="27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56" name="2026 PDF4–5、9–10"/>
          <p:cNvSpPr txBox="1"/>
          <p:nvPr/>
        </p:nvSpPr>
        <p:spPr>
          <a:xfrm>
            <a:off x="27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57" name="Rectangle 56"/>
          <p:cNvSpPr/>
          <p:nvPr/>
        </p:nvSpPr>
        <p:spPr>
          <a:xfrm>
            <a:off x="17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间歇外斜"/>
          <p:cNvSpPr txBox="1"/>
          <p:nvPr/>
        </p:nvSpPr>
        <p:spPr>
          <a:xfrm>
            <a:off x="27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59" name="控制好观察；频发、控制恶化、立体视/融合下降考虑手术。基本型差&lt;10△；分开过强/集合不足差≥15△"/>
          <p:cNvSpPr txBox="1"/>
          <p:nvPr/>
        </p:nvSpPr>
        <p:spPr>
          <a:xfrm>
            <a:off x="27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60" name="2026 PDF9–10"/>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斜视诊疗指南"/>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64" name="2026 指南 · 正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基本评估"/>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67" name="病史、远近视力、儿童麻痹验光；眼位/运动及双眼视。先矫屈光、治弱视；急性内斜先排颅内病。"/>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000000"/>
                </a:solidFill>
                <a:latin typeface="Microsoft YaHei"/>
                <a:ea typeface="Microsoft YaHei"/>
                <a:cs typeface="Microsoft YaHei"/>
              </a:rPr>
              <a:t>屈光、治弱视；急性内斜先排颅内病。</a:t>
            </a:r>
          </a:p>
        </p:txBody>
      </p:sp>
      <p:sp>
        <p:nvSpPr>
          <p:cNvPr id="68" name="2026 PDF1–4、7–8、19–20"/>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69" name="Rectangle 68"/>
          <p:cNvSpPr/>
          <p:nvPr/>
        </p:nvSpPr>
        <p:spPr>
          <a:xfrm>
            <a:off x="3952720" y="6857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内斜分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71" name="全矫后正位→屈光调节性；残余&gt;10△→部分调节性，治弱视后手术。高AC/A&gt;6:1、视近内斜视度大于"/>
          <p:cNvSpPr txBox="1"/>
          <p:nvPr/>
        </p:nvSpPr>
        <p:spPr>
          <a:xfrm>
            <a:off x="4054320" y="7047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72" name="2026 PDF5–7"/>
          <p:cNvSpPr txBox="1"/>
          <p:nvPr/>
        </p:nvSpPr>
        <p:spPr>
          <a:xfrm>
            <a:off x="4054320" y="7515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73" name="Rectangle 72"/>
          <p:cNvSpPr/>
          <p:nvPr/>
        </p:nvSpPr>
        <p:spPr>
          <a:xfrm>
            <a:off x="3952720" y="7771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先天斜视时机"/>
          <p:cNvSpPr txBox="1"/>
          <p:nvPr/>
        </p:nvSpPr>
        <p:spPr>
          <a:xfrm>
            <a:off x="4054320" y="7809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75" name="先天内斜：≥+2.00 DS先戴镜观察3～6月，建议24月龄前手术。先天外斜12～18月，不稳可18"/>
          <p:cNvSpPr txBox="1"/>
          <p:nvPr/>
        </p:nvSpPr>
        <p:spPr>
          <a:xfrm>
            <a:off x="4054320" y="7962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76" name="2026 PDF4–5、9–10"/>
          <p:cNvSpPr txBox="1"/>
          <p:nvPr/>
        </p:nvSpPr>
        <p:spPr>
          <a:xfrm>
            <a:off x="4054320" y="8282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77" name="Rectangle 76"/>
          <p:cNvSpPr/>
          <p:nvPr/>
        </p:nvSpPr>
        <p:spPr>
          <a:xfrm>
            <a:off x="3952720" y="8538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间歇外斜"/>
          <p:cNvSpPr txBox="1"/>
          <p:nvPr/>
        </p:nvSpPr>
        <p:spPr>
          <a:xfrm>
            <a:off x="4054320" y="8576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79" name="控制好观察；频发、控制恶化、立体视/融合下降考虑手术。基本型差&lt;10△；分开过强/集合不足差≥15△"/>
          <p:cNvSpPr txBox="1"/>
          <p:nvPr/>
        </p:nvSpPr>
        <p:spPr>
          <a:xfrm>
            <a:off x="4054320" y="87292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80" name="2026 PDF9–10"/>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 name="2026 指南 · 背面"/>
          <p:cNvSpPr txBox="1"/>
          <p:nvPr/>
        </p:nvSpPr>
        <p:spPr>
          <a:xfrm>
            <a:off x="23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5" name="Rectangle 4"/>
          <p:cNvSpPr/>
          <p:nvPr/>
        </p:nvSpPr>
        <p:spPr>
          <a:xfrm>
            <a:off x="17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麻痹/限制与红旗"/>
          <p:cNvSpPr txBox="1"/>
          <p:nvPr/>
        </p:nvSpPr>
        <p:spPr>
          <a:xfrm>
            <a:off x="27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7" name="先找病因；多数角度稳定约6月再手术，急性肌断裂/眶嵌顿可早介入。术后严重外转受限+复视警惕滑脱。"/>
          <p:cNvSpPr txBox="1"/>
          <p:nvPr/>
        </p:nvSpPr>
        <p:spPr>
          <a:xfrm>
            <a:off x="27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8" name="2026 PDF7–8、11、13–14"/>
          <p:cNvSpPr txBox="1"/>
          <p:nvPr/>
        </p:nvSpPr>
        <p:spPr>
          <a:xfrm>
            <a:off x="27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9" name="Rectangle 8"/>
          <p:cNvSpPr/>
          <p:nvPr/>
        </p:nvSpPr>
        <p:spPr>
          <a:xfrm>
            <a:off x="17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前与用药"/>
          <p:cNvSpPr txBox="1"/>
          <p:nvPr/>
        </p:nvSpPr>
        <p:spPr>
          <a:xfrm>
            <a:off x="27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11" name="儿童全麻需麻醉/儿科评估；2026指南：抗生素术前3日、每日3～4次，品种/滴数未明确。&lt;12岁通常"/>
          <p:cNvSpPr txBox="1"/>
          <p:nvPr/>
        </p:nvSpPr>
        <p:spPr>
          <a:xfrm>
            <a:off x="27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12" name="2026 PDF19–21"/>
          <p:cNvSpPr txBox="1"/>
          <p:nvPr/>
        </p:nvSpPr>
        <p:spPr>
          <a:xfrm>
            <a:off x="27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13" name="Rectangle 12"/>
          <p:cNvSpPr/>
          <p:nvPr/>
        </p:nvSpPr>
        <p:spPr>
          <a:xfrm>
            <a:off x="17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随访"/>
          <p:cNvSpPr txBox="1"/>
          <p:nvPr/>
        </p:nvSpPr>
        <p:spPr>
          <a:xfrm>
            <a:off x="27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5" name="术后1天、1周、1月、3月、6月；后每6～12月，至视觉发育成熟。调节性内斜5岁前每6月验光，之后每"/>
          <p:cNvSpPr txBox="1"/>
          <p:nvPr/>
        </p:nvSpPr>
        <p:spPr>
          <a:xfrm>
            <a:off x="27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000000"/>
                </a:solidFill>
                <a:latin typeface="Microsoft YaHei"/>
                <a:ea typeface="Microsoft YaHei"/>
                <a:cs typeface="Microsoft YaHei"/>
              </a:rPr>
              <a:t>成熟。调节性内斜5岁前每6月验光，之后每年。</a:t>
            </a:r>
          </a:p>
        </p:txBody>
      </p:sp>
      <p:sp>
        <p:nvSpPr>
          <p:cNvPr id="16" name="2026 PDF5–6、21"/>
          <p:cNvSpPr txBox="1"/>
          <p:nvPr/>
        </p:nvSpPr>
        <p:spPr>
          <a:xfrm>
            <a:off x="27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17" name="Rectangle 16"/>
          <p:cNvSpPr/>
          <p:nvPr/>
        </p:nvSpPr>
        <p:spPr>
          <a:xfrm>
            <a:off x="172720" y="3063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类型与缺项"/>
          <p:cNvSpPr txBox="1"/>
          <p:nvPr/>
        </p:nvSpPr>
        <p:spPr>
          <a:xfrm>
            <a:off x="27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19" name="A-V、Duane、Brown、TED、重眼/MG等需专病路径，见提取表；无统一手术量/分层评分，不"/>
          <p:cNvSpPr txBox="1"/>
          <p:nvPr/>
        </p:nvSpPr>
        <p:spPr>
          <a:xfrm>
            <a:off x="274320" y="3253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20" name="2026 PDF9–21"/>
          <p:cNvSpPr txBox="1"/>
          <p:nvPr/>
        </p:nvSpPr>
        <p:spPr>
          <a:xfrm>
            <a:off x="27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21" name="原文摘录；处方前核对。详见提取表与原文缺项。&#10;100%原尺寸 · 双面长边翻转"/>
          <p:cNvSpPr txBox="1"/>
          <p:nvPr/>
        </p:nvSpPr>
        <p:spPr>
          <a:xfrm>
            <a:off x="19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22" name="Rectangle 21"/>
          <p:cNvSpPr/>
          <p:nvPr/>
        </p:nvSpPr>
        <p:spPr>
          <a:xfrm>
            <a:off x="3940020" y="178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斜视诊疗指南"/>
          <p:cNvSpPr txBox="1"/>
          <p:nvPr/>
        </p:nvSpPr>
        <p:spPr>
          <a:xfrm>
            <a:off x="4016220" y="216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24" name="2026 指南 · 背面"/>
          <p:cNvSpPr txBox="1"/>
          <p:nvPr/>
        </p:nvSpPr>
        <p:spPr>
          <a:xfrm>
            <a:off x="4016220" y="432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25" name="Rectangle 24"/>
          <p:cNvSpPr/>
          <p:nvPr/>
        </p:nvSpPr>
        <p:spPr>
          <a:xfrm>
            <a:off x="3952720" y="762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麻痹/限制与红旗"/>
          <p:cNvSpPr txBox="1"/>
          <p:nvPr/>
        </p:nvSpPr>
        <p:spPr>
          <a:xfrm>
            <a:off x="4054320" y="800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27" name="先找病因；多数角度稳定约6月再手术，急性肌断裂/眶嵌顿可早介入。术后严重外转受限+复视警惕滑脱。"/>
          <p:cNvSpPr txBox="1"/>
          <p:nvPr/>
        </p:nvSpPr>
        <p:spPr>
          <a:xfrm>
            <a:off x="4054320" y="952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28" name="2026 PDF7–8、11、13–14"/>
          <p:cNvSpPr txBox="1"/>
          <p:nvPr/>
        </p:nvSpPr>
        <p:spPr>
          <a:xfrm>
            <a:off x="4054320" y="1272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29" name="Rectangle 28"/>
          <p:cNvSpPr/>
          <p:nvPr/>
        </p:nvSpPr>
        <p:spPr>
          <a:xfrm>
            <a:off x="3952720" y="1529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术前与用药"/>
          <p:cNvSpPr txBox="1"/>
          <p:nvPr/>
        </p:nvSpPr>
        <p:spPr>
          <a:xfrm>
            <a:off x="4054320" y="1567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31" name="儿童全麻需麻醉/儿科评估；2026指南：抗生素术前3日、每日3～4次，品种/滴数未明确。&lt;12岁通常"/>
          <p:cNvSpPr txBox="1"/>
          <p:nvPr/>
        </p:nvSpPr>
        <p:spPr>
          <a:xfrm>
            <a:off x="4054320" y="1719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32" name="2026 PDF19–21"/>
          <p:cNvSpPr txBox="1"/>
          <p:nvPr/>
        </p:nvSpPr>
        <p:spPr>
          <a:xfrm>
            <a:off x="4054320" y="2039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33" name="Rectangle 32"/>
          <p:cNvSpPr/>
          <p:nvPr/>
        </p:nvSpPr>
        <p:spPr>
          <a:xfrm>
            <a:off x="3952720" y="2296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随访"/>
          <p:cNvSpPr txBox="1"/>
          <p:nvPr/>
        </p:nvSpPr>
        <p:spPr>
          <a:xfrm>
            <a:off x="4054320" y="2334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35" name="术后1天、1周、1月、3月、6月；后每6～12月，至视觉发育成熟。调节性内斜5岁前每6月验光，之后每"/>
          <p:cNvSpPr txBox="1"/>
          <p:nvPr/>
        </p:nvSpPr>
        <p:spPr>
          <a:xfrm>
            <a:off x="4054320" y="2486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000000"/>
                </a:solidFill>
                <a:latin typeface="Microsoft YaHei"/>
                <a:ea typeface="Microsoft YaHei"/>
                <a:cs typeface="Microsoft YaHei"/>
              </a:rPr>
              <a:t>成熟。调节性内斜5岁前每6月验光，之后每年。</a:t>
            </a:r>
          </a:p>
        </p:txBody>
      </p:sp>
      <p:sp>
        <p:nvSpPr>
          <p:cNvPr id="36" name="2026 PDF5–6、21"/>
          <p:cNvSpPr txBox="1"/>
          <p:nvPr/>
        </p:nvSpPr>
        <p:spPr>
          <a:xfrm>
            <a:off x="4054320" y="2806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37" name="Rectangle 36"/>
          <p:cNvSpPr/>
          <p:nvPr/>
        </p:nvSpPr>
        <p:spPr>
          <a:xfrm>
            <a:off x="3952720" y="3063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特殊类型与缺项"/>
          <p:cNvSpPr txBox="1"/>
          <p:nvPr/>
        </p:nvSpPr>
        <p:spPr>
          <a:xfrm>
            <a:off x="4054320" y="3101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39" name="A-V、Duane、Brown、TED、重眼/MG等需专病路径，见提取表；无统一手术量/分层评分，不"/>
          <p:cNvSpPr txBox="1"/>
          <p:nvPr/>
        </p:nvSpPr>
        <p:spPr>
          <a:xfrm>
            <a:off x="4054320" y="3253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40" name="2026 PDF9–21"/>
          <p:cNvSpPr txBox="1"/>
          <p:nvPr/>
        </p:nvSpPr>
        <p:spPr>
          <a:xfrm>
            <a:off x="4054320" y="3721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41" name="原文摘录；处方前核对。详见提取表与原文缺项。&#10;100%原尺寸 · 双面长边翻转"/>
          <p:cNvSpPr txBox="1"/>
          <p:nvPr/>
        </p:nvSpPr>
        <p:spPr>
          <a:xfrm>
            <a:off x="3978120" y="4888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42" name="Rectangle 41"/>
          <p:cNvSpPr/>
          <p:nvPr/>
        </p:nvSpPr>
        <p:spPr>
          <a:xfrm>
            <a:off x="16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斜视诊疗指南"/>
          <p:cNvSpPr txBox="1"/>
          <p:nvPr/>
        </p:nvSpPr>
        <p:spPr>
          <a:xfrm>
            <a:off x="23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4" name="2026 指南 · 背面"/>
          <p:cNvSpPr txBox="1"/>
          <p:nvPr/>
        </p:nvSpPr>
        <p:spPr>
          <a:xfrm>
            <a:off x="23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45" name="Rectangle 44"/>
          <p:cNvSpPr/>
          <p:nvPr/>
        </p:nvSpPr>
        <p:spPr>
          <a:xfrm>
            <a:off x="17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麻痹/限制与红旗"/>
          <p:cNvSpPr txBox="1"/>
          <p:nvPr/>
        </p:nvSpPr>
        <p:spPr>
          <a:xfrm>
            <a:off x="27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47" name="先找病因；多数角度稳定约6月再手术，急性肌断裂/眶嵌顿可早介入。术后严重外转受限+复视警惕滑脱。"/>
          <p:cNvSpPr txBox="1"/>
          <p:nvPr/>
        </p:nvSpPr>
        <p:spPr>
          <a:xfrm>
            <a:off x="27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48" name="2026 PDF7–8、11、13–14"/>
          <p:cNvSpPr txBox="1"/>
          <p:nvPr/>
        </p:nvSpPr>
        <p:spPr>
          <a:xfrm>
            <a:off x="27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49" name="Rectangle 48"/>
          <p:cNvSpPr/>
          <p:nvPr/>
        </p:nvSpPr>
        <p:spPr>
          <a:xfrm>
            <a:off x="17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术前与用药"/>
          <p:cNvSpPr txBox="1"/>
          <p:nvPr/>
        </p:nvSpPr>
        <p:spPr>
          <a:xfrm>
            <a:off x="27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51" name="儿童全麻需麻醉/儿科评估；2026指南：抗生素术前3日、每日3～4次，品种/滴数未明确。&lt;12岁通常"/>
          <p:cNvSpPr txBox="1"/>
          <p:nvPr/>
        </p:nvSpPr>
        <p:spPr>
          <a:xfrm>
            <a:off x="27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52" name="2026 PDF19–21"/>
          <p:cNvSpPr txBox="1"/>
          <p:nvPr/>
        </p:nvSpPr>
        <p:spPr>
          <a:xfrm>
            <a:off x="27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53" name="Rectangle 52"/>
          <p:cNvSpPr/>
          <p:nvPr/>
        </p:nvSpPr>
        <p:spPr>
          <a:xfrm>
            <a:off x="17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随访"/>
          <p:cNvSpPr txBox="1"/>
          <p:nvPr/>
        </p:nvSpPr>
        <p:spPr>
          <a:xfrm>
            <a:off x="27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55" name="术后1天、1周、1月、3月、6月；后每6～12月，至视觉发育成熟。调节性内斜5岁前每6月验光，之后每"/>
          <p:cNvSpPr txBox="1"/>
          <p:nvPr/>
        </p:nvSpPr>
        <p:spPr>
          <a:xfrm>
            <a:off x="27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000000"/>
                </a:solidFill>
                <a:latin typeface="Microsoft YaHei"/>
                <a:ea typeface="Microsoft YaHei"/>
                <a:cs typeface="Microsoft YaHei"/>
              </a:rPr>
              <a:t>成熟。调节性内斜5岁前每6月验光，之后每年。</a:t>
            </a:r>
          </a:p>
        </p:txBody>
      </p:sp>
      <p:sp>
        <p:nvSpPr>
          <p:cNvPr id="56" name="2026 PDF5–6、21"/>
          <p:cNvSpPr txBox="1"/>
          <p:nvPr/>
        </p:nvSpPr>
        <p:spPr>
          <a:xfrm>
            <a:off x="27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57" name="Rectangle 56"/>
          <p:cNvSpPr/>
          <p:nvPr/>
        </p:nvSpPr>
        <p:spPr>
          <a:xfrm>
            <a:off x="172720" y="8391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特殊类型与缺项"/>
          <p:cNvSpPr txBox="1"/>
          <p:nvPr/>
        </p:nvSpPr>
        <p:spPr>
          <a:xfrm>
            <a:off x="27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59" name="A-V、Duane、Brown、TED、重眼/MG等需专病路径，见提取表；无统一手术量/分层评分，不"/>
          <p:cNvSpPr txBox="1"/>
          <p:nvPr/>
        </p:nvSpPr>
        <p:spPr>
          <a:xfrm>
            <a:off x="274320" y="8581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60" name="2026 PDF9–21"/>
          <p:cNvSpPr txBox="1"/>
          <p:nvPr/>
        </p:nvSpPr>
        <p:spPr>
          <a:xfrm>
            <a:off x="27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61" name="原文摘录；处方前核对。详见提取表与原文缺项。&#10;100%原尺寸 · 双面长边翻转"/>
          <p:cNvSpPr txBox="1"/>
          <p:nvPr/>
        </p:nvSpPr>
        <p:spPr>
          <a:xfrm>
            <a:off x="19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
        <p:nvSpPr>
          <p:cNvPr id="62" name="Rectangle 61"/>
          <p:cNvSpPr/>
          <p:nvPr/>
        </p:nvSpPr>
        <p:spPr>
          <a:xfrm>
            <a:off x="3940020" y="5506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斜视诊疗指南"/>
          <p:cNvSpPr txBox="1"/>
          <p:nvPr/>
        </p:nvSpPr>
        <p:spPr>
          <a:xfrm>
            <a:off x="4016220" y="5544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64" name="2026 指南 · 背面"/>
          <p:cNvSpPr txBox="1"/>
          <p:nvPr/>
        </p:nvSpPr>
        <p:spPr>
          <a:xfrm>
            <a:off x="4016220" y="5760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65" name="Rectangle 64"/>
          <p:cNvSpPr/>
          <p:nvPr/>
        </p:nvSpPr>
        <p:spPr>
          <a:xfrm>
            <a:off x="3952720" y="6090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麻痹/限制与红旗"/>
          <p:cNvSpPr txBox="1"/>
          <p:nvPr/>
        </p:nvSpPr>
        <p:spPr>
          <a:xfrm>
            <a:off x="4054320" y="6128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67" name="先找病因；多数角度稳定约6月再手术，急性肌断裂/眶嵌顿可早介入。术后严重外转受限+复视警惕滑脱。"/>
          <p:cNvSpPr txBox="1"/>
          <p:nvPr/>
        </p:nvSpPr>
        <p:spPr>
          <a:xfrm>
            <a:off x="4054320" y="628072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68" name="2026 PDF7–8、11、13–14"/>
          <p:cNvSpPr txBox="1"/>
          <p:nvPr/>
        </p:nvSpPr>
        <p:spPr>
          <a:xfrm>
            <a:off x="4054320" y="6600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69" name="Rectangle 68"/>
          <p:cNvSpPr/>
          <p:nvPr/>
        </p:nvSpPr>
        <p:spPr>
          <a:xfrm>
            <a:off x="3952720" y="6857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术前与用药"/>
          <p:cNvSpPr txBox="1"/>
          <p:nvPr/>
        </p:nvSpPr>
        <p:spPr>
          <a:xfrm>
            <a:off x="4054320" y="6895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71" name="儿童全麻需麻醉/儿科评估；2026指南：抗生素术前3日、每日3～4次，品种/滴数未明确。&lt;12岁通常"/>
          <p:cNvSpPr txBox="1"/>
          <p:nvPr/>
        </p:nvSpPr>
        <p:spPr>
          <a:xfrm>
            <a:off x="4054320" y="7047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72" name="2026 PDF19–21"/>
          <p:cNvSpPr txBox="1"/>
          <p:nvPr/>
        </p:nvSpPr>
        <p:spPr>
          <a:xfrm>
            <a:off x="4054320" y="73678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73" name="Rectangle 72"/>
          <p:cNvSpPr/>
          <p:nvPr/>
        </p:nvSpPr>
        <p:spPr>
          <a:xfrm>
            <a:off x="3952720" y="7624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随访"/>
          <p:cNvSpPr txBox="1"/>
          <p:nvPr/>
        </p:nvSpPr>
        <p:spPr>
          <a:xfrm>
            <a:off x="4054320" y="7662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75" name="术后1天、1周、1月、3月、6月；后每6～12月，至视觉发育成熟。调节性内斜5岁前每6月验光，之后每"/>
          <p:cNvSpPr txBox="1"/>
          <p:nvPr/>
        </p:nvSpPr>
        <p:spPr>
          <a:xfrm>
            <a:off x="4054320" y="7814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000000"/>
                </a:solidFill>
                <a:latin typeface="Microsoft YaHei"/>
                <a:ea typeface="Microsoft YaHei"/>
                <a:cs typeface="Microsoft YaHei"/>
              </a:rPr>
              <a:t>成熟。调节性内斜5岁前每6月验光，之后每年。</a:t>
            </a:r>
          </a:p>
        </p:txBody>
      </p:sp>
      <p:sp>
        <p:nvSpPr>
          <p:cNvPr id="76" name="2026 PDF5–6、21"/>
          <p:cNvSpPr txBox="1"/>
          <p:nvPr/>
        </p:nvSpPr>
        <p:spPr>
          <a:xfrm>
            <a:off x="4054320" y="8134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77" name="Rectangle 76"/>
          <p:cNvSpPr/>
          <p:nvPr/>
        </p:nvSpPr>
        <p:spPr>
          <a:xfrm>
            <a:off x="3952720" y="8391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特殊类型与缺项"/>
          <p:cNvSpPr txBox="1"/>
          <p:nvPr/>
        </p:nvSpPr>
        <p:spPr>
          <a:xfrm>
            <a:off x="4054320" y="8429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79" name="A-V、Duane、Brown、TED、重眼/MG等需专病路径，见提取表；无统一手术量/分层评分，不"/>
          <p:cNvSpPr txBox="1"/>
          <p:nvPr/>
        </p:nvSpPr>
        <p:spPr>
          <a:xfrm>
            <a:off x="4054320" y="8581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80" name="2026 PDF9–21"/>
          <p:cNvSpPr txBox="1"/>
          <p:nvPr/>
        </p:nvSpPr>
        <p:spPr>
          <a:xfrm>
            <a:off x="4054320" y="9049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81" name="原文摘录；处方前核对。详见提取表与原文缺项。&#10;100%原尺寸 · 双面长边翻转"/>
          <p:cNvSpPr txBox="1"/>
          <p:nvPr/>
        </p:nvSpPr>
        <p:spPr>
          <a:xfrm>
            <a:off x="3978120" y="10216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cxnSp>
        <p:nvCxnSpPr>
          <p:cNvPr id="82" name="Connector 81"/>
          <p:cNvCxnSpPr/>
          <p:nvPr/>
        </p:nvCxnSpPr>
        <p:spPr>
          <a:xfrm>
            <a:off x="3780000" y="0"/>
            <a:ext cx="0" cy="1069200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0" y="18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0" y="5346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0" y="10674000"/>
            <a:ext cx="7560000" cy="0"/>
          </a:xfrm>
          <a:prstGeom prst="line">
            <a:avLst/>
          </a:prstGeom>
          <a:ln w="3175">
            <a:solidFill>
              <a:srgbClr val="91919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A4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