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strabismus-09 间歇外斜分型：基本型远近差&lt;10△；分开过强型：远距斜视度较近距大，差值≥15△，遮盖一眼30～60 min仍大；集合不足型：近距斜视度较远距大，差值≥15△；类似分开过强型遮盖后近角增大。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a:p/>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a:p/>
          <a:p>
            <a:r>
              <a:t>strabismus-21 眼震与视网膜性复视：眼震先屈光矫正，棱镜或手术改善头位/视觉；视网膜注视点易位需影像与专门试验，融合困难时斜视手术成功率低。</a:t>
            </a:r>
          </a:p>
          <a:p>
            <a:r>
              <a:t>来源：2026 PDF18–19；类别：特殊类型；推荐等级：原文未明确。</a:t>
            </a:r>
          </a:p>
          <a:p>
            <a:r>
              <a:t>原文锚点：伴有视物变形、视物变小或变大等表现。可通过开灯-关灯试验、视标框试验及眼底影像辅助判断。治疗：最有效的治疗方法是采用单眼雾视法，生成中心凹盲点而成功消除中心凹冲突。如果通过同视机或三棱镜不能满意地消除或减少主观复视，则斜视手术成功率低。四、斜视的手术操作规范（一）术前检查1.一般检查（1）视力及验光检查：分别检查裸眼及矫正的远、近视力，明确屈光状态。（2）眼压：异常者需综合评估，审慎把握手术时机。（3）外眼、眼前节、眼底检查：排除器质性病变，行眼底照相客观评估眼球旋转状态。2.斜视专科检查（1）眼位：联合应用角膜映</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斜视诊疗指南"/>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斜视诊疗指南</a:t>
            </a:r>
          </a:p>
        </p:txBody>
      </p:sp>
      <p:sp>
        <p:nvSpPr>
          <p:cNvPr id="4" name="判断条件与下一步 · 按本篇原文整理 · 2026"/>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2026</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病史、眼位、视力与屈光"/>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病史、眼位、视力与屈光</a:t>
            </a:r>
          </a:p>
        </p:txBody>
      </p:sp>
      <p:sp>
        <p:nvSpPr>
          <p:cNvPr id="7" name="全面眼检查/双眼视；儿童睫状肌麻痹验光；急性/非共同或外伤 → 先病因与必要神经/眶影像。"/>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全面眼检查/双眼视；儿童睫状肌麻痹验光；急性/非共</a:t>
            </a:r>
          </a:p>
          <a:p>
            <a:pPr>
              <a:lnSpc>
                <a:spcPts val="1630"/>
              </a:lnSpc>
              <a:spcBef>
                <a:spcPts val="0"/>
              </a:spcBef>
              <a:spcAft>
                <a:spcPts val="0"/>
              </a:spcAft>
            </a:pPr>
            <a:r>
              <a:rPr sz="1340" b="0" lang="zh-CN">
                <a:solidFill>
                  <a:srgbClr val="1E2E3B"/>
                </a:solidFill>
                <a:latin typeface="Microsoft YaHei"/>
                <a:ea typeface="Microsoft YaHei"/>
                <a:cs typeface="Microsoft YaHei"/>
              </a:rPr>
              <a:t>同或外伤 → 先病因与必要神经/眶影像。</a:t>
            </a:r>
          </a:p>
        </p:txBody>
      </p:sp>
      <p:sp>
        <p:nvSpPr>
          <p:cNvPr id="8" name="2026 PDF1–3、7–8、11、13–14、19–20"/>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PDF1–3、7–8、11、13–14、19–20</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先屈光与弱视处理"/>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先屈光与弱视处理</a:t>
            </a:r>
          </a:p>
        </p:txBody>
      </p:sp>
      <p:sp>
        <p:nvSpPr>
          <p:cNvPr id="12" name="足矫及弱视治疗后，重新测量远近角和控制/立体视，再按内/外/特殊分支决策。"/>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足矫及弱视治疗后，重新测量远近角和控制/立体视，再</a:t>
            </a:r>
          </a:p>
          <a:p>
            <a:pPr>
              <a:lnSpc>
                <a:spcPts val="1630"/>
              </a:lnSpc>
              <a:spcBef>
                <a:spcPts val="0"/>
              </a:spcBef>
              <a:spcAft>
                <a:spcPts val="0"/>
              </a:spcAft>
            </a:pPr>
            <a:r>
              <a:rPr sz="1340" b="0" lang="zh-CN">
                <a:solidFill>
                  <a:srgbClr val="1E2E3B"/>
                </a:solidFill>
                <a:latin typeface="Microsoft YaHei"/>
                <a:ea typeface="Microsoft YaHei"/>
                <a:cs typeface="Microsoft YaHei"/>
              </a:rPr>
              <a:t>按内/外/特殊分支决策。</a:t>
            </a:r>
          </a:p>
        </p:txBody>
      </p:sp>
      <p:sp>
        <p:nvSpPr>
          <p:cNvPr id="13" name="2026 PDF3–7"/>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PDF3–7</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内斜分支"/>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内斜分支</a:t>
            </a:r>
          </a:p>
        </p:txBody>
      </p:sp>
      <p:sp>
        <p:nvSpPr>
          <p:cNvPr id="17" name="全矫正位→调节性；残余&gt;10△→部分调节性评估手术；高AC/A&gt;6:1→双焦点等；先天按年龄时机。"/>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全矫正位→调节性；残余&gt;10△→部分调节性评估手</a:t>
            </a:r>
          </a:p>
          <a:p>
            <a:pPr>
              <a:lnSpc>
                <a:spcPts val="1630"/>
              </a:lnSpc>
              <a:spcBef>
                <a:spcPts val="0"/>
              </a:spcBef>
              <a:spcAft>
                <a:spcPts val="0"/>
              </a:spcAft>
            </a:pPr>
            <a:r>
              <a:rPr sz="1340" b="0" lang="zh-CN">
                <a:solidFill>
                  <a:srgbClr val="1E2E3B"/>
                </a:solidFill>
                <a:latin typeface="Microsoft YaHei"/>
                <a:ea typeface="Microsoft YaHei"/>
                <a:cs typeface="Microsoft YaHei"/>
              </a:rPr>
              <a:t>术；高AC/A&gt;6:1→双焦点等；先天按年龄时机。</a:t>
            </a:r>
          </a:p>
        </p:txBody>
      </p:sp>
      <p:sp>
        <p:nvSpPr>
          <p:cNvPr id="18" name="2026 PDF4–7"/>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PDF4–7</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外斜分支"/>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外斜分支</a:t>
            </a:r>
          </a:p>
        </p:txBody>
      </p:sp>
      <p:sp>
        <p:nvSpPr>
          <p:cNvPr id="22" name="控制良好→观察；频率/评分恶化或立体视下降→考虑手术；恒定/先天按对应时机。"/>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控制良好→观察；频率/评分恶化或立体视下降→考虑手</a:t>
            </a:r>
          </a:p>
          <a:p>
            <a:pPr>
              <a:lnSpc>
                <a:spcPts val="1630"/>
              </a:lnSpc>
              <a:spcBef>
                <a:spcPts val="0"/>
              </a:spcBef>
              <a:spcAft>
                <a:spcPts val="0"/>
              </a:spcAft>
            </a:pPr>
            <a:r>
              <a:rPr sz="1340" b="0" lang="zh-CN">
                <a:solidFill>
                  <a:srgbClr val="1E2E3B"/>
                </a:solidFill>
                <a:latin typeface="Microsoft YaHei"/>
                <a:ea typeface="Microsoft YaHei"/>
                <a:cs typeface="Microsoft YaHei"/>
              </a:rPr>
              <a:t>术；恒定/先天按对应时机。</a:t>
            </a:r>
          </a:p>
        </p:txBody>
      </p:sp>
      <p:sp>
        <p:nvSpPr>
          <p:cNvPr id="23" name="2026 PDF9–10"/>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PDF9–10</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麻痹/特殊分支"/>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麻痹/特殊分支</a:t>
            </a:r>
          </a:p>
        </p:txBody>
      </p:sp>
      <p:sp>
        <p:nvSpPr>
          <p:cNvPr id="27" name="病因治疗；一般角度稳定约6月再手术；眶嵌顿/肌断裂等可早介入；各综合征见专门条目。"/>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病因治疗；一般角度稳定约6月再手术；眶嵌顿/肌断裂</a:t>
            </a:r>
          </a:p>
          <a:p>
            <a:pPr>
              <a:lnSpc>
                <a:spcPts val="1630"/>
              </a:lnSpc>
              <a:spcBef>
                <a:spcPts val="0"/>
              </a:spcBef>
              <a:spcAft>
                <a:spcPts val="0"/>
              </a:spcAft>
            </a:pPr>
            <a:r>
              <a:rPr sz="1340" b="0" lang="zh-CN">
                <a:solidFill>
                  <a:srgbClr val="1E2E3B"/>
                </a:solidFill>
                <a:latin typeface="Microsoft YaHei"/>
                <a:ea typeface="Microsoft YaHei"/>
                <a:cs typeface="Microsoft YaHei"/>
              </a:rPr>
              <a:t>等可早介入；各综合征见专门条目。</a:t>
            </a:r>
          </a:p>
        </p:txBody>
      </p:sp>
      <p:sp>
        <p:nvSpPr>
          <p:cNvPr id="28" name="2026 PDF7、11–19"/>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PDF7、11–19</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围术期与长期复查"/>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围术期与长期复查</a:t>
            </a:r>
          </a:p>
        </p:txBody>
      </p:sp>
      <p:sp>
        <p:nvSpPr>
          <p:cNvPr id="32" name="按2026术前方案；术后第1天、第1周、第1、3、6个月，此后每6～12个月；术后异常受限+复视及时"/>
          <p:cNvSpPr txBox="1"/>
          <p:nvPr/>
        </p:nvSpPr>
        <p:spPr>
          <a:xfrm>
            <a:off x="5688900" y="5785066"/>
            <a:ext cx="4482400" cy="68453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按2026术前方案；术后第1天、第1周、第1、3、6个</a:t>
            </a:r>
          </a:p>
          <a:p>
            <a:pPr>
              <a:lnSpc>
                <a:spcPts val="1630"/>
              </a:lnSpc>
              <a:spcBef>
                <a:spcPts val="0"/>
              </a:spcBef>
              <a:spcAft>
                <a:spcPts val="0"/>
              </a:spcAft>
            </a:pPr>
            <a:r>
              <a:rPr sz="1340" b="0" lang="zh-CN">
                <a:solidFill>
                  <a:srgbClr val="1E2E3B"/>
                </a:solidFill>
                <a:latin typeface="Microsoft YaHei"/>
                <a:ea typeface="Microsoft YaHei"/>
                <a:cs typeface="Microsoft YaHei"/>
              </a:rPr>
              <a:t>月，此后每6～12个月；术后异常受限+复视及时排滑</a:t>
            </a:r>
          </a:p>
          <a:p>
            <a:pPr>
              <a:lnSpc>
                <a:spcPts val="1630"/>
              </a:lnSpc>
              <a:spcBef>
                <a:spcPts val="0"/>
              </a:spcBef>
              <a:spcAft>
                <a:spcPts val="0"/>
              </a:spcAft>
            </a:pPr>
            <a:r>
              <a:rPr sz="1340" b="0" lang="zh-CN">
                <a:solidFill>
                  <a:srgbClr val="1E2E3B"/>
                </a:solidFill>
                <a:latin typeface="Microsoft YaHei"/>
                <a:ea typeface="Microsoft YaHei"/>
                <a:cs typeface="Microsoft YaHei"/>
              </a:rPr>
              <a:t>脱。</a:t>
            </a:r>
          </a:p>
        </p:txBody>
      </p:sp>
      <p:sp>
        <p:nvSpPr>
          <p:cNvPr id="33" name="2026 PDF7–8、19–21"/>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PDF7–8、19–21</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斜视诊疗指南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