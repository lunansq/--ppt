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strabismus-09 间歇外斜分型：基本型远近差&lt;10△；分开过强型：远距斜视度较近距大，差值≥15△，遮盖一眼30～60 min仍大；集合不足型：近距斜视度较远距大，差值≥15△；类似分开过强型遮盖后近角增大。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间歇外斜分型：基本型远近差&lt;10△；分开过强型：远距斜视度较近距大，差值≥15△，遮盖一眼30～60 min仍大；集合不足型：近距斜视度较远距大，差值≥15△；类似分开过强型遮盖后近角增大。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基本检查与总原则"/>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基本检查与总原则</a:t>
            </a:r>
          </a:p>
        </p:txBody>
      </p:sp>
      <p:sp>
        <p:nvSpPr>
          <p:cNvPr id="4" name="01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基本病史与检查"/>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基本病史与检查</a:t>
            </a:r>
          </a:p>
        </p:txBody>
      </p:sp>
      <p:sp>
        <p:nvSpPr>
          <p:cNvPr id="9" name="记录起病、恒定/间歇、复视/头位、远近变化和控制；询问儿童围产史及获得性斜视神经/眶病/外伤/全身病"/>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记录起病、恒定/间歇、复视/头位、远近变化和控制；询问儿童围产史及获得性斜视神经/眶病/外伤/全</a:t>
            </a:r>
          </a:p>
          <a:p>
            <a:pPr>
              <a:lnSpc>
                <a:spcPts val="2120"/>
              </a:lnSpc>
              <a:spcBef>
                <a:spcPts val="0"/>
              </a:spcBef>
              <a:spcAft>
                <a:spcPts val="0"/>
              </a:spcAft>
            </a:pPr>
            <a:r>
              <a:rPr sz="1700" b="0" lang="zh-CN">
                <a:solidFill>
                  <a:srgbClr val="1E2E3B"/>
                </a:solidFill>
                <a:latin typeface="Microsoft YaHei"/>
                <a:ea typeface="Microsoft YaHei"/>
                <a:cs typeface="Microsoft YaHei"/>
              </a:rPr>
              <a:t>身病。检查远近视力、外眼/前节/眼底/眼压。</a:t>
            </a:r>
          </a:p>
        </p:txBody>
      </p:sp>
      <p:sp>
        <p:nvSpPr>
          <p:cNvPr id="10" name="2026 PDF1–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PDF1–2</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眼位与双眼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眼位与双眼视</a:t>
            </a:r>
          </a:p>
        </p:txBody>
      </p:sp>
      <p:sp>
        <p:nvSpPr>
          <p:cNvPr id="14" name="遮盖/三棱镜定量，远距5或6 m，近用调节视标；九诊断眼位、运动、Worth/Bagolini/远近"/>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遮盖/三棱镜定量，远距5或6 m，近用调节视标；九诊断眼位、运动、Worth/Bagolini/远近立体视。</a:t>
            </a:r>
          </a:p>
          <a:p>
            <a:pPr>
              <a:lnSpc>
                <a:spcPts val="2120"/>
              </a:lnSpc>
              <a:spcBef>
                <a:spcPts val="0"/>
              </a:spcBef>
              <a:spcAft>
                <a:spcPts val="0"/>
              </a:spcAft>
            </a:pPr>
            <a:r>
              <a:rPr sz="1700" b="0" lang="zh-CN">
                <a:solidFill>
                  <a:srgbClr val="1E2E3B"/>
                </a:solidFill>
                <a:latin typeface="Microsoft YaHei"/>
                <a:ea typeface="Microsoft YaHei"/>
                <a:cs typeface="Microsoft YaHei"/>
              </a:rPr>
              <a:t>疑麻痹/限制时牵拉/收缩试验及按需影像。</a:t>
            </a:r>
          </a:p>
        </p:txBody>
      </p:sp>
      <p:sp>
        <p:nvSpPr>
          <p:cNvPr id="15" name="2026 PDF2–3、19–20"/>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PDF2–3、19–20</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共同治疗原则"/>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共同治疗原则</a:t>
            </a:r>
          </a:p>
        </p:txBody>
      </p:sp>
      <p:sp>
        <p:nvSpPr>
          <p:cNvPr id="19" name="先矫正屈光不正和治疗弱视；手术时机综合类型、斜视稳定性、年龄、双眼视、复视与全身情况。无症状隐斜一般"/>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先矫正屈光不正和治疗弱视；手术时机综合类型、斜视稳定性、年龄、双眼视、复视与全身情况。无症</a:t>
            </a:r>
          </a:p>
          <a:p>
            <a:pPr>
              <a:lnSpc>
                <a:spcPts val="2120"/>
              </a:lnSpc>
              <a:spcBef>
                <a:spcPts val="0"/>
              </a:spcBef>
              <a:spcAft>
                <a:spcPts val="0"/>
              </a:spcAft>
            </a:pPr>
            <a:r>
              <a:rPr sz="1700" b="0" lang="zh-CN">
                <a:solidFill>
                  <a:srgbClr val="1E2E3B"/>
                </a:solidFill>
                <a:latin typeface="Microsoft YaHei"/>
                <a:ea typeface="Microsoft YaHei"/>
                <a:cs typeface="Microsoft YaHei"/>
              </a:rPr>
              <a:t>状隐斜一般不干预。</a:t>
            </a:r>
          </a:p>
        </p:txBody>
      </p:sp>
      <p:sp>
        <p:nvSpPr>
          <p:cNvPr id="20" name="2026 PDF3–4"/>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PDF3–4</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验光与内斜视分支"/>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验光与内斜视分支</a:t>
            </a:r>
          </a:p>
        </p:txBody>
      </p:sp>
      <p:sp>
        <p:nvSpPr>
          <p:cNvPr id="4" name="02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儿童散瞳验光"/>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儿童散瞳验光</a:t>
            </a:r>
          </a:p>
        </p:txBody>
      </p:sp>
      <p:sp>
        <p:nvSpPr>
          <p:cNvPr id="9" name="6岁以上且无内斜，初验可1.0%环喷托酯；残余调节/不稳改1.0%阿托品眼膏或凝胶。内斜一般1%阿托"/>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6岁以上且无内斜，初验可1.0%环喷托酯；残余调节/不稳改1.0%阿托品眼膏或凝胶。内斜一般1%阿</a:t>
            </a:r>
          </a:p>
          <a:p>
            <a:pPr>
              <a:lnSpc>
                <a:spcPts val="2120"/>
              </a:lnSpc>
              <a:spcBef>
                <a:spcPts val="0"/>
              </a:spcBef>
              <a:spcAft>
                <a:spcPts val="0"/>
              </a:spcAft>
            </a:pPr>
            <a:r>
              <a:rPr sz="1700" b="0" lang="zh-CN">
                <a:solidFill>
                  <a:srgbClr val="1E2E3B"/>
                </a:solidFill>
                <a:latin typeface="Microsoft YaHei"/>
                <a:ea typeface="Microsoft YaHei"/>
                <a:cs typeface="Microsoft YaHei"/>
              </a:rPr>
              <a:t>托品；≥12岁且无调节相关异常可酌用复方托吡卡胺。</a:t>
            </a:r>
          </a:p>
        </p:txBody>
      </p:sp>
      <p:sp>
        <p:nvSpPr>
          <p:cNvPr id="10" name="2026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PDF2</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先天内斜"/>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先天内斜</a:t>
            </a:r>
          </a:p>
        </p:txBody>
      </p:sp>
      <p:sp>
        <p:nvSpPr>
          <p:cNvPr id="14" name="生后6个月内持续内斜；通常&gt;40△。&lt;4月龄间歇、可变或&lt;40△密切随访。验光&lt;+2.00 DS可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生后6个月内持续内斜；通常&gt;40△。&lt;4月龄间歇、可变或&lt;40△密切随访。验光&lt;+2.00 DS可不配镜，</a:t>
            </a:r>
          </a:p>
          <a:p>
            <a:pPr>
              <a:lnSpc>
                <a:spcPts val="2120"/>
              </a:lnSpc>
              <a:spcBef>
                <a:spcPts val="0"/>
              </a:spcBef>
              <a:spcAft>
                <a:spcPts val="0"/>
              </a:spcAft>
            </a:pPr>
            <a:r>
              <a:rPr sz="1700" b="0" lang="zh-CN">
                <a:solidFill>
                  <a:srgbClr val="1E2E3B"/>
                </a:solidFill>
                <a:latin typeface="Microsoft YaHei"/>
                <a:ea typeface="Microsoft YaHei"/>
                <a:cs typeface="Microsoft YaHei"/>
              </a:rPr>
              <a:t>≥+2.00 DS戴镜观察3～6月；建议24月龄前手术。</a:t>
            </a:r>
          </a:p>
        </p:txBody>
      </p:sp>
      <p:sp>
        <p:nvSpPr>
          <p:cNvPr id="15" name="2026 PDF4–5"/>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PDF4–5</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屈光调节性内斜"/>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屈光调节性内斜</a:t>
            </a:r>
          </a:p>
        </p:txBody>
      </p:sp>
      <p:sp>
        <p:nvSpPr>
          <p:cNvPr id="19" name="1%阿托品验光后远视足矫，有弱视行遮盖；5岁前每6月复查验光/眼位/矫正视力，5岁后每年。转部分调节"/>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1%阿托品验光后远视足矫，有弱视行遮盖；5岁前每6月复查验光/眼位/矫正视力，5岁后每年。转部分</a:t>
            </a:r>
          </a:p>
          <a:p>
            <a:pPr>
              <a:lnSpc>
                <a:spcPts val="2120"/>
              </a:lnSpc>
              <a:spcBef>
                <a:spcPts val="0"/>
              </a:spcBef>
              <a:spcAft>
                <a:spcPts val="0"/>
              </a:spcAft>
            </a:pPr>
            <a:r>
              <a:rPr sz="1700" b="0" lang="zh-CN">
                <a:solidFill>
                  <a:srgbClr val="1E2E3B"/>
                </a:solidFill>
                <a:latin typeface="Microsoft YaHei"/>
                <a:ea typeface="Microsoft YaHei"/>
                <a:cs typeface="Microsoft YaHei"/>
              </a:rPr>
              <a:t>调节或合并垂直斜尽早手术。</a:t>
            </a:r>
          </a:p>
        </p:txBody>
      </p:sp>
      <p:sp>
        <p:nvSpPr>
          <p:cNvPr id="20" name="2026 PDF5–6"/>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PDF5–6</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调节相关与急性内斜"/>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调节相关与急性内斜</a:t>
            </a:r>
          </a:p>
        </p:txBody>
      </p:sp>
      <p:sp>
        <p:nvSpPr>
          <p:cNvPr id="4" name="03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高AC/A及部分调节性"/>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高AC/A及部分调节性</a:t>
            </a:r>
          </a:p>
        </p:txBody>
      </p:sp>
      <p:sp>
        <p:nvSpPr>
          <p:cNvPr id="9" name="高AC/A：视近内斜视度大于视远10△、AC/A&gt;6:1；双焦点远视足矫，近附加+1.50～+3.0"/>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高AC/A：视近内斜视度大于视远10△、AC/A&gt;6:1；双焦点远视足矫，近附加+1.50～+3.00 DS。部分</a:t>
            </a:r>
          </a:p>
          <a:p>
            <a:pPr>
              <a:lnSpc>
                <a:spcPts val="2120"/>
              </a:lnSpc>
              <a:spcBef>
                <a:spcPts val="0"/>
              </a:spcBef>
              <a:spcAft>
                <a:spcPts val="0"/>
              </a:spcAft>
            </a:pPr>
            <a:r>
              <a:rPr sz="1700" b="0" lang="zh-CN">
                <a:solidFill>
                  <a:srgbClr val="1E2E3B"/>
                </a:solidFill>
                <a:latin typeface="Microsoft YaHei"/>
                <a:ea typeface="Microsoft YaHei"/>
                <a:cs typeface="Microsoft YaHei"/>
              </a:rPr>
              <a:t>调节：全矫后残余内斜&gt;10△，治弱视后手术残余角。</a:t>
            </a:r>
          </a:p>
        </p:txBody>
      </p:sp>
      <p:sp>
        <p:nvSpPr>
          <p:cNvPr id="10" name="2026 PDF6–7"/>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PDF6–7</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急性内斜与术后异常"/>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急性内斜与术后异常</a:t>
            </a:r>
          </a:p>
        </p:txBody>
      </p:sp>
      <p:sp>
        <p:nvSpPr>
          <p:cNvPr id="14" name="急性共同性内斜首先完善神经/影像排除颅内器质病；外斜术后内斜伴明显复视及严重外转受限，警惕肌肉滑脱、"/>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急性共同性内斜首先完善神经/影像排除颅内器质病；外斜术后内斜伴明显复视及严重外转受限，警惕</a:t>
            </a:r>
          </a:p>
          <a:p>
            <a:pPr>
              <a:lnSpc>
                <a:spcPts val="2120"/>
              </a:lnSpc>
              <a:spcBef>
                <a:spcPts val="0"/>
              </a:spcBef>
              <a:spcAft>
                <a:spcPts val="0"/>
              </a:spcAft>
            </a:pPr>
            <a:r>
              <a:rPr sz="1700" b="0" lang="zh-CN">
                <a:solidFill>
                  <a:srgbClr val="1E2E3B"/>
                </a:solidFill>
                <a:latin typeface="Microsoft YaHei"/>
                <a:ea typeface="Microsoft YaHei"/>
                <a:cs typeface="Microsoft YaHei"/>
              </a:rPr>
              <a:t>肌肉滑脱、及时探查。</a:t>
            </a:r>
          </a:p>
        </p:txBody>
      </p:sp>
      <p:sp>
        <p:nvSpPr>
          <p:cNvPr id="15" name="2026 PDF7–8"/>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PDF7–8</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缺项与原文边界"/>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缺项与原文边界</a:t>
            </a:r>
          </a:p>
        </p:txBody>
      </p:sp>
      <p:sp>
        <p:nvSpPr>
          <p:cNvPr id="19" name="无统一正式推荐等级、跨类型手术量表、所有药物剂量/禁忌或单一危险评分；间歇外斜远近差10～&lt;15△的"/>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无统一正式推荐等级、跨类型手术量表、所有药物剂量/禁忌或单一危险评分；间歇外斜远近差10～</a:t>
            </a:r>
          </a:p>
          <a:p>
            <a:pPr>
              <a:lnSpc>
                <a:spcPts val="2120"/>
              </a:lnSpc>
              <a:spcBef>
                <a:spcPts val="0"/>
              </a:spcBef>
              <a:spcAft>
                <a:spcPts val="0"/>
              </a:spcAft>
            </a:pPr>
            <a:r>
              <a:rPr sz="1700" b="0" lang="zh-CN">
                <a:solidFill>
                  <a:srgbClr val="1E2E3B"/>
                </a:solidFill>
                <a:latin typeface="Microsoft YaHei"/>
                <a:ea typeface="Microsoft YaHei"/>
                <a:cs typeface="Microsoft YaHei"/>
              </a:rPr>
              <a:t>&lt;15△的分类边界未单独说明，不补编。</a:t>
            </a:r>
          </a:p>
        </p:txBody>
      </p:sp>
      <p:sp>
        <p:nvSpPr>
          <p:cNvPr id="20" name="2026 PDF9–10、20–2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PDF9–10、20–21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外斜分型与手术时机"/>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外斜分型与手术时机</a:t>
            </a:r>
          </a:p>
        </p:txBody>
      </p:sp>
      <p:sp>
        <p:nvSpPr>
          <p:cNvPr id="4" name="04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间歇外斜分型"/>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间歇外斜分型</a:t>
            </a:r>
          </a:p>
        </p:txBody>
      </p:sp>
      <p:sp>
        <p:nvSpPr>
          <p:cNvPr id="9" name="基本型远近差&lt;10△；分开过强型：远距斜视度较近距大，差值≥15△，遮盖一眼30～60 min仍大；"/>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基本型远近差&lt;10△；分开过强型：远距斜视度较近距大，差值≥15△，遮盖一眼30～60 min仍大；</a:t>
            </a:r>
          </a:p>
          <a:p>
            <a:pPr>
              <a:lnSpc>
                <a:spcPts val="2120"/>
              </a:lnSpc>
              <a:spcBef>
                <a:spcPts val="0"/>
              </a:spcBef>
              <a:spcAft>
                <a:spcPts val="0"/>
              </a:spcAft>
            </a:pPr>
            <a:r>
              <a:rPr sz="1700" b="0" lang="zh-CN">
                <a:solidFill>
                  <a:srgbClr val="1E2E3B"/>
                </a:solidFill>
                <a:latin typeface="Microsoft YaHei"/>
                <a:ea typeface="Microsoft YaHei"/>
                <a:cs typeface="Microsoft YaHei"/>
              </a:rPr>
              <a:t>集合不足型：近距斜视度较远距大，差值≥15△；类似分开过强型遮盖后近角增大。</a:t>
            </a:r>
          </a:p>
        </p:txBody>
      </p:sp>
      <p:sp>
        <p:nvSpPr>
          <p:cNvPr id="10" name="2026 PDF9–10"/>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PDF9–10</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间歇外斜决策"/>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间歇外斜决策</a:t>
            </a:r>
          </a:p>
        </p:txBody>
      </p:sp>
      <p:sp>
        <p:nvSpPr>
          <p:cNvPr id="14" name="控制良好可观察立体视；频发、评分升高、每日较长时间外斜、近立体下降/远立体丧失/融合范围减少 → 考"/>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控制良好可观察立体视；频发、评分升高、每日较长时间外斜、近立体下降/远立体丧失/融合范围减少</a:t>
            </a:r>
          </a:p>
          <a:p>
            <a:pPr>
              <a:lnSpc>
                <a:spcPts val="2120"/>
              </a:lnSpc>
              <a:spcBef>
                <a:spcPts val="0"/>
              </a:spcBef>
              <a:spcAft>
                <a:spcPts val="0"/>
              </a:spcAft>
            </a:pPr>
            <a:r>
              <a:rPr sz="1700" b="0" lang="zh-CN">
                <a:solidFill>
                  <a:srgbClr val="1E2E3B"/>
                </a:solidFill>
                <a:latin typeface="Microsoft YaHei"/>
                <a:ea typeface="Microsoft YaHei"/>
                <a:cs typeface="Microsoft YaHei"/>
              </a:rPr>
              <a:t> → 考虑手术。未给统一评分手术切点。</a:t>
            </a:r>
          </a:p>
        </p:txBody>
      </p:sp>
      <p:sp>
        <p:nvSpPr>
          <p:cNvPr id="15" name="2026 PDF10"/>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PDF10</a:t>
            </a:r>
          </a:p>
        </p:txBody>
      </p:sp>
      <p:sp>
        <p:nvSpPr>
          <p:cNvPr id="16" name="Rectangle 15"/>
          <p:cNvSpPr/>
          <p:nvPr/>
        </p:nvSpPr>
        <p:spPr>
          <a:xfrm>
            <a:off x="444500" y="4754033"/>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先天/恒定外斜"/>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先天/恒定外斜</a:t>
            </a:r>
          </a:p>
        </p:txBody>
      </p:sp>
      <p:sp>
        <p:nvSpPr>
          <p:cNvPr id="19" name="先天外斜推荐12～18月龄手术，不稳可延至18～24月龄；先矫屈光/治弱视。恒定外斜以手术为主，可交"/>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先天外斜推荐12～18月龄手术，不稳可延至18～24月龄；先矫屈光/治弱视。恒定外斜以手术为主，可</a:t>
            </a:r>
          </a:p>
          <a:p>
            <a:pPr>
              <a:lnSpc>
                <a:spcPts val="2120"/>
              </a:lnSpc>
              <a:spcBef>
                <a:spcPts val="0"/>
              </a:spcBef>
              <a:spcAft>
                <a:spcPts val="0"/>
              </a:spcAft>
            </a:pPr>
            <a:r>
              <a:rPr sz="1700" b="0" lang="zh-CN">
                <a:solidFill>
                  <a:srgbClr val="1E2E3B"/>
                </a:solidFill>
                <a:latin typeface="Microsoft YaHei"/>
                <a:ea typeface="Microsoft YaHei"/>
                <a:cs typeface="Microsoft YaHei"/>
              </a:rPr>
              <a:t>交替注视者及时手术。</a:t>
            </a:r>
          </a:p>
        </p:txBody>
      </p:sp>
      <p:sp>
        <p:nvSpPr>
          <p:cNvPr id="20" name="2026 PDF9–10"/>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PDF9–10</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A-V、麻痹及特殊病因"/>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A-V、麻痹及特殊病因</a:t>
            </a:r>
          </a:p>
        </p:txBody>
      </p:sp>
      <p:sp>
        <p:nvSpPr>
          <p:cNvPr id="4" name="05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A-V与集合不足"/>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A-V与集合不足</a:t>
            </a:r>
          </a:p>
        </p:txBody>
      </p:sp>
      <p:sp>
        <p:nvSpPr>
          <p:cNvPr id="9" name="V型上/下转差≥15△，A型差≥10△；结合斜肌功能决定手术。集合不足近点&gt;6 cm，先集合训练/棱"/>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V型上/下转差≥15△，A型差≥10△；结合斜肌功能决定手术。集合不足近点&gt;6 cm，先集合训练/棱</a:t>
            </a:r>
          </a:p>
          <a:p>
            <a:pPr>
              <a:lnSpc>
                <a:spcPts val="2120"/>
              </a:lnSpc>
              <a:spcBef>
                <a:spcPts val="0"/>
              </a:spcBef>
              <a:spcAft>
                <a:spcPts val="0"/>
              </a:spcAft>
            </a:pPr>
            <a:r>
              <a:rPr sz="1700" b="0" lang="zh-CN">
                <a:solidFill>
                  <a:srgbClr val="1E2E3B"/>
                </a:solidFill>
                <a:latin typeface="Microsoft YaHei"/>
                <a:ea typeface="Microsoft YaHei"/>
                <a:cs typeface="Microsoft YaHei"/>
              </a:rPr>
              <a:t>镜，症状重且无效可考虑手术。</a:t>
            </a:r>
          </a:p>
        </p:txBody>
      </p:sp>
      <p:sp>
        <p:nvSpPr>
          <p:cNvPr id="10" name="2026 PDF11–1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PDF11–12</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麻痹/限制性路径"/>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麻痹/限制性路径</a:t>
            </a:r>
          </a:p>
        </p:txBody>
      </p:sp>
      <p:sp>
        <p:nvSpPr>
          <p:cNvPr id="14" name="先找病因并处理原发病，必要影像；未稳用遮盖/Fresnel棱镜/肉毒毒素。多数待斜视度稳定约6月手术"/>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先找病因并处理原发病，必要影像；未稳用遮盖/Fresnel棱镜/肉毒毒素。多数待斜视度稳定约6月手</a:t>
            </a:r>
          </a:p>
          <a:p>
            <a:pPr>
              <a:lnSpc>
                <a:spcPts val="2120"/>
              </a:lnSpc>
              <a:spcBef>
                <a:spcPts val="0"/>
              </a:spcBef>
              <a:spcAft>
                <a:spcPts val="0"/>
              </a:spcAft>
            </a:pPr>
            <a:r>
              <a:rPr sz="1700" b="0" lang="zh-CN">
                <a:solidFill>
                  <a:srgbClr val="1E2E3B"/>
                </a:solidFill>
                <a:latin typeface="Microsoft YaHei"/>
                <a:ea typeface="Microsoft YaHei"/>
                <a:cs typeface="Microsoft YaHei"/>
              </a:rPr>
              <a:t>术；肌断裂/眶嵌顿等急诊可早期介入。</a:t>
            </a:r>
          </a:p>
        </p:txBody>
      </p:sp>
      <p:sp>
        <p:nvSpPr>
          <p:cNvPr id="15" name="2026 PDF7、11、13–1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PDF7、11、13–14</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病因与慎用"/>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特殊病因与慎用</a:t>
            </a:r>
          </a:p>
        </p:txBody>
      </p:sp>
      <p:sp>
        <p:nvSpPr>
          <p:cNvPr id="19" name="Duane第一眼位无斜及代偿头位无需治，有则手术、慎加强；Brown查因后3～6月保守无效再考虑手术"/>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Duane第一眼位无斜及代偿头位无需治，有则手术、慎加强；Brown查因后3～6月保守无效再考虑手</a:t>
            </a:r>
          </a:p>
          <a:p>
            <a:pPr>
              <a:lnSpc>
                <a:spcPts val="2120"/>
              </a:lnSpc>
              <a:spcBef>
                <a:spcPts val="0"/>
              </a:spcBef>
              <a:spcAft>
                <a:spcPts val="0"/>
              </a:spcAft>
            </a:pPr>
            <a:r>
              <a:rPr sz="1700" b="0" lang="zh-CN">
                <a:solidFill>
                  <a:srgbClr val="1E2E3B"/>
                </a:solidFill>
                <a:latin typeface="Microsoft YaHei"/>
                <a:ea typeface="Microsoft YaHei"/>
                <a:cs typeface="Microsoft YaHei"/>
              </a:rPr>
              <a:t>术；甲状腺眼病联合内分泌，不能仅调眼位。</a:t>
            </a:r>
          </a:p>
        </p:txBody>
      </p:sp>
      <p:sp>
        <p:nvSpPr>
          <p:cNvPr id="20" name="2026 PDF15–17"/>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PDF15–17</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其他特殊类型与手术检查"/>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其他特殊类型与手术检查</a:t>
            </a:r>
          </a:p>
        </p:txBody>
      </p:sp>
      <p:sp>
        <p:nvSpPr>
          <p:cNvPr id="4" name="06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其他病因提示"/>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其他病因提示</a:t>
            </a:r>
          </a:p>
        </p:txBody>
      </p:sp>
      <p:sp>
        <p:nvSpPr>
          <p:cNvPr id="9" name="松眼/重眼可行MRI评估；重眼通常需手术且先查视网膜。重症肌无力以神经内科治疗为主，全身良好、无危象"/>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松眼/重眼可行MRI评估；重眼通常需手术且先查视网膜。重症肌无力以神经内科治疗为主，全身良</a:t>
            </a:r>
          </a:p>
          <a:p>
            <a:pPr>
              <a:lnSpc>
                <a:spcPts val="2120"/>
              </a:lnSpc>
              <a:spcBef>
                <a:spcPts val="0"/>
              </a:spcBef>
              <a:spcAft>
                <a:spcPts val="0"/>
              </a:spcAft>
            </a:pPr>
            <a:r>
              <a:rPr sz="1700" b="0" lang="zh-CN">
                <a:solidFill>
                  <a:srgbClr val="1E2E3B"/>
                </a:solidFill>
                <a:latin typeface="Microsoft YaHei"/>
                <a:ea typeface="Microsoft YaHei"/>
                <a:cs typeface="Microsoft YaHei"/>
              </a:rPr>
              <a:t>好、无危象、症状及角度稳定6～12月才慎重手术。</a:t>
            </a:r>
          </a:p>
        </p:txBody>
      </p:sp>
      <p:sp>
        <p:nvSpPr>
          <p:cNvPr id="10" name="2026 PDF12–13、18"/>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PDF12–13、18</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手术前评估"/>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手术前评估</a:t>
            </a:r>
          </a:p>
        </p:txBody>
      </p:sp>
      <p:sp>
        <p:nvSpPr>
          <p:cNvPr id="14" name="九眼位定量、双眼视、按需CT/MRI/超声；麻醉诱导后、切口前牵拉试验。按年龄/麻醉/疾病做全身检查"/>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九眼位定量、双眼视、按需CT/MRI/超声；麻醉诱导后、切口前牵拉试验。按年龄/麻醉/疾病做全身检</a:t>
            </a:r>
          </a:p>
          <a:p>
            <a:pPr>
              <a:lnSpc>
                <a:spcPts val="2120"/>
              </a:lnSpc>
              <a:spcBef>
                <a:spcPts val="0"/>
              </a:spcBef>
              <a:spcAft>
                <a:spcPts val="0"/>
              </a:spcAft>
            </a:pPr>
            <a:r>
              <a:rPr sz="1700" b="0" lang="zh-CN">
                <a:solidFill>
                  <a:srgbClr val="1E2E3B"/>
                </a:solidFill>
                <a:latin typeface="Microsoft YaHei"/>
                <a:ea typeface="Microsoft YaHei"/>
                <a:cs typeface="Microsoft YaHei"/>
              </a:rPr>
              <a:t>查；儿童全麻需麻醉评估及儿科会诊。</a:t>
            </a:r>
          </a:p>
        </p:txBody>
      </p:sp>
      <p:sp>
        <p:nvSpPr>
          <p:cNvPr id="15" name="2026 PDF19–20"/>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PDF19–20</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罕见类型补充"/>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罕见类型补充</a:t>
            </a:r>
          </a:p>
        </p:txBody>
      </p:sp>
      <p:sp>
        <p:nvSpPr>
          <p:cNvPr id="19" name="DVD合并水平斜视时一眼同次一般不超两条直肌（显微血管分离可三条）；纤维化手术改善眼/头位不能恢复运"/>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DVD合并水平斜视时一眼同次一般不超两条直肌（显微血管分离可三条）；纤维化手术改善眼/头位不</a:t>
            </a:r>
          </a:p>
          <a:p>
            <a:pPr>
              <a:lnSpc>
                <a:spcPts val="2120"/>
              </a:lnSpc>
              <a:spcBef>
                <a:spcPts val="0"/>
              </a:spcBef>
              <a:spcAft>
                <a:spcPts val="0"/>
              </a:spcAft>
            </a:pPr>
            <a:r>
              <a:rPr sz="1700" b="0" lang="zh-CN">
                <a:solidFill>
                  <a:srgbClr val="1E2E3B"/>
                </a:solidFill>
                <a:latin typeface="Microsoft YaHei"/>
                <a:ea typeface="Microsoft YaHei"/>
                <a:cs typeface="Microsoft YaHei"/>
              </a:rPr>
              <a:t>能恢复运动；Moebius可手术；中枢麻痹先治原发病。</a:t>
            </a:r>
          </a:p>
        </p:txBody>
      </p:sp>
      <p:sp>
        <p:nvSpPr>
          <p:cNvPr id="20" name="2026 PDF14–16、18"/>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PDF14–16、18</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围术期用药与长期随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围术期用药与长期随访</a:t>
            </a:r>
          </a:p>
        </p:txBody>
      </p:sp>
      <p:sp>
        <p:nvSpPr>
          <p:cNvPr id="4" name="07 / 08"/>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07 / 08</a:t>
            </a:r>
          </a:p>
        </p:txBody>
      </p:sp>
      <p:sp>
        <p:nvSpPr>
          <p:cNvPr id="5" name="斜视诊疗指南 · 2026 指南"/>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斜视诊疗指南 · 2026 指南</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术前预防用药"/>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术前预防用药</a:t>
            </a:r>
          </a:p>
        </p:txBody>
      </p:sp>
      <p:sp>
        <p:nvSpPr>
          <p:cNvPr id="9" name="本2026指南规定术前3日预防性抗生素滴眼液，每日3～4次；具体品种和每次滴数原文未明确。与2025"/>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本2026指南规定术前3日预防性抗生素滴眼液，每日3～4次；具体品种和每次滴数原文未明确。与</a:t>
            </a:r>
          </a:p>
          <a:p>
            <a:pPr>
              <a:lnSpc>
                <a:spcPts val="2120"/>
              </a:lnSpc>
              <a:spcBef>
                <a:spcPts val="0"/>
              </a:spcBef>
              <a:spcAft>
                <a:spcPts val="0"/>
              </a:spcAft>
            </a:pPr>
            <a:r>
              <a:rPr sz="1700" b="0" lang="zh-CN">
                <a:solidFill>
                  <a:srgbClr val="1E2E3B"/>
                </a:solidFill>
                <a:latin typeface="Microsoft YaHei"/>
                <a:ea typeface="Microsoft YaHei"/>
                <a:cs typeface="Microsoft YaHei"/>
              </a:rPr>
              <a:t>2025儿童共识的表述分开保存。</a:t>
            </a:r>
          </a:p>
        </p:txBody>
      </p:sp>
      <p:sp>
        <p:nvSpPr>
          <p:cNvPr id="10" name="2026 PDF20"/>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PDF20</a:t>
            </a:r>
          </a:p>
        </p:txBody>
      </p:sp>
      <p:sp>
        <p:nvSpPr>
          <p:cNvPr id="11" name="Rectangle 10"/>
          <p:cNvSpPr/>
          <p:nvPr/>
        </p:nvSpPr>
        <p:spPr>
          <a:xfrm>
            <a:off x="444500" y="3069166"/>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麻醉与术后管理"/>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麻醉与术后管理</a:t>
            </a:r>
          </a:p>
        </p:txBody>
      </p:sp>
      <p:sp>
        <p:nvSpPr>
          <p:cNvPr id="14" name="&lt;12岁通常全麻；≥12岁按配合/复杂性及意愿选择。术后常规抗生素，按炎症联合NSAID/激素；具体"/>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&lt;12岁通常全麻；≥12岁按配合/复杂性及意愿选择。术后常规抗生素，按炎症联合NSAID/激素；具体</a:t>
            </a:r>
          </a:p>
          <a:p>
            <a:pPr>
              <a:lnSpc>
                <a:spcPts val="2120"/>
              </a:lnSpc>
              <a:spcBef>
                <a:spcPts val="0"/>
              </a:spcBef>
              <a:spcAft>
                <a:spcPts val="0"/>
              </a:spcAft>
            </a:pPr>
            <a:r>
              <a:rPr sz="1700" b="0" lang="zh-CN">
                <a:solidFill>
                  <a:srgbClr val="1E2E3B"/>
                </a:solidFill>
                <a:latin typeface="Microsoft YaHei"/>
                <a:ea typeface="Microsoft YaHei"/>
                <a:cs typeface="Microsoft YaHei"/>
              </a:rPr>
              <a:t>统一剂量与禁忌清单未明确。</a:t>
            </a:r>
          </a:p>
        </p:txBody>
      </p:sp>
      <p:sp>
        <p:nvSpPr>
          <p:cNvPr id="15" name="2026 PDF20–2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PDF20–21</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规律长期随访"/>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规律长期随访</a:t>
            </a:r>
          </a:p>
        </p:txBody>
      </p:sp>
      <p:sp>
        <p:nvSpPr>
          <p:cNvPr id="19" name="术后1天、1周、1月、3月、6月；后按恢复每6～12月一次，持续至视觉发育成熟，即使早期眼位良好也不"/>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术后1天、1周、1月、3月、6月；后按恢复每6～12月一次，持续至视觉发育成熟，即使早期眼位良好</a:t>
            </a:r>
          </a:p>
          <a:p>
            <a:pPr>
              <a:lnSpc>
                <a:spcPts val="2120"/>
              </a:lnSpc>
              <a:spcBef>
                <a:spcPts val="0"/>
              </a:spcBef>
              <a:spcAft>
                <a:spcPts val="0"/>
              </a:spcAft>
            </a:pPr>
            <a:r>
              <a:rPr sz="1700" b="0" lang="zh-CN">
                <a:solidFill>
                  <a:srgbClr val="1E2E3B"/>
                </a:solidFill>
                <a:latin typeface="Microsoft YaHei"/>
                <a:ea typeface="Microsoft YaHei"/>
                <a:cs typeface="Microsoft YaHei"/>
              </a:rPr>
              <a:t>也不终止。</a:t>
            </a:r>
          </a:p>
        </p:txBody>
      </p:sp>
      <p:sp>
        <p:nvSpPr>
          <p:cNvPr id="20" name="2026 PDF2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2026 PDF21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斜视诊疗指南"/>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斜视诊疗指南</a:t>
            </a:r>
          </a:p>
        </p:txBody>
      </p:sp>
      <p:sp>
        <p:nvSpPr>
          <p:cNvPr id="4" name="判断条件与下一步 · 按本篇原文整理 · 2026"/>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2026</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病史、眼位、视力与屈光"/>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病史、眼位、视力与屈光</a:t>
            </a:r>
          </a:p>
        </p:txBody>
      </p:sp>
      <p:sp>
        <p:nvSpPr>
          <p:cNvPr id="7" name="全面眼检查/双眼视；儿童睫状肌麻痹验光；急性/非共同或外伤 → 先病因与必要神经/眶影像。"/>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全面眼检查/双眼视；儿童睫状肌麻痹验光；急性/非共同或外伤</a:t>
            </a:r>
          </a:p>
          <a:p>
            <a:pPr>
              <a:lnSpc>
                <a:spcPts val="1630"/>
              </a:lnSpc>
              <a:spcBef>
                <a:spcPts val="0"/>
              </a:spcBef>
              <a:spcAft>
                <a:spcPts val="0"/>
              </a:spcAft>
            </a:pPr>
            <a:r>
              <a:rPr sz="1350" b="0" lang="zh-CN">
                <a:solidFill>
                  <a:srgbClr val="1E2E3B"/>
                </a:solidFill>
                <a:latin typeface="Microsoft YaHei"/>
                <a:ea typeface="Microsoft YaHei"/>
                <a:cs typeface="Microsoft YaHei"/>
              </a:rPr>
              <a:t>→ 先病因与必要神经/眶影像。</a:t>
            </a:r>
          </a:p>
        </p:txBody>
      </p:sp>
      <p:sp>
        <p:nvSpPr>
          <p:cNvPr id="8" name="2026 PDF1–3、7–8、11、13–14、19–20"/>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PDF1–3、7–8、11、13–14、19–20</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先屈光与弱视处理"/>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先屈光与弱视处理</a:t>
            </a:r>
          </a:p>
        </p:txBody>
      </p:sp>
      <p:sp>
        <p:nvSpPr>
          <p:cNvPr id="12" name="足矫及弱视治疗后，重新测量远近角和控制/立体视，再按内/外/特殊分支决策。"/>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足矫及弱视治疗后，重新测量远近角和控制/立体视，再按内/外/</a:t>
            </a:r>
          </a:p>
          <a:p>
            <a:pPr>
              <a:lnSpc>
                <a:spcPts val="1630"/>
              </a:lnSpc>
              <a:spcBef>
                <a:spcPts val="0"/>
              </a:spcBef>
              <a:spcAft>
                <a:spcPts val="0"/>
              </a:spcAft>
            </a:pPr>
            <a:r>
              <a:rPr sz="1350" b="0" lang="zh-CN">
                <a:solidFill>
                  <a:srgbClr val="1E2E3B"/>
                </a:solidFill>
                <a:latin typeface="Microsoft YaHei"/>
                <a:ea typeface="Microsoft YaHei"/>
                <a:cs typeface="Microsoft YaHei"/>
              </a:rPr>
              <a:t>特殊分支决策。</a:t>
            </a:r>
          </a:p>
        </p:txBody>
      </p:sp>
      <p:sp>
        <p:nvSpPr>
          <p:cNvPr id="13" name="2026 PDF3–7"/>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PDF3–7</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内斜分支"/>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内斜分支</a:t>
            </a:r>
          </a:p>
        </p:txBody>
      </p:sp>
      <p:sp>
        <p:nvSpPr>
          <p:cNvPr id="17" name="全矫正位→调节性；残余&gt;10△→部分调节性评估手术；高AC/A&gt;6:1→双焦点等；先天按年龄时机。"/>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全矫正位→调节性；残余&gt;10△→部分调节性评估手术；高AC/A</a:t>
            </a:r>
          </a:p>
          <a:p>
            <a:pPr>
              <a:lnSpc>
                <a:spcPts val="1630"/>
              </a:lnSpc>
              <a:spcBef>
                <a:spcPts val="0"/>
              </a:spcBef>
              <a:spcAft>
                <a:spcPts val="0"/>
              </a:spcAft>
            </a:pPr>
            <a:r>
              <a:rPr sz="1350" b="0" lang="zh-CN">
                <a:solidFill>
                  <a:srgbClr val="1E2E3B"/>
                </a:solidFill>
                <a:latin typeface="Microsoft YaHei"/>
                <a:ea typeface="Microsoft YaHei"/>
                <a:cs typeface="Microsoft YaHei"/>
              </a:rPr>
              <a:t>&gt;6:1→双焦点等；先天按年龄时机。</a:t>
            </a:r>
          </a:p>
        </p:txBody>
      </p:sp>
      <p:sp>
        <p:nvSpPr>
          <p:cNvPr id="18" name="2026 PDF4–7"/>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PDF4–7</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外斜分支"/>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外斜分支</a:t>
            </a:r>
          </a:p>
        </p:txBody>
      </p:sp>
      <p:sp>
        <p:nvSpPr>
          <p:cNvPr id="22" name="控制良好→观察；频率/评分恶化或立体视下降→考虑手术；恒定/先天按对应时机。"/>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控制良好→观察；频率/评分恶化或立体视下降→考虑手术；恒定</a:t>
            </a:r>
          </a:p>
          <a:p>
            <a:pPr>
              <a:lnSpc>
                <a:spcPts val="1630"/>
              </a:lnSpc>
              <a:spcBef>
                <a:spcPts val="0"/>
              </a:spcBef>
              <a:spcAft>
                <a:spcPts val="0"/>
              </a:spcAft>
            </a:pPr>
            <a:r>
              <a:rPr sz="1350" b="0" lang="zh-CN">
                <a:solidFill>
                  <a:srgbClr val="1E2E3B"/>
                </a:solidFill>
                <a:latin typeface="Microsoft YaHei"/>
                <a:ea typeface="Microsoft YaHei"/>
                <a:cs typeface="Microsoft YaHei"/>
              </a:rPr>
              <a:t>/先天按对应时机。</a:t>
            </a:r>
          </a:p>
        </p:txBody>
      </p:sp>
      <p:sp>
        <p:nvSpPr>
          <p:cNvPr id="23" name="2026 PDF9–10"/>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PDF9–10</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麻痹/特殊分支"/>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麻痹/特殊分支</a:t>
            </a:r>
          </a:p>
        </p:txBody>
      </p:sp>
      <p:sp>
        <p:nvSpPr>
          <p:cNvPr id="27" name="病因治疗；一般角度稳定约6月再手术；眶嵌顿/肌断裂等可早介入；各综合征见专门条目。"/>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病因治疗；一般角度稳定约6月再手术；眶嵌顿/肌断裂等可早介</a:t>
            </a:r>
          </a:p>
          <a:p>
            <a:pPr>
              <a:lnSpc>
                <a:spcPts val="1630"/>
              </a:lnSpc>
              <a:spcBef>
                <a:spcPts val="0"/>
              </a:spcBef>
              <a:spcAft>
                <a:spcPts val="0"/>
              </a:spcAft>
            </a:pPr>
            <a:r>
              <a:rPr sz="1350" b="0" lang="zh-CN">
                <a:solidFill>
                  <a:srgbClr val="1E2E3B"/>
                </a:solidFill>
                <a:latin typeface="Microsoft YaHei"/>
                <a:ea typeface="Microsoft YaHei"/>
                <a:cs typeface="Microsoft YaHei"/>
              </a:rPr>
              <a:t>入；各综合征见专门条目。</a:t>
            </a:r>
          </a:p>
        </p:txBody>
      </p:sp>
      <p:sp>
        <p:nvSpPr>
          <p:cNvPr id="28" name="2026 PDF7、11–19"/>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PDF7、11–19</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围术期与长期复查"/>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围术期与长期复查</a:t>
            </a:r>
          </a:p>
        </p:txBody>
      </p:sp>
      <p:sp>
        <p:nvSpPr>
          <p:cNvPr id="32" name="按2026术前方案；术后第1天、第1周、第1、3、6个月，此后每6～12个月；术后异常受限+复视及时"/>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按2026术前方案；术后第1天、第1周、第1、3、6个月，此后每</a:t>
            </a:r>
          </a:p>
          <a:p>
            <a:pPr>
              <a:lnSpc>
                <a:spcPts val="1630"/>
              </a:lnSpc>
              <a:spcBef>
                <a:spcPts val="0"/>
              </a:spcBef>
              <a:spcAft>
                <a:spcPts val="0"/>
              </a:spcAft>
            </a:pPr>
            <a:r>
              <a:rPr sz="1350" b="0" lang="zh-CN">
                <a:solidFill>
                  <a:srgbClr val="1E2E3B"/>
                </a:solidFill>
                <a:latin typeface="Microsoft YaHei"/>
                <a:ea typeface="Microsoft YaHei"/>
                <a:cs typeface="Microsoft YaHei"/>
              </a:rPr>
              <a:t>6～12个月；术后异常受限+复视及时排滑脱。</a:t>
            </a:r>
          </a:p>
        </p:txBody>
      </p:sp>
      <p:sp>
        <p:nvSpPr>
          <p:cNvPr id="33" name="2026 PDF7–8、19–21"/>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2026 PDF7–8、19–21</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