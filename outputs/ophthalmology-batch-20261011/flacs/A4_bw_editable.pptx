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D或散光IOL残余此范围，可考虑松解切口。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 name="2018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患者选择"/>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7" name="能配合、角膜透明、睑裂合适。解剖/固视不适、激光阻挡、活动角膜问题、低眼压等禁忌须排查。"/>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8" name="2018 刊p328"/>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高风险评估"/>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11" name="散大瞳孔&lt;5 mm、未控制青光眼、薄壁滤过泡、明显半脱位等须严密评估。"/>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12" name="2018 刊p328–329"/>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切囊参数"/>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15" name="通常5.0～5.2 mm；可设4.5～6.0 mm；硬核/可调节IOL 5.5 mm。360°覆盖I"/>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16" name="2018 刊p330"/>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劈核/切口"/>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19" name="Ⅳ级及以上硬核建议预劈核；后极性暂不建议。角膜切口非必需；松解切口可考虑规则散光1.00～1.50 "/>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20" name="2018 刊p330"/>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飞秒激光辅助白内障手术规范"/>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24" name="2018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患者选择"/>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27" name="能配合、角膜透明、睑裂合适。解剖/固视不适、激光阻挡、活动角膜问题、低眼压等禁忌须排查。"/>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28" name="2018 刊p328"/>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高风险评估"/>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31" name="散大瞳孔&lt;5 mm、未控制青光眼、薄壁滤过泡、明显半脱位等须严密评估。"/>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32" name="2018 刊p328–329"/>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切囊参数"/>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35" name="通常5.0～5.2 mm；可设4.5～6.0 mm；硬核/可调节IOL 5.5 mm。360°覆盖I"/>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36" name="2018 刊p330"/>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预劈核/切口"/>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39" name="Ⅳ级及以上硬核建议预劈核；后极性暂不建议。角膜切口非必需；松解切口可考虑规则散光1.00～1.50 "/>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40" name="2018 刊p330"/>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飞秒激光辅助白内障手术规范"/>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4" name="2018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患者选择"/>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47" name="能配合、角膜透明、睑裂合适。解剖/固视不适、激光阻挡、活动角膜问题、低眼压等禁忌须排查。"/>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48" name="2018 刊p328"/>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高风险评估"/>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51" name="散大瞳孔&lt;5 mm、未控制青光眼、薄壁滤过泡、明显半脱位等须严密评估。"/>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52" name="2018 刊p328–329"/>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切囊参数"/>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55" name="通常5.0～5.2 mm；可设4.5～6.0 mm；硬核/可调节IOL 5.5 mm。360°覆盖I"/>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56" name="2018 刊p330"/>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预劈核/切口"/>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59" name="Ⅳ级及以上硬核建议预劈核；后极性暂不建议。角膜切口非必需；松解切口可考虑规则散光1.00～1.50 "/>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60" name="2018 刊p330"/>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飞秒激光辅助白内障手术规范"/>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64" name="2018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患者选择"/>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67" name="能配合、角膜透明、睑裂合适。解剖/固视不适、激光阻挡、活动角膜问题、低眼压等禁忌须排查。"/>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68" name="2018 刊p328"/>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高风险评估"/>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71" name="散大瞳孔&lt;5 mm、未控制青光眼、薄壁滤过泡、明显半脱位等须严密评估。"/>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72" name="2018 刊p328–329"/>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切囊参数"/>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75" name="通常5.0～5.2 mm；可设4.5～6.0 mm；硬核/可调节IOL 5.5 mm。360°覆盖I"/>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76" name="2018 刊p330"/>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预劈核/切口"/>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79" name="Ⅳ级及以上硬核建议预劈核；后极性暂不建议。角膜切口非必需；松解切口可考虑规则散光1.00～1.50 "/>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80" name="2018 刊p330"/>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 name="2018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缩瞳预防"/>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7" name="术前1 h内散瞳+NSAID；NSAID术前1 d，3或4次、每次1滴。激光后1%复方托吡卡胺1滴；"/>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8" name="2018 刊p330–331"/>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处理"/>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11" name="脱吸迅速停激光，重放接口；反复失败改超乳。切囊不全手法完成；不确定可染色，不突然快速取囊。"/>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12" name="2018 刊p330–33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后囊安全"/>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15" name="保守扫描、观察眼位；减气泡、避免过量黏弹剂，水分离前囊袋减压；后极性更谨慎。"/>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16" name="2018 刊p331"/>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17" name="Rectangle 16"/>
          <p:cNvSpPr/>
          <p:nvPr/>
        </p:nvSpPr>
        <p:spPr>
          <a:xfrm>
            <a:off x="17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19" name="术后1 d、7 d、1个月：视力/眼压/前房；异常及时就诊。激光统一能量和完整药物禁忌原文未明确。"/>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20" name="2018 刊p328–332"/>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飞秒激光辅助白内障手术规范"/>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24" name="2018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缩瞳预防"/>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27" name="术前1 h内散瞳+NSAID；NSAID术前1 d，3或4次、每次1滴。激光后1%复方托吡卡胺1滴；"/>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28" name="2018 刊p330–331"/>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异常处理"/>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31" name="脱吸迅速停激光，重放接口；反复失败改超乳。切囊不全手法完成；不确定可染色，不突然快速取囊。"/>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32" name="2018 刊p330–33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后囊安全"/>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35" name="保守扫描、观察眼位；减气泡、避免过量黏弹剂，水分离前囊袋减压；后极性更谨慎。"/>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36" name="2018 刊p331"/>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37" name="Rectangle 36"/>
          <p:cNvSpPr/>
          <p:nvPr/>
        </p:nvSpPr>
        <p:spPr>
          <a:xfrm>
            <a:off x="3952720" y="3063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随访"/>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39" name="术后1 d、7 d、1个月：视力/眼压/前房；异常及时就诊。激光统一能量和完整药物禁忌原文未明确。"/>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40" name="2018 刊p328–332"/>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飞秒激光辅助白内障手术规范"/>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4" name="2018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缩瞳预防"/>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47" name="术前1 h内散瞳+NSAID；NSAID术前1 d，3或4次、每次1滴。激光后1%复方托吡卡胺1滴；"/>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48" name="2018 刊p330–331"/>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异常处理"/>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51" name="脱吸迅速停激光，重放接口；反复失败改超乳。切囊不全手法完成；不确定可染色，不突然快速取囊。"/>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52" name="2018 刊p330–33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后囊安全"/>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55" name="保守扫描、观察眼位；减气泡、避免过量黏弹剂，水分离前囊袋减压；后极性更谨慎。"/>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56" name="2018 刊p331"/>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57" name="Rectangle 56"/>
          <p:cNvSpPr/>
          <p:nvPr/>
        </p:nvSpPr>
        <p:spPr>
          <a:xfrm>
            <a:off x="17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随访"/>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59" name="术后1 d、7 d、1个月：视力/眼压/前房；异常及时就诊。激光统一能量和完整药物禁忌原文未明确。"/>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60" name="2018 刊p328–332"/>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飞秒激光辅助白内障手术规范"/>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64" name="2018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缩瞳预防"/>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67" name="术前1 h内散瞳+NSAID；NSAID术前1 d，3或4次、每次1滴。激光后1%复方托吡卡胺1滴；"/>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68" name="2018 刊p330–331"/>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异常处理"/>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71" name="脱吸迅速停激光，重放接口；反复失败改超乳。切囊不全手法完成；不确定可染色，不突然快速取囊。"/>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72" name="2018 刊p330–33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后囊安全"/>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75" name="保守扫描、观察眼位；减气泡、避免过量黏弹剂，水分离前囊袋减压；后极性更谨慎。"/>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76" name="2018 刊p331"/>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77" name="Rectangle 76"/>
          <p:cNvSpPr/>
          <p:nvPr/>
        </p:nvSpPr>
        <p:spPr>
          <a:xfrm>
            <a:off x="3952720" y="8391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随访"/>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79" name="术后1 d、7 d、1个月：视力/眼压/前房；异常及时就诊。激光统一能量和完整药物禁忌原文未明确。"/>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80" name="2018 刊p328–332"/>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