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D或散光IOL残余此范围，可考虑松解切口。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4" name="2018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正面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患者选择"/>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患者选择</a:t>
            </a:r>
          </a:p>
        </p:txBody>
      </p:sp>
      <p:sp>
        <p:nvSpPr>
          <p:cNvPr id="7" name="能配合、角膜透明、睑裂合适。解剖/固视不适、激光阻挡、活动角膜问题、低眼压等禁忌须排查。"/>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1E2E3B"/>
                </a:solidFill>
                <a:latin typeface="Microsoft YaHei"/>
                <a:ea typeface="Microsoft YaHei"/>
                <a:cs typeface="Microsoft YaHei"/>
              </a:rPr>
              <a:t>活动角膜问题、低眼压等禁忌须排查。</a:t>
            </a:r>
          </a:p>
        </p:txBody>
      </p:sp>
      <p:sp>
        <p:nvSpPr>
          <p:cNvPr id="8" name="2018 刊p328"/>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a:t>
            </a:r>
          </a:p>
        </p:txBody>
      </p:sp>
      <p:sp>
        <p:nvSpPr>
          <p:cNvPr id="9" name="Rectangle 8"/>
          <p:cNvSpPr/>
          <p:nvPr/>
        </p:nvSpPr>
        <p:spPr>
          <a:xfrm>
            <a:off x="172720" y="1511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高风险评估"/>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高风险评估</a:t>
            </a:r>
          </a:p>
        </p:txBody>
      </p:sp>
      <p:sp>
        <p:nvSpPr>
          <p:cNvPr id="11" name="散大瞳孔&lt;5 mm、未控制青光眼、薄壁滤过泡、明显半脱位等须严密评估。"/>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1E2E3B"/>
                </a:solidFill>
                <a:latin typeface="Microsoft YaHei"/>
                <a:ea typeface="Microsoft YaHei"/>
                <a:cs typeface="Microsoft YaHei"/>
              </a:rPr>
              <a:t>等须严密评估。</a:t>
            </a:r>
          </a:p>
        </p:txBody>
      </p:sp>
      <p:sp>
        <p:nvSpPr>
          <p:cNvPr id="12" name="2018 刊p328–329"/>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刊p328–329</a:t>
            </a:r>
          </a:p>
        </p:txBody>
      </p:sp>
      <p:sp>
        <p:nvSpPr>
          <p:cNvPr id="13" name="Rectangle 12"/>
          <p:cNvSpPr/>
          <p:nvPr/>
        </p:nvSpPr>
        <p:spPr>
          <a:xfrm>
            <a:off x="172720" y="227838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切囊参数"/>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切囊参数</a:t>
            </a:r>
          </a:p>
        </p:txBody>
      </p:sp>
      <p:sp>
        <p:nvSpPr>
          <p:cNvPr id="15" name="通常5.0～5.2 mm；可设4.5～6.0 mm；硬核/可调节IOL 5.5 mm。360°覆盖I"/>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1E2E3B"/>
                </a:solidFill>
                <a:latin typeface="Microsoft YaHei"/>
                <a:ea typeface="Microsoft YaHei"/>
                <a:cs typeface="Microsoft YaHei"/>
              </a:rPr>
              <a:t>mm。360°覆盖IOL边缘。</a:t>
            </a:r>
          </a:p>
        </p:txBody>
      </p:sp>
      <p:sp>
        <p:nvSpPr>
          <p:cNvPr id="16" name="2018 刊p330"/>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17" name="Rectangle 16"/>
          <p:cNvSpPr/>
          <p:nvPr/>
        </p:nvSpPr>
        <p:spPr>
          <a:xfrm>
            <a:off x="172720" y="3045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劈核/切口"/>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预劈核/切口</a:t>
            </a:r>
          </a:p>
        </p:txBody>
      </p:sp>
      <p:sp>
        <p:nvSpPr>
          <p:cNvPr id="19" name="Ⅳ级及以上硬核建议预劈核；后极性暂不建议。角膜切口非必需；松解切口可考虑规则散光1.00～1.50 "/>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1E2E3B"/>
                </a:solidFill>
                <a:latin typeface="Microsoft YaHei"/>
                <a:ea typeface="Microsoft YaHei"/>
                <a:cs typeface="Microsoft YaHei"/>
              </a:rPr>
              <a:t>必需；松解切口可考虑规则散光1.00～1.50 D。</a:t>
            </a:r>
          </a:p>
        </p:txBody>
      </p:sp>
      <p:sp>
        <p:nvSpPr>
          <p:cNvPr id="20" name="2018 刊p330"/>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4" name="2018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背面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缩瞳预防"/>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缩瞳预防</a:t>
            </a:r>
          </a:p>
        </p:txBody>
      </p:sp>
      <p:sp>
        <p:nvSpPr>
          <p:cNvPr id="7" name="术前1 h内散瞳+NSAID；NSAID术前1 d，3或4次、每次1滴。激光后1%复方托吡卡胺1滴；"/>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1E2E3B"/>
                </a:solidFill>
                <a:latin typeface="Microsoft YaHei"/>
                <a:ea typeface="Microsoft YaHei"/>
                <a:cs typeface="Microsoft YaHei"/>
              </a:rPr>
              <a:t>滴。激光后1%复方托吡卡胺1滴；15～20 min内超乳。</a:t>
            </a:r>
          </a:p>
        </p:txBody>
      </p:sp>
      <p:sp>
        <p:nvSpPr>
          <p:cNvPr id="8" name="2018 刊p330–331"/>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9" name="Rectangle 8"/>
          <p:cNvSpPr/>
          <p:nvPr/>
        </p:nvSpPr>
        <p:spPr>
          <a:xfrm>
            <a:off x="172720" y="1511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处理"/>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异常处理</a:t>
            </a:r>
          </a:p>
        </p:txBody>
      </p:sp>
      <p:sp>
        <p:nvSpPr>
          <p:cNvPr id="11" name="脱吸迅速停激光，重放接口；反复失败改超乳。切囊不全手法完成；不确定可染色，不突然快速取囊。"/>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1E2E3B"/>
                </a:solidFill>
                <a:latin typeface="Microsoft YaHei"/>
                <a:ea typeface="Microsoft YaHei"/>
                <a:cs typeface="Microsoft YaHei"/>
              </a:rPr>
              <a:t>法完成；不确定可染色，不突然快速取囊。</a:t>
            </a:r>
          </a:p>
        </p:txBody>
      </p:sp>
      <p:sp>
        <p:nvSpPr>
          <p:cNvPr id="12" name="2018 刊p330–33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13" name="Rectangle 12"/>
          <p:cNvSpPr/>
          <p:nvPr/>
        </p:nvSpPr>
        <p:spPr>
          <a:xfrm>
            <a:off x="172720" y="2278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后囊安全"/>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后囊安全</a:t>
            </a:r>
          </a:p>
        </p:txBody>
      </p:sp>
      <p:sp>
        <p:nvSpPr>
          <p:cNvPr id="15" name="保守扫描、观察眼位；减气泡、避免过量黏弹剂，水分离前囊袋减压；后极性更谨慎。"/>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1E2E3B"/>
                </a:solidFill>
                <a:latin typeface="Microsoft YaHei"/>
                <a:ea typeface="Microsoft YaHei"/>
                <a:cs typeface="Microsoft YaHei"/>
              </a:rPr>
              <a:t>囊袋减压；后极性更谨慎。</a:t>
            </a:r>
          </a:p>
        </p:txBody>
      </p:sp>
      <p:sp>
        <p:nvSpPr>
          <p:cNvPr id="16" name="2018 刊p331"/>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刊p331</a:t>
            </a:r>
          </a:p>
        </p:txBody>
      </p:sp>
      <p:sp>
        <p:nvSpPr>
          <p:cNvPr id="17" name="Rectangle 16"/>
          <p:cNvSpPr/>
          <p:nvPr/>
        </p:nvSpPr>
        <p:spPr>
          <a:xfrm>
            <a:off x="172720" y="304546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19" name="术后1 d、7 d、1个月：视力/眼压/前房；异常及时就诊。激光统一能量和完整药物禁忌原文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1E2E3B"/>
                </a:solidFill>
                <a:latin typeface="Microsoft YaHei"/>
                <a:ea typeface="Microsoft YaHei"/>
                <a:cs typeface="Microsoft YaHei"/>
              </a:rPr>
              <a:t>光统一能量和完整药物禁忌原文未明确。</a:t>
            </a:r>
          </a:p>
        </p:txBody>
      </p:sp>
      <p:sp>
        <p:nvSpPr>
          <p:cNvPr id="20" name="2018 刊p328–332"/>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刊p328–332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