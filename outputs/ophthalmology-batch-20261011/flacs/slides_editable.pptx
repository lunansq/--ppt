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flacs-05 术前病史与常规检查：至少一次详细眼科检查：病史/药物过敏、期望、视力、散瞳前后前节、眼底、眼压、生物测量与IOL度数。</a:t>
            </a:r>
          </a:p>
          <a:p>
            <a:r>
              <a:t>来源：2018 刊p329 / PDF2；类别：检查；推荐等级：原文未明确。</a:t>
            </a:r>
          </a:p>
          <a:p>
            <a:r>
              <a:t>原文锚点：经济条件较好的患者，可推荐选用FLACS。三、术前评估在行FLACS前应进行全面病史询问和眼部评估，术者术前应对患者进行至少1次详细的眼科检查。（一）病史询问并记录全身及眼部疾病、外伤、手术等病史，药物史、药物不良反应及过敏史，了解要求手术的原因和期望值，经济状况、职业、生活及用眼习惯等社会学资料等。（二）常规眼部检查眼前节：采用裂隙灯显微镜检查散大瞳孔前1.和散大瞳孔后的眼前节情况。眼后节：使用直接或间接眼底镜检查眼后节2.情况。视力：检查单眼及双眼裸眼视力和矫正视力。3.压平式眼压计或非接4.眼压：使用Gold</a:t>
            </a:r>
          </a:p>
          <a:p/>
          <a:p>
            <a:r>
              <a:t>flacs-06 按需特殊检查：角膜内皮、地形图、前节分析、干眼检查、对比/眩光敏感度、后节OCT；依主诉和常规检查结果选择。</a:t>
            </a:r>
          </a:p>
          <a:p>
            <a:r>
              <a:t>来源：2018 刊p329 / PDF2；类别：检查；推荐等级：原文未明确。</a:t>
            </a:r>
          </a:p>
          <a:p>
            <a:r>
              <a:t>原文锚点：生物学指标测量：判断屈光度数与眼轴长5.度是否一致，并计算IOL度数。万方数据··8,Vol.54,No.5329（三）特殊检查项目根据患者主诉和症状及常规检查结果，必要时进行以下检查。行角膜内皮细胞、角膜地形图、眼前节分析1.系统等检查，以确定角膜形态。2.行泪河高度、泪膜破裂时间（BUT）、泪液分泌试验（Schirmertest）、泪膜光学等干眼检查。行对比敏感度和眩光敏感度检查。3.4.行眼后节OCT检查。四、围手术期用药围手术期用药参照《关于白内障围手术期预防《我国白感染措施规范化的专家建议（2013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flacs-07 基本操作顺序：知情同意 → 散瞳及NSAID → 头位/表麻 → 前节成像与参数定位 → 切囊 → 预劈核 → 可选角膜切口 → 超乳及IOL；Z8可在劈核后切囊。</a:t>
            </a:r>
          </a:p>
          <a:p>
            <a:r>
              <a:t>来源：2018 刊p329 / PDF2；类别：治疗；推荐等级：原文未明确。</a:t>
            </a:r>
          </a:p>
          <a:p>
            <a:r>
              <a:t>原文锚点：内炎防治专家共识（2017年）》[14]。建议术前点用非甾体类抗炎药，术后出现干眼症状者，酌情加用人工泪液[15]。五、操作流程选择患者并保证患者均知情同意。1.术前点用散大瞳孔药物联合非甾体类抗炎2.药（具体见后）。固定头位，术眼眼表麻醉。3.设置激光，捕获高分辨率广角前节图像。激4.光参数设置的顺序为角巩膜缘定位、主切口及侧切口位置、晶状体前囊膜切开位置居中性及直径、晶状体前囊膜切开厚度、劈核厚度、切口长度与深度以及形状。激光治疗前强调对手术相关参数进行最优化处理，应个体化综合衡量患者并进行合理选择，从而实现本</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flacs-17 术者与环境：设备须获注册；建议主治及以上、有超乳经验；手术室18～24 ℃恒定、相对湿度&lt;50%，按设备及环境消毒要求执行。</a:t>
            </a:r>
          </a:p>
          <a:p>
            <a:r>
              <a:t>来源：2018 刊p328 / PDF1；类别：质量管理；推荐等级：原文未明确。</a:t>
            </a:r>
          </a:p>
          <a:p>
            <a:r>
              <a:t>原文锚点：··328中华眼科杂志2我国飞秒激光辅助白内障摘专家共识（2018年）中华医学会眼科学分会白内障及人工晶状体学组白内障为全球范围内首位致盲性眼病，超声乳化白内障吸除术是当今世界认可的主流白内障摘除手术方式。近年来飞秒激光的引入使白内障摘除手术有了进一步发展。飞秒激光白内障摘除手术系统可使透明角膜切口、角膜缘松解切口、环形晶状体前囊膜切开及预劈核操作更加精确，从而优化IOL的位置和术眼的屈光状态，大大提高白内障摘除手术的准确性、有效性及安全性。Meta分析结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D或散光IOL残余此范围，可考虑松解切口。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flacs-12 术中难散瞳：可前房注射1∶10 000～1∶50 000稀释肾上腺素，和/或机械扩瞳；注射体积、所有药物具体品种及完整禁忌原文未明确。</a:t>
            </a:r>
          </a:p>
          <a:p>
            <a:r>
              <a:t>来源：2018 刊p330 / PDF3；类别：用药；推荐等级：原文未明确。</a:t>
            </a:r>
          </a:p>
          <a:p>
            <a:r>
              <a:t>原文锚点：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flacs-05 术前病史与常规检查：至少一次详细眼科检查：病史/药物过敏、期望、视力、散瞳前后前节、眼底、眼压、生物测量与IOL度数。</a:t>
            </a:r>
          </a:p>
          <a:p>
            <a:r>
              <a:t>来源：2018 刊p329 / PDF2；类别：检查；推荐等级：原文未明确。</a:t>
            </a:r>
          </a:p>
          <a:p>
            <a:r>
              <a:t>原文锚点：经济条件较好的患者，可推荐选用FLACS。三、术前评估在行FLACS前应进行全面病史询问和眼部评估，术者术前应对患者进行至少1次详细的眼科检查。（一）病史询问并记录全身及眼部疾病、外伤、手术等病史，药物史、药物不良反应及过敏史，了解要求手术的原因和期望值，经济状况、职业、生活及用眼习惯等社会学资料等。（二）常规眼部检查眼前节：采用裂隙灯显微镜检查散大瞳孔前1.和散大瞳孔后的眼前节情况。眼后节：使用直接或间接眼底镜检查眼后节2.情况。视力：检查单眼及双眼裸眼视力和矫正视力。3.压平式眼压计或非接4.眼压：使用Gold</a:t>
            </a:r>
          </a:p>
          <a:p/>
          <a:p>
            <a:r>
              <a:t>flacs-06 按需特殊检查：角膜内皮、地形图、前节分析、干眼检查、对比/眩光敏感度、后节OCT；依主诉和常规检查结果选择。</a:t>
            </a:r>
          </a:p>
          <a:p>
            <a:r>
              <a:t>来源：2018 刊p329 / PDF2；类别：检查；推荐等级：原文未明确。</a:t>
            </a:r>
          </a:p>
          <a:p>
            <a:r>
              <a:t>原文锚点：生物学指标测量：判断屈光度数与眼轴长5.度是否一致，并计算IOL度数。万方数据··8,Vol.54,No.5329（三）特殊检查项目根据患者主诉和症状及常规检查结果，必要时进行以下检查。行角膜内皮细胞、角膜地形图、眼前节分析1.系统等检查，以确定角膜形态。2.行泪河高度、泪膜破裂时间（BUT）、泪液分泌试验（Schirmertest）、泪膜光学等干眼检查。行对比敏感度和眩光敏感度检查。3.4.行眼后节OCT检查。四、围手术期用药围手术期用药参照《关于白内障围手术期预防《我国白感染措施规范化的专家建议（2013年）》</a:t>
            </a:r>
          </a:p>
          <a:p/>
          <a:p>
            <a:r>
              <a:t>flacs-07 基本操作顺序：知情同意 → 散瞳及NSAID → 头位/表麻 → 前节成像与参数定位 → 切囊 → 预劈核 → 可选角膜切口 → 超乳及IOL；Z8可在劈核后切囊。</a:t>
            </a:r>
          </a:p>
          <a:p>
            <a:r>
              <a:t>来源：2018 刊p329 / PDF2；类别：治疗；推荐等级：原文未明确。</a:t>
            </a:r>
          </a:p>
          <a:p>
            <a:r>
              <a:t>原文锚点：内炎防治专家共识（2017年）》[14]。建议术前点用非甾体类抗炎药，术后出现干眼症状者，酌情加用人工泪液[15]。五、操作流程选择患者并保证患者均知情同意。1.术前点用散大瞳孔药物联合非甾体类抗炎2.药（具体见后）。固定头位，术眼眼表麻醉。3.设置激光，捕获高分辨率广角前节图像。激4.光参数设置的顺序为角巩膜缘定位、主切口及侧切口位置、晶状体前囊膜切开位置居中性及直径、晶状体前囊膜切开厚度、劈核厚度、切口长度与深度以及形状。激光治疗前强调对手术相关参数进行最优化处理，应个体化综合衡量患者并进行合理选择，从而实现本</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D或散光IOL残余此范围，可考虑松解切口。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a:p/>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患者入选与禁忌"/>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患者入选与禁忌</a:t>
            </a:r>
          </a:p>
        </p:txBody>
      </p:sp>
      <p:sp>
        <p:nvSpPr>
          <p:cNvPr id="4" name="01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适应证"/>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适应证</a:t>
            </a:r>
          </a:p>
        </p:txBody>
      </p:sp>
      <p:sp>
        <p:nvSpPr>
          <p:cNvPr id="9" name="以传统白内障手术入选标准为主，患者能主动配合、角膜透明、睑裂正常，没有影响飞秒正常操作的情况。"/>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以传统白内障手术入选标准为主，患者能主动配合、角膜透明、睑裂正常，没有影响飞秒正常操作的情</a:t>
            </a:r>
          </a:p>
          <a:p>
            <a:pPr>
              <a:lnSpc>
                <a:spcPts val="2120"/>
              </a:lnSpc>
              <a:spcBef>
                <a:spcPts val="0"/>
              </a:spcBef>
              <a:spcAft>
                <a:spcPts val="0"/>
              </a:spcAft>
            </a:pPr>
            <a:r>
              <a:rPr sz="1700" b="0" lang="zh-CN">
                <a:solidFill>
                  <a:srgbClr val="1E2E3B"/>
                </a:solidFill>
                <a:latin typeface="Microsoft YaHei"/>
                <a:ea typeface="Microsoft YaHei"/>
                <a:cs typeface="Microsoft YaHei"/>
              </a:rPr>
              <a:t>况。</a:t>
            </a:r>
          </a:p>
        </p:txBody>
      </p:sp>
      <p:sp>
        <p:nvSpPr>
          <p:cNvPr id="10" name="2018 刊p328 / PDF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 / PDF1</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不能接受手术的情形"/>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不能接受手术的情形</a:t>
            </a:r>
          </a:p>
        </p:txBody>
      </p:sp>
      <p:sp>
        <p:nvSpPr>
          <p:cNvPr id="14" name="解剖异常无法操作、不能固视/仰卧配合、妨碍压平的角膜病（非接触设备除外）、阻挡激光的混浊、后弹力层膨"/>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解剖异常无法操作、不能固视/仰卧配合、妨碍压平的角膜病（非接触设备除外）、阻挡激光的混浊、</a:t>
            </a:r>
          </a:p>
          <a:p>
            <a:pPr>
              <a:lnSpc>
                <a:spcPts val="2120"/>
              </a:lnSpc>
              <a:spcBef>
                <a:spcPts val="0"/>
              </a:spcBef>
              <a:spcAft>
                <a:spcPts val="0"/>
              </a:spcAft>
            </a:pPr>
            <a:r>
              <a:rPr sz="1700" b="0" lang="zh-CN">
                <a:solidFill>
                  <a:srgbClr val="1E2E3B"/>
                </a:solidFill>
                <a:latin typeface="Microsoft YaHei"/>
                <a:ea typeface="Microsoft YaHei"/>
                <a:cs typeface="Microsoft YaHei"/>
              </a:rPr>
              <a:t>后弹力层膨出、近期反复角膜感染、前房血液/硅油、低眼压或角膜植入物。</a:t>
            </a:r>
          </a:p>
        </p:txBody>
      </p:sp>
      <p:sp>
        <p:nvSpPr>
          <p:cNvPr id="15" name="2018 刊p328 / PDF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 / PDF1</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须严密评估"/>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须严密评估</a:t>
            </a:r>
          </a:p>
        </p:txBody>
      </p:sp>
      <p:sp>
        <p:nvSpPr>
          <p:cNvPr id="19" name="小睑裂、散大瞳孔直径&lt;5 mm或异位、未控制青光眼/薄壁滤过泡、肥厚翼状胬肉/严重结膜松弛、晶状体明"/>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小睑裂、散大瞳孔直径&lt;5 mm或异位、未控制青光眼/薄壁滤过泡、肥厚翼状胬肉/严重结膜松弛、晶状</a:t>
            </a:r>
          </a:p>
          <a:p>
            <a:pPr>
              <a:lnSpc>
                <a:spcPts val="2120"/>
              </a:lnSpc>
              <a:spcBef>
                <a:spcPts val="0"/>
              </a:spcBef>
              <a:spcAft>
                <a:spcPts val="0"/>
              </a:spcAft>
            </a:pPr>
            <a:r>
              <a:rPr sz="1700" b="0" lang="zh-CN">
                <a:solidFill>
                  <a:srgbClr val="1E2E3B"/>
                </a:solidFill>
                <a:latin typeface="Microsoft YaHei"/>
                <a:ea typeface="Microsoft YaHei"/>
                <a:cs typeface="Microsoft YaHei"/>
              </a:rPr>
              <a:t>体明显异位。</a:t>
            </a:r>
          </a:p>
        </p:txBody>
      </p:sp>
      <p:sp>
        <p:nvSpPr>
          <p:cNvPr id="20" name="2018 刊p328 / PDF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 / PDF1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特殊情况与术前检查"/>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特殊情况与术前检查</a:t>
            </a:r>
          </a:p>
        </p:txBody>
      </p:sp>
      <p:sp>
        <p:nvSpPr>
          <p:cNvPr id="4" name="02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特殊患者"/>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特殊患者</a:t>
            </a:r>
          </a:p>
        </p:txBody>
      </p:sp>
      <p:sp>
        <p:nvSpPr>
          <p:cNvPr id="9" name="硬核、功能性IOL、浅前房/全白内障、内皮病、部分半脱位/高度近视可考虑FLACS；半脱位严重且切囊"/>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硬核、功能性IOL、浅前房/全白内障、内皮病、部分半脱位/高度近视可考虑FLACS；半脱位严重且切</a:t>
            </a:r>
          </a:p>
          <a:p>
            <a:pPr>
              <a:lnSpc>
                <a:spcPts val="2120"/>
              </a:lnSpc>
              <a:spcBef>
                <a:spcPts val="0"/>
              </a:spcBef>
              <a:spcAft>
                <a:spcPts val="0"/>
              </a:spcAft>
            </a:pPr>
            <a:r>
              <a:rPr sz="1700" b="0" lang="zh-CN">
                <a:solidFill>
                  <a:srgbClr val="1E2E3B"/>
                </a:solidFill>
                <a:latin typeface="Microsoft YaHei"/>
                <a:ea typeface="Microsoft YaHei"/>
                <a:cs typeface="Microsoft YaHei"/>
              </a:rPr>
              <a:t>囊区被虹膜遮挡，不建议飞秒切囊。</a:t>
            </a:r>
          </a:p>
        </p:txBody>
      </p:sp>
      <p:sp>
        <p:nvSpPr>
          <p:cNvPr id="10" name="2018 刊p328–329 / PDF1–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刊p328–329 / PDF1–2</a:t>
            </a:r>
          </a:p>
        </p:txBody>
      </p:sp>
      <p:sp>
        <p:nvSpPr>
          <p:cNvPr id="11" name="Rectangle 10"/>
          <p:cNvSpPr/>
          <p:nvPr/>
        </p:nvSpPr>
        <p:spPr>
          <a:xfrm>
            <a:off x="444500" y="3069166"/>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术前病史与常规检查"/>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术前病史与常规检查</a:t>
            </a:r>
          </a:p>
        </p:txBody>
      </p:sp>
      <p:sp>
        <p:nvSpPr>
          <p:cNvPr id="14" name="至少一次详细眼科检查：病史/药物过敏、期望、视力、散瞳前后前节、眼底、眼压、生物测量与IOL度数。"/>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至少一次详细眼科检查：病史/药物过敏、期望、视力、散瞳前后前节、眼底、眼压、生物测量与IOL度</a:t>
            </a:r>
          </a:p>
          <a:p>
            <a:pPr>
              <a:lnSpc>
                <a:spcPts val="2120"/>
              </a:lnSpc>
              <a:spcBef>
                <a:spcPts val="0"/>
              </a:spcBef>
              <a:spcAft>
                <a:spcPts val="0"/>
              </a:spcAft>
            </a:pPr>
            <a:r>
              <a:rPr sz="1700" b="0" lang="zh-CN">
                <a:solidFill>
                  <a:srgbClr val="1E2E3B"/>
                </a:solidFill>
                <a:latin typeface="Microsoft YaHei"/>
                <a:ea typeface="Microsoft YaHei"/>
                <a:cs typeface="Microsoft YaHei"/>
              </a:rPr>
              <a:t>数。</a:t>
            </a:r>
          </a:p>
        </p:txBody>
      </p:sp>
      <p:sp>
        <p:nvSpPr>
          <p:cNvPr id="15" name="2018 刊p329 / PDF2"/>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刊p329 / PDF2</a:t>
            </a:r>
          </a:p>
        </p:txBody>
      </p:sp>
      <p:sp>
        <p:nvSpPr>
          <p:cNvPr id="16" name="Rectangle 15"/>
          <p:cNvSpPr/>
          <p:nvPr/>
        </p:nvSpPr>
        <p:spPr>
          <a:xfrm>
            <a:off x="444500" y="4754033"/>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按需特殊检查"/>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按需特殊检查</a:t>
            </a:r>
          </a:p>
        </p:txBody>
      </p:sp>
      <p:sp>
        <p:nvSpPr>
          <p:cNvPr id="19" name="角膜内皮、地形图、前节分析、干眼检查、对比/眩光敏感度、后节OCT；依主诉和常规检查结果选择。"/>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角膜内皮、地形图、前节分析、干眼检查、对比/眩光敏感度、后节OCT；依主诉和常规检查结果选</a:t>
            </a:r>
          </a:p>
          <a:p>
            <a:pPr>
              <a:lnSpc>
                <a:spcPts val="2120"/>
              </a:lnSpc>
              <a:spcBef>
                <a:spcPts val="0"/>
              </a:spcBef>
              <a:spcAft>
                <a:spcPts val="0"/>
              </a:spcAft>
            </a:pPr>
            <a:r>
              <a:rPr sz="1700" b="0" lang="zh-CN">
                <a:solidFill>
                  <a:srgbClr val="1E2E3B"/>
                </a:solidFill>
                <a:latin typeface="Microsoft YaHei"/>
                <a:ea typeface="Microsoft YaHei"/>
                <a:cs typeface="Microsoft YaHei"/>
              </a:rPr>
              <a:t>择。</a:t>
            </a:r>
          </a:p>
        </p:txBody>
      </p:sp>
      <p:sp>
        <p:nvSpPr>
          <p:cNvPr id="20" name="2018 刊p329 / PDF2"/>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刊p329 / PDF2</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操作顺序与切囊参数"/>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操作顺序与切囊参数</a:t>
            </a:r>
          </a:p>
        </p:txBody>
      </p:sp>
      <p:sp>
        <p:nvSpPr>
          <p:cNvPr id="4" name="03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基本操作顺序"/>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基本操作顺序</a:t>
            </a:r>
          </a:p>
        </p:txBody>
      </p:sp>
      <p:sp>
        <p:nvSpPr>
          <p:cNvPr id="9" name="知情同意 → 散瞳及NSAID → 头位/表麻 → 前节成像与参数定位 → 切囊 → 预劈核 → 可"/>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知情同意 → 散瞳及NSAID → 头位/表麻 → 前节成像与参数定位 → 切囊 → 预劈核 → 可选角膜切口 →</a:t>
            </a:r>
          </a:p>
          <a:p>
            <a:pPr>
              <a:lnSpc>
                <a:spcPts val="2120"/>
              </a:lnSpc>
              <a:spcBef>
                <a:spcPts val="0"/>
              </a:spcBef>
              <a:spcAft>
                <a:spcPts val="0"/>
              </a:spcAft>
            </a:pPr>
            <a:r>
              <a:rPr sz="1700" b="0" lang="zh-CN">
                <a:solidFill>
                  <a:srgbClr val="1E2E3B"/>
                </a:solidFill>
                <a:latin typeface="Microsoft YaHei"/>
                <a:ea typeface="Microsoft YaHei"/>
                <a:cs typeface="Microsoft YaHei"/>
              </a:rPr>
              <a:t>超乳及IOL；Z8可在劈核后切囊。</a:t>
            </a:r>
          </a:p>
        </p:txBody>
      </p:sp>
      <p:sp>
        <p:nvSpPr>
          <p:cNvPr id="10" name="2018 刊p329 /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刊p329 / PDF2</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切囊直径"/>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切囊直径</a:t>
            </a:r>
          </a:p>
        </p:txBody>
      </p:sp>
      <p:sp>
        <p:nvSpPr>
          <p:cNvPr id="14" name="可设4.5～6.0 mm，通常5.0～5.2 mm；硬核或拟植入可调节IOL可用5.5 mm。原则3"/>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可设4.5～6.0 mm，通常5.0～5.2 mm；硬核或拟植入可调节IOL可用5.5 mm。原则360°覆盖IOL边</a:t>
            </a:r>
          </a:p>
          <a:p>
            <a:pPr>
              <a:lnSpc>
                <a:spcPts val="2120"/>
              </a:lnSpc>
              <a:spcBef>
                <a:spcPts val="0"/>
              </a:spcBef>
              <a:spcAft>
                <a:spcPts val="0"/>
              </a:spcAft>
            </a:pPr>
            <a:r>
              <a:rPr sz="1700" b="0" lang="zh-CN">
                <a:solidFill>
                  <a:srgbClr val="1E2E3B"/>
                </a:solidFill>
                <a:latin typeface="Microsoft YaHei"/>
                <a:ea typeface="Microsoft YaHei"/>
                <a:cs typeface="Microsoft YaHei"/>
              </a:rPr>
              <a:t>缘，撕囊边缘距瞳孔缘按原文1 mm安全范围。</a:t>
            </a:r>
          </a:p>
        </p:txBody>
      </p:sp>
      <p:sp>
        <p:nvSpPr>
          <p:cNvPr id="15" name="2018 刊p330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术者与环境"/>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术者与环境</a:t>
            </a:r>
          </a:p>
        </p:txBody>
      </p:sp>
      <p:sp>
        <p:nvSpPr>
          <p:cNvPr id="19" name="设备须获注册；建议主治及以上、有超乳经验；手术室18～24 ℃恒定、相对湿度&lt;50%，按设备及环境消"/>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设备须获注册；建议主治及以上、有超乳经验；手术室18～24 ℃恒定、相对湿度&lt;50%，按设备及环</a:t>
            </a:r>
          </a:p>
          <a:p>
            <a:pPr>
              <a:lnSpc>
                <a:spcPts val="2120"/>
              </a:lnSpc>
              <a:spcBef>
                <a:spcPts val="0"/>
              </a:spcBef>
              <a:spcAft>
                <a:spcPts val="0"/>
              </a:spcAft>
            </a:pPr>
            <a:r>
              <a:rPr sz="1700" b="0" lang="zh-CN">
                <a:solidFill>
                  <a:srgbClr val="1E2E3B"/>
                </a:solidFill>
                <a:latin typeface="Microsoft YaHei"/>
                <a:ea typeface="Microsoft YaHei"/>
                <a:cs typeface="Microsoft YaHei"/>
              </a:rPr>
              <a:t>境消毒要求执行。</a:t>
            </a:r>
          </a:p>
        </p:txBody>
      </p:sp>
      <p:sp>
        <p:nvSpPr>
          <p:cNvPr id="20" name="2018 刊p328 / PDF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 / PDF1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预劈核和角膜切口选择"/>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预劈核和角膜切口选择</a:t>
            </a:r>
          </a:p>
        </p:txBody>
      </p:sp>
      <p:sp>
        <p:nvSpPr>
          <p:cNvPr id="4" name="04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预劈核选择"/>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预劈核选择</a:t>
            </a:r>
          </a:p>
        </p:txBody>
      </p:sp>
      <p:sp>
        <p:nvSpPr>
          <p:cNvPr id="9" name="Ⅳ级及以上硬核强烈建议预劈核，可劈6块；并非所有病例必需。后极性白内障暂不建议预劈核；参数按核硬度、"/>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Ⅳ级及以上硬核强烈建议预劈核，可劈6块；并非所有病例必需。后极性白内障暂不建议预劈核；参数</a:t>
            </a:r>
          </a:p>
          <a:p>
            <a:pPr>
              <a:lnSpc>
                <a:spcPts val="2120"/>
              </a:lnSpc>
              <a:spcBef>
                <a:spcPts val="0"/>
              </a:spcBef>
              <a:spcAft>
                <a:spcPts val="0"/>
              </a:spcAft>
            </a:pPr>
            <a:r>
              <a:rPr sz="1700" b="0" lang="zh-CN">
                <a:solidFill>
                  <a:srgbClr val="1E2E3B"/>
                </a:solidFill>
                <a:latin typeface="Microsoft YaHei"/>
                <a:ea typeface="Microsoft YaHei"/>
                <a:cs typeface="Microsoft YaHei"/>
              </a:rPr>
              <a:t>按核硬度、方式、设备个体化。</a:t>
            </a:r>
          </a:p>
        </p:txBody>
      </p:sp>
      <p:sp>
        <p:nvSpPr>
          <p:cNvPr id="10" name="2018 刊p330 / PDF3"/>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角膜切口与散光"/>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角膜切口与散光</a:t>
            </a:r>
          </a:p>
        </p:txBody>
      </p:sp>
      <p:sp>
        <p:nvSpPr>
          <p:cNvPr id="14" name="透明角膜切口不是必需；可用两/三平面，明显前移或定位困难可改手工。规则散光1.00～1.50 D或散"/>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透明角膜切口不是必需；可用两/三平面，明显前移或定位困难可改手工。规则散光1.00～1.50 D或散</a:t>
            </a:r>
          </a:p>
          <a:p>
            <a:pPr>
              <a:lnSpc>
                <a:spcPts val="2120"/>
              </a:lnSpc>
              <a:spcBef>
                <a:spcPts val="0"/>
              </a:spcBef>
              <a:spcAft>
                <a:spcPts val="0"/>
              </a:spcAft>
            </a:pPr>
            <a:r>
              <a:rPr sz="1700" b="0" lang="zh-CN">
                <a:solidFill>
                  <a:srgbClr val="1E2E3B"/>
                </a:solidFill>
                <a:latin typeface="Microsoft YaHei"/>
                <a:ea typeface="Microsoft YaHei"/>
                <a:cs typeface="Microsoft YaHei"/>
              </a:rPr>
              <a:t>光IOL残余此范围，可考虑松解切口。</a:t>
            </a:r>
          </a:p>
        </p:txBody>
      </p:sp>
      <p:sp>
        <p:nvSpPr>
          <p:cNvPr id="15" name="2018 刊p330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缺项与证据边界"/>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缺项与证据边界</a:t>
            </a:r>
          </a:p>
        </p:txBody>
      </p:sp>
      <p:sp>
        <p:nvSpPr>
          <p:cNvPr id="19" name="原文部分优势来自其引用研究，不能写作所有患者必然获益；未统一给出激光能量/劈核深度、儿童妊娠方案及正"/>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原文部分优势来自其引用研究，不能写作所有患者必然获益；未统一给出激光能量/劈核深度、儿童妊</a:t>
            </a:r>
          </a:p>
          <a:p>
            <a:pPr>
              <a:lnSpc>
                <a:spcPts val="2120"/>
              </a:lnSpc>
              <a:spcBef>
                <a:spcPts val="0"/>
              </a:spcBef>
              <a:spcAft>
                <a:spcPts val="0"/>
              </a:spcAft>
            </a:pPr>
            <a:r>
              <a:rPr sz="1700" b="0" lang="zh-CN">
                <a:solidFill>
                  <a:srgbClr val="1E2E3B"/>
                </a:solidFill>
                <a:latin typeface="Microsoft YaHei"/>
                <a:ea typeface="Microsoft YaHei"/>
                <a:cs typeface="Microsoft YaHei"/>
              </a:rPr>
              <a:t>娠方案及正式推荐分级。</a:t>
            </a:r>
          </a:p>
        </p:txBody>
      </p:sp>
      <p:sp>
        <p:nvSpPr>
          <p:cNvPr id="20" name="2018 刊p328–330 / PDF1–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刊p328–330 / PDF1–3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缩瞳预防与术中处理"/>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缩瞳预防与术中处理</a:t>
            </a:r>
          </a:p>
        </p:txBody>
      </p:sp>
      <p:sp>
        <p:nvSpPr>
          <p:cNvPr id="4" name="05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缩瞳预防用药"/>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缩瞳预防用药</a:t>
            </a:r>
          </a:p>
        </p:txBody>
      </p:sp>
      <p:sp>
        <p:nvSpPr>
          <p:cNvPr id="9" name="术前1 h内散瞳并联合NSAID；NSAID术前1 d点眼3或4次、每次1滴。激光后立即1%复方托吡"/>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术前1 h内散瞳并联合NSAID；NSAID术前1 d点眼3或4次、每次1滴。激光后立即1%复方托吡卡胺1</a:t>
            </a:r>
          </a:p>
          <a:p>
            <a:pPr>
              <a:lnSpc>
                <a:spcPts val="2120"/>
              </a:lnSpc>
              <a:spcBef>
                <a:spcPts val="0"/>
              </a:spcBef>
              <a:spcAft>
                <a:spcPts val="0"/>
              </a:spcAft>
            </a:pPr>
            <a:r>
              <a:rPr sz="1700" b="0" lang="zh-CN">
                <a:solidFill>
                  <a:srgbClr val="1E2E3B"/>
                </a:solidFill>
                <a:latin typeface="Microsoft YaHei"/>
                <a:ea typeface="Microsoft YaHei"/>
                <a:cs typeface="Microsoft YaHei"/>
              </a:rPr>
              <a:t>滴；推荐15～20 min内超乳。</a:t>
            </a:r>
          </a:p>
        </p:txBody>
      </p:sp>
      <p:sp>
        <p:nvSpPr>
          <p:cNvPr id="10" name="2018 刊p330–331 / PDF3–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刊p330–331 / PDF3–4</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术中难散瞳"/>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术中难散瞳</a:t>
            </a:r>
          </a:p>
        </p:txBody>
      </p:sp>
      <p:sp>
        <p:nvSpPr>
          <p:cNvPr id="14" name="可前房注射1∶10 000～1∶50 000稀释肾上腺素，和/或机械扩瞳；注射体积、所有药物具体品种"/>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可前房注射1∶10 000～1∶50 000稀释肾上腺素，和/或机械扩瞳；注射体积、所有药物具体品种及完</a:t>
            </a:r>
          </a:p>
          <a:p>
            <a:pPr>
              <a:lnSpc>
                <a:spcPts val="2120"/>
              </a:lnSpc>
              <a:spcBef>
                <a:spcPts val="0"/>
              </a:spcBef>
              <a:spcAft>
                <a:spcPts val="0"/>
              </a:spcAft>
            </a:pPr>
            <a:r>
              <a:rPr sz="1700" b="0" lang="zh-CN">
                <a:solidFill>
                  <a:srgbClr val="1E2E3B"/>
                </a:solidFill>
                <a:latin typeface="Microsoft YaHei"/>
                <a:ea typeface="Microsoft YaHei"/>
                <a:cs typeface="Microsoft YaHei"/>
              </a:rPr>
              <a:t>整禁忌原文未明确。</a:t>
            </a:r>
          </a:p>
        </p:txBody>
      </p:sp>
      <p:sp>
        <p:nvSpPr>
          <p:cNvPr id="15" name="2018 刊p330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负压固定异常"/>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负压固定异常</a:t>
            </a:r>
          </a:p>
        </p:txBody>
      </p:sp>
      <p:sp>
        <p:nvSpPr>
          <p:cNvPr id="19" name="脱吸或异常气泡/结膜进入等 → 迅速松脚踏终止操作，休息后重新放置；多次无法固定可终止激光改常规超乳"/>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脱吸或异常气泡/结膜进入等 → 迅速松脚踏终止操作，休息后重新放置；多次无法固定可终止激光改常</a:t>
            </a:r>
          </a:p>
          <a:p>
            <a:pPr>
              <a:lnSpc>
                <a:spcPts val="2120"/>
              </a:lnSpc>
              <a:spcBef>
                <a:spcPts val="0"/>
              </a:spcBef>
              <a:spcAft>
                <a:spcPts val="0"/>
              </a:spcAft>
            </a:pPr>
            <a:r>
              <a:rPr sz="1700" b="0" lang="zh-CN">
                <a:solidFill>
                  <a:srgbClr val="1E2E3B"/>
                </a:solidFill>
                <a:latin typeface="Microsoft YaHei"/>
                <a:ea typeface="Microsoft YaHei"/>
                <a:cs typeface="Microsoft YaHei"/>
              </a:rPr>
              <a:t>规超乳。</a:t>
            </a:r>
          </a:p>
        </p:txBody>
      </p:sp>
      <p:sp>
        <p:nvSpPr>
          <p:cNvPr id="20" name="2018 刊p330 / PDF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切囊、后囊安全及随访"/>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切囊、后囊安全及随访</a:t>
            </a:r>
          </a:p>
        </p:txBody>
      </p:sp>
      <p:sp>
        <p:nvSpPr>
          <p:cNvPr id="4" name="06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切囊不全/撕裂"/>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切囊不全/撕裂</a:t>
            </a:r>
          </a:p>
        </p:txBody>
      </p:sp>
      <p:sp>
        <p:nvSpPr>
          <p:cNvPr id="9" name="切囊不全手法二次撕囊；不确定是否完整，可染色后取出，避免突然快速取囊。已撕裂则维持前房、轻巧操作并避"/>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切囊不全手法二次撕囊；不确定是否完整，可染色后取出，避免突然快速取囊。已撕裂则维持前房、轻</a:t>
            </a:r>
          </a:p>
          <a:p>
            <a:pPr>
              <a:lnSpc>
                <a:spcPts val="2120"/>
              </a:lnSpc>
              <a:spcBef>
                <a:spcPts val="0"/>
              </a:spcBef>
              <a:spcAft>
                <a:spcPts val="0"/>
              </a:spcAft>
            </a:pPr>
            <a:r>
              <a:rPr sz="1700" b="0" lang="zh-CN">
                <a:solidFill>
                  <a:srgbClr val="1E2E3B"/>
                </a:solidFill>
                <a:latin typeface="Microsoft YaHei"/>
                <a:ea typeface="Microsoft YaHei"/>
                <a:cs typeface="Microsoft YaHei"/>
              </a:rPr>
              <a:t>巧操作并避开裂区。</a:t>
            </a:r>
          </a:p>
        </p:txBody>
      </p:sp>
      <p:sp>
        <p:nvSpPr>
          <p:cNvPr id="10" name="2018 刊p331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刊p331 / PDF4</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后囊与囊袋阻滞"/>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后囊与囊袋阻滞</a:t>
            </a:r>
          </a:p>
        </p:txBody>
      </p:sp>
      <p:sp>
        <p:nvSpPr>
          <p:cNvPr id="14" name="保守扫描深度，关注眼位倾斜；减少气泡，移除囊膜前避免过量黏弹剂，水分离前囊袋减压。后极性合并硬核水分"/>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保守扫描深度，关注眼位倾斜；减少气泡，移除囊膜前避免过量黏弹剂，水分离前囊袋减压。后极性合</a:t>
            </a:r>
          </a:p>
          <a:p>
            <a:pPr>
              <a:lnSpc>
                <a:spcPts val="2120"/>
              </a:lnSpc>
              <a:spcBef>
                <a:spcPts val="0"/>
              </a:spcBef>
              <a:spcAft>
                <a:spcPts val="0"/>
              </a:spcAft>
            </a:pPr>
            <a:r>
              <a:rPr sz="1700" b="0" lang="zh-CN">
                <a:solidFill>
                  <a:srgbClr val="1E2E3B"/>
                </a:solidFill>
                <a:latin typeface="Microsoft YaHei"/>
                <a:ea typeface="Microsoft YaHei"/>
                <a:cs typeface="Microsoft YaHei"/>
              </a:rPr>
              <a:t>并硬核水分离尤其谨慎。</a:t>
            </a:r>
          </a:p>
        </p:txBody>
      </p:sp>
      <p:sp>
        <p:nvSpPr>
          <p:cNvPr id="15" name="2018 刊p331 / PDF4"/>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刊p331 / PDF4</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表与术后随访"/>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眼表与术后随访</a:t>
            </a:r>
          </a:p>
        </p:txBody>
      </p:sp>
      <p:sp>
        <p:nvSpPr>
          <p:cNvPr id="19" name="术前/早期术后评估干眼，酌情人工泪液；术后1 d、7 d、1个月复查视力、眼压和前房；并发症增频、异"/>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术前/早期术后评估干眼，酌情人工泪液；术后1 d、7 d、1个月复查视力、眼压和前房；并发症增频、</a:t>
            </a:r>
          </a:p>
          <a:p>
            <a:pPr>
              <a:lnSpc>
                <a:spcPts val="2120"/>
              </a:lnSpc>
              <a:spcBef>
                <a:spcPts val="0"/>
              </a:spcBef>
              <a:spcAft>
                <a:spcPts val="0"/>
              </a:spcAft>
            </a:pPr>
            <a:r>
              <a:rPr sz="1700" b="0" lang="zh-CN">
                <a:solidFill>
                  <a:srgbClr val="1E2E3B"/>
                </a:solidFill>
                <a:latin typeface="Microsoft YaHei"/>
                <a:ea typeface="Microsoft YaHei"/>
                <a:cs typeface="Microsoft YaHei"/>
              </a:rPr>
              <a:t>异常及时就诊。</a:t>
            </a:r>
          </a:p>
        </p:txBody>
      </p:sp>
      <p:sp>
        <p:nvSpPr>
          <p:cNvPr id="20" name="2018 刊p331–332 / PDF4–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刊p331–332 / PDF4–5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飞秒激光辅助白内障手术规范"/>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飞秒激光辅助白内障手术规范</a:t>
            </a:r>
          </a:p>
        </p:txBody>
      </p:sp>
      <p:sp>
        <p:nvSpPr>
          <p:cNvPr id="4" name="判断条件与下一步 · 按本篇原文整理 · 2018"/>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2018</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适应证与禁忌筛查"/>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适应证与禁忌筛查</a:t>
            </a:r>
          </a:p>
        </p:txBody>
      </p:sp>
      <p:sp>
        <p:nvSpPr>
          <p:cNvPr id="7" name="能配合、角膜透明且无禁忌？否 → 不进入FLACS；小瞳&lt;5 mm等 → 严密评估。"/>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能配合、角膜透明且无禁忌？否 → 不进入FLACS；小瞳&lt;5 mm等</a:t>
            </a:r>
          </a:p>
          <a:p>
            <a:pPr>
              <a:lnSpc>
                <a:spcPts val="1630"/>
              </a:lnSpc>
              <a:spcBef>
                <a:spcPts val="0"/>
              </a:spcBef>
              <a:spcAft>
                <a:spcPts val="0"/>
              </a:spcAft>
            </a:pPr>
            <a:r>
              <a:rPr sz="1350" b="0" lang="zh-CN">
                <a:solidFill>
                  <a:srgbClr val="1E2E3B"/>
                </a:solidFill>
                <a:latin typeface="Microsoft YaHei"/>
                <a:ea typeface="Microsoft YaHei"/>
                <a:cs typeface="Microsoft YaHei"/>
              </a:rPr>
              <a:t> → 严密评估。</a:t>
            </a:r>
          </a:p>
        </p:txBody>
      </p:sp>
      <p:sp>
        <p:nvSpPr>
          <p:cNvPr id="8" name="2018 刊p328"/>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刊p328</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术前检查与决策"/>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术前检查与决策</a:t>
            </a:r>
          </a:p>
        </p:txBody>
      </p:sp>
      <p:sp>
        <p:nvSpPr>
          <p:cNvPr id="12" name="常规眼科/生物测量；按需内皮、地形图、干眼与OCT；个体化知情同意。"/>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常规眼科/生物测量；按需内皮、地形图、干眼与OCT；个体化知</a:t>
            </a:r>
          </a:p>
          <a:p>
            <a:pPr>
              <a:lnSpc>
                <a:spcPts val="1630"/>
              </a:lnSpc>
              <a:spcBef>
                <a:spcPts val="0"/>
              </a:spcBef>
              <a:spcAft>
                <a:spcPts val="0"/>
              </a:spcAft>
            </a:pPr>
            <a:r>
              <a:rPr sz="1350" b="0" lang="zh-CN">
                <a:solidFill>
                  <a:srgbClr val="1E2E3B"/>
                </a:solidFill>
                <a:latin typeface="Microsoft YaHei"/>
                <a:ea typeface="Microsoft YaHei"/>
                <a:cs typeface="Microsoft YaHei"/>
              </a:rPr>
              <a:t>情同意。</a:t>
            </a:r>
          </a:p>
        </p:txBody>
      </p:sp>
      <p:sp>
        <p:nvSpPr>
          <p:cNvPr id="13" name="2018 刊p328–329"/>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刊p328–329</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用药与对接"/>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用药与对接</a:t>
            </a:r>
          </a:p>
        </p:txBody>
      </p:sp>
      <p:sp>
        <p:nvSpPr>
          <p:cNvPr id="17" name="散瞳+NSAID、表麻、固定、前节成像定位；脱吸/异常 → 立即停激光并处理。"/>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散瞳+NSAID、表麻、固定、前节成像定位；脱吸/异常 → 立即停</a:t>
            </a:r>
          </a:p>
          <a:p>
            <a:pPr>
              <a:lnSpc>
                <a:spcPts val="1630"/>
              </a:lnSpc>
              <a:spcBef>
                <a:spcPts val="0"/>
              </a:spcBef>
              <a:spcAft>
                <a:spcPts val="0"/>
              </a:spcAft>
            </a:pPr>
            <a:r>
              <a:rPr sz="1350" b="0" lang="zh-CN">
                <a:solidFill>
                  <a:srgbClr val="1E2E3B"/>
                </a:solidFill>
                <a:latin typeface="Microsoft YaHei"/>
                <a:ea typeface="Microsoft YaHei"/>
                <a:cs typeface="Microsoft YaHei"/>
              </a:rPr>
              <a:t>激光并处理。</a:t>
            </a:r>
          </a:p>
        </p:txBody>
      </p:sp>
      <p:sp>
        <p:nvSpPr>
          <p:cNvPr id="18" name="2018 刊p329–331"/>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刊p329–331</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切囊与可选步骤"/>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切囊与可选步骤</a:t>
            </a:r>
          </a:p>
        </p:txBody>
      </p:sp>
      <p:sp>
        <p:nvSpPr>
          <p:cNvPr id="22" name="通常切囊5.0～5.2 mm；预劈核/角膜切口按条件，后极性暂不预劈核。"/>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通常切囊5.0～5.2 mm；预劈核/角膜切口按条件，后极性暂不预</a:t>
            </a:r>
          </a:p>
          <a:p>
            <a:pPr>
              <a:lnSpc>
                <a:spcPts val="1630"/>
              </a:lnSpc>
              <a:spcBef>
                <a:spcPts val="0"/>
              </a:spcBef>
              <a:spcAft>
                <a:spcPts val="0"/>
              </a:spcAft>
            </a:pPr>
            <a:r>
              <a:rPr sz="1350" b="0" lang="zh-CN">
                <a:solidFill>
                  <a:srgbClr val="1E2E3B"/>
                </a:solidFill>
                <a:latin typeface="Microsoft YaHei"/>
                <a:ea typeface="Microsoft YaHei"/>
                <a:cs typeface="Microsoft YaHei"/>
              </a:rPr>
              <a:t>劈核。</a:t>
            </a:r>
          </a:p>
        </p:txBody>
      </p:sp>
      <p:sp>
        <p:nvSpPr>
          <p:cNvPr id="23" name="2018 刊p330"/>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刊p330</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超乳及IOL"/>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超乳及IOL</a:t>
            </a:r>
          </a:p>
        </p:txBody>
      </p:sp>
      <p:sp>
        <p:nvSpPr>
          <p:cNvPr id="27" name="推荐激光后15～20 min内超乳；切囊不全手法完成，水分离前减压、防后囊损伤。"/>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推荐激光后15～20 min内超乳；切囊不全手法完成，水分离前减</a:t>
            </a:r>
          </a:p>
          <a:p>
            <a:pPr>
              <a:lnSpc>
                <a:spcPts val="1630"/>
              </a:lnSpc>
              <a:spcBef>
                <a:spcPts val="0"/>
              </a:spcBef>
              <a:spcAft>
                <a:spcPts val="0"/>
              </a:spcAft>
            </a:pPr>
            <a:r>
              <a:rPr sz="1350" b="0" lang="zh-CN">
                <a:solidFill>
                  <a:srgbClr val="1E2E3B"/>
                </a:solidFill>
                <a:latin typeface="Microsoft YaHei"/>
                <a:ea typeface="Microsoft YaHei"/>
                <a:cs typeface="Microsoft YaHei"/>
              </a:rPr>
              <a:t>压、防后囊损伤。</a:t>
            </a:r>
          </a:p>
        </p:txBody>
      </p:sp>
      <p:sp>
        <p:nvSpPr>
          <p:cNvPr id="28" name="2018 刊p330–331"/>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刊p330–331</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术后随访"/>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术后随访</a:t>
            </a:r>
          </a:p>
        </p:txBody>
      </p:sp>
      <p:sp>
        <p:nvSpPr>
          <p:cNvPr id="32" name="1 d、7 d、1个月检查视力/眼压/前房；异常或并发症 → 及时就诊、增加随访。"/>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1 d、7 d、1个月检查视力/眼压/前房；异常或并发症 → 及时就</a:t>
            </a:r>
          </a:p>
          <a:p>
            <a:pPr>
              <a:lnSpc>
                <a:spcPts val="1630"/>
              </a:lnSpc>
              <a:spcBef>
                <a:spcPts val="0"/>
              </a:spcBef>
              <a:spcAft>
                <a:spcPts val="0"/>
              </a:spcAft>
            </a:pPr>
            <a:r>
              <a:rPr sz="1350" b="0" lang="zh-CN">
                <a:solidFill>
                  <a:srgbClr val="1E2E3B"/>
                </a:solidFill>
                <a:latin typeface="Microsoft YaHei"/>
                <a:ea typeface="Microsoft YaHei"/>
                <a:cs typeface="Microsoft YaHei"/>
              </a:rPr>
              <a:t>诊、增加随访。</a:t>
            </a:r>
          </a:p>
        </p:txBody>
      </p:sp>
      <p:sp>
        <p:nvSpPr>
          <p:cNvPr id="33" name="2018 刊p331–332"/>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刊p331–332</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