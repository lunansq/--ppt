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a:p/>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D或散光IOL术后残余散光在此范围，可考虑松解切口。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a:p/>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a:p/>
          <a:p>
            <a:r>
              <a:t>flacs-18 缺项与证据边界：原文部分优势来自其引用研究，不能写作所有患者必然获益；未统一给出激光能量/劈核深度、儿童妊娠方案及正式推荐分级。</a:t>
            </a:r>
          </a:p>
          <a:p>
            <a:r>
              <a:t>来源：2018 刊p328–330 / PDF1–3；类别：原文未明确；推荐等级：原文未明确。</a:t>
            </a:r>
          </a:p>
          <a:p>
            <a:r>
              <a:t>原文锚点：主治医师及以上职称，具有一定超声乳化白内障吸除术经验和眼科手术经验。（三）环境要求手术室的面积和尺寸应符合激光设备要求的参数标准，手术室内空气必须达到原国家卫生和计划生育委员会在《医院消毒卫生标准（GB15982—2012）》中规定的Ⅱ类环境空气消毒标准，若飞秒激光与超声乳化白内障吸除术在同一间手术室完成，则需要达到Ⅰ类环境空气消毒标准。手术室温度：18～24℃（恒定于此范围的某一值），相对湿度：＜50％（不同设备可能要求不同，以达到要求为准）。二、FLACS的适应证及禁忌证（一）适应证以传统白内障摘除手术患者入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4" name="2018 专家共识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正面</a:t>
            </a:r>
          </a:p>
        </p:txBody>
      </p:sp>
      <p:sp>
        <p:nvSpPr>
          <p:cNvPr id="5" name="Rectangle 4"/>
          <p:cNvSpPr/>
          <p:nvPr/>
        </p:nvSpPr>
        <p:spPr>
          <a:xfrm>
            <a:off x="17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患者选择"/>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患者选择</a:t>
            </a:r>
          </a:p>
        </p:txBody>
      </p:sp>
      <p:sp>
        <p:nvSpPr>
          <p:cNvPr id="7" name="能配合、角膜透明、睑裂合适。解剖/固视不适、激光阻挡、活动角膜问题、低眼压等禁忌须排查。"/>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1E2E3B"/>
                </a:solidFill>
                <a:latin typeface="Microsoft YaHei"/>
                <a:ea typeface="Microsoft YaHei"/>
                <a:cs typeface="Microsoft YaHei"/>
              </a:rPr>
              <a:t>活动角膜问题、低眼压等禁忌须排查。</a:t>
            </a:r>
          </a:p>
        </p:txBody>
      </p:sp>
      <p:sp>
        <p:nvSpPr>
          <p:cNvPr id="8" name="2018 刊p328"/>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a:t>
            </a:r>
          </a:p>
        </p:txBody>
      </p:sp>
      <p:sp>
        <p:nvSpPr>
          <p:cNvPr id="9" name="Rectangle 8"/>
          <p:cNvSpPr/>
          <p:nvPr/>
        </p:nvSpPr>
        <p:spPr>
          <a:xfrm>
            <a:off x="172720" y="1529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高风险评估"/>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高风险评估</a:t>
            </a:r>
          </a:p>
        </p:txBody>
      </p:sp>
      <p:sp>
        <p:nvSpPr>
          <p:cNvPr id="11" name="散大瞳孔&lt;5 mm、未控制青光眼、薄壁滤过泡、明显半脱位等须严密评估。"/>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1E2E3B"/>
                </a:solidFill>
                <a:latin typeface="Microsoft YaHei"/>
                <a:ea typeface="Microsoft YaHei"/>
                <a:cs typeface="Microsoft YaHei"/>
              </a:rPr>
              <a:t>等须严密评估。</a:t>
            </a:r>
          </a:p>
        </p:txBody>
      </p:sp>
      <p:sp>
        <p:nvSpPr>
          <p:cNvPr id="12" name="2018 刊p328–329"/>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刊p328–329</a:t>
            </a:r>
          </a:p>
        </p:txBody>
      </p:sp>
      <p:sp>
        <p:nvSpPr>
          <p:cNvPr id="13" name="Rectangle 12"/>
          <p:cNvSpPr/>
          <p:nvPr/>
        </p:nvSpPr>
        <p:spPr>
          <a:xfrm>
            <a:off x="172720" y="229638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切囊参数"/>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切囊参数</a:t>
            </a:r>
          </a:p>
        </p:txBody>
      </p:sp>
      <p:sp>
        <p:nvSpPr>
          <p:cNvPr id="15" name="通常5.0～5.2 mm；可设4.5～6.0 mm；硬核/可调节IOL 5.5 mm。360°覆盖I"/>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1E2E3B"/>
                </a:solidFill>
                <a:latin typeface="Microsoft YaHei"/>
                <a:ea typeface="Microsoft YaHei"/>
                <a:cs typeface="Microsoft YaHei"/>
              </a:rPr>
              <a:t>mm。360°覆盖IOL边缘。</a:t>
            </a:r>
          </a:p>
        </p:txBody>
      </p:sp>
      <p:sp>
        <p:nvSpPr>
          <p:cNvPr id="16" name="2018 刊p330"/>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17" name="Rectangle 16"/>
          <p:cNvSpPr/>
          <p:nvPr/>
        </p:nvSpPr>
        <p:spPr>
          <a:xfrm>
            <a:off x="172720" y="3063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劈核/切口"/>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预劈核/切口</a:t>
            </a:r>
          </a:p>
        </p:txBody>
      </p:sp>
      <p:sp>
        <p:nvSpPr>
          <p:cNvPr id="19" name="Ⅳ级及以上硬核建议预劈核；后极性暂不建议。角膜切口非必需；松解切口可考虑规则散光1.00～1.50 "/>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1E2E3B"/>
                </a:solidFill>
                <a:latin typeface="Microsoft YaHei"/>
                <a:ea typeface="Microsoft YaHei"/>
                <a:cs typeface="Microsoft YaHei"/>
              </a:rPr>
              <a:t>必需；松解切口可考虑规则散光1.00～1.50 D。</a:t>
            </a:r>
          </a:p>
        </p:txBody>
      </p:sp>
      <p:sp>
        <p:nvSpPr>
          <p:cNvPr id="20" name="2018 刊p330"/>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飞秒激光辅助白内障手术规范"/>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24" name="2018 专家共识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正面</a:t>
            </a:r>
          </a:p>
        </p:txBody>
      </p:sp>
      <p:sp>
        <p:nvSpPr>
          <p:cNvPr id="25" name="Rectangle 24"/>
          <p:cNvSpPr/>
          <p:nvPr/>
        </p:nvSpPr>
        <p:spPr>
          <a:xfrm>
            <a:off x="395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患者选择"/>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患者选择</a:t>
            </a:r>
          </a:p>
        </p:txBody>
      </p:sp>
      <p:sp>
        <p:nvSpPr>
          <p:cNvPr id="27" name="能配合、角膜透明、睑裂合适。解剖/固视不适、激光阻挡、活动角膜问题、低眼压等禁忌须排查。"/>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1E2E3B"/>
                </a:solidFill>
                <a:latin typeface="Microsoft YaHei"/>
                <a:ea typeface="Microsoft YaHei"/>
                <a:cs typeface="Microsoft YaHei"/>
              </a:rPr>
              <a:t>活动角膜问题、低眼压等禁忌须排查。</a:t>
            </a:r>
          </a:p>
        </p:txBody>
      </p:sp>
      <p:sp>
        <p:nvSpPr>
          <p:cNvPr id="28" name="2018 刊p328"/>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a:t>
            </a:r>
          </a:p>
        </p:txBody>
      </p:sp>
      <p:sp>
        <p:nvSpPr>
          <p:cNvPr id="29" name="Rectangle 28"/>
          <p:cNvSpPr/>
          <p:nvPr/>
        </p:nvSpPr>
        <p:spPr>
          <a:xfrm>
            <a:off x="3952720" y="1529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高风险评估"/>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高风险评估</a:t>
            </a:r>
          </a:p>
        </p:txBody>
      </p:sp>
      <p:sp>
        <p:nvSpPr>
          <p:cNvPr id="31" name="散大瞳孔&lt;5 mm、未控制青光眼、薄壁滤过泡、明显半脱位等须严密评估。"/>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1E2E3B"/>
                </a:solidFill>
                <a:latin typeface="Microsoft YaHei"/>
                <a:ea typeface="Microsoft YaHei"/>
                <a:cs typeface="Microsoft YaHei"/>
              </a:rPr>
              <a:t>等须严密评估。</a:t>
            </a:r>
          </a:p>
        </p:txBody>
      </p:sp>
      <p:sp>
        <p:nvSpPr>
          <p:cNvPr id="32" name="2018 刊p328–329"/>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刊p328–329</a:t>
            </a:r>
          </a:p>
        </p:txBody>
      </p:sp>
      <p:sp>
        <p:nvSpPr>
          <p:cNvPr id="33" name="Rectangle 32"/>
          <p:cNvSpPr/>
          <p:nvPr/>
        </p:nvSpPr>
        <p:spPr>
          <a:xfrm>
            <a:off x="3952720" y="229638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切囊参数"/>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切囊参数</a:t>
            </a:r>
          </a:p>
        </p:txBody>
      </p:sp>
      <p:sp>
        <p:nvSpPr>
          <p:cNvPr id="35" name="通常5.0～5.2 mm；可设4.5～6.0 mm；硬核/可调节IOL 5.5 mm。360°覆盖I"/>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1E2E3B"/>
                </a:solidFill>
                <a:latin typeface="Microsoft YaHei"/>
                <a:ea typeface="Microsoft YaHei"/>
                <a:cs typeface="Microsoft YaHei"/>
              </a:rPr>
              <a:t>mm。360°覆盖IOL边缘。</a:t>
            </a:r>
          </a:p>
        </p:txBody>
      </p:sp>
      <p:sp>
        <p:nvSpPr>
          <p:cNvPr id="36" name="2018 刊p330"/>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37" name="Rectangle 36"/>
          <p:cNvSpPr/>
          <p:nvPr/>
        </p:nvSpPr>
        <p:spPr>
          <a:xfrm>
            <a:off x="3952720" y="3063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预劈核/切口"/>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预劈核/切口</a:t>
            </a:r>
          </a:p>
        </p:txBody>
      </p:sp>
      <p:sp>
        <p:nvSpPr>
          <p:cNvPr id="39" name="Ⅳ级及以上硬核建议预劈核；后极性暂不建议。角膜切口非必需；松解切口可考虑规则散光1.00～1.50 "/>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1E2E3B"/>
                </a:solidFill>
                <a:latin typeface="Microsoft YaHei"/>
                <a:ea typeface="Microsoft YaHei"/>
                <a:cs typeface="Microsoft YaHei"/>
              </a:rPr>
              <a:t>必需；松解切口可考虑规则散光1.00～1.50 D。</a:t>
            </a:r>
          </a:p>
        </p:txBody>
      </p:sp>
      <p:sp>
        <p:nvSpPr>
          <p:cNvPr id="40" name="2018 刊p330"/>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飞秒激光辅助白内障手术规范"/>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44" name="2018 专家共识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正面</a:t>
            </a:r>
          </a:p>
        </p:txBody>
      </p:sp>
      <p:sp>
        <p:nvSpPr>
          <p:cNvPr id="45" name="Rectangle 44"/>
          <p:cNvSpPr/>
          <p:nvPr/>
        </p:nvSpPr>
        <p:spPr>
          <a:xfrm>
            <a:off x="17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患者选择"/>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患者选择</a:t>
            </a:r>
          </a:p>
        </p:txBody>
      </p:sp>
      <p:sp>
        <p:nvSpPr>
          <p:cNvPr id="47" name="能配合、角膜透明、睑裂合适。解剖/固视不适、激光阻挡、活动角膜问题、低眼压等禁忌须排查。"/>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1E2E3B"/>
                </a:solidFill>
                <a:latin typeface="Microsoft YaHei"/>
                <a:ea typeface="Microsoft YaHei"/>
                <a:cs typeface="Microsoft YaHei"/>
              </a:rPr>
              <a:t>活动角膜问题、低眼压等禁忌须排查。</a:t>
            </a:r>
          </a:p>
        </p:txBody>
      </p:sp>
      <p:sp>
        <p:nvSpPr>
          <p:cNvPr id="48" name="2018 刊p328"/>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a:t>
            </a:r>
          </a:p>
        </p:txBody>
      </p:sp>
      <p:sp>
        <p:nvSpPr>
          <p:cNvPr id="49" name="Rectangle 48"/>
          <p:cNvSpPr/>
          <p:nvPr/>
        </p:nvSpPr>
        <p:spPr>
          <a:xfrm>
            <a:off x="172720" y="6857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高风险评估"/>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高风险评估</a:t>
            </a:r>
          </a:p>
        </p:txBody>
      </p:sp>
      <p:sp>
        <p:nvSpPr>
          <p:cNvPr id="51" name="散大瞳孔&lt;5 mm、未控制青光眼、薄壁滤过泡、明显半脱位等须严密评估。"/>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1E2E3B"/>
                </a:solidFill>
                <a:latin typeface="Microsoft YaHei"/>
                <a:ea typeface="Microsoft YaHei"/>
                <a:cs typeface="Microsoft YaHei"/>
              </a:rPr>
              <a:t>等须严密评估。</a:t>
            </a:r>
          </a:p>
        </p:txBody>
      </p:sp>
      <p:sp>
        <p:nvSpPr>
          <p:cNvPr id="52" name="2018 刊p328–329"/>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刊p328–329</a:t>
            </a:r>
          </a:p>
        </p:txBody>
      </p:sp>
      <p:sp>
        <p:nvSpPr>
          <p:cNvPr id="53" name="Rectangle 52"/>
          <p:cNvSpPr/>
          <p:nvPr/>
        </p:nvSpPr>
        <p:spPr>
          <a:xfrm>
            <a:off x="172720" y="762438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切囊参数"/>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切囊参数</a:t>
            </a:r>
          </a:p>
        </p:txBody>
      </p:sp>
      <p:sp>
        <p:nvSpPr>
          <p:cNvPr id="55" name="通常5.0～5.2 mm；可设4.5～6.0 mm；硬核/可调节IOL 5.5 mm。360°覆盖I"/>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1E2E3B"/>
                </a:solidFill>
                <a:latin typeface="Microsoft YaHei"/>
                <a:ea typeface="Microsoft YaHei"/>
                <a:cs typeface="Microsoft YaHei"/>
              </a:rPr>
              <a:t>mm。360°覆盖IOL边缘。</a:t>
            </a:r>
          </a:p>
        </p:txBody>
      </p:sp>
      <p:sp>
        <p:nvSpPr>
          <p:cNvPr id="56" name="2018 刊p330"/>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57" name="Rectangle 56"/>
          <p:cNvSpPr/>
          <p:nvPr/>
        </p:nvSpPr>
        <p:spPr>
          <a:xfrm>
            <a:off x="172720" y="8391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预劈核/切口"/>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预劈核/切口</a:t>
            </a:r>
          </a:p>
        </p:txBody>
      </p:sp>
      <p:sp>
        <p:nvSpPr>
          <p:cNvPr id="59" name="Ⅳ级及以上硬核建议预劈核；后极性暂不建议。角膜切口非必需；松解切口可考虑规则散光1.00～1.50 "/>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1E2E3B"/>
                </a:solidFill>
                <a:latin typeface="Microsoft YaHei"/>
                <a:ea typeface="Microsoft YaHei"/>
                <a:cs typeface="Microsoft YaHei"/>
              </a:rPr>
              <a:t>必需；松解切口可考虑规则散光1.00～1.50 D。</a:t>
            </a:r>
          </a:p>
        </p:txBody>
      </p:sp>
      <p:sp>
        <p:nvSpPr>
          <p:cNvPr id="60" name="2018 刊p330"/>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飞秒激光辅助白内障手术规范"/>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64" name="2018 专家共识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正面</a:t>
            </a:r>
          </a:p>
        </p:txBody>
      </p:sp>
      <p:sp>
        <p:nvSpPr>
          <p:cNvPr id="65" name="Rectangle 64"/>
          <p:cNvSpPr/>
          <p:nvPr/>
        </p:nvSpPr>
        <p:spPr>
          <a:xfrm>
            <a:off x="395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患者选择"/>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患者选择</a:t>
            </a:r>
          </a:p>
        </p:txBody>
      </p:sp>
      <p:sp>
        <p:nvSpPr>
          <p:cNvPr id="67" name="能配合、角膜透明、睑裂合适。解剖/固视不适、激光阻挡、活动角膜问题、低眼压等禁忌须排查。"/>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1E2E3B"/>
                </a:solidFill>
                <a:latin typeface="Microsoft YaHei"/>
                <a:ea typeface="Microsoft YaHei"/>
                <a:cs typeface="Microsoft YaHei"/>
              </a:rPr>
              <a:t>活动角膜问题、低眼压等禁忌须排查。</a:t>
            </a:r>
          </a:p>
        </p:txBody>
      </p:sp>
      <p:sp>
        <p:nvSpPr>
          <p:cNvPr id="68" name="2018 刊p328"/>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a:t>
            </a:r>
          </a:p>
        </p:txBody>
      </p:sp>
      <p:sp>
        <p:nvSpPr>
          <p:cNvPr id="69" name="Rectangle 68"/>
          <p:cNvSpPr/>
          <p:nvPr/>
        </p:nvSpPr>
        <p:spPr>
          <a:xfrm>
            <a:off x="3952720" y="6857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高风险评估"/>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高风险评估</a:t>
            </a:r>
          </a:p>
        </p:txBody>
      </p:sp>
      <p:sp>
        <p:nvSpPr>
          <p:cNvPr id="71" name="散大瞳孔&lt;5 mm、未控制青光眼、薄壁滤过泡、明显半脱位等须严密评估。"/>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1E2E3B"/>
                </a:solidFill>
                <a:latin typeface="Microsoft YaHei"/>
                <a:ea typeface="Microsoft YaHei"/>
                <a:cs typeface="Microsoft YaHei"/>
              </a:rPr>
              <a:t>等须严密评估。</a:t>
            </a:r>
          </a:p>
        </p:txBody>
      </p:sp>
      <p:sp>
        <p:nvSpPr>
          <p:cNvPr id="72" name="2018 刊p328–329"/>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刊p328–329</a:t>
            </a:r>
          </a:p>
        </p:txBody>
      </p:sp>
      <p:sp>
        <p:nvSpPr>
          <p:cNvPr id="73" name="Rectangle 72"/>
          <p:cNvSpPr/>
          <p:nvPr/>
        </p:nvSpPr>
        <p:spPr>
          <a:xfrm>
            <a:off x="3952720" y="762438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切囊参数"/>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切囊参数</a:t>
            </a:r>
          </a:p>
        </p:txBody>
      </p:sp>
      <p:sp>
        <p:nvSpPr>
          <p:cNvPr id="75" name="通常5.0～5.2 mm；可设4.5～6.0 mm；硬核/可调节IOL 5.5 mm。360°覆盖I"/>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1E2E3B"/>
                </a:solidFill>
                <a:latin typeface="Microsoft YaHei"/>
                <a:ea typeface="Microsoft YaHei"/>
                <a:cs typeface="Microsoft YaHei"/>
              </a:rPr>
              <a:t>mm。360°覆盖IOL边缘。</a:t>
            </a:r>
          </a:p>
        </p:txBody>
      </p:sp>
      <p:sp>
        <p:nvSpPr>
          <p:cNvPr id="76" name="2018 刊p330"/>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77" name="Rectangle 76"/>
          <p:cNvSpPr/>
          <p:nvPr/>
        </p:nvSpPr>
        <p:spPr>
          <a:xfrm>
            <a:off x="3952720" y="8391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预劈核/切口"/>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预劈核/切口</a:t>
            </a:r>
          </a:p>
        </p:txBody>
      </p:sp>
      <p:sp>
        <p:nvSpPr>
          <p:cNvPr id="79" name="Ⅳ级及以上硬核建议预劈核；后极性暂不建议。角膜切口非必需；松解切口可考虑规则散光1.00～1.50 "/>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1E2E3B"/>
                </a:solidFill>
                <a:latin typeface="Microsoft YaHei"/>
                <a:ea typeface="Microsoft YaHei"/>
                <a:cs typeface="Microsoft YaHei"/>
              </a:rPr>
              <a:t>必需；松解切口可考虑规则散光1.00～1.50 D。</a:t>
            </a:r>
          </a:p>
        </p:txBody>
      </p:sp>
      <p:sp>
        <p:nvSpPr>
          <p:cNvPr id="80" name="2018 刊p330"/>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4" name="2018 专家共识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背面</a:t>
            </a:r>
          </a:p>
        </p:txBody>
      </p:sp>
      <p:sp>
        <p:nvSpPr>
          <p:cNvPr id="5" name="Rectangle 4"/>
          <p:cNvSpPr/>
          <p:nvPr/>
        </p:nvSpPr>
        <p:spPr>
          <a:xfrm>
            <a:off x="17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缩瞳预防"/>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缩瞳预防</a:t>
            </a:r>
          </a:p>
        </p:txBody>
      </p:sp>
      <p:sp>
        <p:nvSpPr>
          <p:cNvPr id="7" name="术前1 h内散瞳+NSAID；NSAID术前1 d，3或4次、每次1滴。激光后1%复方托吡卡胺1滴；"/>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1E2E3B"/>
                </a:solidFill>
                <a:latin typeface="Microsoft YaHei"/>
                <a:ea typeface="Microsoft YaHei"/>
                <a:cs typeface="Microsoft YaHei"/>
              </a:rPr>
              <a:t>滴。激光后1%复方托吡卡胺1滴；15～20 min内超乳。</a:t>
            </a:r>
          </a:p>
        </p:txBody>
      </p:sp>
      <p:sp>
        <p:nvSpPr>
          <p:cNvPr id="8" name="2018 刊p330–331"/>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9" name="Rectangle 8"/>
          <p:cNvSpPr/>
          <p:nvPr/>
        </p:nvSpPr>
        <p:spPr>
          <a:xfrm>
            <a:off x="172720" y="1529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处理"/>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异常处理</a:t>
            </a:r>
          </a:p>
        </p:txBody>
      </p:sp>
      <p:sp>
        <p:nvSpPr>
          <p:cNvPr id="11" name="脱吸迅速停激光，重放接口；反复失败改超乳。切囊不全手法完成；不确定可染色，不突然快速取囊。"/>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1E2E3B"/>
                </a:solidFill>
                <a:latin typeface="Microsoft YaHei"/>
                <a:ea typeface="Microsoft YaHei"/>
                <a:cs typeface="Microsoft YaHei"/>
              </a:rPr>
              <a:t>法完成；不确定可染色，不突然快速取囊。</a:t>
            </a:r>
          </a:p>
        </p:txBody>
      </p:sp>
      <p:sp>
        <p:nvSpPr>
          <p:cNvPr id="12" name="2018 刊p330–331"/>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13" name="Rectangle 12"/>
          <p:cNvSpPr/>
          <p:nvPr/>
        </p:nvSpPr>
        <p:spPr>
          <a:xfrm>
            <a:off x="172720" y="2296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后囊安全"/>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后囊安全</a:t>
            </a:r>
          </a:p>
        </p:txBody>
      </p:sp>
      <p:sp>
        <p:nvSpPr>
          <p:cNvPr id="15" name="保守扫描、观察眼位；减气泡、避免过量黏弹剂，水分离前囊袋减压；后极性更谨慎。"/>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1E2E3B"/>
                </a:solidFill>
                <a:latin typeface="Microsoft YaHei"/>
                <a:ea typeface="Microsoft YaHei"/>
                <a:cs typeface="Microsoft YaHei"/>
              </a:rPr>
              <a:t>囊袋减压；后极性更谨慎。</a:t>
            </a:r>
          </a:p>
        </p:txBody>
      </p:sp>
      <p:sp>
        <p:nvSpPr>
          <p:cNvPr id="16" name="2018 刊p331"/>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刊p331</a:t>
            </a:r>
          </a:p>
        </p:txBody>
      </p:sp>
      <p:sp>
        <p:nvSpPr>
          <p:cNvPr id="17" name="Rectangle 16"/>
          <p:cNvSpPr/>
          <p:nvPr/>
        </p:nvSpPr>
        <p:spPr>
          <a:xfrm>
            <a:off x="172720" y="306346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19" name="术后1 d、7 d、1个月：视力/眼压/前房；异常及时就诊。激光统一能量和完整药物禁忌原文未明确。"/>
          <p:cNvSpPr txBox="1"/>
          <p:nvPr/>
        </p:nvSpPr>
        <p:spPr>
          <a:xfrm>
            <a:off x="27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1E2E3B"/>
                </a:solidFill>
                <a:latin typeface="Microsoft YaHei"/>
                <a:ea typeface="Microsoft YaHei"/>
                <a:cs typeface="Microsoft YaHei"/>
              </a:rPr>
              <a:t>光统一能量和完整药物禁忌原文未明确。</a:t>
            </a:r>
          </a:p>
        </p:txBody>
      </p:sp>
      <p:sp>
        <p:nvSpPr>
          <p:cNvPr id="20" name="2018 刊p328–332"/>
          <p:cNvSpPr txBox="1"/>
          <p:nvPr/>
        </p:nvSpPr>
        <p:spPr>
          <a:xfrm>
            <a:off x="27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刊p328–332</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飞秒激光辅助白内障手术规范"/>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24" name="2018 专家共识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背面</a:t>
            </a:r>
          </a:p>
        </p:txBody>
      </p:sp>
      <p:sp>
        <p:nvSpPr>
          <p:cNvPr id="25" name="Rectangle 24"/>
          <p:cNvSpPr/>
          <p:nvPr/>
        </p:nvSpPr>
        <p:spPr>
          <a:xfrm>
            <a:off x="3952720" y="762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缩瞳预防"/>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缩瞳预防</a:t>
            </a:r>
          </a:p>
        </p:txBody>
      </p:sp>
      <p:sp>
        <p:nvSpPr>
          <p:cNvPr id="27" name="术前1 h内散瞳+NSAID；NSAID术前1 d，3或4次、每次1滴。激光后1%复方托吡卡胺1滴；"/>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1E2E3B"/>
                </a:solidFill>
                <a:latin typeface="Microsoft YaHei"/>
                <a:ea typeface="Microsoft YaHei"/>
                <a:cs typeface="Microsoft YaHei"/>
              </a:rPr>
              <a:t>滴。激光后1%复方托吡卡胺1滴；15～20 min内超乳。</a:t>
            </a:r>
          </a:p>
        </p:txBody>
      </p:sp>
      <p:sp>
        <p:nvSpPr>
          <p:cNvPr id="28" name="2018 刊p330–331"/>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29" name="Rectangle 28"/>
          <p:cNvSpPr/>
          <p:nvPr/>
        </p:nvSpPr>
        <p:spPr>
          <a:xfrm>
            <a:off x="3952720" y="1529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异常处理"/>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异常处理</a:t>
            </a:r>
          </a:p>
        </p:txBody>
      </p:sp>
      <p:sp>
        <p:nvSpPr>
          <p:cNvPr id="31" name="脱吸迅速停激光，重放接口；反复失败改超乳。切囊不全手法完成；不确定可染色，不突然快速取囊。"/>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1E2E3B"/>
                </a:solidFill>
                <a:latin typeface="Microsoft YaHei"/>
                <a:ea typeface="Microsoft YaHei"/>
                <a:cs typeface="Microsoft YaHei"/>
              </a:rPr>
              <a:t>法完成；不确定可染色，不突然快速取囊。</a:t>
            </a:r>
          </a:p>
        </p:txBody>
      </p:sp>
      <p:sp>
        <p:nvSpPr>
          <p:cNvPr id="32" name="2018 刊p330–331"/>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33" name="Rectangle 32"/>
          <p:cNvSpPr/>
          <p:nvPr/>
        </p:nvSpPr>
        <p:spPr>
          <a:xfrm>
            <a:off x="3952720" y="2296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后囊安全"/>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后囊安全</a:t>
            </a:r>
          </a:p>
        </p:txBody>
      </p:sp>
      <p:sp>
        <p:nvSpPr>
          <p:cNvPr id="35" name="保守扫描、观察眼位；减气泡、避免过量黏弹剂，水分离前囊袋减压；后极性更谨慎。"/>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1E2E3B"/>
                </a:solidFill>
                <a:latin typeface="Microsoft YaHei"/>
                <a:ea typeface="Microsoft YaHei"/>
                <a:cs typeface="Microsoft YaHei"/>
              </a:rPr>
              <a:t>囊袋减压；后极性更谨慎。</a:t>
            </a:r>
          </a:p>
        </p:txBody>
      </p:sp>
      <p:sp>
        <p:nvSpPr>
          <p:cNvPr id="36" name="2018 刊p331"/>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刊p331</a:t>
            </a:r>
          </a:p>
        </p:txBody>
      </p:sp>
      <p:sp>
        <p:nvSpPr>
          <p:cNvPr id="37" name="Rectangle 36"/>
          <p:cNvSpPr/>
          <p:nvPr/>
        </p:nvSpPr>
        <p:spPr>
          <a:xfrm>
            <a:off x="3952720" y="306346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随访"/>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39" name="术后1 d、7 d、1个月：视力/眼压/前房；异常及时就诊。激光统一能量和完整药物禁忌原文未明确。"/>
          <p:cNvSpPr txBox="1"/>
          <p:nvPr/>
        </p:nvSpPr>
        <p:spPr>
          <a:xfrm>
            <a:off x="4054320" y="3253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1E2E3B"/>
                </a:solidFill>
                <a:latin typeface="Microsoft YaHei"/>
                <a:ea typeface="Microsoft YaHei"/>
                <a:cs typeface="Microsoft YaHei"/>
              </a:rPr>
              <a:t>光统一能量和完整药物禁忌原文未明确。</a:t>
            </a:r>
          </a:p>
        </p:txBody>
      </p:sp>
      <p:sp>
        <p:nvSpPr>
          <p:cNvPr id="40" name="2018 刊p328–332"/>
          <p:cNvSpPr txBox="1"/>
          <p:nvPr/>
        </p:nvSpPr>
        <p:spPr>
          <a:xfrm>
            <a:off x="4054320" y="3574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刊p328–332</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飞秒激光辅助白内障手术规范"/>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44" name="2018 专家共识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背面</a:t>
            </a:r>
          </a:p>
        </p:txBody>
      </p:sp>
      <p:sp>
        <p:nvSpPr>
          <p:cNvPr id="45" name="Rectangle 44"/>
          <p:cNvSpPr/>
          <p:nvPr/>
        </p:nvSpPr>
        <p:spPr>
          <a:xfrm>
            <a:off x="17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缩瞳预防"/>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缩瞳预防</a:t>
            </a:r>
          </a:p>
        </p:txBody>
      </p:sp>
      <p:sp>
        <p:nvSpPr>
          <p:cNvPr id="47" name="术前1 h内散瞳+NSAID；NSAID术前1 d，3或4次、每次1滴。激光后1%复方托吡卡胺1滴；"/>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1E2E3B"/>
                </a:solidFill>
                <a:latin typeface="Microsoft YaHei"/>
                <a:ea typeface="Microsoft YaHei"/>
                <a:cs typeface="Microsoft YaHei"/>
              </a:rPr>
              <a:t>滴。激光后1%复方托吡卡胺1滴；15～20 min内超乳。</a:t>
            </a:r>
          </a:p>
        </p:txBody>
      </p:sp>
      <p:sp>
        <p:nvSpPr>
          <p:cNvPr id="48" name="2018 刊p330–331"/>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49" name="Rectangle 48"/>
          <p:cNvSpPr/>
          <p:nvPr/>
        </p:nvSpPr>
        <p:spPr>
          <a:xfrm>
            <a:off x="172720" y="6857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异常处理"/>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异常处理</a:t>
            </a:r>
          </a:p>
        </p:txBody>
      </p:sp>
      <p:sp>
        <p:nvSpPr>
          <p:cNvPr id="51" name="脱吸迅速停激光，重放接口；反复失败改超乳。切囊不全手法完成；不确定可染色，不突然快速取囊。"/>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1E2E3B"/>
                </a:solidFill>
                <a:latin typeface="Microsoft YaHei"/>
                <a:ea typeface="Microsoft YaHei"/>
                <a:cs typeface="Microsoft YaHei"/>
              </a:rPr>
              <a:t>法完成；不确定可染色，不突然快速取囊。</a:t>
            </a:r>
          </a:p>
        </p:txBody>
      </p:sp>
      <p:sp>
        <p:nvSpPr>
          <p:cNvPr id="52" name="2018 刊p330–331"/>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53" name="Rectangle 52"/>
          <p:cNvSpPr/>
          <p:nvPr/>
        </p:nvSpPr>
        <p:spPr>
          <a:xfrm>
            <a:off x="172720" y="7624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后囊安全"/>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后囊安全</a:t>
            </a:r>
          </a:p>
        </p:txBody>
      </p:sp>
      <p:sp>
        <p:nvSpPr>
          <p:cNvPr id="55" name="保守扫描、观察眼位；减气泡、避免过量黏弹剂，水分离前囊袋减压；后极性更谨慎。"/>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1E2E3B"/>
                </a:solidFill>
                <a:latin typeface="Microsoft YaHei"/>
                <a:ea typeface="Microsoft YaHei"/>
                <a:cs typeface="Microsoft YaHei"/>
              </a:rPr>
              <a:t>囊袋减压；后极性更谨慎。</a:t>
            </a:r>
          </a:p>
        </p:txBody>
      </p:sp>
      <p:sp>
        <p:nvSpPr>
          <p:cNvPr id="56" name="2018 刊p331"/>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刊p331</a:t>
            </a:r>
          </a:p>
        </p:txBody>
      </p:sp>
      <p:sp>
        <p:nvSpPr>
          <p:cNvPr id="57" name="Rectangle 56"/>
          <p:cNvSpPr/>
          <p:nvPr/>
        </p:nvSpPr>
        <p:spPr>
          <a:xfrm>
            <a:off x="172720" y="839146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随访"/>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59" name="术后1 d、7 d、1个月：视力/眼压/前房；异常及时就诊。激光统一能量和完整药物禁忌原文未明确。"/>
          <p:cNvSpPr txBox="1"/>
          <p:nvPr/>
        </p:nvSpPr>
        <p:spPr>
          <a:xfrm>
            <a:off x="27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1E2E3B"/>
                </a:solidFill>
                <a:latin typeface="Microsoft YaHei"/>
                <a:ea typeface="Microsoft YaHei"/>
                <a:cs typeface="Microsoft YaHei"/>
              </a:rPr>
              <a:t>光统一能量和完整药物禁忌原文未明确。</a:t>
            </a:r>
          </a:p>
        </p:txBody>
      </p:sp>
      <p:sp>
        <p:nvSpPr>
          <p:cNvPr id="60" name="2018 刊p328–332"/>
          <p:cNvSpPr txBox="1"/>
          <p:nvPr/>
        </p:nvSpPr>
        <p:spPr>
          <a:xfrm>
            <a:off x="27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刊p328–332</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飞秒激光辅助白内障手术规范"/>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64" name="2018 专家共识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背面</a:t>
            </a:r>
          </a:p>
        </p:txBody>
      </p:sp>
      <p:sp>
        <p:nvSpPr>
          <p:cNvPr id="65" name="Rectangle 64"/>
          <p:cNvSpPr/>
          <p:nvPr/>
        </p:nvSpPr>
        <p:spPr>
          <a:xfrm>
            <a:off x="3952720" y="6090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缩瞳预防"/>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缩瞳预防</a:t>
            </a:r>
          </a:p>
        </p:txBody>
      </p:sp>
      <p:sp>
        <p:nvSpPr>
          <p:cNvPr id="67" name="术前1 h内散瞳+NSAID；NSAID术前1 d，3或4次、每次1滴。激光后1%复方托吡卡胺1滴；"/>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1E2E3B"/>
                </a:solidFill>
                <a:latin typeface="Microsoft YaHei"/>
                <a:ea typeface="Microsoft YaHei"/>
                <a:cs typeface="Microsoft YaHei"/>
              </a:rPr>
              <a:t>滴。激光后1%复方托吡卡胺1滴；15～20 min内超乳。</a:t>
            </a:r>
          </a:p>
        </p:txBody>
      </p:sp>
      <p:sp>
        <p:nvSpPr>
          <p:cNvPr id="68" name="2018 刊p330–331"/>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69" name="Rectangle 68"/>
          <p:cNvSpPr/>
          <p:nvPr/>
        </p:nvSpPr>
        <p:spPr>
          <a:xfrm>
            <a:off x="3952720" y="6857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异常处理"/>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异常处理</a:t>
            </a:r>
          </a:p>
        </p:txBody>
      </p:sp>
      <p:sp>
        <p:nvSpPr>
          <p:cNvPr id="71" name="脱吸迅速停激光，重放接口；反复失败改超乳。切囊不全手法完成；不确定可染色，不突然快速取囊。"/>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1E2E3B"/>
                </a:solidFill>
                <a:latin typeface="Microsoft YaHei"/>
                <a:ea typeface="Microsoft YaHei"/>
                <a:cs typeface="Microsoft YaHei"/>
              </a:rPr>
              <a:t>法完成；不确定可染色，不突然快速取囊。</a:t>
            </a:r>
          </a:p>
        </p:txBody>
      </p:sp>
      <p:sp>
        <p:nvSpPr>
          <p:cNvPr id="72" name="2018 刊p330–331"/>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73" name="Rectangle 72"/>
          <p:cNvSpPr/>
          <p:nvPr/>
        </p:nvSpPr>
        <p:spPr>
          <a:xfrm>
            <a:off x="3952720" y="7624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后囊安全"/>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后囊安全</a:t>
            </a:r>
          </a:p>
        </p:txBody>
      </p:sp>
      <p:sp>
        <p:nvSpPr>
          <p:cNvPr id="75" name="保守扫描、观察眼位；减气泡、避免过量黏弹剂，水分离前囊袋减压；后极性更谨慎。"/>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1E2E3B"/>
                </a:solidFill>
                <a:latin typeface="Microsoft YaHei"/>
                <a:ea typeface="Microsoft YaHei"/>
                <a:cs typeface="Microsoft YaHei"/>
              </a:rPr>
              <a:t>囊袋减压；后极性更谨慎。</a:t>
            </a:r>
          </a:p>
        </p:txBody>
      </p:sp>
      <p:sp>
        <p:nvSpPr>
          <p:cNvPr id="76" name="2018 刊p331"/>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刊p331</a:t>
            </a:r>
          </a:p>
        </p:txBody>
      </p:sp>
      <p:sp>
        <p:nvSpPr>
          <p:cNvPr id="77" name="Rectangle 76"/>
          <p:cNvSpPr/>
          <p:nvPr/>
        </p:nvSpPr>
        <p:spPr>
          <a:xfrm>
            <a:off x="3952720" y="839146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随访"/>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79" name="术后1 d、7 d、1个月：视力/眼压/前房；异常及时就诊。激光统一能量和完整药物禁忌原文未明确。"/>
          <p:cNvSpPr txBox="1"/>
          <p:nvPr/>
        </p:nvSpPr>
        <p:spPr>
          <a:xfrm>
            <a:off x="4054320" y="8581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1E2E3B"/>
                </a:solidFill>
                <a:latin typeface="Microsoft YaHei"/>
                <a:ea typeface="Microsoft YaHei"/>
                <a:cs typeface="Microsoft YaHei"/>
              </a:rPr>
              <a:t>光统一能量和完整药物禁忌原文未明确。</a:t>
            </a:r>
          </a:p>
        </p:txBody>
      </p:sp>
      <p:sp>
        <p:nvSpPr>
          <p:cNvPr id="80" name="2018 刊p328–332"/>
          <p:cNvSpPr txBox="1"/>
          <p:nvPr/>
        </p:nvSpPr>
        <p:spPr>
          <a:xfrm>
            <a:off x="4054320" y="8902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刊p328–332</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飞秒激光辅助白内障手术规范 A4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