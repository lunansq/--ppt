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nmosd-03 抗体检测优先采血与CBA：尽量在免疫治疗前采样，血清是AQP4-IgG首选样本；采用CBA法，固定细胞与活细胞法均可。以相同方法检测血及脑脊液MOG-IgG；首次阴性不能排除，需定期复查。</a:t>
            </a:r>
          </a:p>
          <a:p>
            <a:r>
              <a:t>来源：2025 p689、691 / PDF3、5；类别：检查；推荐等级：Ⅰ级推荐，A级证据（AQP4-IgG采用CBA法）。</a:t>
            </a:r>
          </a:p>
          <a:p>
            <a:r>
              <a:t>原文锚点：AQP4⁃IgG需通过基于细胞底物的实验（cell based assay，CBA）法进行检测</a:t>
            </a:r>
          </a:p>
          <a:p/>
          <a:p>
            <a:r>
              <a:t>nmosd-04 仅脑脊液AQP4阳性不足诊断：仅脑脊液AQP4-IgG阳性不足以诊断AQP4-IgG阳性NMOSD。AQP4-IgG与MOG-IgG双阳性须重复两项试验；血清阴性、脑脊液阳性属红旗征，需复检与鉴别。</a:t>
            </a:r>
          </a:p>
          <a:p>
            <a:r>
              <a:t>来源：2025 p690、693 / PDF4、7；类别：诊断；推荐等级：原文未明确。</a:t>
            </a:r>
          </a:p>
          <a:p>
            <a:r>
              <a:t>原文锚点：目前认为仅脑脊液AQP4⁃IgG阳性是不足以诊断AQP4⁃IgG阳性NMOSD的。</a:t>
            </a:r>
          </a:p>
          <a:p/>
          <a:p>
            <a:r>
              <a:t>nmosd-05 AQP4-IgG阳性诊断标准：须同时满足：至少1项核心临床特征；用可靠方法检出AQP4-IgG阳性（推荐CBA）；排除其他诊断。抗体阳性本身不是完整诊断标准。</a:t>
            </a:r>
          </a:p>
          <a:p>
            <a:r>
              <a:t>来源：2025 p692 / PDF6；类别：诊断；推荐等级：原文未明确。</a:t>
            </a:r>
          </a:p>
          <a:p>
            <a:r>
              <a:t>原文锚点：（1）至少1项核心临床特征</a:t>
            </a:r>
          </a:p>
          <a:p>
            <a:r>
              <a:t>（2）用可靠的方法检测AQP4⁃IgG阳性（推荐CBA法）</a:t>
            </a:r>
          </a:p>
          <a:p>
            <a:r>
              <a:t>（3）排除其他诊断</a:t>
            </a:r>
          </a:p>
          <a:p/>
          <a:p>
            <a:r>
              <a:t>nmosd-06 阴性或未知状态诊断标准：1次或多次发作中至少2项不同核心特征，至少1项为视神经炎、急性LETM或极后区综合征；同时满足空间多发、MRI附加条件、可靠方法AQP4-IgG阴性或未检测，并排除其他诊断。</a:t>
            </a:r>
          </a:p>
          <a:p>
            <a:r>
              <a:t>来源：2025 p692 / PDF6；类别：诊断；推荐等级：原文未明确。</a:t>
            </a:r>
          </a:p>
          <a:p>
            <a:r>
              <a:t>原文锚点：在1次或多次临床发作中，至少出现2项核心临床特征并满足下列全部条件</a:t>
            </a:r>
          </a:p>
          <a:p/>
          <a:p>
            <a:r>
              <a:t>nmosd-07 阴性/未知：视神经MRI附加条件：急性视神经炎须有以下之一：头颅MRI正常或仅非特异性白质病变；或视神经长T2/增强信号&gt;1/2视神经长度，或累及视交叉。此为阴性/未知状态诊断附加条件。</a:t>
            </a:r>
          </a:p>
          <a:p>
            <a:r>
              <a:t>来源：2025 p692 / PDF6；类别：检查；推荐等级：原文未明确。</a:t>
            </a:r>
          </a:p>
          <a:p>
            <a:r>
              <a:t>原文锚点：视神经长T2信号或T1增强信号&gt;1/2视神经长度，或病变累及视交叉</a:t>
            </a:r>
          </a:p>
          <a:p/>
          <a:p>
            <a:r>
              <a:t>nmosd-08 阴性/未知：脊髓MRI附加条件：急性脊髓炎须有长脊髓病变&gt;3个连续椎体节段，或既往有脊髓炎且相应脊髓萎缩&gt;3个连续椎体节段。须按原文“&gt;3”保留，不改为“≥3”。</a:t>
            </a:r>
          </a:p>
          <a:p>
            <a:r>
              <a:t>来源：2025 p692 / PDF6；类别：检查；推荐等级：原文未明确。</a:t>
            </a:r>
          </a:p>
          <a:p>
            <a:r>
              <a:t>原文锚点：长脊髓病变&gt;3个连续椎体节段，或有脊髓炎病史的患者相应脊髓萎缩&gt;3个连续椎体节段</a:t>
            </a:r>
          </a:p>
          <a:p/>
          <a:p>
            <a:r>
              <a:t>nmosd-09 阴性/未知：脑干MRI附加条件：极后区综合征须见延髓背侧/极后区病变；急性脑干综合征须见脑干室管膜周围病变。完整诊断还需满足核心临床特征、空间多发及排除其他诊断。</a:t>
            </a:r>
          </a:p>
          <a:p>
            <a:r>
              <a:t>来源：2025 p692 / PDF6；类别：检查；推荐等级：原文未明确。</a:t>
            </a:r>
          </a:p>
          <a:p>
            <a:r>
              <a:t>原文锚点：（3）极后区综合征：延髓背侧/极后区病变</a:t>
            </a:r>
          </a:p>
          <a:p>
            <a:r>
              <a:t>（4）急性脑干综合征：脑干室管膜周围病变</a:t>
            </a:r>
          </a:p>
          <a:p/>
          <a:p>
            <a:r>
              <a:t>nmosd-11 眼科检查：双眼视功能：所有疑似发作者均评估双眼矫正视力、视野、色觉及眼底；检查RAPD、视盘水肿/苍白。对侧眼可为轻微或亚临床受累，不只检查主诉眼。</a:t>
            </a:r>
          </a:p>
          <a:p>
            <a:r>
              <a:t>来源：2025 p688、691 / PDF2、5；类别：检查；推荐等级：原文未明确。</a:t>
            </a:r>
          </a:p>
          <a:p>
            <a:r>
              <a:t>原文锚点：所有疑似NMOSD发作的患者均需评估双眼的矫正视力。</a:t>
            </a:r>
          </a:p>
          <a:p/>
          <a:p>
            <a:r>
              <a:t>nmosd-13 脑脊液及其他病因检查：可检查细胞、生化、IgG/IgM/IgA、脑脊液/血清白蛋白比值、OCB；并按病情检查自身免疫、感染、代谢、肿瘤及副肿瘤病因。上述结果不能替代完整临床诊断。</a:t>
            </a:r>
          </a:p>
          <a:p>
            <a:r>
              <a:t>来源：2025 p689–691 / PDF3–5；类别：检查；推荐等级：原文未明确。</a:t>
            </a:r>
          </a:p>
          <a:p>
            <a:r>
              <a:t>原文锚点：建议同时评估IgG、IgM、IgA和脑脊液白蛋白/血清白蛋白比值</a:t>
            </a:r>
          </a:p>
          <a:p/>
          <a:p>
            <a:r>
              <a:t>nmosd-14 诊断红旗与鉴别：发病&lt;4 h、持续恶化&gt;4周、与发作无关的进行性加重、仅脑脊液AQP4-IgG阳性或AQP4/MOG双阳性，须复核缺血、MS、肿瘤等。表5为警示征，不能单项直接排除NMOSD。</a:t>
            </a:r>
          </a:p>
          <a:p>
            <a:r>
              <a:t>来源：2025 p693 / PDF7；类别：危险分层；推荐等级：原文未明确。</a:t>
            </a:r>
          </a:p>
          <a:p>
            <a:r>
              <a:t>原文锚点：发病时间&lt;4 h（提示脊髓缺血/梗死）或从发病起神经功能持续恶化&gt;4周</a:t>
            </a:r>
          </a:p>
          <a:p/>
          <a:p>
            <a:r>
              <a:t>nmosd-15 真复发与假性复发：复发一般为新发和/或原症状加重持续&gt;24 h，可伴或不伴新/增大/增强MRI病灶。先区别感染、发热、药物不良反应等诱发的假性复发；去除诱因后可完全恢复。</a:t>
            </a:r>
          </a:p>
          <a:p>
            <a:r>
              <a:t>来源：2025 p693–694 / PDF7–8；类别：诊断；推荐等级：原文未明确。</a:t>
            </a:r>
          </a:p>
          <a:p>
            <a:r>
              <a:t>原文锚点：复发一般是指出现新的神经系统症状和（或）原有症状加重，且持续时间超过24 h</a:t>
            </a:r>
          </a:p>
          <a:p/>
          <a:p>
            <a:r>
              <a:t>nmosd-16 急性发作立即治疗：有客观临床及影像学证据的急性发作者，一经诊断应立即治疗，以减轻症状、缩短病程、改善残疾并防治并发症。治疗后衔接序贯免疫治疗。</a:t>
            </a:r>
          </a:p>
          <a:p>
            <a:r>
              <a:t>来源：2025 p693–694 / PDF7–8；类别：治疗；推荐等级：原文未明确。</a:t>
            </a:r>
          </a:p>
          <a:p>
            <a:r>
              <a:t>原文锚点：NMOSD急性发作一经诊断，需要立即开展治疗。</a:t>
            </a:r>
          </a:p>
          <a:p/>
          <a:p>
            <a:r>
              <a:t>nmosd-17 IVMP急性期冲击：甲泼尼龙1 g静滴，1次/d×3–5 d；视病情减至500 mg、240 mg、120 mg，各1次/d×3 d。原文推荐3–4 h缓慢静滴，冲击后衔接口服递减及序贯治疗。</a:t>
            </a:r>
          </a:p>
          <a:p>
            <a:r>
              <a:t>来源：2025 p694 / PDF8；类别：治疗；推荐等级：Ⅰ级推荐，C级证据。</a:t>
            </a:r>
          </a:p>
          <a:p>
            <a:r>
              <a:t>原文锚点：甲泼尼龙1 g静脉点滴，1次/d，×3~5 d</a:t>
            </a:r>
          </a:p>
          <a:p/>
          <a:p>
            <a:r>
              <a:t>nmosd-20 血浆置换/免疫吸附升级：最初几天激素反应不佳，应尽早救治；中重度发作、严重视神经炎等可早期联合。每天或隔天至少5个周期，最多10个周期；首疗程反应不足或加重可重复治疗。</a:t>
            </a:r>
          </a:p>
          <a:p>
            <a:r>
              <a:t>来源：2025 p694 / PDF8；类别：治疗；推荐等级：Ⅰ级推荐，C级证据（激素反应不佳时尽早血液净化）。</a:t>
            </a:r>
          </a:p>
          <a:p>
            <a:r>
              <a:t>原文锚点：平均每天或隔天进行至少5个周期的治疗，最多可使用10个周期</a:t>
            </a:r>
          </a:p>
          <a:p/>
          <a:p>
            <a:r>
              <a:t>nmosd-21 IVIG救治及眼科限制：激素冲击疗效不佳、合并感染、低免疫球蛋白血症或妊娠期可选择IVIG：0.4 g·kg⁻¹·d⁻¹静滴×5 d。对于急性视神经炎，原文不推荐IVIG。</a:t>
            </a:r>
          </a:p>
          <a:p>
            <a:r>
              <a:t>来源：2025 p694 / PDF8；类别：治疗；推荐等级：Ⅱ级推荐，C级证据（冲击疗效不佳患者）。</a:t>
            </a:r>
          </a:p>
          <a:p>
            <a:r>
              <a:t>原文锚点：对于急性视神经炎，不推荐用IVIG。</a:t>
            </a:r>
          </a:p>
          <a:p/>
          <a:p>
            <a:r>
              <a:t>nmosd-23 AQP4阳性尽早长期预防：AQP4-IgG阳性一经确诊，尽早启动并长期坚持序贯治疗；可在急性期激素减量中开始。我国已批准萨特利珠单抗、伊奈利珠单抗和依库珠单抗，并逐渐成为首选。</a:t>
            </a:r>
          </a:p>
          <a:p>
            <a:r>
              <a:t>来源：2025 p691、694、697 / PDF5、8、11；类别：治疗；推荐等级：原文未明确。</a:t>
            </a:r>
          </a:p>
          <a:p>
            <a:r>
              <a:t>原文锚点：我国已批准萨特利珠单抗、伊奈利珠单抗和依库珠单抗用于治疗AQP4⁃IgG阳性NMOSD</a:t>
            </a:r>
          </a:p>
          <a:p/>
          <a:p>
            <a:r>
              <a:t>nmosd-24 抗体阴性预防复发：尽量排除MS、MOGAD、GFAP相关疾病等。一般第1次严重发作或第2次发作后启动长期治疗；一线多为传统免疫抑制剂或利妥昔单抗，失败时考虑联合、托珠单抗或试验疗法。</a:t>
            </a:r>
          </a:p>
          <a:p>
            <a:r>
              <a:t>来源：2025 p698 / PDF12；类别：治疗；推荐等级：原文未明确。</a:t>
            </a:r>
          </a:p>
          <a:p>
            <a:r>
              <a:t>原文锚点：一般在第1次严重发作或第2次发作后开始长期预防复发的治疗。</a:t>
            </a:r>
          </a:p>
          <a:p/>
          <a:p>
            <a:r>
              <a:t>nmosd-27 萨特利珠治疗前后监测：首次用药前筛查HBV与结核；第1年每4周监测肝功能和中性粒细胞。表6还建议监测血脂及感染；窄治疗指数药物如华法林、卡马西平可能需调量。</a:t>
            </a:r>
          </a:p>
          <a:p>
            <a:r>
              <a:t>来源：2025 p695–696 / PDF9–10；类别：随访；推荐等级：原文未明确。</a:t>
            </a:r>
          </a:p>
          <a:p>
            <a:r>
              <a:t>原文锚点：推荐在第一次用药前进行HBV和结核病筛查。在开始治疗的1年内，每4周定期监测肝功能及中性粒细胞。</a:t>
            </a:r>
          </a:p>
          <a:p/>
          <a:p>
            <a:r>
              <a:t>nmosd-29 伊奈利珠治疗安全：首剂前筛查HBV、结核；治疗中监测B细胞及免疫球蛋白水平，并监测泌尿系感染、机会性感染及输液相关反应。表6提示淋巴/中性粒细胞减少及低丙种球蛋白血症。</a:t>
            </a:r>
          </a:p>
          <a:p>
            <a:r>
              <a:t>来源：2025 p695–696 / PDF9–10；类别：随访；推荐等级：原文未明确。</a:t>
            </a:r>
          </a:p>
          <a:p>
            <a:r>
              <a:t>原文锚点：治疗期间监测B细胞和免疫球蛋白水平。</a:t>
            </a:r>
          </a:p>
          <a:p/>
          <a:p>
            <a:r>
              <a:t>nmosd-31 依库珠与脑膜炎球菌风险：首剂前2周接种脑膜炎球菌疫苗；接种后仍有荚膜细菌感染风险。每次输注前排除脑膜炎球菌感染，并进行患教与密切监测。</a:t>
            </a:r>
          </a:p>
          <a:p>
            <a:r>
              <a:t>来源：2025 p695–696 / PDF9–10；类别：禁忌；推荐等级：原文未明确。</a:t>
            </a:r>
          </a:p>
          <a:p>
            <a:r>
              <a:t>原文锚点：推荐首次用药前2周接种脑膜炎球菌疫苗。</a:t>
            </a:r>
          </a:p>
          <a:p/>
          <a:p>
            <a:r>
              <a:t>nmosd-43 转换疗法的条件：不耐受、妊娠/合并症等个人因素，或维持治疗失败（超过1年时出现1次严重或≥2次复发）可换不同机制药物。传统免疫抑制失败换单抗；单抗失败可换另一单抗，转换间隔尽量短。</a:t>
            </a:r>
          </a:p>
          <a:p>
            <a:r>
              <a:t>来源：2025 p697–698 / PDF11–12；类别：治疗；推荐等级：原文未明确。</a:t>
            </a:r>
          </a:p>
          <a:p>
            <a:r>
              <a:t>原文锚点：维持治疗失败，即超过1年时，出现1次严重或≥2次复发时，可考虑转换不同作用机制的药物</a:t>
            </a:r>
          </a:p>
          <a:p/>
          <a:p>
            <a:r>
              <a:t>nmosd-44 规范随访时间表：每3–6个月评估EDSS，每6–12个月复查MRI和血清AQP4-IgG；初发、复发、治疗转换期或疑似中枢感染时检查脑/脊髓MRI。结合VEP、OCT和视功能随访。</a:t>
            </a:r>
          </a:p>
          <a:p>
            <a:r>
              <a:t>来源：2025 p698 / PDF12；类别：随访；推荐等级：原文未明确。</a:t>
            </a:r>
          </a:p>
          <a:p>
            <a:r>
              <a:t>原文锚点：建议每3~6个月进行一次扩展残疾状态量表</a:t>
            </a:r>
          </a:p>
          <a:p/>
          <a:p>
            <a:r>
              <a:t>nmosd-47 妊娠计划与维持药物：不应仅因希望怀孕而停或推迟长期免疫治疗；在稳定期计划妊娠，个体化权衡。避免MMF等致畸药物，低剂量硫唑嘌呤可在妊娠期继续；孕期和产后密切监测母胎。</a:t>
            </a:r>
          </a:p>
          <a:p>
            <a:r>
              <a:t>来源：2025 p698 / PDF12；类别：特殊人群；推荐等级：原文未明确。</a:t>
            </a:r>
          </a:p>
          <a:p>
            <a:r>
              <a:t>原文锚点：不应因怀孕的愿望而停止或推迟长期免疫治疗。</a:t>
            </a:r>
          </a:p>
          <a:p/>
          <a:p>
            <a:r>
              <a:t>流程连接：</a:t>
            </a:r>
          </a:p>
          <a:p>
            <a:r>
              <a:t>1 → 2：疑似NMOSD</a:t>
            </a:r>
          </a:p>
          <a:p>
            <a:r>
              <a:t>1 → 4：不支持/假性复发</a:t>
            </a:r>
          </a:p>
          <a:p>
            <a:r>
              <a:t>2 → 3：符合诊断且急性发作</a:t>
            </a:r>
          </a:p>
          <a:p>
            <a:r>
              <a:t>2 → 4：不符合/证据不足</a:t>
            </a:r>
          </a:p>
          <a:p>
            <a:r>
              <a:t>4 → 2：复核后再评估</a:t>
            </a:r>
          </a:p>
          <a:p>
            <a:r>
              <a:t>3 → 5：稳定后衔接</a:t>
            </a:r>
          </a:p>
          <a:p>
            <a:r>
              <a:t>5 → 6：长期管理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一页临床路径｜NMOSD诊断与治疗"/>
          <p:cNvSpPr txBox="1"/>
          <p:nvPr/>
        </p:nvSpPr>
        <p:spPr>
          <a:xfrm>
            <a:off x="419100" y="241300"/>
            <a:ext cx="9853800" cy="4292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一页临床路径｜NMOSD诊断与治疗</a:t>
            </a:r>
          </a:p>
        </p:txBody>
      </p:sp>
      <p:sp>
        <p:nvSpPr>
          <p:cNvPr id="3" name="2025 · 条件与下一步按原文整理；诊断细则和特殊分支见提取表"/>
          <p:cNvSpPr txBox="1"/>
          <p:nvPr/>
        </p:nvSpPr>
        <p:spPr>
          <a:xfrm>
            <a:off x="419100" y="736600"/>
            <a:ext cx="9853800" cy="22885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· 条件与下一步按原文整理；诊断细则和特殊分支见提取表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26900" y="1988133"/>
            <a:ext cx="8382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952300" y="1853513"/>
            <a:ext cx="787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疑似NMOSD"/>
          <p:cNvSpPr txBox="1"/>
          <p:nvPr/>
        </p:nvSpPr>
        <p:spPr>
          <a:xfrm>
            <a:off x="4965000" y="1866213"/>
            <a:ext cx="762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疑似NMOSD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73000" y="2820566"/>
            <a:ext cx="0" cy="36830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199800" y="2922166"/>
            <a:ext cx="2946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不支持/假性复发"/>
          <p:cNvSpPr txBox="1"/>
          <p:nvPr/>
        </p:nvSpPr>
        <p:spPr>
          <a:xfrm>
            <a:off x="1212500" y="2947566"/>
            <a:ext cx="2921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不支持/假性复发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19000" y="2820566"/>
            <a:ext cx="0" cy="36830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45800" y="2922166"/>
            <a:ext cx="2946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符合诊断且急性发作"/>
          <p:cNvSpPr txBox="1"/>
          <p:nvPr/>
        </p:nvSpPr>
        <p:spPr>
          <a:xfrm>
            <a:off x="6558500" y="2947566"/>
            <a:ext cx="2921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符合诊断且急性发作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19000" y="2820566"/>
            <a:ext cx="0" cy="18415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346000" y="3004716"/>
            <a:ext cx="2673000" cy="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46000" y="3004716"/>
            <a:ext cx="0" cy="1016584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926900" y="4021300"/>
            <a:ext cx="4191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673000" y="3004716"/>
            <a:ext cx="0" cy="18415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73000" y="3004716"/>
            <a:ext cx="2673000" cy="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346000" y="1988133"/>
            <a:ext cx="0" cy="1016583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46000" y="1988133"/>
            <a:ext cx="4191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19000" y="4853733"/>
            <a:ext cx="0" cy="18415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346000" y="5037883"/>
            <a:ext cx="2673000" cy="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46000" y="5037883"/>
            <a:ext cx="0" cy="1016583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926900" y="6054466"/>
            <a:ext cx="4191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26900" y="6054466"/>
            <a:ext cx="8382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952300" y="5919846"/>
            <a:ext cx="787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长期管理"/>
          <p:cNvSpPr txBox="1"/>
          <p:nvPr/>
        </p:nvSpPr>
        <p:spPr>
          <a:xfrm>
            <a:off x="4965000" y="5932546"/>
            <a:ext cx="762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长期管理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9100" y="1155700"/>
            <a:ext cx="4507800" cy="1664866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1  疑似或新发/加重症状"/>
          <p:cNvSpPr txBox="1"/>
          <p:nvPr/>
        </p:nvSpPr>
        <p:spPr>
          <a:xfrm>
            <a:off x="558800" y="1244600"/>
            <a:ext cx="422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1  疑似或新发/加重症状</a:t>
            </a:r>
          </a:p>
        </p:txBody>
      </p:sp>
      <p:sp>
        <p:nvSpPr>
          <p:cNvPr id="30" name="双眼视功能＋脑/脊髓/眼眶MRI；尽量免疫治疗前采血CBA。新/加重症状&gt;24 h需区别感染等假性复"/>
          <p:cNvSpPr txBox="1"/>
          <p:nvPr/>
        </p:nvSpPr>
        <p:spPr>
          <a:xfrm>
            <a:off x="558800" y="1536700"/>
            <a:ext cx="422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双眼视功能＋脑/脊髓/眼眶MRI；尽量免疫治疗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前采血CBA。新/加重症状&gt;24 h需区别感染等假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性复发。疑似→2；不支持→4。</a:t>
            </a:r>
          </a:p>
        </p:txBody>
      </p:sp>
      <p:sp>
        <p:nvSpPr>
          <p:cNvPr id="31" name="2025 p688–689、691、693–694"/>
          <p:cNvSpPr txBox="1"/>
          <p:nvPr/>
        </p:nvSpPr>
        <p:spPr>
          <a:xfrm>
            <a:off x="558800" y="2614826"/>
            <a:ext cx="422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p688–689、691、693–694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5100" y="1155700"/>
            <a:ext cx="4507800" cy="1664866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2  按AQP4-IgG分层诊断"/>
          <p:cNvSpPr txBox="1"/>
          <p:nvPr/>
        </p:nvSpPr>
        <p:spPr>
          <a:xfrm>
            <a:off x="5904800" y="1244600"/>
            <a:ext cx="422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2  按AQP4-IgG分层诊断</a:t>
            </a:r>
          </a:p>
        </p:txBody>
      </p:sp>
      <p:sp>
        <p:nvSpPr>
          <p:cNvPr id="34" name="阳性：≥1项核心特征＋可靠检测＋排除其他诊断。阴性/未知：≥2项不同核心特征＋指定核心症候＋MRI附"/>
          <p:cNvSpPr txBox="1"/>
          <p:nvPr/>
        </p:nvSpPr>
        <p:spPr>
          <a:xfrm>
            <a:off x="5904800" y="1536700"/>
            <a:ext cx="4228400" cy="9169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阳性：≥1项核心特征＋可靠检测＋排除其他诊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断。阴性/未知：≥2项不同核心特征＋指定核心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症候＋MRI附加条件，详见提取表。符合→3；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不符→4。</a:t>
            </a:r>
          </a:p>
        </p:txBody>
      </p:sp>
      <p:sp>
        <p:nvSpPr>
          <p:cNvPr id="35" name="2025 p692"/>
          <p:cNvSpPr txBox="1"/>
          <p:nvPr/>
        </p:nvSpPr>
        <p:spPr>
          <a:xfrm>
            <a:off x="5904800" y="2614826"/>
            <a:ext cx="422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5100" y="3188866"/>
            <a:ext cx="4507800" cy="1664866"/>
          </a:xfrm>
          <a:prstGeom prst="rect">
            <a:avLst/>
          </a:prstGeom>
          <a:solidFill>
            <a:srgbClr val="FFF4E8"/>
          </a:solidFill>
          <a:ln w="7620">
            <a:solidFill>
              <a:srgbClr val="A95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3  确诊急性发作立即治疗"/>
          <p:cNvSpPr txBox="1"/>
          <p:nvPr/>
        </p:nvSpPr>
        <p:spPr>
          <a:xfrm>
            <a:off x="5904800" y="3277766"/>
            <a:ext cx="422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3  确诊急性发作立即治疗</a:t>
            </a:r>
          </a:p>
        </p:txBody>
      </p:sp>
      <p:sp>
        <p:nvSpPr>
          <p:cNvPr id="38" name="IVMP 1 g/d×3–5 d后按原文减量。最初几天反应不佳或中重度/严重视神经炎，尽早血浆置换/"/>
          <p:cNvSpPr txBox="1"/>
          <p:nvPr/>
        </p:nvSpPr>
        <p:spPr>
          <a:xfrm>
            <a:off x="5904800" y="3569866"/>
            <a:ext cx="4228400" cy="9169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IVMP 1 g/d×3–5 d后按原文减量。最初几天反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应不佳或中重度/严重视神经炎，尽早血浆置换/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免疫吸附。急性视神经炎不推荐IVIG。稳定→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5。</a:t>
            </a:r>
          </a:p>
        </p:txBody>
      </p:sp>
      <p:sp>
        <p:nvSpPr>
          <p:cNvPr id="39" name="2025 p693–694"/>
          <p:cNvSpPr txBox="1"/>
          <p:nvPr/>
        </p:nvSpPr>
        <p:spPr>
          <a:xfrm>
            <a:off x="5904800" y="4647993"/>
            <a:ext cx="422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p693–694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9100" y="3188866"/>
            <a:ext cx="4507800" cy="1664866"/>
          </a:xfrm>
          <a:prstGeom prst="rect">
            <a:avLst/>
          </a:prstGeom>
          <a:solidFill>
            <a:srgbClr val="F3EFF8"/>
          </a:solidFill>
          <a:ln w="7620">
            <a:solidFill>
              <a:srgbClr val="695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4  复核、鉴别与动态随访"/>
          <p:cNvSpPr txBox="1"/>
          <p:nvPr/>
        </p:nvSpPr>
        <p:spPr>
          <a:xfrm>
            <a:off x="558800" y="3277766"/>
            <a:ext cx="422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4  复核、鉴别与动态随访</a:t>
            </a:r>
          </a:p>
        </p:txBody>
      </p:sp>
      <p:sp>
        <p:nvSpPr>
          <p:cNvPr id="42" name="核查MS、MOGAD、缺血、感染及肿瘤等；仅脑脊液AQP4阳性不足确诊；双抗体阳性须复检。纠正假性复"/>
          <p:cNvSpPr txBox="1"/>
          <p:nvPr/>
        </p:nvSpPr>
        <p:spPr>
          <a:xfrm>
            <a:off x="558800" y="3569866"/>
            <a:ext cx="422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核查MS、MOGAD、缺血、感染及肿瘤等；仅脑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脊液AQP4阳性不足确诊；双抗体阳性须复检。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纠正假性复发诱因，重评临床和影像后返回2。</a:t>
            </a:r>
          </a:p>
        </p:txBody>
      </p:sp>
      <p:sp>
        <p:nvSpPr>
          <p:cNvPr id="43" name="2025 p689–691、693–694"/>
          <p:cNvSpPr txBox="1"/>
          <p:nvPr/>
        </p:nvSpPr>
        <p:spPr>
          <a:xfrm>
            <a:off x="558800" y="4647993"/>
            <a:ext cx="422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p689–691、693–694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9100" y="5222033"/>
            <a:ext cx="4507800" cy="1664866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5  启动长期预防复发"/>
          <p:cNvSpPr txBox="1"/>
          <p:nvPr/>
        </p:nvSpPr>
        <p:spPr>
          <a:xfrm>
            <a:off x="558800" y="5310933"/>
            <a:ext cx="422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5  启动长期预防复发</a:t>
            </a:r>
          </a:p>
        </p:txBody>
      </p:sp>
      <p:sp>
        <p:nvSpPr>
          <p:cNvPr id="46" name="AQP4阳性：确诊即尽早长期治疗。阴性：第1次严重或第2次发作后考虑。选药前HBV/结核筛查；依库珠"/>
          <p:cNvSpPr txBox="1"/>
          <p:nvPr/>
        </p:nvSpPr>
        <p:spPr>
          <a:xfrm>
            <a:off x="558800" y="5603033"/>
            <a:ext cx="422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AQP4阳性：确诊即尽早长期治疗。阴性：第1次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严重或第2次发作后考虑。选药前HBV/结核筛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查；依库珠首剂前2周接种脑膜炎球菌疫苗。</a:t>
            </a:r>
          </a:p>
        </p:txBody>
      </p:sp>
      <p:sp>
        <p:nvSpPr>
          <p:cNvPr id="47" name="2025 p691、694–698"/>
          <p:cNvSpPr txBox="1"/>
          <p:nvPr/>
        </p:nvSpPr>
        <p:spPr>
          <a:xfrm>
            <a:off x="558800" y="6681160"/>
            <a:ext cx="422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p691、694–698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5100" y="5222033"/>
            <a:ext cx="4507800" cy="1664866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6  监测后继续或调整"/>
          <p:cNvSpPr txBox="1"/>
          <p:nvPr/>
        </p:nvSpPr>
        <p:spPr>
          <a:xfrm>
            <a:off x="5904800" y="5310933"/>
            <a:ext cx="422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6  监测后继续或调整</a:t>
            </a:r>
          </a:p>
        </p:txBody>
      </p:sp>
      <p:sp>
        <p:nvSpPr>
          <p:cNvPr id="50" name="EDSS每3–6个月；MRI/AQP4每6–12个月。&gt;1年出现1次严重或≥2次复发，或不耐受/妊娠"/>
          <p:cNvSpPr txBox="1"/>
          <p:nvPr/>
        </p:nvSpPr>
        <p:spPr>
          <a:xfrm>
            <a:off x="5904800" y="5603033"/>
            <a:ext cx="422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EDSS每3–6个月；MRI/AQP4每6–12个月。&gt;1年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出现1次严重或≥2次复发，或不耐受/妊娠等，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考虑转换机制。疑似新发作返回1。</a:t>
            </a:r>
          </a:p>
        </p:txBody>
      </p:sp>
      <p:sp>
        <p:nvSpPr>
          <p:cNvPr id="51" name="2025 p697–698"/>
          <p:cNvSpPr txBox="1"/>
          <p:nvPr/>
        </p:nvSpPr>
        <p:spPr>
          <a:xfrm>
            <a:off x="5904800" y="6681160"/>
            <a:ext cx="422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p697–698</a:t>
            </a:r>
          </a:p>
        </p:txBody>
      </p:sp>
      <p:sp>
        <p:nvSpPr>
          <p:cNvPr id="52" name="跨行分支：2→4 不符合/证据不足；4→2 复核后再评估；3→5 稳定后衔接"/>
          <p:cNvSpPr txBox="1"/>
          <p:nvPr/>
        </p:nvSpPr>
        <p:spPr>
          <a:xfrm>
            <a:off x="419100" y="7001200"/>
            <a:ext cx="98538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跨行分支：2→4 不符合/证据不足；4→2 复核后再评估；3→5 稳定后衔接</a:t>
            </a:r>
          </a:p>
        </p:txBody>
      </p:sp>
      <p:sp>
        <p:nvSpPr>
          <p:cNvPr id="53" name="节点内条件优先；未列阈值不补编。完整证据、禁忌与特殊人群见提取表。"/>
          <p:cNvSpPr txBox="1"/>
          <p:nvPr/>
        </p:nvSpPr>
        <p:spPr>
          <a:xfrm>
            <a:off x="419100" y="7369500"/>
            <a:ext cx="9853800" cy="1926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6"/>
              </a:lnSpc>
              <a:spcBef>
                <a:spcPts val="0"/>
              </a:spcBef>
              <a:spcAft>
                <a:spcPts val="0"/>
              </a:spcAft>
            </a:pPr>
            <a:r>
              <a:rPr sz="819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节点内条件优先；未列阈值不补编。完整证据、禁忌与特殊人群见提取表。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NMOSD诊断与治疗 一页流程</dc:title>
  <dc:subject>上传文献原文摘录；原生可编辑文字和图形</dc:subject>
  <dc:creator>临床指南速查资料整理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