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nmosd-02 六项核心临床特征：视神经炎、急性脊髓炎、极后区综合征、急性脑干综合征、伴特征性MRI的急性间脑综合征（可有发作性睡病）、伴特征性MRI的大脑综合征。急性视力下降须评估双眼。</a:t>
            </a:r>
          </a:p>
          <a:p>
            <a:r>
              <a:t>来源：2025 p688、692 / PDF2、6；类别：诊断；推荐等级：原文未明确。</a:t>
            </a:r>
          </a:p>
          <a:p>
            <a:r>
              <a:t>原文锚点：（1）视神经炎</a:t>
            </a:r>
          </a:p>
          <a:p>
            <a:r>
              <a:t>（2）急性脊髓炎</a:t>
            </a:r>
          </a:p>
          <a:p>
            <a:r>
              <a:t>（3）极后区综合征，无其他原因能解释的发作性呃逆、恶心、呕吐</a:t>
            </a:r>
          </a:p>
          <a:p/>
          <a:p>
            <a:r>
              <a:t>nmosd-10 极后区综合征的48 h条件：顽固性恶心、呕吐和/或呃逆：MRI有极后区病灶时，持续&lt;48 h也可诊断；MRI未显示受累时，症状至少持续48 h方可考虑，且对症治疗不能完全缓解，并排除其他病因。</a:t>
            </a:r>
          </a:p>
          <a:p>
            <a:r>
              <a:t>来源：2025 p688 / PDF2；类别：诊断；推荐等级：原文未明确。</a:t>
            </a:r>
          </a:p>
          <a:p>
            <a:r>
              <a:t>原文锚点：如果MRI显示极后区病灶，恶心、呕吐和（或）呃逆症状持续时间&lt;48 h即可诊断APS。</a:t>
            </a:r>
          </a:p>
          <a:p/>
          <a:p>
            <a:r>
              <a:t>nmosd-14 诊断红旗与鉴别：发病&lt;4 h、持续恶化&gt;4周、与发作无关的进行性加重、仅脑脊液AQP4-IgG阳性或AQP4/MOG双阳性，须复核缺血、MS、肿瘤等。表5为警示征，不能单项直接排除NMOSD。</a:t>
            </a:r>
          </a:p>
          <a:p>
            <a:r>
              <a:t>来源：2025 p693 / PDF7；类别：危险分层；推荐等级：原文未明确。</a:t>
            </a:r>
          </a:p>
          <a:p>
            <a:r>
              <a:t>原文锚点：发病时间&lt;4 h（提示脊髓缺血/梗死）或从发病起神经功能持续恶化&gt;4周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nmosd-03 抗体检测优先采血与CBA：尽量在免疫治疗前采样，血清是AQP4-IgG首选样本；采用CBA法，固定细胞与活细胞法均可。以相同方法检测血及脑脊液MOG-IgG；首次阴性不能排除，需定期复查。</a:t>
            </a:r>
          </a:p>
          <a:p>
            <a:r>
              <a:t>来源：2025 p689、691 / PDF3、5；类别：检查；推荐等级：Ⅰ级推荐，A级证据（AQP4-IgG采用CBA法）。</a:t>
            </a:r>
          </a:p>
          <a:p>
            <a:r>
              <a:t>原文锚点：AQP4⁃IgG需通过基于细胞底物的实验（cell based assay，CBA）法进行检测</a:t>
            </a:r>
          </a:p>
          <a:p/>
          <a:p>
            <a:r>
              <a:t>nmosd-05 AQP4-IgG阳性诊断标准：须同时满足：至少1项核心临床特征；用可靠方法检出AQP4-IgG阳性（推荐CBA）；排除其他诊断。抗体阳性本身不是完整诊断标准。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原文锚点：（1）至少1项核心临床特征</a:t>
            </a:r>
          </a:p>
          <a:p>
            <a:r>
              <a:t>（2）用可靠的方法检测AQP4⁃IgG阳性（推荐CBA法）</a:t>
            </a:r>
          </a:p>
          <a:p>
            <a:r>
              <a:t>（3）排除其他诊断</a:t>
            </a:r>
          </a:p>
          <a:p/>
          <a:p>
            <a:r>
              <a:t>nmosd-06 阴性或未知状态诊断标准：1次或多次发作中至少2项不同核心特征，至少1项为视神经炎、急性LETM或极后区综合征；同时满足空间多发、MRI附加条件、可靠方法AQP4-IgG阴性或未检测，并排除其他诊断。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原文锚点：在1次或多次临床发作中，至少出现2项核心临床特征并满足下列全部条件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nmosd-07 阴性/未知：视神经MRI附加条件：急性视神经炎须有以下之一：头颅MRI正常或仅非特异性白质病变；或视神经长T2/增强信号&gt;1/2视神经长度，或累及视交叉。此为阴性/未知状态诊断附加条件。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原文锚点：视神经长T2信号或T1增强信号&gt;1/2视神经长度，或病变累及视交叉</a:t>
            </a:r>
          </a:p>
          <a:p/>
          <a:p>
            <a:r>
              <a:t>nmosd-08 阴性/未知：脊髓MRI附加条件：急性脊髓炎须有长脊髓病变&gt;3个连续椎体节段，或既往有脊髓炎且相应脊髓萎缩&gt;3个连续椎体节段。须按原文“&gt;3”保留，不改为“≥3”。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原文锚点：长脊髓病变&gt;3个连续椎体节段，或有脊髓炎病史的患者相应脊髓萎缩&gt;3个连续椎体节段</a:t>
            </a:r>
          </a:p>
          <a:p/>
          <a:p>
            <a:r>
              <a:t>nmosd-11 眼科检查：双眼视功能：所有疑似发作者均评估双眼矫正视力、视野、色觉及眼底；检查RAPD、视盘水肿/苍白。对侧眼可为轻微或亚临床受累，不只检查主诉眼。</a:t>
            </a:r>
          </a:p>
          <a:p>
            <a:r>
              <a:t>来源：2025 p688、691 / PDF2、5；类别：检查；推荐等级：原文未明确。</a:t>
            </a:r>
          </a:p>
          <a:p>
            <a:r>
              <a:t>原文锚点：所有疑似NMOSD发作的患者均需评估双眼的矫正视力。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nmosd-17 IVMP急性期冲击：甲泼尼龙1 g静滴，1次/d×3–5 d；视病情减至500 mg、240 mg、120 mg，各1次/d×3 d。原文推荐3–4 h缓慢静滴，冲击后衔接口服递减及序贯治疗。</a:t>
            </a:r>
          </a:p>
          <a:p>
            <a:r>
              <a:t>来源：2025 p694 / PDF8；类别：治疗；推荐等级：Ⅰ级推荐，C级证据。</a:t>
            </a:r>
          </a:p>
          <a:p>
            <a:r>
              <a:t>原文锚点：甲泼尼龙1 g静脉点滴，1次/d，×3~5 d</a:t>
            </a:r>
          </a:p>
          <a:p/>
          <a:p>
            <a:r>
              <a:t>nmosd-20 血浆置换/免疫吸附升级：最初几天激素反应不佳，应尽早救治；中重度发作、严重视神经炎等可早期联合。每天或隔天至少5个周期，最多10个周期；首疗程反应不足或加重可重复治疗。</a:t>
            </a:r>
          </a:p>
          <a:p>
            <a:r>
              <a:t>来源：2025 p694 / PDF8；类别：治疗；推荐等级：Ⅰ级推荐，C级证据（激素反应不佳时尽早血液净化）。</a:t>
            </a:r>
          </a:p>
          <a:p>
            <a:r>
              <a:t>原文锚点：平均每天或隔天进行至少5个周期的治疗，最多可使用10个周期</a:t>
            </a:r>
          </a:p>
          <a:p/>
          <a:p>
            <a:r>
              <a:t>nmosd-21 IVIG救治及眼科限制：激素冲击疗效不佳、合并感染、低免疫球蛋白血症或妊娠期可选择IVIG：0.4 g·kg⁻¹·d⁻¹静滴×5 d。对于急性视神经炎，原文不推荐IVIG。</a:t>
            </a:r>
          </a:p>
          <a:p>
            <a:r>
              <a:t>来源：2025 p694 / PDF8；类别：治疗；推荐等级：Ⅱ级推荐，C级证据（冲击疗效不佳患者）。</a:t>
            </a:r>
          </a:p>
          <a:p>
            <a:r>
              <a:t>原文锚点：对于急性视神经炎，不推荐用IVIG。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nmosd-23 AQP4阳性尽早长期预防：AQP4-IgG阳性一经确诊，尽早启动并长期坚持序贯治疗；可在急性期激素减量中开始。我国已批准萨特利珠单抗、伊奈利珠单抗和依库珠单抗，并逐渐成为首选。</a:t>
            </a:r>
          </a:p>
          <a:p>
            <a:r>
              <a:t>来源：2025 p691、694、697 / PDF5、8、11；类别：治疗；推荐等级：原文未明确。</a:t>
            </a:r>
          </a:p>
          <a:p>
            <a:r>
              <a:t>原文锚点：我国已批准萨特利珠单抗、伊奈利珠单抗和依库珠单抗用于治疗AQP4⁃IgG阳性NMOSD</a:t>
            </a:r>
          </a:p>
          <a:p/>
          <a:p>
            <a:r>
              <a:t>nmosd-26 萨特利珠单抗剂量：120 mg皮下注射，第0、2、4周负荷给药，之后每4周重复。单药或联合传统免疫抑制剂可延缓AQP4-IgG阳性患者复发；一般起效时间8–12周。</a:t>
            </a:r>
          </a:p>
          <a:p>
            <a:r>
              <a:t>来源：2025 p696 / PDF10；类别：治疗；推荐等级：Ⅰ级推荐，A级证据。</a:t>
            </a:r>
          </a:p>
          <a:p>
            <a:r>
              <a:t>原文锚点：萨特利珠单抗120 mg皮下注射，首次先给予负荷剂量，即第0、2、4周皮下注射，以后每4周重复皮下注射。</a:t>
            </a:r>
          </a:p>
          <a:p/>
          <a:p>
            <a:r>
              <a:t>nmosd-28 伊奈利珠单抗剂量：第1天、第15天各静脉输注300 mg；随后自首次用药开始每6个月输注300 mg。给药前用糖皮质激素、抗组胺药和退热药预防输液反应。</a:t>
            </a:r>
          </a:p>
          <a:p>
            <a:r>
              <a:t>来源：2025 p695–696 / PDF9–10；类别：治疗；推荐等级：Ⅰ级推荐，A级证据。</a:t>
            </a:r>
          </a:p>
          <a:p>
            <a:r>
              <a:t>原文锚点：在第1天和第15天分别输注300 mg，然后自首次用药开始，每6个月输注300 mg。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nmosd-27 萨特利珠治疗前后监测：首次用药前筛查HBV与结核；第1年每4周监测肝功能和中性粒细胞。表6还建议监测血脂及感染；窄治疗指数药物如华法林、卡马西平可能需调量。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原文锚点：推荐在第一次用药前进行HBV和结核病筛查。在开始治疗的1年内，每4周定期监测肝功能及中性粒细胞。</a:t>
            </a:r>
          </a:p>
          <a:p/>
          <a:p>
            <a:r>
              <a:t>nmosd-31 依库珠与脑膜炎球菌风险：首剂前2周接种脑膜炎球菌疫苗；接种后仍有荚膜细菌感染风险。每次输注前排除脑膜炎球菌感染，并进行患教与密切监测。</a:t>
            </a:r>
          </a:p>
          <a:p>
            <a:r>
              <a:t>来源：2025 p695–696 / PDF9–10；类别：禁忌；推荐等级：原文未明确。</a:t>
            </a:r>
          </a:p>
          <a:p>
            <a:r>
              <a:t>原文锚点：推荐首次用药前2周接种脑膜炎球菌疫苗。</a:t>
            </a:r>
          </a:p>
          <a:p/>
          <a:p>
            <a:r>
              <a:t>nmosd-50 不推荐用于AQP4阳性的药物：β-干扰素、那他珠单抗、芬戈莫德、阿伦单抗及富马酸二甲酯有引发AQP4-IgG阳性NMOSD复发的报道，故不推荐用于AQP4抗体阳性患者。</a:t>
            </a:r>
          </a:p>
          <a:p>
            <a:r>
              <a:t>来源：2025 p698 / PDF12；类别：禁忌；推荐等级：原文未明确。</a:t>
            </a:r>
          </a:p>
          <a:p>
            <a:r>
              <a:t>原文锚点：β⁃干扰素、那他珠单抗、芬戈莫德、阿伦单抗和富马酸二甲酯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nmosd-44 规范随访时间表：每3–6个月评估EDSS，每6–12个月复查MRI和血清AQP4-IgG；初发、复发、治疗转换期或疑似中枢感染时检查脑/脊髓MRI。结合VEP、OCT和视功能随访。</a:t>
            </a:r>
          </a:p>
          <a:p>
            <a:r>
              <a:t>来源：2025 p698 / PDF12；类别：随访；推荐等级：原文未明确。</a:t>
            </a:r>
          </a:p>
          <a:p>
            <a:r>
              <a:t>原文锚点：建议每3~6个月进行一次扩展残疾状态量表</a:t>
            </a:r>
          </a:p>
          <a:p/>
          <a:p>
            <a:r>
              <a:t>nmosd-47 妊娠计划与维持药物：不应仅因希望怀孕而停或推迟长期免疫治疗；在稳定期计划妊娠，个体化权衡。避免MMF等致畸药物，低剂量硫唑嘌呤可在妊娠期继续；孕期和产后密切监测母胎。</a:t>
            </a:r>
          </a:p>
          <a:p>
            <a:r>
              <a:t>来源：2025 p698 / PDF12；类别：特殊人群；推荐等级：原文未明确。</a:t>
            </a:r>
          </a:p>
          <a:p>
            <a:r>
              <a:t>原文锚点：不应因怀孕的愿望而停止或推迟长期免疫治疗。</a:t>
            </a:r>
          </a:p>
          <a:p/>
          <a:p>
            <a:r>
              <a:t>nmosd-48 妊娠复发及产后恢复治疗：妊娠期复发可予IVIG冲击并防深静脉血栓；若妊娠期间中断治疗，应在分娩后不久恢复长期免疫治疗。“不久”的具体天数与哺乳药物表原文未明确。</a:t>
            </a:r>
          </a:p>
          <a:p>
            <a:r>
              <a:t>来源：2025 p698 / PDF12；类别：特殊人群；推荐等级：原文未明确。</a:t>
            </a:r>
          </a:p>
          <a:p>
            <a:r>
              <a:t>原文锚点：妊娠期间若出现复发，可予以IVIG冲击治疗，需要注意预防深静脉血栓形成。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nmosd-03 抗体检测优先采血与CBA：尽量在免疫治疗前采样，血清是AQP4-IgG首选样本；采用CBA法，固定细胞与活细胞法均可。以相同方法检测血及脑脊液MOG-IgG；首次阴性不能排除，需定期复查。</a:t>
            </a:r>
          </a:p>
          <a:p>
            <a:r>
              <a:t>来源：2025 p689、691 / PDF3、5；类别：检查；推荐等级：Ⅰ级推荐，A级证据（AQP4-IgG采用CBA法）。</a:t>
            </a:r>
          </a:p>
          <a:p>
            <a:r>
              <a:t>原文锚点：AQP4⁃IgG需通过基于细胞底物的实验（cell based assay，CBA）法进行检测</a:t>
            </a:r>
          </a:p>
          <a:p/>
          <a:p>
            <a:r>
              <a:t>nmosd-04 仅脑脊液AQP4阳性不足诊断：仅脑脊液AQP4-IgG阳性不足以诊断AQP4-IgG阳性NMOSD。AQP4-IgG与MOG-IgG双阳性须重复两项试验；血清阴性、脑脊液阳性属红旗征，需复检与鉴别。</a:t>
            </a:r>
          </a:p>
          <a:p>
            <a:r>
              <a:t>来源：2025 p690、693 / PDF4、7；类别：诊断；推荐等级：原文未明确。</a:t>
            </a:r>
          </a:p>
          <a:p>
            <a:r>
              <a:t>原文锚点：目前认为仅脑脊液AQP4⁃IgG阳性是不足以诊断AQP4⁃IgG阳性NMOSD的。</a:t>
            </a:r>
          </a:p>
          <a:p/>
          <a:p>
            <a:r>
              <a:t>nmosd-05 AQP4-IgG阳性诊断标准：须同时满足：至少1项核心临床特征；用可靠方法检出AQP4-IgG阳性（推荐CBA）；排除其他诊断。抗体阳性本身不是完整诊断标准。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原文锚点：（1）至少1项核心临床特征</a:t>
            </a:r>
          </a:p>
          <a:p>
            <a:r>
              <a:t>（2）用可靠的方法检测AQP4⁃IgG阳性（推荐CBA法）</a:t>
            </a:r>
          </a:p>
          <a:p>
            <a:r>
              <a:t>（3）排除其他诊断</a:t>
            </a:r>
          </a:p>
          <a:p/>
          <a:p>
            <a:r>
              <a:t>nmosd-06 阴性或未知状态诊断标准：1次或多次发作中至少2项不同核心特征，至少1项为视神经炎、急性LETM或极后区综合征；同时满足空间多发、MRI附加条件、可靠方法AQP4-IgG阴性或未检测，并排除其他诊断。</a:t>
            </a:r>
          </a:p>
          <a:p>
            <a:r>
              <a:t>来源：2025 p692 / PDF6；类别：诊断；推荐等级：原文未明确。</a:t>
            </a:r>
          </a:p>
          <a:p>
            <a:r>
              <a:t>原文锚点：在1次或多次临床发作中，至少出现2项核心临床特征并满足下列全部条件</a:t>
            </a:r>
          </a:p>
          <a:p/>
          <a:p>
            <a:r>
              <a:t>nmosd-07 阴性/未知：视神经MRI附加条件：急性视神经炎须有以下之一：头颅MRI正常或仅非特异性白质病变；或视神经长T2/增强信号&gt;1/2视神经长度，或累及视交叉。此为阴性/未知状态诊断附加条件。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原文锚点：视神经长T2信号或T1增强信号&gt;1/2视神经长度，或病变累及视交叉</a:t>
            </a:r>
          </a:p>
          <a:p/>
          <a:p>
            <a:r>
              <a:t>nmosd-08 阴性/未知：脊髓MRI附加条件：急性脊髓炎须有长脊髓病变&gt;3个连续椎体节段，或既往有脊髓炎且相应脊髓萎缩&gt;3个连续椎体节段。须按原文“&gt;3”保留，不改为“≥3”。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原文锚点：长脊髓病变&gt;3个连续椎体节段，或有脊髓炎病史的患者相应脊髓萎缩&gt;3个连续椎体节段</a:t>
            </a:r>
          </a:p>
          <a:p/>
          <a:p>
            <a:r>
              <a:t>nmosd-09 阴性/未知：脑干MRI附加条件：极后区综合征须见延髓背侧/极后区病变；急性脑干综合征须见脑干室管膜周围病变。完整诊断还需满足核心临床特征、空间多发及排除其他诊断。</a:t>
            </a:r>
          </a:p>
          <a:p>
            <a:r>
              <a:t>来源：2025 p692 / PDF6；类别：检查；推荐等级：原文未明确。</a:t>
            </a:r>
          </a:p>
          <a:p>
            <a:r>
              <a:t>原文锚点：（3）极后区综合征：延髓背侧/极后区病变</a:t>
            </a:r>
          </a:p>
          <a:p>
            <a:r>
              <a:t>（4）急性脑干综合征：脑干室管膜周围病变</a:t>
            </a:r>
          </a:p>
          <a:p/>
          <a:p>
            <a:r>
              <a:t>nmosd-11 眼科检查：双眼视功能：所有疑似发作者均评估双眼矫正视力、视野、色觉及眼底；检查RAPD、视盘水肿/苍白。对侧眼可为轻微或亚临床受累，不只检查主诉眼。</a:t>
            </a:r>
          </a:p>
          <a:p>
            <a:r>
              <a:t>来源：2025 p688、691 / PDF2、5；类别：检查；推荐等级：原文未明确。</a:t>
            </a:r>
          </a:p>
          <a:p>
            <a:r>
              <a:t>原文锚点：所有疑似NMOSD发作的患者均需评估双眼的矫正视力。</a:t>
            </a:r>
          </a:p>
          <a:p/>
          <a:p>
            <a:r>
              <a:t>nmosd-13 脑脊液及其他病因检查：可检查细胞、生化、IgG/IgM/IgA、脑脊液/血清白蛋白比值、OCB；并按病情检查自身免疫、感染、代谢、肿瘤及副肿瘤病因。上述结果不能替代完整临床诊断。</a:t>
            </a:r>
          </a:p>
          <a:p>
            <a:r>
              <a:t>来源：2025 p689–691 / PDF3–5；类别：检查；推荐等级：原文未明确。</a:t>
            </a:r>
          </a:p>
          <a:p>
            <a:r>
              <a:t>原文锚点：建议同时评估IgG、IgM、IgA和脑脊液白蛋白/血清白蛋白比值</a:t>
            </a:r>
          </a:p>
          <a:p/>
          <a:p>
            <a:r>
              <a:t>nmosd-14 诊断红旗与鉴别：发病&lt;4 h、持续恶化&gt;4周、与发作无关的进行性加重、仅脑脊液AQP4-IgG阳性或AQP4/MOG双阳性，须复核缺血、MS、肿瘤等。表5为警示征，不能单项直接排除NMOSD。</a:t>
            </a:r>
          </a:p>
          <a:p>
            <a:r>
              <a:t>来源：2025 p693 / PDF7；类别：危险分层；推荐等级：原文未明确。</a:t>
            </a:r>
          </a:p>
          <a:p>
            <a:r>
              <a:t>原文锚点：发病时间&lt;4 h（提示脊髓缺血/梗死）或从发病起神经功能持续恶化&gt;4周</a:t>
            </a:r>
          </a:p>
          <a:p/>
          <a:p>
            <a:r>
              <a:t>nmosd-15 真复发与假性复发：复发一般为新发和/或原症状加重持续&gt;24 h，可伴或不伴新/增大/增强MRI病灶。先区别感染、发热、药物不良反应等诱发的假性复发；去除诱因后可完全恢复。</a:t>
            </a:r>
          </a:p>
          <a:p>
            <a:r>
              <a:t>来源：2025 p693–694 / PDF7–8；类别：诊断；推荐等级：原文未明确。</a:t>
            </a:r>
          </a:p>
          <a:p>
            <a:r>
              <a:t>原文锚点：复发一般是指出现新的神经系统症状和（或）原有症状加重，且持续时间超过24 h</a:t>
            </a:r>
          </a:p>
          <a:p/>
          <a:p>
            <a:r>
              <a:t>nmosd-16 急性发作立即治疗：有客观临床及影像学证据的急性发作者，一经诊断应立即治疗，以减轻症状、缩短病程、改善残疾并防治并发症。治疗后衔接序贯免疫治疗。</a:t>
            </a:r>
          </a:p>
          <a:p>
            <a:r>
              <a:t>来源：2025 p693–694 / PDF7–8；类别：治疗；推荐等级：原文未明确。</a:t>
            </a:r>
          </a:p>
          <a:p>
            <a:r>
              <a:t>原文锚点：NMOSD急性发作一经诊断，需要立即开展治疗。</a:t>
            </a:r>
          </a:p>
          <a:p/>
          <a:p>
            <a:r>
              <a:t>nmosd-17 IVMP急性期冲击：甲泼尼龙1 g静滴，1次/d×3–5 d；视病情减至500 mg、240 mg、120 mg，各1次/d×3 d。原文推荐3–4 h缓慢静滴，冲击后衔接口服递减及序贯治疗。</a:t>
            </a:r>
          </a:p>
          <a:p>
            <a:r>
              <a:t>来源：2025 p694 / PDF8；类别：治疗；推荐等级：Ⅰ级推荐，C级证据。</a:t>
            </a:r>
          </a:p>
          <a:p>
            <a:r>
              <a:t>原文锚点：甲泼尼龙1 g静脉点滴，1次/d，×3~5 d</a:t>
            </a:r>
          </a:p>
          <a:p/>
          <a:p>
            <a:r>
              <a:t>nmosd-20 血浆置换/免疫吸附升级：最初几天激素反应不佳，应尽早救治；中重度发作、严重视神经炎等可早期联合。每天或隔天至少5个周期，最多10个周期；首疗程反应不足或加重可重复治疗。</a:t>
            </a:r>
          </a:p>
          <a:p>
            <a:r>
              <a:t>来源：2025 p694 / PDF8；类别：治疗；推荐等级：Ⅰ级推荐，C级证据（激素反应不佳时尽早血液净化）。</a:t>
            </a:r>
          </a:p>
          <a:p>
            <a:r>
              <a:t>原文锚点：平均每天或隔天进行至少5个周期的治疗，最多可使用10个周期</a:t>
            </a:r>
          </a:p>
          <a:p/>
          <a:p>
            <a:r>
              <a:t>nmosd-21 IVIG救治及眼科限制：激素冲击疗效不佳、合并感染、低免疫球蛋白血症或妊娠期可选择IVIG：0.4 g·kg⁻¹·d⁻¹静滴×5 d。对于急性视神经炎，原文不推荐IVIG。</a:t>
            </a:r>
          </a:p>
          <a:p>
            <a:r>
              <a:t>来源：2025 p694 / PDF8；类别：治疗；推荐等级：Ⅱ级推荐，C级证据（冲击疗效不佳患者）。</a:t>
            </a:r>
          </a:p>
          <a:p>
            <a:r>
              <a:t>原文锚点：对于急性视神经炎，不推荐用IVIG。</a:t>
            </a:r>
          </a:p>
          <a:p/>
          <a:p>
            <a:r>
              <a:t>nmosd-23 AQP4阳性尽早长期预防：AQP4-IgG阳性一经确诊，尽早启动并长期坚持序贯治疗；可在急性期激素减量中开始。我国已批准萨特利珠单抗、伊奈利珠单抗和依库珠单抗，并逐渐成为首选。</a:t>
            </a:r>
          </a:p>
          <a:p>
            <a:r>
              <a:t>来源：2025 p691、694、697 / PDF5、8、11；类别：治疗；推荐等级：原文未明确。</a:t>
            </a:r>
          </a:p>
          <a:p>
            <a:r>
              <a:t>原文锚点：我国已批准萨特利珠单抗、伊奈利珠单抗和依库珠单抗用于治疗AQP4⁃IgG阳性NMOSD</a:t>
            </a:r>
          </a:p>
          <a:p/>
          <a:p>
            <a:r>
              <a:t>nmosd-24 抗体阴性预防复发：尽量排除MS、MOGAD、GFAP相关疾病等。一般第1次严重发作或第2次发作后启动长期治疗；一线多为传统免疫抑制剂或利妥昔单抗，失败时考虑联合、托珠单抗或试验疗法。</a:t>
            </a:r>
          </a:p>
          <a:p>
            <a:r>
              <a:t>来源：2025 p698 / PDF12；类别：治疗；推荐等级：原文未明确。</a:t>
            </a:r>
          </a:p>
          <a:p>
            <a:r>
              <a:t>原文锚点：一般在第1次严重发作或第2次发作后开始长期预防复发的治疗。</a:t>
            </a:r>
          </a:p>
          <a:p/>
          <a:p>
            <a:r>
              <a:t>nmosd-27 萨特利珠治疗前后监测：首次用药前筛查HBV与结核；第1年每4周监测肝功能和中性粒细胞。表6还建议监测血脂及感染；窄治疗指数药物如华法林、卡马西平可能需调量。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原文锚点：推荐在第一次用药前进行HBV和结核病筛查。在开始治疗的1年内，每4周定期监测肝功能及中性粒细胞。</a:t>
            </a:r>
          </a:p>
          <a:p/>
          <a:p>
            <a:r>
              <a:t>nmosd-29 伊奈利珠治疗安全：首剂前筛查HBV、结核；治疗中监测B细胞及免疫球蛋白水平，并监测泌尿系感染、机会性感染及输液相关反应。表6提示淋巴/中性粒细胞减少及低丙种球蛋白血症。</a:t>
            </a:r>
          </a:p>
          <a:p>
            <a:r>
              <a:t>来源：2025 p695–696 / PDF9–10；类别：随访；推荐等级：原文未明确。</a:t>
            </a:r>
          </a:p>
          <a:p>
            <a:r>
              <a:t>原文锚点：治疗期间监测B细胞和免疫球蛋白水平。</a:t>
            </a:r>
          </a:p>
          <a:p/>
          <a:p>
            <a:r>
              <a:t>nmosd-31 依库珠与脑膜炎球菌风险：首剂前2周接种脑膜炎球菌疫苗；接种后仍有荚膜细菌感染风险。每次输注前排除脑膜炎球菌感染，并进行患教与密切监测。</a:t>
            </a:r>
          </a:p>
          <a:p>
            <a:r>
              <a:t>来源：2025 p695–696 / PDF9–10；类别：禁忌；推荐等级：原文未明确。</a:t>
            </a:r>
          </a:p>
          <a:p>
            <a:r>
              <a:t>原文锚点：推荐首次用药前2周接种脑膜炎球菌疫苗。</a:t>
            </a:r>
          </a:p>
          <a:p/>
          <a:p>
            <a:r>
              <a:t>nmosd-43 转换疗法的条件：不耐受、妊娠/合并症等个人因素，或维持治疗失败（超过1年时出现1次严重或≥2次复发）可换不同机制药物。传统免疫抑制失败换单抗；单抗失败可换另一单抗，转换间隔尽量短。</a:t>
            </a:r>
          </a:p>
          <a:p>
            <a:r>
              <a:t>来源：2025 p697–698 / PDF11–12；类别：治疗；推荐等级：原文未明确。</a:t>
            </a:r>
          </a:p>
          <a:p>
            <a:r>
              <a:t>原文锚点：维持治疗失败，即超过1年时，出现1次严重或≥2次复发时，可考虑转换不同作用机制的药物</a:t>
            </a:r>
          </a:p>
          <a:p/>
          <a:p>
            <a:r>
              <a:t>nmosd-44 规范随访时间表：每3–6个月评估EDSS，每6–12个月复查MRI和血清AQP4-IgG；初发、复发、治疗转换期或疑似中枢感染时检查脑/脊髓MRI。结合VEP、OCT和视功能随访。</a:t>
            </a:r>
          </a:p>
          <a:p>
            <a:r>
              <a:t>来源：2025 p698 / PDF12；类别：随访；推荐等级：原文未明确。</a:t>
            </a:r>
          </a:p>
          <a:p>
            <a:r>
              <a:t>原文锚点：建议每3~6个月进行一次扩展残疾状态量表</a:t>
            </a:r>
          </a:p>
          <a:p/>
          <a:p>
            <a:r>
              <a:t>nmosd-47 妊娠计划与维持药物：不应仅因希望怀孕而停或推迟长期免疫治疗；在稳定期计划妊娠，个体化权衡。避免MMF等致畸药物，低剂量硫唑嘌呤可在妊娠期继续；孕期和产后密切监测母胎。</a:t>
            </a:r>
          </a:p>
          <a:p>
            <a:r>
              <a:t>来源：2025 p698 / PDF12；类别：特殊人群；推荐等级：原文未明确。</a:t>
            </a:r>
          </a:p>
          <a:p>
            <a:r>
              <a:t>原文锚点：不应因怀孕的愿望而停止或推迟长期免疫治疗。</a:t>
            </a:r>
          </a:p>
          <a:p/>
          <a:p>
            <a:r>
              <a:t>流程连接：</a:t>
            </a:r>
          </a:p>
          <a:p>
            <a:r>
              <a:t>1 → 2：疑似NMOSD</a:t>
            </a:r>
          </a:p>
          <a:p>
            <a:r>
              <a:t>1 → 4：不支持/假性复发</a:t>
            </a:r>
          </a:p>
          <a:p>
            <a:r>
              <a:t>2 → 3：符合诊断且急性发作</a:t>
            </a:r>
          </a:p>
          <a:p>
            <a:r>
              <a:t>2 → 4：不符合/证据不足</a:t>
            </a:r>
          </a:p>
          <a:p>
            <a:r>
              <a:t>4 → 2：复核后再评估</a:t>
            </a:r>
          </a:p>
          <a:p>
            <a:r>
              <a:t>3 → 5：稳定后衔接</a:t>
            </a:r>
          </a:p>
          <a:p>
            <a:r>
              <a:t>5 → 6：长期管理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疑似NMOSD：识别与排除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疑似NMOSD：识别与排除</a:t>
            </a:r>
          </a:p>
        </p:txBody>
      </p:sp>
      <p:sp>
        <p:nvSpPr>
          <p:cNvPr id="3" name="2025 · 指南 · NMOSD诊断与治疗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· 指南 · NMOSD诊断与治疗</a:t>
            </a:r>
          </a:p>
        </p:txBody>
      </p:sp>
      <p:sp>
        <p:nvSpPr>
          <p:cNvPr id="4" name="01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EDF4FB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六项核心临床特征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六项核心临床特征</a:t>
            </a:r>
          </a:p>
        </p:txBody>
      </p:sp>
      <p:sp>
        <p:nvSpPr>
          <p:cNvPr id="7" name="视神经炎、急性脊髓炎、极后区综合征、急性脑干综合征、伴特征性MRI的急性间脑综合征（可有发作性睡病）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视神经炎、急性脊髓炎、极后区综合征、急性脑干综合征、伴特征性MRI的急性间脑综合征（可有发作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性睡病）、伴特征性MRI的大脑综合征。急性视力下降须评估双眼。</a:t>
            </a:r>
          </a:p>
        </p:txBody>
      </p:sp>
      <p:sp>
        <p:nvSpPr>
          <p:cNvPr id="8" name="2025 p688、692 / PDF2、6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p688、692 / PDF2、6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EDF4FB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极后区综合征的48 h条件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极后区综合征的48 h条件</a:t>
            </a:r>
          </a:p>
        </p:txBody>
      </p:sp>
      <p:sp>
        <p:nvSpPr>
          <p:cNvPr id="11" name="顽固性恶心、呕吐和/或呃逆：MRI有极后区病灶时，持续&lt;48 h也可诊断；MRI未显示受累时，症状至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顽固性恶心、呕吐和/或呃逆：MRI有极后区病灶时，持续&lt;48 h也可诊断；MRI未显示受累时，症状至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少持续48 h方可考虑，且对症治疗不能完全缓解，并排除其他病因。</a:t>
            </a:r>
          </a:p>
        </p:txBody>
      </p:sp>
      <p:sp>
        <p:nvSpPr>
          <p:cNvPr id="12" name="2025 p688 / PDF2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p688 / PDF2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FCEFF0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诊断红旗与鉴别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诊断红旗与鉴别</a:t>
            </a:r>
          </a:p>
        </p:txBody>
      </p:sp>
      <p:sp>
        <p:nvSpPr>
          <p:cNvPr id="15" name="发病&lt;4 h、持续恶化&gt;4周、与发作无关的进行性加重、仅脑脊液AQP4-IgG阳性或AQP4/MOG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发病&lt;4 h、持续恶化&gt;4周、与发作无关的进行性加重、仅脑脊液AQP4-IgG阳性或AQP4/MOG双阳性，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须复核缺血、MS、肿瘤等。表5为警示征，不能单项直接排除NMOSD。</a:t>
            </a:r>
          </a:p>
        </p:txBody>
      </p:sp>
      <p:sp>
        <p:nvSpPr>
          <p:cNvPr id="16" name="2025 p693 / PDF7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p693 / PDF7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抗体分层：不能只看阳性结果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抗体分层：不能只看阳性结果</a:t>
            </a:r>
          </a:p>
        </p:txBody>
      </p:sp>
      <p:sp>
        <p:nvSpPr>
          <p:cNvPr id="3" name="2025 · 指南 · NMOSD诊断与治疗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· 指南 · NMOSD诊断与治疗</a:t>
            </a:r>
          </a:p>
        </p:txBody>
      </p:sp>
      <p:sp>
        <p:nvSpPr>
          <p:cNvPr id="4" name="02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EBF7F5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抗体检测优先采血与CBA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抗体检测优先采血与CBA</a:t>
            </a:r>
          </a:p>
        </p:txBody>
      </p:sp>
      <p:sp>
        <p:nvSpPr>
          <p:cNvPr id="7" name="尽量在免疫治疗前采样，血清是AQP4-IgG首选样本；采用CBA法，固定细胞与活细胞法均可。以相同方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尽量在免疫治疗前采样，血清是AQP4-IgG首选样本；采用CBA法，固定细胞与活细胞法均可。以相同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方法检测血及脑脊液MOG-IgG；首次阴性不能排除，需定期复查。</a:t>
            </a:r>
          </a:p>
        </p:txBody>
      </p:sp>
      <p:sp>
        <p:nvSpPr>
          <p:cNvPr id="8" name="2025 p689、691 / PDF3、5 · Ⅰ级推荐，A级证据（AQP4-IgG采用CBA法）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p689、691 / PDF3、5 · Ⅰ级推荐，A级证据（AQP4-IgG采用CBA法）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EDF4FB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QP4-IgG阳性诊断标准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AQP4-IgG阳性诊断标准</a:t>
            </a:r>
          </a:p>
        </p:txBody>
      </p:sp>
      <p:sp>
        <p:nvSpPr>
          <p:cNvPr id="11" name="须同时满足：至少1项核心临床特征；用可靠方法检出AQP4-IgG阳性（推荐CBA）；排除其他诊断。抗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须同时满足：至少1项核心临床特征；用可靠方法检出AQP4-IgG阳性（推荐CBA）；排除其他诊断。抗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体阳性本身不是完整诊断标准。</a:t>
            </a:r>
          </a:p>
        </p:txBody>
      </p:sp>
      <p:sp>
        <p:nvSpPr>
          <p:cNvPr id="12" name="2025 p692 / PDF6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 / PDF6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EDF4FB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阴性或未知状态诊断标准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阴性或未知状态诊断标准</a:t>
            </a:r>
          </a:p>
        </p:txBody>
      </p:sp>
      <p:sp>
        <p:nvSpPr>
          <p:cNvPr id="15" name="1次或多次发作中至少2项不同核心特征，至少1项为视神经炎、急性LETM或极后区综合征；同时满足空间多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1次或多次发作中至少2项不同核心特征，至少1项为视神经炎、急性LETM或极后区综合征；同时满足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空间多发、MRI附加条件、可靠方法AQP4-IgG阴性或未检测，并排除其他诊断。</a:t>
            </a:r>
          </a:p>
        </p:txBody>
      </p:sp>
      <p:sp>
        <p:nvSpPr>
          <p:cNvPr id="16" name="2025 p692 / PDF6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 / PDF6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RI条件与双眼视功能检查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MRI条件与双眼视功能检查</a:t>
            </a:r>
          </a:p>
        </p:txBody>
      </p:sp>
      <p:sp>
        <p:nvSpPr>
          <p:cNvPr id="3" name="2025 · 指南 · NMOSD诊断与治疗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· 指南 · NMOSD诊断与治疗</a:t>
            </a:r>
          </a:p>
        </p:txBody>
      </p:sp>
      <p:sp>
        <p:nvSpPr>
          <p:cNvPr id="4" name="03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EBF7F5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阴性/未知：视神经MRI附加条件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阴性/未知：视神经MRI附加条件</a:t>
            </a:r>
          </a:p>
        </p:txBody>
      </p:sp>
      <p:sp>
        <p:nvSpPr>
          <p:cNvPr id="7" name="急性视神经炎须有以下之一：头颅MRI正常或仅非特异性白质病变；或视神经长T2/增强信号&gt;1/2视神经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急性视神经炎须有以下之一：头颅MRI正常或仅非特异性白质病变；或视神经长T2/增强信号&gt;1/2视神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经长度，或累及视交叉。此为阴性/未知状态诊断附加条件。</a:t>
            </a:r>
          </a:p>
        </p:txBody>
      </p:sp>
      <p:sp>
        <p:nvSpPr>
          <p:cNvPr id="8" name="2025 p692 / PDF6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 / PDF6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EBF7F5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阴性/未知：脊髓MRI附加条件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阴性/未知：脊髓MRI附加条件</a:t>
            </a:r>
          </a:p>
        </p:txBody>
      </p:sp>
      <p:sp>
        <p:nvSpPr>
          <p:cNvPr id="11" name="急性脊髓炎须有长脊髓病变&gt;3个连续椎体节段，或既往有脊髓炎且相应脊髓萎缩&gt;3个连续椎体节段。须按原文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急性脊髓炎须有长脊髓病变&gt;3个连续椎体节段，或既往有脊髓炎且相应脊髓萎缩&gt;3个连续椎体节段。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须按原文“&gt;3”保留，不改为“≥3”。</a:t>
            </a:r>
          </a:p>
        </p:txBody>
      </p:sp>
      <p:sp>
        <p:nvSpPr>
          <p:cNvPr id="12" name="2025 p692 / PDF6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 / PDF6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EBF7F5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眼科检查：双眼视功能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眼科检查：双眼视功能</a:t>
            </a:r>
          </a:p>
        </p:txBody>
      </p:sp>
      <p:sp>
        <p:nvSpPr>
          <p:cNvPr id="15" name="所有疑似发作者均评估双眼矫正视力、视野、色觉及眼底；检查RAPD、视盘水肿/苍白。对侧眼可为轻微或亚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所有疑似发作者均评估双眼矫正视力、视野、色觉及眼底；检查RAPD、视盘水肿/苍白。对侧眼可为轻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微或亚临床受累，不只检查主诉眼。</a:t>
            </a:r>
          </a:p>
        </p:txBody>
      </p:sp>
      <p:sp>
        <p:nvSpPr>
          <p:cNvPr id="16" name="2025 p688、691 / PDF2、5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p688、691 / PDF2、5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急性期：立即救治，反应不足及时升级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急性期：立即救治，反应不足及时升级</a:t>
            </a:r>
          </a:p>
        </p:txBody>
      </p:sp>
      <p:sp>
        <p:nvSpPr>
          <p:cNvPr id="3" name="2025 · 指南 · NMOSD诊断与治疗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· 指南 · NMOSD诊断与治疗</a:t>
            </a:r>
          </a:p>
        </p:txBody>
      </p:sp>
      <p:sp>
        <p:nvSpPr>
          <p:cNvPr id="4" name="04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VMP急性期冲击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IVMP急性期冲击</a:t>
            </a:r>
          </a:p>
        </p:txBody>
      </p:sp>
      <p:sp>
        <p:nvSpPr>
          <p:cNvPr id="7" name="甲泼尼龙1 g静滴，1次/d×3–5 d；视病情减至500 mg、240 mg、120 mg，各1次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甲泼尼龙1 g静滴，1次/d×3–5 d；视病情减至500 mg、240 mg、120 mg，各1次/d×3 d。原文推荐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3–4 h缓慢静滴，冲击后衔接口服递减及序贯治疗。</a:t>
            </a:r>
          </a:p>
        </p:txBody>
      </p:sp>
      <p:sp>
        <p:nvSpPr>
          <p:cNvPr id="8" name="2025 p694 / PDF8 · Ⅰ级推荐，C级证据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 / PDF8 · Ⅰ级推荐，C级证据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血浆置换/免疫吸附升级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血浆置换/免疫吸附升级</a:t>
            </a:r>
          </a:p>
        </p:txBody>
      </p:sp>
      <p:sp>
        <p:nvSpPr>
          <p:cNvPr id="11" name="最初几天激素反应不佳，应尽早救治；中重度发作、严重视神经炎等可早期联合。每天或隔天至少5个周期，最多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最初几天激素反应不佳，应尽早救治；中重度发作、严重视神经炎等可早期联合。每天或隔天至少5个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周期，最多10个周期；首疗程反应不足或加重可重复治疗。</a:t>
            </a:r>
          </a:p>
        </p:txBody>
      </p:sp>
      <p:sp>
        <p:nvSpPr>
          <p:cNvPr id="12" name="2025 p694 / PDF8 · Ⅰ级推荐，C级证据（激素反应不佳时尽早血液净化）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 / PDF8 · Ⅰ级推荐，C级证据（激素反应不佳时尽早血液净化）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VIG救治及眼科限制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IVIG救治及眼科限制</a:t>
            </a:r>
          </a:p>
        </p:txBody>
      </p:sp>
      <p:sp>
        <p:nvSpPr>
          <p:cNvPr id="15" name="激素冲击疗效不佳、合并感染、低免疫球蛋白血症或妊娠期可选择IVIG：0.4 g·kg⁻¹·d⁻¹静滴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激素冲击疗效不佳、合并感染、低免疫球蛋白血症或妊娠期可选择IVIG：0.4 g·kg</a:t>
            </a:r>
            <a:r>
              <a:rPr sz="1800" b="0" lang="zh-CN">
                <a:solidFill>
                  <a:srgbClr val="1E2E3B"/>
                </a:solidFill>
                <a:latin typeface="Arial"/>
                <a:ea typeface="Arial"/>
                <a:cs typeface="Arial"/>
              </a:rPr>
              <a:t>⁻</a:t>
            </a: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¹·d</a:t>
            </a:r>
            <a:r>
              <a:rPr sz="1800" b="0" lang="zh-CN">
                <a:solidFill>
                  <a:srgbClr val="1E2E3B"/>
                </a:solidFill>
                <a:latin typeface="Arial"/>
                <a:ea typeface="Arial"/>
                <a:cs typeface="Arial"/>
              </a:rPr>
              <a:t>⁻</a:t>
            </a: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¹静滴×5 d。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对于急性视神经炎，原文不推荐IVIG。</a:t>
            </a:r>
          </a:p>
        </p:txBody>
      </p:sp>
      <p:sp>
        <p:nvSpPr>
          <p:cNvPr id="16" name="2025 p694 / PDF8 · Ⅱ级推荐，C级证据（冲击疗效不佳患者）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p694 / PDF8 · Ⅱ级推荐，C级证据（冲击疗效不佳患者）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QP4阳性：尽早长期预防复发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AQP4阳性：尽早长期预防复发</a:t>
            </a:r>
          </a:p>
        </p:txBody>
      </p:sp>
      <p:sp>
        <p:nvSpPr>
          <p:cNvPr id="3" name="2025 · 指南 · NMOSD诊断与治疗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· 指南 · NMOSD诊断与治疗</a:t>
            </a:r>
          </a:p>
        </p:txBody>
      </p:sp>
      <p:sp>
        <p:nvSpPr>
          <p:cNvPr id="4" name="05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QP4阳性尽早长期预防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AQP4阳性尽早长期预防</a:t>
            </a:r>
          </a:p>
        </p:txBody>
      </p:sp>
      <p:sp>
        <p:nvSpPr>
          <p:cNvPr id="7" name="AQP4-IgG阳性一经确诊，尽早启动并长期坚持序贯治疗；可在急性期激素减量中开始。我国已批准萨特利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AQP4-IgG阳性一经确诊，尽早启动并长期坚持序贯治疗；可在急性期激素减量中开始。我国已批准萨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特利珠单抗、伊奈利珠单抗和依库珠单抗，并逐渐成为首选。</a:t>
            </a:r>
          </a:p>
        </p:txBody>
      </p:sp>
      <p:sp>
        <p:nvSpPr>
          <p:cNvPr id="8" name="2025 p691、694、697 / PDF5、8、11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p691、694、697 / PDF5、8、11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萨特利珠单抗剂量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萨特利珠单抗剂量</a:t>
            </a:r>
          </a:p>
        </p:txBody>
      </p:sp>
      <p:sp>
        <p:nvSpPr>
          <p:cNvPr id="11" name="120 mg皮下注射，第0、2、4周负荷给药，之后每4周重复。单药或联合传统免疫抑制剂可延缓AQP4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120 mg皮下注射，第0、2、4周负荷给药，之后每4周重复。单药或联合传统免疫抑制剂可延缓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AQP4-IgG阳性患者复发；一般起效时间8–12周。</a:t>
            </a:r>
          </a:p>
        </p:txBody>
      </p:sp>
      <p:sp>
        <p:nvSpPr>
          <p:cNvPr id="12" name="2025 p696 / PDF10 · Ⅰ级推荐，A级证据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p696 / PDF10 · Ⅰ级推荐，A级证据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FFF4E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伊奈利珠单抗剂量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伊奈利珠单抗剂量</a:t>
            </a:r>
          </a:p>
        </p:txBody>
      </p:sp>
      <p:sp>
        <p:nvSpPr>
          <p:cNvPr id="15" name="第1天、第15天各静脉输注300 mg；随后自首次用药开始每6个月输注300 mg。给药前用糖皮质激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第1天、第15天各静脉输注300 mg；随后自首次用药开始每6个月输注300 mg。给药前用糖皮质激素、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抗组胺药和退热药预防输液反应。</a:t>
            </a:r>
          </a:p>
        </p:txBody>
      </p:sp>
      <p:sp>
        <p:nvSpPr>
          <p:cNvPr id="16" name="2025 p695–696 / PDF9–10 · Ⅰ级推荐，A级证据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p695–696 / PDF9–10 · Ⅰ级推荐，A级证据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治疗前筛查、感染风险与不推荐药物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治疗前筛查、感染风险与不推荐药物</a:t>
            </a:r>
          </a:p>
        </p:txBody>
      </p:sp>
      <p:sp>
        <p:nvSpPr>
          <p:cNvPr id="3" name="2025 · 指南 · NMOSD诊断与治疗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· 指南 · NMOSD诊断与治疗</a:t>
            </a:r>
          </a:p>
        </p:txBody>
      </p:sp>
      <p:sp>
        <p:nvSpPr>
          <p:cNvPr id="4" name="06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F3EFF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萨特利珠治疗前后监测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萨特利珠治疗前后监测</a:t>
            </a:r>
          </a:p>
        </p:txBody>
      </p:sp>
      <p:sp>
        <p:nvSpPr>
          <p:cNvPr id="7" name="首次用药前筛查HBV与结核；第1年每4周监测肝功能和中性粒细胞。表6还建议监测血脂及感染；窄治疗指数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首次用药前筛查HBV与结核；第1年每4周监测肝功能和中性粒细胞。表6还建议监测血脂及感染；窄治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疗指数药物如华法林、卡马西平可能需调量。</a:t>
            </a:r>
          </a:p>
        </p:txBody>
      </p:sp>
      <p:sp>
        <p:nvSpPr>
          <p:cNvPr id="8" name="2025 p695–696 / PDF9–10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p695–696 / PDF9–10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FCEFF0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依库珠与脑膜炎球菌风险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依库珠与脑膜炎球菌风险</a:t>
            </a:r>
          </a:p>
        </p:txBody>
      </p:sp>
      <p:sp>
        <p:nvSpPr>
          <p:cNvPr id="11" name="首剂前2周接种脑膜炎球菌疫苗；接种后仍有荚膜细菌感染风险。每次输注前排除脑膜炎球菌感染，并进行患教与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首剂前2周接种脑膜炎球菌疫苗；接种后仍有荚膜细菌感染风险。每次输注前排除脑膜炎球菌感染，并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进行患教与密切监测。</a:t>
            </a:r>
          </a:p>
        </p:txBody>
      </p:sp>
      <p:sp>
        <p:nvSpPr>
          <p:cNvPr id="12" name="2025 p695–696 / PDF9–10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p695–696 / PDF9–10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FCEFF0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不推荐用于AQP4阳性的药物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不推荐用于AQP4阳性的药物</a:t>
            </a:r>
          </a:p>
        </p:txBody>
      </p:sp>
      <p:sp>
        <p:nvSpPr>
          <p:cNvPr id="15" name="β-干扰素、那他珠单抗、芬戈莫德、阿伦单抗及富马酸二甲酯有引发AQP4-IgG阳性NMOSD复发的报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β-干扰素、那他珠单抗、芬戈莫德、阿伦单抗及富马酸二甲酯有引发AQP4-IgG阳性NMOSD复发的报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道，故不推荐用于AQP4抗体阳性患者。</a:t>
            </a:r>
          </a:p>
        </p:txBody>
      </p:sp>
      <p:sp>
        <p:nvSpPr>
          <p:cNvPr id="16" name="2025 p698 / PDF12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p698 / PDF12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规范随访与妊娠管理"/>
          <p:cNvSpPr txBox="1"/>
          <p:nvPr/>
        </p:nvSpPr>
        <p:spPr>
          <a:xfrm>
            <a:off x="457200" y="279400"/>
            <a:ext cx="10795000" cy="482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规范随访与妊娠管理</a:t>
            </a:r>
          </a:p>
        </p:txBody>
      </p:sp>
      <p:sp>
        <p:nvSpPr>
          <p:cNvPr id="3" name="2025 · 指南 · NMOSD诊断与治疗"/>
          <p:cNvSpPr txBox="1"/>
          <p:nvPr/>
        </p:nvSpPr>
        <p:spPr>
          <a:xfrm>
            <a:off x="457200" y="825500"/>
            <a:ext cx="1079500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· 指南 · NMOSD诊断与治疗</a:t>
            </a:r>
          </a:p>
        </p:txBody>
      </p:sp>
      <p:sp>
        <p:nvSpPr>
          <p:cNvPr id="4" name="07 / 08"/>
          <p:cNvSpPr txBox="1"/>
          <p:nvPr/>
        </p:nvSpPr>
        <p:spPr>
          <a:xfrm>
            <a:off x="11252200" y="406400"/>
            <a:ext cx="609600" cy="2209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4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6500"/>
            <a:ext cx="11277600" cy="1629833"/>
          </a:xfrm>
          <a:prstGeom prst="rect">
            <a:avLst/>
          </a:prstGeom>
          <a:solidFill>
            <a:srgbClr val="F3EFF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规范随访时间表"/>
          <p:cNvSpPr txBox="1"/>
          <p:nvPr/>
        </p:nvSpPr>
        <p:spPr>
          <a:xfrm>
            <a:off x="622300" y="1333500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规范随访时间表</a:t>
            </a:r>
          </a:p>
        </p:txBody>
      </p:sp>
      <p:sp>
        <p:nvSpPr>
          <p:cNvPr id="7" name="每3–6个月评估EDSS，每6–12个月复查MRI和血清AQP4-IgG；初发、复发、治疗转换期或疑"/>
          <p:cNvSpPr txBox="1"/>
          <p:nvPr/>
        </p:nvSpPr>
        <p:spPr>
          <a:xfrm>
            <a:off x="622300" y="1701800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每3–6个月评估EDSS，每6–12个月复查MRI和血清AQP4-IgG；初发、复发、治疗转换期或疑似中枢感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染时检查脑/脊髓MRI。结合VEP、OCT和视功能随访。</a:t>
            </a:r>
          </a:p>
        </p:txBody>
      </p:sp>
      <p:sp>
        <p:nvSpPr>
          <p:cNvPr id="8" name="2025 p698 / PDF12"/>
          <p:cNvSpPr txBox="1"/>
          <p:nvPr/>
        </p:nvSpPr>
        <p:spPr>
          <a:xfrm>
            <a:off x="622300" y="2588683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p698 / PDF12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63333"/>
            <a:ext cx="11277600" cy="1629833"/>
          </a:xfrm>
          <a:prstGeom prst="rect">
            <a:avLst/>
          </a:prstGeom>
          <a:solidFill>
            <a:srgbClr val="F3EFF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妊娠计划与维持药物"/>
          <p:cNvSpPr txBox="1"/>
          <p:nvPr/>
        </p:nvSpPr>
        <p:spPr>
          <a:xfrm>
            <a:off x="622300" y="3090333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妊娠计划与维持药物</a:t>
            </a:r>
          </a:p>
        </p:txBody>
      </p:sp>
      <p:sp>
        <p:nvSpPr>
          <p:cNvPr id="11" name="不应仅因希望怀孕而停或推迟长期免疫治疗；在稳定期计划妊娠，个体化权衡。避免MMF等致畸药物，低剂量硫"/>
          <p:cNvSpPr txBox="1"/>
          <p:nvPr/>
        </p:nvSpPr>
        <p:spPr>
          <a:xfrm>
            <a:off x="622300" y="3458633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不应仅因希望怀孕而停或推迟长期免疫治疗；在稳定期计划妊娠，个体化权衡。避免MMF等致畸药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物，低剂量硫唑嘌呤可在妊娠期继续；孕期和产后密切监测母胎。</a:t>
            </a:r>
          </a:p>
        </p:txBody>
      </p:sp>
      <p:sp>
        <p:nvSpPr>
          <p:cNvPr id="12" name="2025 p698 / PDF12"/>
          <p:cNvSpPr txBox="1"/>
          <p:nvPr/>
        </p:nvSpPr>
        <p:spPr>
          <a:xfrm>
            <a:off x="622300" y="4345516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p698 / PDF12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20166"/>
            <a:ext cx="11277600" cy="1629833"/>
          </a:xfrm>
          <a:prstGeom prst="rect">
            <a:avLst/>
          </a:prstGeom>
          <a:solidFill>
            <a:srgbClr val="F3EFF8"/>
          </a:solidFill>
          <a:ln w="7620">
            <a:solidFill>
              <a:srgbClr val="D3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妊娠复发及产后恢复治疗"/>
          <p:cNvSpPr txBox="1"/>
          <p:nvPr/>
        </p:nvSpPr>
        <p:spPr>
          <a:xfrm>
            <a:off x="622300" y="4847166"/>
            <a:ext cx="10947400" cy="355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妊娠复发及产后恢复治疗</a:t>
            </a:r>
          </a:p>
        </p:txBody>
      </p:sp>
      <p:sp>
        <p:nvSpPr>
          <p:cNvPr id="15" name="妊娠期复发可予IVIG冲击并防深静脉血栓；若妊娠期间中断治疗，应在分娩后不久恢复长期免疫治疗。“不久"/>
          <p:cNvSpPr txBox="1"/>
          <p:nvPr/>
        </p:nvSpPr>
        <p:spPr>
          <a:xfrm>
            <a:off x="622300" y="5215466"/>
            <a:ext cx="10947400" cy="635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妊娠期复发可予IVIG冲击并防深静脉血栓；若妊娠期间中断治疗，应在分娩后不久恢复长期免疫治疗。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“不久”的具体天数与哺乳药物表原文未明确。</a:t>
            </a:r>
          </a:p>
        </p:txBody>
      </p:sp>
      <p:sp>
        <p:nvSpPr>
          <p:cNvPr id="16" name="2025 p698 / PDF12"/>
          <p:cNvSpPr txBox="1"/>
          <p:nvPr/>
        </p:nvSpPr>
        <p:spPr>
          <a:xfrm>
            <a:off x="622300" y="6102350"/>
            <a:ext cx="10947400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p698 / PDF12</a:t>
            </a:r>
          </a:p>
        </p:txBody>
      </p:sp>
      <p:sp>
        <p:nvSpPr>
          <p:cNvPr id="17" name="剂量、阈值及推荐等级按本篇原文；完整诊断条件、证据及缺项见提取表。"/>
          <p:cNvSpPr txBox="1"/>
          <p:nvPr/>
        </p:nvSpPr>
        <p:spPr>
          <a:xfrm>
            <a:off x="457200" y="6553200"/>
            <a:ext cx="11277600" cy="20995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53"/>
              </a:lnSpc>
              <a:spcBef>
                <a:spcPts val="0"/>
              </a:spcBef>
              <a:spcAft>
                <a:spcPts val="0"/>
              </a:spcAft>
            </a:pPr>
            <a:r>
              <a:rPr sz="93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剂量、阈值及推荐等级按本篇原文；完整诊断条件、证据及缺项见提取表。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一页临床路径｜NMOSD诊断与治疗"/>
          <p:cNvSpPr txBox="1"/>
          <p:nvPr/>
        </p:nvSpPr>
        <p:spPr>
          <a:xfrm>
            <a:off x="419100" y="241300"/>
            <a:ext cx="11353800" cy="4292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一页临床路径｜NMOSD诊断与治疗</a:t>
            </a:r>
          </a:p>
        </p:txBody>
      </p:sp>
      <p:sp>
        <p:nvSpPr>
          <p:cNvPr id="3" name="2025 · 条件与下一步按原文整理；诊断细则和特殊分支见提取表"/>
          <p:cNvSpPr txBox="1"/>
          <p:nvPr/>
        </p:nvSpPr>
        <p:spPr>
          <a:xfrm>
            <a:off x="419100" y="736600"/>
            <a:ext cx="11353800" cy="2288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02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· 条件与下一步按原文整理；诊断细则和特殊分支见提取表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76900" y="1871133"/>
            <a:ext cx="8382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702300" y="1736513"/>
            <a:ext cx="787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疑似NMOSD"/>
          <p:cNvSpPr txBox="1"/>
          <p:nvPr/>
        </p:nvSpPr>
        <p:spPr>
          <a:xfrm>
            <a:off x="5715000" y="1749213"/>
            <a:ext cx="762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疑似NMOSD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48000" y="2586566"/>
            <a:ext cx="0" cy="36830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574800" y="2688166"/>
            <a:ext cx="2946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不支持/假性复发"/>
          <p:cNvSpPr txBox="1"/>
          <p:nvPr/>
        </p:nvSpPr>
        <p:spPr>
          <a:xfrm>
            <a:off x="1587500" y="2713566"/>
            <a:ext cx="2921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不支持/假性复发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0" y="2586566"/>
            <a:ext cx="0" cy="36830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670800" y="2688166"/>
            <a:ext cx="2946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符合诊断且急性发作"/>
          <p:cNvSpPr txBox="1"/>
          <p:nvPr/>
        </p:nvSpPr>
        <p:spPr>
          <a:xfrm>
            <a:off x="7683500" y="2713566"/>
            <a:ext cx="2921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符合诊断且急性发作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0" y="2586566"/>
            <a:ext cx="0" cy="18415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096000" y="2770716"/>
            <a:ext cx="30480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6000" y="2770716"/>
            <a:ext cx="0" cy="899584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676900" y="3670300"/>
            <a:ext cx="4191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048000" y="2770716"/>
            <a:ext cx="0" cy="18415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48000" y="2770716"/>
            <a:ext cx="30480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096000" y="1871133"/>
            <a:ext cx="0" cy="899583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6000" y="1871133"/>
            <a:ext cx="4191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44000" y="4385733"/>
            <a:ext cx="0" cy="18415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96000" y="4569883"/>
            <a:ext cx="3048000" cy="0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6000" y="4569883"/>
            <a:ext cx="0" cy="899583"/>
          </a:xfrm>
          <a:prstGeom prst="line">
            <a:avLst/>
          </a:prstGeom>
          <a:ln w="13970">
            <a:solidFill>
              <a:srgbClr val="6B7D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676900" y="5469466"/>
            <a:ext cx="4191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676900" y="5469466"/>
            <a:ext cx="838200" cy="0"/>
          </a:xfrm>
          <a:prstGeom prst="line">
            <a:avLst/>
          </a:prstGeom>
          <a:ln w="13970">
            <a:solidFill>
              <a:srgbClr val="6B7D8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702300" y="5334846"/>
            <a:ext cx="787400" cy="16891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长期管理"/>
          <p:cNvSpPr txBox="1"/>
          <p:nvPr/>
        </p:nvSpPr>
        <p:spPr>
          <a:xfrm>
            <a:off x="5715000" y="5347546"/>
            <a:ext cx="762000" cy="18161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93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长期管理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9100" y="1155700"/>
            <a:ext cx="5257800" cy="1430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1  疑似或新发/加重症状"/>
          <p:cNvSpPr txBox="1"/>
          <p:nvPr/>
        </p:nvSpPr>
        <p:spPr>
          <a:xfrm>
            <a:off x="558800" y="1244600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1  疑似或新发/加重症状</a:t>
            </a:r>
          </a:p>
        </p:txBody>
      </p:sp>
      <p:sp>
        <p:nvSpPr>
          <p:cNvPr id="30" name="双眼视功能＋脑/脊髓/眼眶MRI；尽量免疫治疗前采血CBA。新/加重症状&gt;24 h需区别感染等假性复"/>
          <p:cNvSpPr txBox="1"/>
          <p:nvPr/>
        </p:nvSpPr>
        <p:spPr>
          <a:xfrm>
            <a:off x="558800" y="1536700"/>
            <a:ext cx="497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双眼视功能＋脑/脊髓/眼眶MRI；尽量免疫治疗前采血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CBA。新/加重症状&gt;24 h需区别感染等假性复发。疑似→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2；不支持→4。</a:t>
            </a:r>
          </a:p>
        </p:txBody>
      </p:sp>
      <p:sp>
        <p:nvSpPr>
          <p:cNvPr id="31" name="2025 p688–689、691、693–694"/>
          <p:cNvSpPr txBox="1"/>
          <p:nvPr/>
        </p:nvSpPr>
        <p:spPr>
          <a:xfrm>
            <a:off x="558800" y="2380826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p688–689、691、693–694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15100" y="1155700"/>
            <a:ext cx="5257800" cy="1430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2  按AQP4-IgG分层诊断"/>
          <p:cNvSpPr txBox="1"/>
          <p:nvPr/>
        </p:nvSpPr>
        <p:spPr>
          <a:xfrm>
            <a:off x="6654800" y="1244600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2  按AQP4-IgG分层诊断</a:t>
            </a:r>
          </a:p>
        </p:txBody>
      </p:sp>
      <p:sp>
        <p:nvSpPr>
          <p:cNvPr id="34" name="阳性：≥1项核心特征＋可靠检测＋排除其他诊断。阴性/未知：≥2项不同核心特征＋指定核心症候＋MRI附"/>
          <p:cNvSpPr txBox="1"/>
          <p:nvPr/>
        </p:nvSpPr>
        <p:spPr>
          <a:xfrm>
            <a:off x="6654800" y="1536700"/>
            <a:ext cx="497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阳性：≥1项核心特征＋可靠检测＋排除其他诊断。阴性/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未知：≥2项不同核心特征＋指定核心症候＋MRI附加条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件，详见提取表。符合→3；不符→4。</a:t>
            </a:r>
          </a:p>
        </p:txBody>
      </p:sp>
      <p:sp>
        <p:nvSpPr>
          <p:cNvPr id="35" name="2025 p692"/>
          <p:cNvSpPr txBox="1"/>
          <p:nvPr/>
        </p:nvSpPr>
        <p:spPr>
          <a:xfrm>
            <a:off x="6654800" y="2380826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15100" y="2954866"/>
            <a:ext cx="5257800" cy="1430866"/>
          </a:xfrm>
          <a:prstGeom prst="rect">
            <a:avLst/>
          </a:prstGeom>
          <a:solidFill>
            <a:srgbClr val="FFF4E8"/>
          </a:solidFill>
          <a:ln w="7620">
            <a:solidFill>
              <a:srgbClr val="A95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3  确诊急性发作立即治疗"/>
          <p:cNvSpPr txBox="1"/>
          <p:nvPr/>
        </p:nvSpPr>
        <p:spPr>
          <a:xfrm>
            <a:off x="6654800" y="3043766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3  确诊急性发作立即治疗</a:t>
            </a:r>
          </a:p>
        </p:txBody>
      </p:sp>
      <p:sp>
        <p:nvSpPr>
          <p:cNvPr id="38" name="IVMP 1 g/d×3–5 d后按原文减量。最初几天反应不佳或中重度/严重视神经炎，尽早血浆置换/"/>
          <p:cNvSpPr txBox="1"/>
          <p:nvPr/>
        </p:nvSpPr>
        <p:spPr>
          <a:xfrm>
            <a:off x="6654800" y="3335866"/>
            <a:ext cx="497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IVMP 1 g/d×3–5 d后按原文减量。最初几天反应不佳或中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重度/严重视神经炎，尽早血浆置换/免疫吸附。急性视神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经炎不推荐IVIG。稳定→5。</a:t>
            </a:r>
          </a:p>
        </p:txBody>
      </p:sp>
      <p:sp>
        <p:nvSpPr>
          <p:cNvPr id="39" name="2025 p693–694"/>
          <p:cNvSpPr txBox="1"/>
          <p:nvPr/>
        </p:nvSpPr>
        <p:spPr>
          <a:xfrm>
            <a:off x="6654800" y="4179993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p693–694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9100" y="2954866"/>
            <a:ext cx="5257800" cy="1430866"/>
          </a:xfrm>
          <a:prstGeom prst="rect">
            <a:avLst/>
          </a:prstGeom>
          <a:solidFill>
            <a:srgbClr val="F3EFF8"/>
          </a:solidFill>
          <a:ln w="7620">
            <a:solidFill>
              <a:srgbClr val="6952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4  复核、鉴别与动态随访"/>
          <p:cNvSpPr txBox="1"/>
          <p:nvPr/>
        </p:nvSpPr>
        <p:spPr>
          <a:xfrm>
            <a:off x="558800" y="3043766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4  复核、鉴别与动态随访</a:t>
            </a:r>
          </a:p>
        </p:txBody>
      </p:sp>
      <p:sp>
        <p:nvSpPr>
          <p:cNvPr id="42" name="核查MS、MOGAD、缺血、感染及肿瘤等；仅脑脊液AQP4阳性不足确诊；双抗体阳性须复检。纠正假性复"/>
          <p:cNvSpPr txBox="1"/>
          <p:nvPr/>
        </p:nvSpPr>
        <p:spPr>
          <a:xfrm>
            <a:off x="558800" y="3335866"/>
            <a:ext cx="497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核查MS、MOGAD、缺血、感染及肿瘤等；仅脑脊液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AQP4阳性不足确诊；双抗体阳性须复检。纠正假性复发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诱因，重评临床和影像后返回2。</a:t>
            </a:r>
          </a:p>
        </p:txBody>
      </p:sp>
      <p:sp>
        <p:nvSpPr>
          <p:cNvPr id="43" name="2025 p689–691、693–694"/>
          <p:cNvSpPr txBox="1"/>
          <p:nvPr/>
        </p:nvSpPr>
        <p:spPr>
          <a:xfrm>
            <a:off x="558800" y="4179993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p689–691、693–694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9100" y="4754033"/>
            <a:ext cx="5257800" cy="1430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5  启动长期预防复发"/>
          <p:cNvSpPr txBox="1"/>
          <p:nvPr/>
        </p:nvSpPr>
        <p:spPr>
          <a:xfrm>
            <a:off x="558800" y="4842933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5  启动长期预防复发</a:t>
            </a:r>
          </a:p>
        </p:txBody>
      </p:sp>
      <p:sp>
        <p:nvSpPr>
          <p:cNvPr id="46" name="AQP4阳性：确诊即尽早长期治疗。阴性：第1次严重或第2次发作后考虑。选药前HBV/结核筛查；依库珠"/>
          <p:cNvSpPr txBox="1"/>
          <p:nvPr/>
        </p:nvSpPr>
        <p:spPr>
          <a:xfrm>
            <a:off x="558800" y="5135033"/>
            <a:ext cx="497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AQP4阳性：确诊即尽早长期治疗。阴性：第1次严重或第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2次发作后考虑。选药前HBV/结核筛查；依库珠首剂前2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周接种脑膜炎球菌疫苗。</a:t>
            </a:r>
          </a:p>
        </p:txBody>
      </p:sp>
      <p:sp>
        <p:nvSpPr>
          <p:cNvPr id="47" name="2025 p691、694–698"/>
          <p:cNvSpPr txBox="1"/>
          <p:nvPr/>
        </p:nvSpPr>
        <p:spPr>
          <a:xfrm>
            <a:off x="558800" y="5979160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p691、694–698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15100" y="4754033"/>
            <a:ext cx="5257800" cy="1430866"/>
          </a:xfrm>
          <a:prstGeom prst="rect">
            <a:avLst/>
          </a:prstGeom>
          <a:solidFill>
            <a:srgbClr val="EDF4FB"/>
          </a:solidFill>
          <a:ln w="7620">
            <a:solidFill>
              <a:srgbClr val="24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6  监测后继续或调整"/>
          <p:cNvSpPr txBox="1"/>
          <p:nvPr/>
        </p:nvSpPr>
        <p:spPr>
          <a:xfrm>
            <a:off x="6654800" y="4842933"/>
            <a:ext cx="4978400" cy="2921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6  监测后继续或调整</a:t>
            </a:r>
          </a:p>
        </p:txBody>
      </p:sp>
      <p:sp>
        <p:nvSpPr>
          <p:cNvPr id="50" name="EDSS每3–6个月；MRI/AQP4每6–12个月。&gt;1年出现1次严重或≥2次复发，或不耐受/妊娠"/>
          <p:cNvSpPr txBox="1"/>
          <p:nvPr/>
        </p:nvSpPr>
        <p:spPr>
          <a:xfrm>
            <a:off x="6654800" y="5135033"/>
            <a:ext cx="4978400" cy="703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EDSS每3–6个月；MRI/AQP4每6–12个月。&gt;1年出现1次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严重或≥2次复发，或不耐受/妊娠等，考虑转换机制。疑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似新发作返回1。</a:t>
            </a:r>
          </a:p>
        </p:txBody>
      </p:sp>
      <p:sp>
        <p:nvSpPr>
          <p:cNvPr id="51" name="2025 p697–698"/>
          <p:cNvSpPr txBox="1"/>
          <p:nvPr/>
        </p:nvSpPr>
        <p:spPr>
          <a:xfrm>
            <a:off x="6654800" y="5979160"/>
            <a:ext cx="497840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8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2025 p697–698</a:t>
            </a:r>
          </a:p>
        </p:txBody>
      </p:sp>
      <p:sp>
        <p:nvSpPr>
          <p:cNvPr id="52" name="跨行分支：2→4 不符合/证据不足；4→2 复核后再评估；3→5 稳定后衔接"/>
          <p:cNvSpPr txBox="1"/>
          <p:nvPr/>
        </p:nvSpPr>
        <p:spPr>
          <a:xfrm>
            <a:off x="419100" y="6299200"/>
            <a:ext cx="1135380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跨行分支：2→4 不符合/证据不足；4→2 复核后再评估；3→5 稳定后衔接</a:t>
            </a:r>
          </a:p>
        </p:txBody>
      </p:sp>
      <p:sp>
        <p:nvSpPr>
          <p:cNvPr id="53" name="节点内条件优先；未列阈值不补编。完整证据、禁忌与特殊人群见提取表。"/>
          <p:cNvSpPr txBox="1"/>
          <p:nvPr/>
        </p:nvSpPr>
        <p:spPr>
          <a:xfrm>
            <a:off x="419100" y="6667500"/>
            <a:ext cx="11353800" cy="1926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6"/>
              </a:lnSpc>
              <a:spcBef>
                <a:spcPts val="0"/>
              </a:spcBef>
              <a:spcAft>
                <a:spcPts val="0"/>
              </a:spcAft>
            </a:pPr>
            <a:r>
              <a:rPr sz="819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节点内条件优先；未列阈值不补编。完整证据、禁忌与特殊人群见提取表。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NMOSD诊断与治疗</dc:title>
  <dc:subject>上传文献原文摘录；原生可编辑文字和图形</dc:subject>
  <dc:creator>临床指南速查资料整理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