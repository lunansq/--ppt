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nmosd-02 六项核心临床特征：视神经炎、急性脊髓炎、极后区综合征、急性脑干综合征、伴特征性MRI的急性间脑综合征（可有发作性睡病）、伴特征性MRI的大脑综合征。急性视力下降须评估双眼。</a:t>
            </a:r>
          </a:p>
          <a:p>
            <a:r>
              <a:t>来源：2025 p688、692 / PDF2、6；类别：诊断；推荐等级：原文未明确。</a:t>
            </a:r>
          </a:p>
          <a:p>
            <a:r>
              <a:t>原文锚点：（1）视神经炎</a:t>
            </a:r>
          </a:p>
          <a:p>
            <a:r>
              <a:t>（2）急性脊髓炎</a:t>
            </a:r>
          </a:p>
          <a:p>
            <a:r>
              <a:t>（3）极后区综合征，无其他原因能解释的发作性呃逆、恶心、呕吐</a:t>
            </a:r>
          </a:p>
          <a:p/>
          <a:p>
            <a:r>
              <a:t>nmosd-03 抗体检测优先采血与CBA：尽量在免疫治疗前采样，血清是AQP4-IgG首选样本；采用CBA法，固定细胞与活细胞法均可。以相同方法检测血及脑脊液MOG-IgG；首次阴性不能排除，需定期复查。</a:t>
            </a:r>
          </a:p>
          <a:p>
            <a:r>
              <a:t>来源：2025 p689、691 / PDF3、5；类别：检查；推荐等级：Ⅰ级推荐，A级证据（AQP4-IgG采用CBA法）。</a:t>
            </a:r>
          </a:p>
          <a:p>
            <a:r>
              <a:t>原文锚点：AQP4⁃IgG需通过基于细胞底物的实验（cell based assay，CBA）法进行检测</a:t>
            </a:r>
          </a:p>
          <a:p/>
          <a:p>
            <a:r>
              <a:t>nmosd-04 仅脑脊液AQP4阳性不足诊断：仅脑脊液AQP4-IgG阳性不足以诊断AQP4-IgG阳性NMOSD。AQP4-IgG与MOG-IgG双阳性须重复两项试验；血清阴性、脑脊液阳性属红旗征，需复检与鉴别。</a:t>
            </a:r>
          </a:p>
          <a:p>
            <a:r>
              <a:t>来源：2025 p690、693 / PDF4、7；类别：诊断；推荐等级：原文未明确。</a:t>
            </a:r>
          </a:p>
          <a:p>
            <a:r>
              <a:t>原文锚点：目前认为仅脑脊液AQP4⁃IgG阳性是不足以诊断AQP4⁃IgG阳性NMOSD的。</a:t>
            </a:r>
          </a:p>
          <a:p/>
          <a:p>
            <a:r>
              <a:t>nmosd-05 AQP4-IgG阳性诊断标准：须同时满足：至少1项核心临床特征；用可靠方法检出AQP4-IgG阳性（推荐CBA）；排除其他诊断。抗体阳性本身不是完整诊断标准。</a:t>
            </a:r>
          </a:p>
          <a:p>
            <a:r>
              <a:t>来源：2025 p692 / PDF6；类别：诊断；推荐等级：原文未明确。</a:t>
            </a:r>
          </a:p>
          <a:p>
            <a:r>
              <a:t>原文锚点：（1）至少1项核心临床特征</a:t>
            </a:r>
          </a:p>
          <a:p>
            <a:r>
              <a:t>（2）用可靠的方法检测AQP4⁃IgG阳性（推荐CBA法）</a:t>
            </a:r>
          </a:p>
          <a:p>
            <a:r>
              <a:t>（3）排除其他诊断</a:t>
            </a:r>
          </a:p>
          <a:p/>
          <a:p>
            <a:r>
              <a:t>nmosd-06 阴性或未知状态诊断标准：1次或多次发作中至少2项不同核心特征，至少1项为视神经炎、急性LETM或极后区综合征；同时满足空间多发、MRI附加条件、可靠方法AQP4-IgG阴性或未检测，并排除其他诊断。</a:t>
            </a:r>
          </a:p>
          <a:p>
            <a:r>
              <a:t>来源：2025 p692 / PDF6；类别：诊断；推荐等级：原文未明确。</a:t>
            </a:r>
          </a:p>
          <a:p>
            <a:r>
              <a:t>原文锚点：在1次或多次临床发作中，至少出现2项核心临床特征并满足下列全部条件</a:t>
            </a:r>
          </a:p>
          <a:p/>
          <a:p>
            <a:r>
              <a:t>nmosd-07 阴性/未知：视神经MRI附加条件：急性视神经炎须有以下之一：头颅MRI正常或仅非特异性白质病变；或视神经长T2/增强信号&gt;1/2视神经长度，或累及视交叉。此为阴性/未知状态诊断附加条件。</a:t>
            </a:r>
          </a:p>
          <a:p>
            <a:r>
              <a:t>来源：2025 p692 / PDF6；类别：检查；推荐等级：原文未明确。</a:t>
            </a:r>
          </a:p>
          <a:p>
            <a:r>
              <a:t>原文锚点：视神经长T2信号或T1增强信号&gt;1/2视神经长度，或病变累及视交叉</a:t>
            </a:r>
          </a:p>
          <a:p/>
          <a:p>
            <a:r>
              <a:t>nmosd-08 阴性/未知：脊髓MRI附加条件：急性脊髓炎须有长脊髓病变&gt;3个连续椎体节段，或既往有脊髓炎且相应脊髓萎缩&gt;3个连续椎体节段。须按原文“&gt;3”保留，不改为“≥3”。</a:t>
            </a:r>
          </a:p>
          <a:p>
            <a:r>
              <a:t>来源：2025 p692 / PDF6；类别：检查；推荐等级：原文未明确。</a:t>
            </a:r>
          </a:p>
          <a:p>
            <a:r>
              <a:t>原文锚点：长脊髓病变&gt;3个连续椎体节段，或有脊髓炎病史的患者相应脊髓萎缩&gt;3个连续椎体节段</a:t>
            </a:r>
          </a:p>
          <a:p/>
          <a:p>
            <a:r>
              <a:t>nmosd-11 眼科检查：双眼视功能：所有疑似发作者均评估双眼矫正视力、视野、色觉及眼底；检查RAPD、视盘水肿/苍白。对侧眼可为轻微或亚临床受累，不只检查主诉眼。</a:t>
            </a:r>
          </a:p>
          <a:p>
            <a:r>
              <a:t>来源：2025 p688、691 / PDF2、5；类别：检查；推荐等级：原文未明确。</a:t>
            </a:r>
          </a:p>
          <a:p>
            <a:r>
              <a:t>原文锚点：所有疑似NMOSD发作的患者均需评估双眼的矫正视力。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nmosd-17 IVMP急性期冲击：甲泼尼龙1 g静滴，1次/d×3–5 d；视病情减至500 mg、240 mg、120 mg，各1次/d×3 d。原文推荐3–4 h缓慢静滴，冲击后衔接口服递减及序贯治疗。</a:t>
            </a:r>
          </a:p>
          <a:p>
            <a:r>
              <a:t>来源：2025 p694 / PDF8；类别：治疗；推荐等级：Ⅰ级推荐，C级证据。</a:t>
            </a:r>
          </a:p>
          <a:p>
            <a:r>
              <a:t>原文锚点：甲泼尼龙1 g静脉点滴，1次/d，×3~5 d</a:t>
            </a:r>
          </a:p>
          <a:p/>
          <a:p>
            <a:r>
              <a:t>nmosd-18 冲击后口服激素递减：改泼尼松60 mg/d×5–7 d，再50 mg/d×5–7 d；阶梯减至30–40 mg/d后依序贯药物起效放缓，如每2周减5 mg至5–10 mg/d维持或停。通常减量期维持3–6个月。</a:t>
            </a:r>
          </a:p>
          <a:p>
            <a:r>
              <a:t>来源：2025 p694 / PDF8；类别：治疗；推荐等级：原文未明确。</a:t>
            </a:r>
          </a:p>
          <a:p>
            <a:r>
              <a:t>原文锚点：改为泼尼松60 mg口服，1次/d，×5~7 d</a:t>
            </a:r>
          </a:p>
          <a:p/>
          <a:p>
            <a:r>
              <a:t>nmosd-20 血浆置换/免疫吸附升级：最初几天激素反应不佳，应尽早救治；中重度发作、严重视神经炎等可早期联合。每天或隔天至少5个周期，最多10个周期；首疗程反应不足或加重可重复治疗。</a:t>
            </a:r>
          </a:p>
          <a:p>
            <a:r>
              <a:t>来源：2025 p694 / PDF8；类别：治疗；推荐等级：Ⅰ级推荐，C级证据（激素反应不佳时尽早血液净化）。</a:t>
            </a:r>
          </a:p>
          <a:p>
            <a:r>
              <a:t>原文锚点：平均每天或隔天进行至少5个周期的治疗，最多可使用10个周期</a:t>
            </a:r>
          </a:p>
          <a:p/>
          <a:p>
            <a:r>
              <a:t>nmosd-21 IVIG救治及眼科限制：激素冲击疗效不佳、合并感染、低免疫球蛋白血症或妊娠期可选择IVIG：0.4 g·kg⁻¹·d⁻¹静滴×5 d。对于急性视神经炎，原文不推荐IVIG。</a:t>
            </a:r>
          </a:p>
          <a:p>
            <a:r>
              <a:t>来源：2025 p694 / PDF8；类别：治疗；推荐等级：Ⅱ级推荐，C级证据（冲击疗效不佳患者）。</a:t>
            </a:r>
          </a:p>
          <a:p>
            <a:r>
              <a:t>原文锚点：对于急性视神经炎，不推荐用IVIG。</a:t>
            </a:r>
          </a:p>
          <a:p/>
          <a:p>
            <a:r>
              <a:t>nmosd-23 AQP4阳性尽早长期预防：AQP4-IgG阳性一经确诊，尽早启动并长期坚持序贯治疗；可在急性期激素减量中开始。我国已批准萨特利珠单抗、伊奈利珠单抗和依库珠单抗，并逐渐成为首选。</a:t>
            </a:r>
          </a:p>
          <a:p>
            <a:r>
              <a:t>来源：2025 p691、694、697 / PDF5、8、11；类别：治疗；推荐等级：原文未明确。</a:t>
            </a:r>
          </a:p>
          <a:p>
            <a:r>
              <a:t>原文锚点：我国已批准萨特利珠单抗、伊奈利珠单抗和依库珠单抗用于治疗AQP4⁃IgG阳性NMOSD</a:t>
            </a:r>
          </a:p>
          <a:p/>
          <a:p>
            <a:r>
              <a:t>nmosd-24 抗体阴性预防复发：尽量排除MS、MOGAD、GFAP相关疾病等。一般第1次严重发作或第2次发作后启动长期治疗；一线多为传统免疫抑制剂或利妥昔单抗，失败时考虑联合、托珠单抗或试验疗法。</a:t>
            </a:r>
          </a:p>
          <a:p>
            <a:r>
              <a:t>来源：2025 p698 / PDF12；类别：治疗；推荐等级：原文未明确。</a:t>
            </a:r>
          </a:p>
          <a:p>
            <a:r>
              <a:t>原文锚点：一般在第1次严重发作或第2次发作后开始长期预防复发的治疗。</a:t>
            </a:r>
          </a:p>
          <a:p/>
          <a:p>
            <a:r>
              <a:t>nmosd-26 萨特利珠单抗剂量：120 mg皮下注射，第0、2、4周负荷给药，之后每4周重复。单药或联合传统免疫抑制剂可延缓AQP4-IgG阳性患者复发；一般起效时间8–12周。</a:t>
            </a:r>
          </a:p>
          <a:p>
            <a:r>
              <a:t>来源：2025 p696 / PDF10；类别：治疗；推荐等级：Ⅰ级推荐，A级证据。</a:t>
            </a:r>
          </a:p>
          <a:p>
            <a:r>
              <a:t>原文锚点：萨特利珠单抗120 mg皮下注射，首次先给予负荷剂量，即第0、2、4周皮下注射，以后每4周重复皮下注射。</a:t>
            </a:r>
          </a:p>
          <a:p/>
          <a:p>
            <a:r>
              <a:t>nmosd-27 萨特利珠治疗前后监测：首次用药前筛查HBV与结核；第1年每4周监测肝功能和中性粒细胞。表6还建议监测血脂及感染；窄治疗指数药物如华法林、卡马西平可能需调量。</a:t>
            </a:r>
          </a:p>
          <a:p>
            <a:r>
              <a:t>来源：2025 p695–696 / PDF9–10；类别：随访；推荐等级：原文未明确。</a:t>
            </a:r>
          </a:p>
          <a:p>
            <a:r>
              <a:t>原文锚点：推荐在第一次用药前进行HBV和结核病筛查。在开始治疗的1年内，每4周定期监测肝功能及中性粒细胞。</a:t>
            </a:r>
          </a:p>
          <a:p/>
          <a:p>
            <a:r>
              <a:t>nmosd-29 伊奈利珠治疗安全：首剂前筛查HBV、结核；治疗中监测B细胞及免疫球蛋白水平，并监测泌尿系感染、机会性感染及输液相关反应。表6提示淋巴/中性粒细胞减少及低丙种球蛋白血症。</a:t>
            </a:r>
          </a:p>
          <a:p>
            <a:r>
              <a:t>来源：2025 p695–696 / PDF9–10；类别：随访；推荐等级：原文未明确。</a:t>
            </a:r>
          </a:p>
          <a:p>
            <a:r>
              <a:t>原文锚点：治疗期间监测B细胞和免疫球蛋白水平。</a:t>
            </a:r>
          </a:p>
          <a:p/>
          <a:p>
            <a:r>
              <a:t>nmosd-31 依库珠与脑膜炎球菌风险：首剂前2周接种脑膜炎球菌疫苗；接种后仍有荚膜细菌感染风险。每次输注前排除脑膜炎球菌感染，并进行患教与密切监测。</a:t>
            </a:r>
          </a:p>
          <a:p>
            <a:r>
              <a:t>来源：2025 p695–696 / PDF9–10；类别：禁忌；推荐等级：原文未明确。</a:t>
            </a:r>
          </a:p>
          <a:p>
            <a:r>
              <a:t>原文锚点：推荐首次用药前2周接种脑膜炎球菌疫苗。</a:t>
            </a:r>
          </a:p>
          <a:p/>
          <a:p>
            <a:r>
              <a:t>nmosd-44 规范随访时间表：每3–6个月评估EDSS，每6–12个月复查MRI和血清AQP4-IgG；初发、复发、治疗转换期或疑似中枢感染时检查脑/脊髓MRI。结合VEP、OCT和视功能随访。</a:t>
            </a:r>
          </a:p>
          <a:p>
            <a:r>
              <a:t>来源：2025 p698 / PDF12；类别：随访；推荐等级：原文未明确。</a:t>
            </a:r>
          </a:p>
          <a:p>
            <a:r>
              <a:t>原文锚点：建议每3~6个月进行一次扩展残疾状态量表</a:t>
            </a:r>
          </a:p>
          <a:p/>
          <a:p>
            <a:r>
              <a:t>nmosd-45 AQP4复查频率与滴度局限：p694建议每6个月定期复查血清AQP4-IgG；p698综合随访写每6–12个月。两处并列，不抹平差异；抗体滴度与疾病活动性无明确相关性，不能单凭滴度决定救治。</a:t>
            </a:r>
          </a:p>
          <a:p>
            <a:r>
              <a:t>来源：2025 p694、698 / PDF8、12；类别：随访；推荐等级：原文未明确。</a:t>
            </a:r>
          </a:p>
          <a:p>
            <a:r>
              <a:t>原文锚点：虽然AQP4⁃IgG滴度与疾病活动性之间没有明确的相关性</a:t>
            </a:r>
          </a:p>
          <a:p/>
          <a:p>
            <a:r>
              <a:t>nmosd-47 妊娠计划与维持药物：不应仅因希望怀孕而停或推迟长期免疫治疗；在稳定期计划妊娠，个体化权衡。避免MMF等致畸药物，低剂量硫唑嘌呤可在妊娠期继续；孕期和产后密切监测母胎。</a:t>
            </a:r>
          </a:p>
          <a:p>
            <a:r>
              <a:t>来源：2025 p698 / PDF12；类别：特殊人群；推荐等级：原文未明确。</a:t>
            </a:r>
          </a:p>
          <a:p>
            <a:r>
              <a:t>原文锚点：不应因怀孕的愿望而停止或推迟长期免疫治疗。</a:t>
            </a:r>
          </a:p>
          <a:p/>
          <a:p>
            <a:r>
              <a:t>nmosd-50 不推荐用于AQP4阳性的药物：β-干扰素、那他珠单抗、芬戈莫德、阿伦单抗及富马酸二甲酯有引发AQP4-IgG阳性NMOSD复发的报道，故不推荐用于AQP4抗体阳性患者。</a:t>
            </a:r>
          </a:p>
          <a:p>
            <a:r>
              <a:t>来源：2025 p698 / PDF12；类别：禁忌；推荐等级：原文未明确。</a:t>
            </a:r>
          </a:p>
          <a:p>
            <a:r>
              <a:t>原文锚点：β⁃干扰素、那他珠单抗、芬戈莫德、阿伦单抗和富马酸二甲酯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9860" y="167860"/>
            <a:ext cx="3480280" cy="5207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MOSD诊断与治疗"/>
          <p:cNvSpPr txBox="1"/>
          <p:nvPr/>
        </p:nvSpPr>
        <p:spPr>
          <a:xfrm>
            <a:off x="226060" y="205960"/>
            <a:ext cx="332788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NMOSD诊断与治疗</a:t>
            </a:r>
          </a:p>
        </p:txBody>
      </p:sp>
      <p:sp>
        <p:nvSpPr>
          <p:cNvPr id="4" name="2025 · 正面"/>
          <p:cNvSpPr txBox="1"/>
          <p:nvPr/>
        </p:nvSpPr>
        <p:spPr>
          <a:xfrm>
            <a:off x="226060" y="421860"/>
            <a:ext cx="33278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2025 · 正面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162560" y="73936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疑似：双眼＋核心症候"/>
          <p:cNvSpPr txBox="1"/>
          <p:nvPr/>
        </p:nvSpPr>
        <p:spPr>
          <a:xfrm>
            <a:off x="264160" y="7774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疑似：双眼＋核心症候</a:t>
            </a:r>
          </a:p>
        </p:txBody>
      </p:sp>
      <p:sp>
        <p:nvSpPr>
          <p:cNvPr id="7" name="急性视力下降、脊髓症候或顽固呃逆/呕吐等须评估。查双眼矫正视力、视野、色觉、眼底；免疫治疗前尽量采血"/>
          <p:cNvSpPr txBox="1"/>
          <p:nvPr/>
        </p:nvSpPr>
        <p:spPr>
          <a:xfrm>
            <a:off x="264160" y="9298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急性视力下降、脊髓症候或顽固呃逆/呕吐等须评估。查双眼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矫正视力、视野、色觉、眼底；免疫治疗前尽量采血做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AQP4-IgG CBA。</a:t>
            </a:r>
          </a:p>
        </p:txBody>
      </p:sp>
      <p:sp>
        <p:nvSpPr>
          <p:cNvPr id="8" name="2025 p688–689、691–692"/>
          <p:cNvSpPr txBox="1"/>
          <p:nvPr/>
        </p:nvSpPr>
        <p:spPr>
          <a:xfrm>
            <a:off x="264160" y="13972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 p688–689、691–692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560" y="164106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QP4阳性诊断"/>
          <p:cNvSpPr txBox="1"/>
          <p:nvPr/>
        </p:nvSpPr>
        <p:spPr>
          <a:xfrm>
            <a:off x="264160" y="16791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AQP4阳性诊断</a:t>
            </a:r>
          </a:p>
        </p:txBody>
      </p:sp>
      <p:sp>
        <p:nvSpPr>
          <p:cNvPr id="11" name="≥1项核心临床特征＋可靠方法AQP4-IgG阳性＋排除其他诊断。仅脑脊液阳性不足确诊；AQP4/MO"/>
          <p:cNvSpPr txBox="1"/>
          <p:nvPr/>
        </p:nvSpPr>
        <p:spPr>
          <a:xfrm>
            <a:off x="264160" y="18315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≥1项核心临床特征＋可靠方法AQP4-IgG阳性＋排除其他诊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断。仅脑脊液阳性不足确诊；AQP4/MOG双阳性须重复两项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检测。</a:t>
            </a:r>
          </a:p>
        </p:txBody>
      </p:sp>
      <p:sp>
        <p:nvSpPr>
          <p:cNvPr id="12" name="2025 p690、692–693"/>
          <p:cNvSpPr txBox="1"/>
          <p:nvPr/>
        </p:nvSpPr>
        <p:spPr>
          <a:xfrm>
            <a:off x="264160" y="22989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 p690、692–693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2560" y="254276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阴性/未知：条件更严格"/>
          <p:cNvSpPr txBox="1"/>
          <p:nvPr/>
        </p:nvSpPr>
        <p:spPr>
          <a:xfrm>
            <a:off x="264160" y="25808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阴性/未知：条件更严格</a:t>
            </a:r>
          </a:p>
        </p:txBody>
      </p:sp>
      <p:sp>
        <p:nvSpPr>
          <p:cNvPr id="15" name="≥2项不同核心特征，含视神经炎、急性LETM或极后区综合征之一；须空间多发、MRI附加条件及排除其他"/>
          <p:cNvSpPr txBox="1"/>
          <p:nvPr/>
        </p:nvSpPr>
        <p:spPr>
          <a:xfrm>
            <a:off x="264160" y="27332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≥2项不同核心特征，含视神经炎、急性LETM或极后区综合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征之一；须空间多发、MRI附加条件及排除其他病因。完整标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准见提取表。</a:t>
            </a:r>
          </a:p>
        </p:txBody>
      </p:sp>
      <p:sp>
        <p:nvSpPr>
          <p:cNvPr id="16" name="2025 p692"/>
          <p:cNvSpPr txBox="1"/>
          <p:nvPr/>
        </p:nvSpPr>
        <p:spPr>
          <a:xfrm>
            <a:off x="264160" y="32006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 p692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2560" y="344446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阴性/未知：MRI附加条件"/>
          <p:cNvSpPr txBox="1"/>
          <p:nvPr/>
        </p:nvSpPr>
        <p:spPr>
          <a:xfrm>
            <a:off x="264160" y="34825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阴性/未知：MRI附加条件</a:t>
            </a:r>
          </a:p>
        </p:txBody>
      </p:sp>
      <p:sp>
        <p:nvSpPr>
          <p:cNvPr id="19" name="视神经炎：脑MRI正常/仅非特异白质病变，或视神经病灶&gt;1/2长度/视交叉受累；脊髓病变或相应萎缩&gt;"/>
          <p:cNvSpPr txBox="1"/>
          <p:nvPr/>
        </p:nvSpPr>
        <p:spPr>
          <a:xfrm>
            <a:off x="264160" y="36349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视神经炎：脑MRI正常/仅非特异白质病变，或视神经病灶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&gt;1/2长度/视交叉受累；脊髓病变或相应萎缩&gt;3连续节段。完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整附加条件见提取表。</a:t>
            </a:r>
          </a:p>
        </p:txBody>
      </p:sp>
      <p:sp>
        <p:nvSpPr>
          <p:cNvPr id="20" name="2025 p692"/>
          <p:cNvSpPr txBox="1"/>
          <p:nvPr/>
        </p:nvSpPr>
        <p:spPr>
          <a:xfrm>
            <a:off x="264160" y="41023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 p692</a:t>
            </a:r>
          </a:p>
        </p:txBody>
      </p:sp>
      <p:sp>
        <p:nvSpPr>
          <p:cNvPr id="21" name="临床要点摘要；完整条件与原文缺项见提取表。&#10;100%原尺寸 · 双面长边翻转"/>
          <p:cNvSpPr txBox="1"/>
          <p:nvPr/>
        </p:nvSpPr>
        <p:spPr>
          <a:xfrm>
            <a:off x="187960" y="4898960"/>
            <a:ext cx="340408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临床要点摘要；完整条件与原文缺项见提取表。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29860" y="167860"/>
            <a:ext cx="3480280" cy="5207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MOSD诊断与治疗"/>
          <p:cNvSpPr txBox="1"/>
          <p:nvPr/>
        </p:nvSpPr>
        <p:spPr>
          <a:xfrm>
            <a:off x="4006060" y="205960"/>
            <a:ext cx="332788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NMOSD诊断与治疗</a:t>
            </a:r>
          </a:p>
        </p:txBody>
      </p:sp>
      <p:sp>
        <p:nvSpPr>
          <p:cNvPr id="24" name="2025 · 正面"/>
          <p:cNvSpPr txBox="1"/>
          <p:nvPr/>
        </p:nvSpPr>
        <p:spPr>
          <a:xfrm>
            <a:off x="4006060" y="421860"/>
            <a:ext cx="33278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2025 · 正面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42560" y="73936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疑似：双眼＋核心症候"/>
          <p:cNvSpPr txBox="1"/>
          <p:nvPr/>
        </p:nvSpPr>
        <p:spPr>
          <a:xfrm>
            <a:off x="4044160" y="7774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疑似：双眼＋核心症候</a:t>
            </a:r>
          </a:p>
        </p:txBody>
      </p:sp>
      <p:sp>
        <p:nvSpPr>
          <p:cNvPr id="27" name="急性视力下降、脊髓症候或顽固呃逆/呕吐等须评估。查双眼矫正视力、视野、色觉、眼底；免疫治疗前尽量采血"/>
          <p:cNvSpPr txBox="1"/>
          <p:nvPr/>
        </p:nvSpPr>
        <p:spPr>
          <a:xfrm>
            <a:off x="4044160" y="9298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急性视力下降、脊髓症候或顽固呃逆/呕吐等须评估。查双眼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矫正视力、视野、色觉、眼底；免疫治疗前尽量采血做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AQP4-IgG CBA。</a:t>
            </a:r>
          </a:p>
        </p:txBody>
      </p:sp>
      <p:sp>
        <p:nvSpPr>
          <p:cNvPr id="28" name="2025 p688–689、691–692"/>
          <p:cNvSpPr txBox="1"/>
          <p:nvPr/>
        </p:nvSpPr>
        <p:spPr>
          <a:xfrm>
            <a:off x="4044160" y="13972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 p688–689、691–692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42560" y="164106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QP4阳性诊断"/>
          <p:cNvSpPr txBox="1"/>
          <p:nvPr/>
        </p:nvSpPr>
        <p:spPr>
          <a:xfrm>
            <a:off x="4044160" y="16791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AQP4阳性诊断</a:t>
            </a:r>
          </a:p>
        </p:txBody>
      </p:sp>
      <p:sp>
        <p:nvSpPr>
          <p:cNvPr id="31" name="≥1项核心临床特征＋可靠方法AQP4-IgG阳性＋排除其他诊断。仅脑脊液阳性不足确诊；AQP4/MO"/>
          <p:cNvSpPr txBox="1"/>
          <p:nvPr/>
        </p:nvSpPr>
        <p:spPr>
          <a:xfrm>
            <a:off x="4044160" y="18315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≥1项核心临床特征＋可靠方法AQP4-IgG阳性＋排除其他诊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断。仅脑脊液阳性不足确诊；AQP4/MOG双阳性须重复两项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检测。</a:t>
            </a:r>
          </a:p>
        </p:txBody>
      </p:sp>
      <p:sp>
        <p:nvSpPr>
          <p:cNvPr id="32" name="2025 p690、692–693"/>
          <p:cNvSpPr txBox="1"/>
          <p:nvPr/>
        </p:nvSpPr>
        <p:spPr>
          <a:xfrm>
            <a:off x="4044160" y="22989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 p690、692–693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42560" y="254276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阴性/未知：条件更严格"/>
          <p:cNvSpPr txBox="1"/>
          <p:nvPr/>
        </p:nvSpPr>
        <p:spPr>
          <a:xfrm>
            <a:off x="4044160" y="25808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阴性/未知：条件更严格</a:t>
            </a:r>
          </a:p>
        </p:txBody>
      </p:sp>
      <p:sp>
        <p:nvSpPr>
          <p:cNvPr id="35" name="≥2项不同核心特征，含视神经炎、急性LETM或极后区综合征之一；须空间多发、MRI附加条件及排除其他"/>
          <p:cNvSpPr txBox="1"/>
          <p:nvPr/>
        </p:nvSpPr>
        <p:spPr>
          <a:xfrm>
            <a:off x="4044160" y="27332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≥2项不同核心特征，含视神经炎、急性LETM或极后区综合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征之一；须空间多发、MRI附加条件及排除其他病因。完整标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准见提取表。</a:t>
            </a:r>
          </a:p>
        </p:txBody>
      </p:sp>
      <p:sp>
        <p:nvSpPr>
          <p:cNvPr id="36" name="2025 p692"/>
          <p:cNvSpPr txBox="1"/>
          <p:nvPr/>
        </p:nvSpPr>
        <p:spPr>
          <a:xfrm>
            <a:off x="4044160" y="32006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 p692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42560" y="344446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阴性/未知：MRI附加条件"/>
          <p:cNvSpPr txBox="1"/>
          <p:nvPr/>
        </p:nvSpPr>
        <p:spPr>
          <a:xfrm>
            <a:off x="4044160" y="34825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阴性/未知：MRI附加条件</a:t>
            </a:r>
          </a:p>
        </p:txBody>
      </p:sp>
      <p:sp>
        <p:nvSpPr>
          <p:cNvPr id="39" name="视神经炎：脑MRI正常/仅非特异白质病变，或视神经病灶&gt;1/2长度/视交叉受累；脊髓病变或相应萎缩&gt;"/>
          <p:cNvSpPr txBox="1"/>
          <p:nvPr/>
        </p:nvSpPr>
        <p:spPr>
          <a:xfrm>
            <a:off x="4044160" y="36349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视神经炎：脑MRI正常/仅非特异白质病变，或视神经病灶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&gt;1/2长度/视交叉受累；脊髓病变或相应萎缩&gt;3连续节段。完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整附加条件见提取表。</a:t>
            </a:r>
          </a:p>
        </p:txBody>
      </p:sp>
      <p:sp>
        <p:nvSpPr>
          <p:cNvPr id="40" name="2025 p692"/>
          <p:cNvSpPr txBox="1"/>
          <p:nvPr/>
        </p:nvSpPr>
        <p:spPr>
          <a:xfrm>
            <a:off x="4044160" y="41023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 p692</a:t>
            </a:r>
          </a:p>
        </p:txBody>
      </p:sp>
      <p:sp>
        <p:nvSpPr>
          <p:cNvPr id="41" name="临床要点摘要；完整条件与原文缺项见提取表。&#10;100%原尺寸 · 双面长边翻转"/>
          <p:cNvSpPr txBox="1"/>
          <p:nvPr/>
        </p:nvSpPr>
        <p:spPr>
          <a:xfrm>
            <a:off x="3967960" y="4898960"/>
            <a:ext cx="340408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临床要点摘要；完整条件与原文缺项见提取表。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49860" y="5495860"/>
            <a:ext cx="3480280" cy="5207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NMOSD诊断与治疗"/>
          <p:cNvSpPr txBox="1"/>
          <p:nvPr/>
        </p:nvSpPr>
        <p:spPr>
          <a:xfrm>
            <a:off x="226060" y="5533960"/>
            <a:ext cx="332788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NMOSD诊断与治疗</a:t>
            </a:r>
          </a:p>
        </p:txBody>
      </p:sp>
      <p:sp>
        <p:nvSpPr>
          <p:cNvPr id="44" name="2025 · 正面"/>
          <p:cNvSpPr txBox="1"/>
          <p:nvPr/>
        </p:nvSpPr>
        <p:spPr>
          <a:xfrm>
            <a:off x="226060" y="5749860"/>
            <a:ext cx="33278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2025 · 正面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2560" y="606736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疑似：双眼＋核心症候"/>
          <p:cNvSpPr txBox="1"/>
          <p:nvPr/>
        </p:nvSpPr>
        <p:spPr>
          <a:xfrm>
            <a:off x="264160" y="61054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疑似：双眼＋核心症候</a:t>
            </a:r>
          </a:p>
        </p:txBody>
      </p:sp>
      <p:sp>
        <p:nvSpPr>
          <p:cNvPr id="47" name="急性视力下降、脊髓症候或顽固呃逆/呕吐等须评估。查双眼矫正视力、视野、色觉、眼底；免疫治疗前尽量采血"/>
          <p:cNvSpPr txBox="1"/>
          <p:nvPr/>
        </p:nvSpPr>
        <p:spPr>
          <a:xfrm>
            <a:off x="264160" y="62578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急性视力下降、脊髓症候或顽固呃逆/呕吐等须评估。查双眼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矫正视力、视野、色觉、眼底；免疫治疗前尽量采血做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AQP4-IgG CBA。</a:t>
            </a:r>
          </a:p>
        </p:txBody>
      </p:sp>
      <p:sp>
        <p:nvSpPr>
          <p:cNvPr id="48" name="2025 p688–689、691–692"/>
          <p:cNvSpPr txBox="1"/>
          <p:nvPr/>
        </p:nvSpPr>
        <p:spPr>
          <a:xfrm>
            <a:off x="264160" y="67252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 p688–689、691–692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2560" y="696906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AQP4阳性诊断"/>
          <p:cNvSpPr txBox="1"/>
          <p:nvPr/>
        </p:nvSpPr>
        <p:spPr>
          <a:xfrm>
            <a:off x="264160" y="70071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AQP4阳性诊断</a:t>
            </a:r>
          </a:p>
        </p:txBody>
      </p:sp>
      <p:sp>
        <p:nvSpPr>
          <p:cNvPr id="51" name="≥1项核心临床特征＋可靠方法AQP4-IgG阳性＋排除其他诊断。仅脑脊液阳性不足确诊；AQP4/MO"/>
          <p:cNvSpPr txBox="1"/>
          <p:nvPr/>
        </p:nvSpPr>
        <p:spPr>
          <a:xfrm>
            <a:off x="264160" y="71595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≥1项核心临床特征＋可靠方法AQP4-IgG阳性＋排除其他诊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断。仅脑脊液阳性不足确诊；AQP4/MOG双阳性须重复两项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检测。</a:t>
            </a:r>
          </a:p>
        </p:txBody>
      </p:sp>
      <p:sp>
        <p:nvSpPr>
          <p:cNvPr id="52" name="2025 p690、692–693"/>
          <p:cNvSpPr txBox="1"/>
          <p:nvPr/>
        </p:nvSpPr>
        <p:spPr>
          <a:xfrm>
            <a:off x="264160" y="76269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 p690、692–693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62560" y="787076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阴性/未知：条件更严格"/>
          <p:cNvSpPr txBox="1"/>
          <p:nvPr/>
        </p:nvSpPr>
        <p:spPr>
          <a:xfrm>
            <a:off x="264160" y="79088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阴性/未知：条件更严格</a:t>
            </a:r>
          </a:p>
        </p:txBody>
      </p:sp>
      <p:sp>
        <p:nvSpPr>
          <p:cNvPr id="55" name="≥2项不同核心特征，含视神经炎、急性LETM或极后区综合征之一；须空间多发、MRI附加条件及排除其他"/>
          <p:cNvSpPr txBox="1"/>
          <p:nvPr/>
        </p:nvSpPr>
        <p:spPr>
          <a:xfrm>
            <a:off x="264160" y="80612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≥2项不同核心特征，含视神经炎、急性LETM或极后区综合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征之一；须空间多发、MRI附加条件及排除其他病因。完整标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准见提取表。</a:t>
            </a:r>
          </a:p>
        </p:txBody>
      </p:sp>
      <p:sp>
        <p:nvSpPr>
          <p:cNvPr id="56" name="2025 p692"/>
          <p:cNvSpPr txBox="1"/>
          <p:nvPr/>
        </p:nvSpPr>
        <p:spPr>
          <a:xfrm>
            <a:off x="264160" y="85286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 p692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62560" y="877246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阴性/未知：MRI附加条件"/>
          <p:cNvSpPr txBox="1"/>
          <p:nvPr/>
        </p:nvSpPr>
        <p:spPr>
          <a:xfrm>
            <a:off x="264160" y="88105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阴性/未知：MRI附加条件</a:t>
            </a:r>
          </a:p>
        </p:txBody>
      </p:sp>
      <p:sp>
        <p:nvSpPr>
          <p:cNvPr id="59" name="视神经炎：脑MRI正常/仅非特异白质病变，或视神经病灶&gt;1/2长度/视交叉受累；脊髓病变或相应萎缩&gt;"/>
          <p:cNvSpPr txBox="1"/>
          <p:nvPr/>
        </p:nvSpPr>
        <p:spPr>
          <a:xfrm>
            <a:off x="264160" y="89629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视神经炎：脑MRI正常/仅非特异白质病变，或视神经病灶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&gt;1/2长度/视交叉受累；脊髓病变或相应萎缩&gt;3连续节段。完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整附加条件见提取表。</a:t>
            </a:r>
          </a:p>
        </p:txBody>
      </p:sp>
      <p:sp>
        <p:nvSpPr>
          <p:cNvPr id="60" name="2025 p692"/>
          <p:cNvSpPr txBox="1"/>
          <p:nvPr/>
        </p:nvSpPr>
        <p:spPr>
          <a:xfrm>
            <a:off x="264160" y="94303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 p692</a:t>
            </a:r>
          </a:p>
        </p:txBody>
      </p:sp>
      <p:sp>
        <p:nvSpPr>
          <p:cNvPr id="61" name="临床要点摘要；完整条件与原文缺项见提取表。&#10;100%原尺寸 · 双面长边翻转"/>
          <p:cNvSpPr txBox="1"/>
          <p:nvPr/>
        </p:nvSpPr>
        <p:spPr>
          <a:xfrm>
            <a:off x="187960" y="10226960"/>
            <a:ext cx="340408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临床要点摘要；完整条件与原文缺项见提取表。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29860" y="5495860"/>
            <a:ext cx="3480280" cy="5207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NMOSD诊断与治疗"/>
          <p:cNvSpPr txBox="1"/>
          <p:nvPr/>
        </p:nvSpPr>
        <p:spPr>
          <a:xfrm>
            <a:off x="4006060" y="5533960"/>
            <a:ext cx="332788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NMOSD诊断与治疗</a:t>
            </a:r>
          </a:p>
        </p:txBody>
      </p:sp>
      <p:sp>
        <p:nvSpPr>
          <p:cNvPr id="64" name="2025 · 正面"/>
          <p:cNvSpPr txBox="1"/>
          <p:nvPr/>
        </p:nvSpPr>
        <p:spPr>
          <a:xfrm>
            <a:off x="4006060" y="5749860"/>
            <a:ext cx="33278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2025 · 正面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942560" y="606736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疑似：双眼＋核心症候"/>
          <p:cNvSpPr txBox="1"/>
          <p:nvPr/>
        </p:nvSpPr>
        <p:spPr>
          <a:xfrm>
            <a:off x="4044160" y="61054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疑似：双眼＋核心症候</a:t>
            </a:r>
          </a:p>
        </p:txBody>
      </p:sp>
      <p:sp>
        <p:nvSpPr>
          <p:cNvPr id="67" name="急性视力下降、脊髓症候或顽固呃逆/呕吐等须评估。查双眼矫正视力、视野、色觉、眼底；免疫治疗前尽量采血"/>
          <p:cNvSpPr txBox="1"/>
          <p:nvPr/>
        </p:nvSpPr>
        <p:spPr>
          <a:xfrm>
            <a:off x="4044160" y="62578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急性视力下降、脊髓症候或顽固呃逆/呕吐等须评估。查双眼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矫正视力、视野、色觉、眼底；免疫治疗前尽量采血做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AQP4-IgG CBA。</a:t>
            </a:r>
          </a:p>
        </p:txBody>
      </p:sp>
      <p:sp>
        <p:nvSpPr>
          <p:cNvPr id="68" name="2025 p688–689、691–692"/>
          <p:cNvSpPr txBox="1"/>
          <p:nvPr/>
        </p:nvSpPr>
        <p:spPr>
          <a:xfrm>
            <a:off x="4044160" y="67252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 p688–689、691–692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942560" y="696906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AQP4阳性诊断"/>
          <p:cNvSpPr txBox="1"/>
          <p:nvPr/>
        </p:nvSpPr>
        <p:spPr>
          <a:xfrm>
            <a:off x="4044160" y="70071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AQP4阳性诊断</a:t>
            </a:r>
          </a:p>
        </p:txBody>
      </p:sp>
      <p:sp>
        <p:nvSpPr>
          <p:cNvPr id="71" name="≥1项核心临床特征＋可靠方法AQP4-IgG阳性＋排除其他诊断。仅脑脊液阳性不足确诊；AQP4/MO"/>
          <p:cNvSpPr txBox="1"/>
          <p:nvPr/>
        </p:nvSpPr>
        <p:spPr>
          <a:xfrm>
            <a:off x="4044160" y="71595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≥1项核心临床特征＋可靠方法AQP4-IgG阳性＋排除其他诊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断。仅脑脊液阳性不足确诊；AQP4/MOG双阳性须重复两项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检测。</a:t>
            </a:r>
          </a:p>
        </p:txBody>
      </p:sp>
      <p:sp>
        <p:nvSpPr>
          <p:cNvPr id="72" name="2025 p690、692–693"/>
          <p:cNvSpPr txBox="1"/>
          <p:nvPr/>
        </p:nvSpPr>
        <p:spPr>
          <a:xfrm>
            <a:off x="4044160" y="76269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 p690、692–693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942560" y="787076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阴性/未知：条件更严格"/>
          <p:cNvSpPr txBox="1"/>
          <p:nvPr/>
        </p:nvSpPr>
        <p:spPr>
          <a:xfrm>
            <a:off x="4044160" y="79088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阴性/未知：条件更严格</a:t>
            </a:r>
          </a:p>
        </p:txBody>
      </p:sp>
      <p:sp>
        <p:nvSpPr>
          <p:cNvPr id="75" name="≥2项不同核心特征，含视神经炎、急性LETM或极后区综合征之一；须空间多发、MRI附加条件及排除其他"/>
          <p:cNvSpPr txBox="1"/>
          <p:nvPr/>
        </p:nvSpPr>
        <p:spPr>
          <a:xfrm>
            <a:off x="4044160" y="80612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≥2项不同核心特征，含视神经炎、急性LETM或极后区综合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征之一；须空间多发、MRI附加条件及排除其他病因。完整标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准见提取表。</a:t>
            </a:r>
          </a:p>
        </p:txBody>
      </p:sp>
      <p:sp>
        <p:nvSpPr>
          <p:cNvPr id="76" name="2025 p692"/>
          <p:cNvSpPr txBox="1"/>
          <p:nvPr/>
        </p:nvSpPr>
        <p:spPr>
          <a:xfrm>
            <a:off x="4044160" y="85286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 p692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942560" y="877246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阴性/未知：MRI附加条件"/>
          <p:cNvSpPr txBox="1"/>
          <p:nvPr/>
        </p:nvSpPr>
        <p:spPr>
          <a:xfrm>
            <a:off x="4044160" y="88105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阴性/未知：MRI附加条件</a:t>
            </a:r>
          </a:p>
        </p:txBody>
      </p:sp>
      <p:sp>
        <p:nvSpPr>
          <p:cNvPr id="79" name="视神经炎：脑MRI正常/仅非特异白质病变，或视神经病灶&gt;1/2长度/视交叉受累；脊髓病变或相应萎缩&gt;"/>
          <p:cNvSpPr txBox="1"/>
          <p:nvPr/>
        </p:nvSpPr>
        <p:spPr>
          <a:xfrm>
            <a:off x="4044160" y="896296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视神经炎：脑MRI正常/仅非特异白质病变，或视神经病灶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&gt;1/2长度/视交叉受累；脊髓病变或相应萎缩&gt;3连续节段。完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整附加条件见提取表。</a:t>
            </a:r>
          </a:p>
        </p:txBody>
      </p:sp>
      <p:sp>
        <p:nvSpPr>
          <p:cNvPr id="80" name="2025 p692"/>
          <p:cNvSpPr txBox="1"/>
          <p:nvPr/>
        </p:nvSpPr>
        <p:spPr>
          <a:xfrm>
            <a:off x="4044160" y="943032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 p692</a:t>
            </a:r>
          </a:p>
        </p:txBody>
      </p:sp>
      <p:sp>
        <p:nvSpPr>
          <p:cNvPr id="81" name="临床要点摘要；完整条件与原文缺项见提取表。&#10;100%原尺寸 · 双面长边翻转"/>
          <p:cNvSpPr txBox="1"/>
          <p:nvPr/>
        </p:nvSpPr>
        <p:spPr>
          <a:xfrm>
            <a:off x="3967960" y="10226960"/>
            <a:ext cx="340408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临床要点摘要；完整条件与原文缺项见提取表。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3780000" y="0"/>
            <a:ext cx="0" cy="1069200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0" y="18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0" y="5346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0" y="10674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9860" y="167860"/>
            <a:ext cx="3480280" cy="5207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MOSD诊断与治疗"/>
          <p:cNvSpPr txBox="1"/>
          <p:nvPr/>
        </p:nvSpPr>
        <p:spPr>
          <a:xfrm>
            <a:off x="226060" y="205960"/>
            <a:ext cx="332788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NMOSD诊断与治疗</a:t>
            </a:r>
          </a:p>
        </p:txBody>
      </p:sp>
      <p:sp>
        <p:nvSpPr>
          <p:cNvPr id="4" name="2025 · 背面"/>
          <p:cNvSpPr txBox="1"/>
          <p:nvPr/>
        </p:nvSpPr>
        <p:spPr>
          <a:xfrm>
            <a:off x="226060" y="421860"/>
            <a:ext cx="33278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2025 · 背面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162560" y="739360"/>
            <a:ext cx="3454880" cy="70358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急性期：救治与升级"/>
          <p:cNvSpPr txBox="1"/>
          <p:nvPr/>
        </p:nvSpPr>
        <p:spPr>
          <a:xfrm>
            <a:off x="264160" y="7774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急性期：救治与升级</a:t>
            </a:r>
          </a:p>
        </p:txBody>
      </p:sp>
      <p:sp>
        <p:nvSpPr>
          <p:cNvPr id="7" name="成人IVMP 1 g/d静滴×3–5 d后依原文递减；最初几天反应差或严重视神经炎，尽早血液净化。急"/>
          <p:cNvSpPr txBox="1"/>
          <p:nvPr/>
        </p:nvSpPr>
        <p:spPr>
          <a:xfrm>
            <a:off x="264160" y="92986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成人IVMP 1 g/d静滴×3–5 d后依原文递减；最初几天反应差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或严重视神经炎，尽早血液净化。急性视神经炎不推荐IVIG。</a:t>
            </a:r>
          </a:p>
        </p:txBody>
      </p:sp>
      <p:sp>
        <p:nvSpPr>
          <p:cNvPr id="8" name="2025 p694"/>
          <p:cNvSpPr txBox="1"/>
          <p:nvPr/>
        </p:nvSpPr>
        <p:spPr>
          <a:xfrm>
            <a:off x="264160" y="12499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 p694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560" y="149374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尽早预防复发"/>
          <p:cNvSpPr txBox="1"/>
          <p:nvPr/>
        </p:nvSpPr>
        <p:spPr>
          <a:xfrm>
            <a:off x="264160" y="15318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尽早预防复发</a:t>
            </a:r>
          </a:p>
        </p:txBody>
      </p:sp>
      <p:sp>
        <p:nvSpPr>
          <p:cNvPr id="11" name="AQP4阳性确诊即长期序贯；阴性第1次严重/第2次发作后考虑。萨特利珠120 mg皮下，第0、2、4"/>
          <p:cNvSpPr txBox="1"/>
          <p:nvPr/>
        </p:nvSpPr>
        <p:spPr>
          <a:xfrm>
            <a:off x="264160" y="168424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AQP4阳性确诊即长期序贯；阴性第1次严重/第2次发作后考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虑。萨特利珠120 mg皮下，第0、2、4周，后每4周；其他给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药见提取表。</a:t>
            </a:r>
          </a:p>
        </p:txBody>
      </p:sp>
      <p:sp>
        <p:nvSpPr>
          <p:cNvPr id="12" name="2025 p691、694、696–698"/>
          <p:cNvSpPr txBox="1"/>
          <p:nvPr/>
        </p:nvSpPr>
        <p:spPr>
          <a:xfrm>
            <a:off x="264160" y="21516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 p691、694、696–698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2560" y="239544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治疗安全与妊娠"/>
          <p:cNvSpPr txBox="1"/>
          <p:nvPr/>
        </p:nvSpPr>
        <p:spPr>
          <a:xfrm>
            <a:off x="264160" y="24335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治疗安全与妊娠</a:t>
            </a:r>
          </a:p>
        </p:txBody>
      </p:sp>
      <p:sp>
        <p:nvSpPr>
          <p:cNvPr id="15" name="相关单抗前筛HBV/结核；依库珠首剂前2周接种脑膜炎球菌疫苗。育龄避MMF；不要只因计划怀孕自行停药"/>
          <p:cNvSpPr txBox="1"/>
          <p:nvPr/>
        </p:nvSpPr>
        <p:spPr>
          <a:xfrm>
            <a:off x="264160" y="258594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相关单抗前筛HBV/结核；依库珠首剂前2周接种脑膜炎球菌疫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苗。育龄避MMF；不要只因计划怀孕自行停药，稳定期计划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并协作管理。</a:t>
            </a:r>
          </a:p>
        </p:txBody>
      </p:sp>
      <p:sp>
        <p:nvSpPr>
          <p:cNvPr id="16" name="2025 p695–696、698"/>
          <p:cNvSpPr txBox="1"/>
          <p:nvPr/>
        </p:nvSpPr>
        <p:spPr>
          <a:xfrm>
            <a:off x="264160" y="30533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 p695–696、698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2560" y="329714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随访与用药禁忌"/>
          <p:cNvSpPr txBox="1"/>
          <p:nvPr/>
        </p:nvSpPr>
        <p:spPr>
          <a:xfrm>
            <a:off x="264160" y="33352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随访与用药禁忌</a:t>
            </a:r>
          </a:p>
        </p:txBody>
      </p:sp>
      <p:sp>
        <p:nvSpPr>
          <p:cNvPr id="19" name="EDSS每3–6个月；MRI/AQP4每6–12个月。不推荐β-干扰素、那他珠、芬戈莫德、阿伦单抗、"/>
          <p:cNvSpPr txBox="1"/>
          <p:nvPr/>
        </p:nvSpPr>
        <p:spPr>
          <a:xfrm>
            <a:off x="264160" y="348764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EDSS每3–6个月；MRI/AQP4每6–12个月。不推荐β-干扰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素、那他珠、芬戈莫德、阿伦单抗、富马酸二甲酯用于AQP4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阳性。</a:t>
            </a:r>
          </a:p>
        </p:txBody>
      </p:sp>
      <p:sp>
        <p:nvSpPr>
          <p:cNvPr id="20" name="2025 p694、698"/>
          <p:cNvSpPr txBox="1"/>
          <p:nvPr/>
        </p:nvSpPr>
        <p:spPr>
          <a:xfrm>
            <a:off x="264160" y="39550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 p694、698</a:t>
            </a:r>
          </a:p>
        </p:txBody>
      </p:sp>
      <p:sp>
        <p:nvSpPr>
          <p:cNvPr id="21" name="临床要点摘要；完整条件与原文缺项见提取表。&#10;100%原尺寸 · 双面长边翻转"/>
          <p:cNvSpPr txBox="1"/>
          <p:nvPr/>
        </p:nvSpPr>
        <p:spPr>
          <a:xfrm>
            <a:off x="187960" y="4898960"/>
            <a:ext cx="340408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临床要点摘要；完整条件与原文缺项见提取表。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29860" y="167860"/>
            <a:ext cx="3480280" cy="5207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MOSD诊断与治疗"/>
          <p:cNvSpPr txBox="1"/>
          <p:nvPr/>
        </p:nvSpPr>
        <p:spPr>
          <a:xfrm>
            <a:off x="4006060" y="205960"/>
            <a:ext cx="332788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NMOSD诊断与治疗</a:t>
            </a:r>
          </a:p>
        </p:txBody>
      </p:sp>
      <p:sp>
        <p:nvSpPr>
          <p:cNvPr id="24" name="2025 · 背面"/>
          <p:cNvSpPr txBox="1"/>
          <p:nvPr/>
        </p:nvSpPr>
        <p:spPr>
          <a:xfrm>
            <a:off x="4006060" y="421860"/>
            <a:ext cx="33278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2025 · 背面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42560" y="739360"/>
            <a:ext cx="3454880" cy="70358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急性期：救治与升级"/>
          <p:cNvSpPr txBox="1"/>
          <p:nvPr/>
        </p:nvSpPr>
        <p:spPr>
          <a:xfrm>
            <a:off x="4044160" y="7774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急性期：救治与升级</a:t>
            </a:r>
          </a:p>
        </p:txBody>
      </p:sp>
      <p:sp>
        <p:nvSpPr>
          <p:cNvPr id="27" name="成人IVMP 1 g/d静滴×3–5 d后依原文递减；最初几天反应差或严重视神经炎，尽早血液净化。急"/>
          <p:cNvSpPr txBox="1"/>
          <p:nvPr/>
        </p:nvSpPr>
        <p:spPr>
          <a:xfrm>
            <a:off x="4044160" y="92986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成人IVMP 1 g/d静滴×3–5 d后依原文递减；最初几天反应差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或严重视神经炎，尽早血液净化。急性视神经炎不推荐IVIG。</a:t>
            </a:r>
          </a:p>
        </p:txBody>
      </p:sp>
      <p:sp>
        <p:nvSpPr>
          <p:cNvPr id="28" name="2025 p694"/>
          <p:cNvSpPr txBox="1"/>
          <p:nvPr/>
        </p:nvSpPr>
        <p:spPr>
          <a:xfrm>
            <a:off x="4044160" y="12499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 p694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42560" y="149374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尽早预防复发"/>
          <p:cNvSpPr txBox="1"/>
          <p:nvPr/>
        </p:nvSpPr>
        <p:spPr>
          <a:xfrm>
            <a:off x="4044160" y="15318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尽早预防复发</a:t>
            </a:r>
          </a:p>
        </p:txBody>
      </p:sp>
      <p:sp>
        <p:nvSpPr>
          <p:cNvPr id="31" name="AQP4阳性确诊即长期序贯；阴性第1次严重/第2次发作后考虑。萨特利珠120 mg皮下，第0、2、4"/>
          <p:cNvSpPr txBox="1"/>
          <p:nvPr/>
        </p:nvSpPr>
        <p:spPr>
          <a:xfrm>
            <a:off x="4044160" y="168424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AQP4阳性确诊即长期序贯；阴性第1次严重/第2次发作后考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虑。萨特利珠120 mg皮下，第0、2、4周，后每4周；其他给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药见提取表。</a:t>
            </a:r>
          </a:p>
        </p:txBody>
      </p:sp>
      <p:sp>
        <p:nvSpPr>
          <p:cNvPr id="32" name="2025 p691、694、696–698"/>
          <p:cNvSpPr txBox="1"/>
          <p:nvPr/>
        </p:nvSpPr>
        <p:spPr>
          <a:xfrm>
            <a:off x="4044160" y="21516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 p691、694、696–698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42560" y="239544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治疗安全与妊娠"/>
          <p:cNvSpPr txBox="1"/>
          <p:nvPr/>
        </p:nvSpPr>
        <p:spPr>
          <a:xfrm>
            <a:off x="4044160" y="24335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治疗安全与妊娠</a:t>
            </a:r>
          </a:p>
        </p:txBody>
      </p:sp>
      <p:sp>
        <p:nvSpPr>
          <p:cNvPr id="35" name="相关单抗前筛HBV/结核；依库珠首剂前2周接种脑膜炎球菌疫苗。育龄避MMF；不要只因计划怀孕自行停药"/>
          <p:cNvSpPr txBox="1"/>
          <p:nvPr/>
        </p:nvSpPr>
        <p:spPr>
          <a:xfrm>
            <a:off x="4044160" y="258594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相关单抗前筛HBV/结核；依库珠首剂前2周接种脑膜炎球菌疫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苗。育龄避MMF；不要只因计划怀孕自行停药，稳定期计划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并协作管理。</a:t>
            </a:r>
          </a:p>
        </p:txBody>
      </p:sp>
      <p:sp>
        <p:nvSpPr>
          <p:cNvPr id="36" name="2025 p695–696、698"/>
          <p:cNvSpPr txBox="1"/>
          <p:nvPr/>
        </p:nvSpPr>
        <p:spPr>
          <a:xfrm>
            <a:off x="4044160" y="30533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 p695–696、698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42560" y="329714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随访与用药禁忌"/>
          <p:cNvSpPr txBox="1"/>
          <p:nvPr/>
        </p:nvSpPr>
        <p:spPr>
          <a:xfrm>
            <a:off x="4044160" y="33352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随访与用药禁忌</a:t>
            </a:r>
          </a:p>
        </p:txBody>
      </p:sp>
      <p:sp>
        <p:nvSpPr>
          <p:cNvPr id="39" name="EDSS每3–6个月；MRI/AQP4每6–12个月。不推荐β-干扰素、那他珠、芬戈莫德、阿伦单抗、"/>
          <p:cNvSpPr txBox="1"/>
          <p:nvPr/>
        </p:nvSpPr>
        <p:spPr>
          <a:xfrm>
            <a:off x="4044160" y="348764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EDSS每3–6个月；MRI/AQP4每6–12个月。不推荐β-干扰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素、那他珠、芬戈莫德、阿伦单抗、富马酸二甲酯用于AQP4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阳性。</a:t>
            </a:r>
          </a:p>
        </p:txBody>
      </p:sp>
      <p:sp>
        <p:nvSpPr>
          <p:cNvPr id="40" name="2025 p694、698"/>
          <p:cNvSpPr txBox="1"/>
          <p:nvPr/>
        </p:nvSpPr>
        <p:spPr>
          <a:xfrm>
            <a:off x="4044160" y="39550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 p694、698</a:t>
            </a:r>
          </a:p>
        </p:txBody>
      </p:sp>
      <p:sp>
        <p:nvSpPr>
          <p:cNvPr id="41" name="临床要点摘要；完整条件与原文缺项见提取表。&#10;100%原尺寸 · 双面长边翻转"/>
          <p:cNvSpPr txBox="1"/>
          <p:nvPr/>
        </p:nvSpPr>
        <p:spPr>
          <a:xfrm>
            <a:off x="3967960" y="4898960"/>
            <a:ext cx="340408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临床要点摘要；完整条件与原文缺项见提取表。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49860" y="5495860"/>
            <a:ext cx="3480280" cy="5207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NMOSD诊断与治疗"/>
          <p:cNvSpPr txBox="1"/>
          <p:nvPr/>
        </p:nvSpPr>
        <p:spPr>
          <a:xfrm>
            <a:off x="226060" y="5533960"/>
            <a:ext cx="332788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NMOSD诊断与治疗</a:t>
            </a:r>
          </a:p>
        </p:txBody>
      </p:sp>
      <p:sp>
        <p:nvSpPr>
          <p:cNvPr id="44" name="2025 · 背面"/>
          <p:cNvSpPr txBox="1"/>
          <p:nvPr/>
        </p:nvSpPr>
        <p:spPr>
          <a:xfrm>
            <a:off x="226060" y="5749860"/>
            <a:ext cx="33278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2025 · 背面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2560" y="6067360"/>
            <a:ext cx="3454880" cy="70358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急性期：救治与升级"/>
          <p:cNvSpPr txBox="1"/>
          <p:nvPr/>
        </p:nvSpPr>
        <p:spPr>
          <a:xfrm>
            <a:off x="264160" y="61054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急性期：救治与升级</a:t>
            </a:r>
          </a:p>
        </p:txBody>
      </p:sp>
      <p:sp>
        <p:nvSpPr>
          <p:cNvPr id="47" name="成人IVMP 1 g/d静滴×3–5 d后依原文递减；最初几天反应差或严重视神经炎，尽早血液净化。急"/>
          <p:cNvSpPr txBox="1"/>
          <p:nvPr/>
        </p:nvSpPr>
        <p:spPr>
          <a:xfrm>
            <a:off x="264160" y="625786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成人IVMP 1 g/d静滴×3–5 d后依原文递减；最初几天反应差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或严重视神经炎，尽早血液净化。急性视神经炎不推荐IVIG。</a:t>
            </a:r>
          </a:p>
        </p:txBody>
      </p:sp>
      <p:sp>
        <p:nvSpPr>
          <p:cNvPr id="48" name="2025 p694"/>
          <p:cNvSpPr txBox="1"/>
          <p:nvPr/>
        </p:nvSpPr>
        <p:spPr>
          <a:xfrm>
            <a:off x="264160" y="65779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 p694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2560" y="682174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尽早预防复发"/>
          <p:cNvSpPr txBox="1"/>
          <p:nvPr/>
        </p:nvSpPr>
        <p:spPr>
          <a:xfrm>
            <a:off x="264160" y="68598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尽早预防复发</a:t>
            </a:r>
          </a:p>
        </p:txBody>
      </p:sp>
      <p:sp>
        <p:nvSpPr>
          <p:cNvPr id="51" name="AQP4阳性确诊即长期序贯；阴性第1次严重/第2次发作后考虑。萨特利珠120 mg皮下，第0、2、4"/>
          <p:cNvSpPr txBox="1"/>
          <p:nvPr/>
        </p:nvSpPr>
        <p:spPr>
          <a:xfrm>
            <a:off x="264160" y="701224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AQP4阳性确诊即长期序贯；阴性第1次严重/第2次发作后考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虑。萨特利珠120 mg皮下，第0、2、4周，后每4周；其他给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药见提取表。</a:t>
            </a:r>
          </a:p>
        </p:txBody>
      </p:sp>
      <p:sp>
        <p:nvSpPr>
          <p:cNvPr id="52" name="2025 p691、694、696–698"/>
          <p:cNvSpPr txBox="1"/>
          <p:nvPr/>
        </p:nvSpPr>
        <p:spPr>
          <a:xfrm>
            <a:off x="264160" y="74796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 p691、694、696–698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62560" y="772344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治疗安全与妊娠"/>
          <p:cNvSpPr txBox="1"/>
          <p:nvPr/>
        </p:nvSpPr>
        <p:spPr>
          <a:xfrm>
            <a:off x="264160" y="77615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治疗安全与妊娠</a:t>
            </a:r>
          </a:p>
        </p:txBody>
      </p:sp>
      <p:sp>
        <p:nvSpPr>
          <p:cNvPr id="55" name="相关单抗前筛HBV/结核；依库珠首剂前2周接种脑膜炎球菌疫苗。育龄避MMF；不要只因计划怀孕自行停药"/>
          <p:cNvSpPr txBox="1"/>
          <p:nvPr/>
        </p:nvSpPr>
        <p:spPr>
          <a:xfrm>
            <a:off x="264160" y="791394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相关单抗前筛HBV/结核；依库珠首剂前2周接种脑膜炎球菌疫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苗。育龄避MMF；不要只因计划怀孕自行停药，稳定期计划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并协作管理。</a:t>
            </a:r>
          </a:p>
        </p:txBody>
      </p:sp>
      <p:sp>
        <p:nvSpPr>
          <p:cNvPr id="56" name="2025 p695–696、698"/>
          <p:cNvSpPr txBox="1"/>
          <p:nvPr/>
        </p:nvSpPr>
        <p:spPr>
          <a:xfrm>
            <a:off x="264160" y="83813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 p695–696、698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62560" y="862514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随访与用药禁忌"/>
          <p:cNvSpPr txBox="1"/>
          <p:nvPr/>
        </p:nvSpPr>
        <p:spPr>
          <a:xfrm>
            <a:off x="264160" y="86632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随访与用药禁忌</a:t>
            </a:r>
          </a:p>
        </p:txBody>
      </p:sp>
      <p:sp>
        <p:nvSpPr>
          <p:cNvPr id="59" name="EDSS每3–6个月；MRI/AQP4每6–12个月。不推荐β-干扰素、那他珠、芬戈莫德、阿伦单抗、"/>
          <p:cNvSpPr txBox="1"/>
          <p:nvPr/>
        </p:nvSpPr>
        <p:spPr>
          <a:xfrm>
            <a:off x="264160" y="881564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EDSS每3–6个月；MRI/AQP4每6–12个月。不推荐β-干扰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素、那他珠、芬戈莫德、阿伦单抗、富马酸二甲酯用于AQP4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阳性。</a:t>
            </a:r>
          </a:p>
        </p:txBody>
      </p:sp>
      <p:sp>
        <p:nvSpPr>
          <p:cNvPr id="60" name="2025 p694、698"/>
          <p:cNvSpPr txBox="1"/>
          <p:nvPr/>
        </p:nvSpPr>
        <p:spPr>
          <a:xfrm>
            <a:off x="264160" y="92830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 p694、698</a:t>
            </a:r>
          </a:p>
        </p:txBody>
      </p:sp>
      <p:sp>
        <p:nvSpPr>
          <p:cNvPr id="61" name="临床要点摘要；完整条件与原文缺项见提取表。&#10;100%原尺寸 · 双面长边翻转"/>
          <p:cNvSpPr txBox="1"/>
          <p:nvPr/>
        </p:nvSpPr>
        <p:spPr>
          <a:xfrm>
            <a:off x="187960" y="10226960"/>
            <a:ext cx="340408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临床要点摘要；完整条件与原文缺项见提取表。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29860" y="5495860"/>
            <a:ext cx="3480280" cy="5207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NMOSD诊断与治疗"/>
          <p:cNvSpPr txBox="1"/>
          <p:nvPr/>
        </p:nvSpPr>
        <p:spPr>
          <a:xfrm>
            <a:off x="4006060" y="5533960"/>
            <a:ext cx="332788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NMOSD诊断与治疗</a:t>
            </a:r>
          </a:p>
        </p:txBody>
      </p:sp>
      <p:sp>
        <p:nvSpPr>
          <p:cNvPr id="64" name="2025 · 背面"/>
          <p:cNvSpPr txBox="1"/>
          <p:nvPr/>
        </p:nvSpPr>
        <p:spPr>
          <a:xfrm>
            <a:off x="4006060" y="5749860"/>
            <a:ext cx="33278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2025 · 背面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942560" y="6067360"/>
            <a:ext cx="3454880" cy="70358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急性期：救治与升级"/>
          <p:cNvSpPr txBox="1"/>
          <p:nvPr/>
        </p:nvSpPr>
        <p:spPr>
          <a:xfrm>
            <a:off x="4044160" y="610546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急性期：救治与升级</a:t>
            </a:r>
          </a:p>
        </p:txBody>
      </p:sp>
      <p:sp>
        <p:nvSpPr>
          <p:cNvPr id="67" name="成人IVMP 1 g/d静滴×3–5 d后依原文递减；最初几天反应差或严重视神经炎，尽早血液净化。急"/>
          <p:cNvSpPr txBox="1"/>
          <p:nvPr/>
        </p:nvSpPr>
        <p:spPr>
          <a:xfrm>
            <a:off x="4044160" y="6257860"/>
            <a:ext cx="325168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成人IVMP 1 g/d静滴×3–5 d后依原文递减；最初几天反应差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或严重视神经炎，尽早血液净化。急性视神经炎不推荐IVIG。</a:t>
            </a:r>
          </a:p>
        </p:txBody>
      </p:sp>
      <p:sp>
        <p:nvSpPr>
          <p:cNvPr id="68" name="2025 p694"/>
          <p:cNvSpPr txBox="1"/>
          <p:nvPr/>
        </p:nvSpPr>
        <p:spPr>
          <a:xfrm>
            <a:off x="4044160" y="65779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 p694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942560" y="682174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尽早预防复发"/>
          <p:cNvSpPr txBox="1"/>
          <p:nvPr/>
        </p:nvSpPr>
        <p:spPr>
          <a:xfrm>
            <a:off x="4044160" y="68598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尽早预防复发</a:t>
            </a:r>
          </a:p>
        </p:txBody>
      </p:sp>
      <p:sp>
        <p:nvSpPr>
          <p:cNvPr id="71" name="AQP4阳性确诊即长期序贯；阴性第1次严重/第2次发作后考虑。萨特利珠120 mg皮下，第0、2、4"/>
          <p:cNvSpPr txBox="1"/>
          <p:nvPr/>
        </p:nvSpPr>
        <p:spPr>
          <a:xfrm>
            <a:off x="4044160" y="701224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AQP4阳性确诊即长期序贯；阴性第1次严重/第2次发作后考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虑。萨特利珠120 mg皮下，第0、2、4周，后每4周；其他给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药见提取表。</a:t>
            </a:r>
          </a:p>
        </p:txBody>
      </p:sp>
      <p:sp>
        <p:nvSpPr>
          <p:cNvPr id="72" name="2025 p691、694、696–698"/>
          <p:cNvSpPr txBox="1"/>
          <p:nvPr/>
        </p:nvSpPr>
        <p:spPr>
          <a:xfrm>
            <a:off x="4044160" y="74796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 p691、694、696–698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942560" y="772344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治疗安全与妊娠"/>
          <p:cNvSpPr txBox="1"/>
          <p:nvPr/>
        </p:nvSpPr>
        <p:spPr>
          <a:xfrm>
            <a:off x="4044160" y="77615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治疗安全与妊娠</a:t>
            </a:r>
          </a:p>
        </p:txBody>
      </p:sp>
      <p:sp>
        <p:nvSpPr>
          <p:cNvPr id="75" name="相关单抗前筛HBV/结核；依库珠首剂前2周接种脑膜炎球菌疫苗。育龄避MMF；不要只因计划怀孕自行停药"/>
          <p:cNvSpPr txBox="1"/>
          <p:nvPr/>
        </p:nvSpPr>
        <p:spPr>
          <a:xfrm>
            <a:off x="4044160" y="791394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相关单抗前筛HBV/结核；依库珠首剂前2周接种脑膜炎球菌疫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苗。育龄避MMF；不要只因计划怀孕自行停药，稳定期计划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并协作管理。</a:t>
            </a:r>
          </a:p>
        </p:txBody>
      </p:sp>
      <p:sp>
        <p:nvSpPr>
          <p:cNvPr id="76" name="2025 p695–696、698"/>
          <p:cNvSpPr txBox="1"/>
          <p:nvPr/>
        </p:nvSpPr>
        <p:spPr>
          <a:xfrm>
            <a:off x="4044160" y="83813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 p695–696、698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942560" y="8625140"/>
            <a:ext cx="3454880" cy="850900"/>
          </a:xfrm>
          <a:prstGeom prst="rect">
            <a:avLst/>
          </a:prstGeom>
          <a:solidFill>
            <a:srgbClr val="FFFFFF"/>
          </a:solidFill>
          <a:ln w="762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随访与用药禁忌"/>
          <p:cNvSpPr txBox="1"/>
          <p:nvPr/>
        </p:nvSpPr>
        <p:spPr>
          <a:xfrm>
            <a:off x="4044160" y="8663240"/>
            <a:ext cx="325168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随访与用药禁忌</a:t>
            </a:r>
          </a:p>
        </p:txBody>
      </p:sp>
      <p:sp>
        <p:nvSpPr>
          <p:cNvPr id="79" name="EDSS每3–6个月；MRI/AQP4每6–12个月。不推荐β-干扰素、那他珠、芬戈莫德、阿伦单抗、"/>
          <p:cNvSpPr txBox="1"/>
          <p:nvPr/>
        </p:nvSpPr>
        <p:spPr>
          <a:xfrm>
            <a:off x="4044160" y="8815640"/>
            <a:ext cx="3251680" cy="505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EDSS每3–6个月；MRI/AQP4每6–12个月。不推荐β-干扰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素、那他珠、芬戈莫德、阿伦单抗、富马酸二甲酯用于AQP4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阳性。</a:t>
            </a:r>
          </a:p>
        </p:txBody>
      </p:sp>
      <p:sp>
        <p:nvSpPr>
          <p:cNvPr id="80" name="2025 p694、698"/>
          <p:cNvSpPr txBox="1"/>
          <p:nvPr/>
        </p:nvSpPr>
        <p:spPr>
          <a:xfrm>
            <a:off x="4044160" y="9283000"/>
            <a:ext cx="325168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2025 p694、698</a:t>
            </a:r>
          </a:p>
        </p:txBody>
      </p:sp>
      <p:sp>
        <p:nvSpPr>
          <p:cNvPr id="81" name="临床要点摘要；完整条件与原文缺项见提取表。&#10;100%原尺寸 · 双面长边翻转"/>
          <p:cNvSpPr txBox="1"/>
          <p:nvPr/>
        </p:nvSpPr>
        <p:spPr>
          <a:xfrm>
            <a:off x="3967960" y="10226960"/>
            <a:ext cx="340408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临床要点摘要；完整条件与原文缺项见提取表。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3780000" y="0"/>
            <a:ext cx="0" cy="1069200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0" y="18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0" y="5346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0" y="10674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NMOSD诊断与治疗 A4 bw</dc:title>
  <dc:subject>上传文献原文摘录；原生可编辑文字和图形</dc:subject>
  <dc:creator>临床指南速查资料整理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