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endothelium-03 特殊眼前节：周边基质混浊不影响光学或刮除上皮下组织后基质正常可考虑；前粘连&gt;全周1/3、虹膜缺损/萎缩/大瞳等慎重，先改善异常。</a:t>
            </a:r>
          </a:p>
          <a:p>
            <a:r>
              <a:t>来源：2024 刊p114 / PDF2；类别：风险评估；推荐等级：原文未明确。</a:t>
            </a:r>
          </a:p>
          <a:p>
            <a:r>
              <a:t>原文锚点：人工晶状体植入术后再行角膜内皮移植术，不建议对晶状体‑虹膜隔不完整者行角膜内皮移植术。3.虹膜异常，如前粘连范围超过全周1/3、虹膜角膜内皮综合征、虹膜缺损、虹膜萎缩和瞳孔扩大等，是行角膜内皮移植术的主要障碍，选择角膜内皮移植术应慎重。程度较轻或术前、术中可有效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endothelium-07 术者条件：建议副主任及以上，常规角膜移植50台或以上；开展DMEK前熟练DSEK并有30例或以上经验；制片培训成功率≥90%。</a:t>
            </a:r>
          </a:p>
          <a:p>
            <a:r>
              <a:t>来源：2024 刊p114–115 / PDF2–3；类别：质量管理；推荐等级：原文未明确。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C₃F₈固定；气少/吸收快增脱离，过多致瞳孔阻滞。复杂DSEK可黏弹剂，DMEK不能使用黏弹剂固定植片。</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endothelium-13 方向与脱出异常：植片反向必致失败/脱离，术中及时矫正；植片脱出前房应防高眼压、按规范处理，不以观察替代矫正。</a:t>
            </a:r>
          </a:p>
          <a:p>
            <a:r>
              <a:t>来源：2024 刊p116 / PDF4；类别：并发症；推荐等级：原文未明确。</a:t>
            </a:r>
          </a:p>
          <a:p>
            <a:r>
              <a:t>原文锚点：透性角膜移植术类似［22］。部分并发症是角膜内皮移植术特有，应遵循特殊的预防和处理原则。（一）术中并发症1.角膜内皮植片反向：即植片处于内皮面向上的状态。术前应对植片进行标记，可防止术中植片反向。植片反向必然导致手术失败和（或）植片脱离，必须在术中进行及时矫正。2.角膜内皮植片脱出前房：在DSEK或DMEK更常见。术中，植片可经主切口脱出前房，DMEK术中降低眼压是防止植片脱出前房的关键。采用标准化操作可有效防止该并发症。前房注气困难：通常出现在眼前节异常患3.者，如周边虹膜前粘连、虹膜萎缩、瞳孔扩大、晶状</a:t>
            </a:r>
          </a:p>
          <a:p/>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endothelium-16 阻滞性青光眼：推荐6点钟方位周边虹膜切除防阻滞；术后早期2~6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术后检查：第1天气体填大部前房但坐位避开6点钟方位虹膜切除口；可疑脱离及时前节OCT；透明后尽早内皮计数并定期复查。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endothelium-19 其他并发症：DSEK可有0.80~1.20 D远视倾向；疑层间感染尤其真菌，尽早活体共焦检查；排斥/衰竭等按对应原则处理。</a:t>
            </a:r>
          </a:p>
          <a:p>
            <a:r>
              <a:t>来源：2024 刊p117 / PDF5；类别：并发症；推荐等级：原文未明确。</a:t>
            </a:r>
          </a:p>
          <a:p>
            <a:r>
              <a:t>原文锚点：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关。对可疑者应尽早使用活体共聚焦显微镜进行检查以助诊断。六、术后管理和随访术后限制活动并避免眼部受到挤压，对角膜内内保持前房内填皮植片贴附非常重要。术后24h充足够的气体，可有效降低植片脱离率。天理想的状态是气体填充大</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endothelium-03 特殊眼前节：周边基质混浊不影响光学或刮除上皮下组织后基质正常可考虑；前粘连&gt;全周1/3、虹膜缺损/萎缩/大瞳等慎重，先改善异常。</a:t>
            </a:r>
          </a:p>
          <a:p>
            <a:r>
              <a:t>来源：2024 刊p114 / PDF2；类别：风险评估；推荐等级：原文未明确。</a:t>
            </a:r>
          </a:p>
          <a:p>
            <a:r>
              <a:t>原文锚点：人工晶状体植入术后再行角膜内皮移植术，不建议对晶状体‑虹膜隔不完整者行角膜内皮移植术。3.虹膜异常，如前粘连范围超过全周1/3、虹膜角膜内皮综合征、虹膜缺损、虹膜萎缩和瞳孔扩大等，是行角膜内皮移植术的主要障碍，选择角膜内皮移植术应慎重。程度较轻或术前、术中可有效改</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C₃F₈固定；气少/吸收快增脱离，过多致瞳孔阻滞。复杂DSEK可黏弹剂，DMEK不能使用黏弹剂固定植片。</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a:p/>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阻滞性青光眼：推荐6点钟方位周边虹膜切除防阻滞；术后早期2~6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术后检查：第1天气体填大部前房但坐位避开6点钟方位虹膜切除口；可疑脱离及时前节OCT；透明后尽早内皮计数并定期复查。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入选、禁忌与风险评估"/>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入选、禁忌与风险评估</a:t>
            </a:r>
          </a:p>
        </p:txBody>
      </p:sp>
      <p:sp>
        <p:nvSpPr>
          <p:cNvPr id="4" name="01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适应证"/>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适应证</a:t>
            </a:r>
          </a:p>
        </p:txBody>
      </p:sp>
      <p:sp>
        <p:nvSpPr>
          <p:cNvPr id="9" name="各种原因角膜内皮功能失代偿，角膜基质相对正常。明显视轴区基质混浊/瘢痕不宜；正常内皮的角膜病变不是本"/>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各种原因角膜内皮功能失代偿，角膜基质相对正常。明显视轴区基质混浊/瘢痕不宜；正常内皮的角膜</a:t>
            </a:r>
          </a:p>
          <a:p>
            <a:pPr>
              <a:lnSpc>
                <a:spcPts val="2120"/>
              </a:lnSpc>
              <a:spcBef>
                <a:spcPts val="0"/>
              </a:spcBef>
              <a:spcAft>
                <a:spcPts val="0"/>
              </a:spcAft>
            </a:pPr>
            <a:r>
              <a:rPr sz="1700" b="0" lang="zh-CN">
                <a:solidFill>
                  <a:srgbClr val="1E2E3B"/>
                </a:solidFill>
                <a:latin typeface="Microsoft YaHei"/>
                <a:ea typeface="Microsoft YaHei"/>
                <a:cs typeface="Microsoft YaHei"/>
              </a:rPr>
              <a:t>病变不是本术式指征。</a:t>
            </a:r>
          </a:p>
        </p:txBody>
      </p:sp>
      <p:sp>
        <p:nvSpPr>
          <p:cNvPr id="10" name="2024 刊p114 /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 / PDF2</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禁忌与相对禁忌"/>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禁忌与相对禁忌</a:t>
            </a:r>
          </a:p>
        </p:txBody>
      </p:sp>
      <p:sp>
        <p:nvSpPr>
          <p:cNvPr id="14" name="急性病毒性内皮炎等眼内活动炎症引起失代偿禁忌；明显低眼压为相对禁忌。晶状体-虹膜隔不完整不建议直接做"/>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急性病毒性内皮炎等眼内活动炎症引起失代偿禁忌；明显低眼压为相对禁忌。晶状体-虹膜隔不完整不</a:t>
            </a:r>
          </a:p>
          <a:p>
            <a:pPr>
              <a:lnSpc>
                <a:spcPts val="2120"/>
              </a:lnSpc>
              <a:spcBef>
                <a:spcPts val="0"/>
              </a:spcBef>
              <a:spcAft>
                <a:spcPts val="0"/>
              </a:spcAft>
            </a:pPr>
            <a:r>
              <a:rPr sz="1700" b="0" lang="zh-CN">
                <a:solidFill>
                  <a:srgbClr val="1E2E3B"/>
                </a:solidFill>
                <a:latin typeface="Microsoft YaHei"/>
                <a:ea typeface="Microsoft YaHei"/>
                <a:cs typeface="Microsoft YaHei"/>
              </a:rPr>
              <a:t>建议直接做，需重建。</a:t>
            </a:r>
          </a:p>
        </p:txBody>
      </p:sp>
      <p:sp>
        <p:nvSpPr>
          <p:cNvPr id="15" name="2024 刊p114 / PDF2"/>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 / PDF2</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眼前节"/>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特殊眼前节</a:t>
            </a:r>
          </a:p>
        </p:txBody>
      </p:sp>
      <p:sp>
        <p:nvSpPr>
          <p:cNvPr id="19" name="周边基质混浊不影响光学或刮除上皮下组织后基质正常可考虑；前粘连&gt;全周1/3、虹膜缺损/萎缩/大瞳等慎"/>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周边基质混浊不影响光学或刮除上皮下组织后基质正常可考虑；前粘连&gt;全周1/3、虹膜缺损/萎缩/大瞳</a:t>
            </a:r>
          </a:p>
          <a:p>
            <a:pPr>
              <a:lnSpc>
                <a:spcPts val="2120"/>
              </a:lnSpc>
              <a:spcBef>
                <a:spcPts val="0"/>
              </a:spcBef>
              <a:spcAft>
                <a:spcPts val="0"/>
              </a:spcAft>
            </a:pPr>
            <a:r>
              <a:rPr sz="1700" b="0" lang="zh-CN">
                <a:solidFill>
                  <a:srgbClr val="1E2E3B"/>
                </a:solidFill>
                <a:latin typeface="Microsoft YaHei"/>
                <a:ea typeface="Microsoft YaHei"/>
                <a:cs typeface="Microsoft YaHei"/>
              </a:rPr>
              <a:t>等慎重，先改善异常。</a:t>
            </a:r>
          </a:p>
        </p:txBody>
      </p:sp>
      <p:sp>
        <p:nvSpPr>
          <p:cNvPr id="20" name="2024 刊p114 / PDF2"/>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 / PDF2</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DMEK或DSEK：怎么选"/>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DMEK或DSEK：怎么选</a:t>
            </a:r>
          </a:p>
        </p:txBody>
      </p:sp>
      <p:sp>
        <p:nvSpPr>
          <p:cNvPr id="4" name="02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DMEK选择"/>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DMEK选择</a:t>
            </a:r>
          </a:p>
        </p:txBody>
      </p:sp>
      <p:sp>
        <p:nvSpPr>
          <p:cNvPr id="9" name="眼条件较好：内皮营养不良、前房/虹膜/瞳孔正常、IOL位置正常且后囊完整，轻中度Chandler等可"/>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眼条件较好：内皮营养不良、前房/虹膜/瞳孔正常、IOL位置正常且后囊完整，轻中度Chandler等可倾</a:t>
            </a:r>
          </a:p>
          <a:p>
            <a:pPr>
              <a:lnSpc>
                <a:spcPts val="2120"/>
              </a:lnSpc>
              <a:spcBef>
                <a:spcPts val="0"/>
              </a:spcBef>
              <a:spcAft>
                <a:spcPts val="0"/>
              </a:spcAft>
            </a:pPr>
            <a:r>
              <a:rPr sz="1700" b="0" lang="zh-CN">
                <a:solidFill>
                  <a:srgbClr val="1E2E3B"/>
                </a:solidFill>
                <a:latin typeface="Microsoft YaHei"/>
                <a:ea typeface="Microsoft YaHei"/>
                <a:cs typeface="Microsoft YaHei"/>
              </a:rPr>
              <a:t>向DMEK。</a:t>
            </a:r>
          </a:p>
        </p:txBody>
      </p:sp>
      <p:sp>
        <p:nvSpPr>
          <p:cNvPr id="10" name="2024 刊p115 / PDF3"/>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刊p115 / PDF3</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DSEK选择"/>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DSEK选择</a:t>
            </a:r>
          </a:p>
        </p:txBody>
      </p:sp>
      <p:sp>
        <p:nvSpPr>
          <p:cNvPr id="14" name="眼条件差：前房/虹膜/瞳孔中重异常、后囊不完整（需固定）、有引流阀、重度虹膜异常、可见度差或儿童，倾"/>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眼条件差：前房/虹膜/瞳孔中重异常、后囊不完整（需固定）、有引流阀、重度虹膜异常、可见度差或</a:t>
            </a:r>
          </a:p>
          <a:p>
            <a:pPr>
              <a:lnSpc>
                <a:spcPts val="2120"/>
              </a:lnSpc>
              <a:spcBef>
                <a:spcPts val="0"/>
              </a:spcBef>
              <a:spcAft>
                <a:spcPts val="0"/>
              </a:spcAft>
            </a:pPr>
            <a:r>
              <a:rPr sz="1700" b="0" lang="zh-CN">
                <a:solidFill>
                  <a:srgbClr val="1E2E3B"/>
                </a:solidFill>
                <a:latin typeface="Microsoft YaHei"/>
                <a:ea typeface="Microsoft YaHei"/>
                <a:cs typeface="Microsoft YaHei"/>
              </a:rPr>
              <a:t>儿童，倾向DSEK。</a:t>
            </a:r>
          </a:p>
        </p:txBody>
      </p:sp>
      <p:sp>
        <p:nvSpPr>
          <p:cNvPr id="15" name="2024 刊p115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刊p115 / PDF3</a:t>
            </a:r>
          </a:p>
        </p:txBody>
      </p:sp>
      <p:sp>
        <p:nvSpPr>
          <p:cNvPr id="16" name="Rectangle 15"/>
          <p:cNvSpPr/>
          <p:nvPr/>
        </p:nvSpPr>
        <p:spPr>
          <a:xfrm>
            <a:off x="444500" y="4754033"/>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术前检查及炎症控制"/>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术前检查及炎症控制</a:t>
            </a:r>
          </a:p>
        </p:txBody>
      </p:sp>
      <p:sp>
        <p:nvSpPr>
          <p:cNvPr id="19" name="病史、视力/眼压/前后节、内皮计数、前节OCT/UBM及按需A/B超/功能检查；青光眼先控压，炎症控"/>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病史、视力/眼压/前后节、内皮计数、前节OCT/UBM及按需A/B超/功能检查；青光眼先控压，炎症控</a:t>
            </a:r>
          </a:p>
          <a:p>
            <a:pPr>
              <a:lnSpc>
                <a:spcPts val="2120"/>
              </a:lnSpc>
              <a:spcBef>
                <a:spcPts val="0"/>
              </a:spcBef>
              <a:spcAft>
                <a:spcPts val="0"/>
              </a:spcAft>
            </a:pPr>
            <a:r>
              <a:rPr sz="1700" b="0" lang="zh-CN">
                <a:solidFill>
                  <a:srgbClr val="1E2E3B"/>
                </a:solidFill>
                <a:latin typeface="Microsoft YaHei"/>
                <a:ea typeface="Microsoft YaHei"/>
                <a:cs typeface="Microsoft YaHei"/>
              </a:rPr>
              <a:t>制至少3个月后再考虑。</a:t>
            </a:r>
          </a:p>
        </p:txBody>
      </p:sp>
      <p:sp>
        <p:nvSpPr>
          <p:cNvPr id="20" name="2024 刊p115 / PDF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刊p115 / PDF3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术者、供体与植片参数"/>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术者、供体与植片参数</a:t>
            </a:r>
          </a:p>
        </p:txBody>
      </p:sp>
      <p:sp>
        <p:nvSpPr>
          <p:cNvPr id="4" name="03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术者条件"/>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术者条件</a:t>
            </a:r>
          </a:p>
        </p:txBody>
      </p:sp>
      <p:sp>
        <p:nvSpPr>
          <p:cNvPr id="9" name="建议副主任及以上，常规角膜移植50台或以上；开展DMEK前熟练DSEK并有30例或以上经验；制片培训"/>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建议副主任及以上，常规角膜移植50台或以上；开展DMEK前熟练DSEK并有30例或以上经验；制片培</a:t>
            </a:r>
          </a:p>
          <a:p>
            <a:pPr>
              <a:lnSpc>
                <a:spcPts val="2120"/>
              </a:lnSpc>
              <a:spcBef>
                <a:spcPts val="0"/>
              </a:spcBef>
              <a:spcAft>
                <a:spcPts val="0"/>
              </a:spcAft>
            </a:pPr>
            <a:r>
              <a:rPr sz="1700" b="0" lang="zh-CN">
                <a:solidFill>
                  <a:srgbClr val="1E2E3B"/>
                </a:solidFill>
                <a:latin typeface="Microsoft YaHei"/>
                <a:ea typeface="Microsoft YaHei"/>
                <a:cs typeface="Microsoft YaHei"/>
              </a:rPr>
              <a:t>训成功率≥90%。</a:t>
            </a:r>
          </a:p>
        </p:txBody>
      </p:sp>
      <p:sp>
        <p:nvSpPr>
          <p:cNvPr id="10" name="2024 刊p114–115 / PDF2–3"/>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刊p114–115 / PDF2–3</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植片制备与厚度"/>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植片制备与厚度</a:t>
            </a:r>
          </a:p>
        </p:txBody>
      </p:sp>
      <p:sp>
        <p:nvSpPr>
          <p:cNvPr id="14" name="不推荐手工DSEK，推荐微型板层刀/飞秒制DSAEK；DSEK厚100~150 μm，&lt;100 μm"/>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不推荐手工DSEK，推荐微型板层刀/飞秒制DSAEK；DSEK厚100~150 μm，&lt;100 μm为超薄；建议植</a:t>
            </a:r>
          </a:p>
          <a:p>
            <a:pPr>
              <a:lnSpc>
                <a:spcPts val="2120"/>
              </a:lnSpc>
              <a:spcBef>
                <a:spcPts val="0"/>
              </a:spcBef>
              <a:spcAft>
                <a:spcPts val="0"/>
              </a:spcAft>
            </a:pPr>
            <a:r>
              <a:rPr sz="1700" b="0" lang="zh-CN">
                <a:solidFill>
                  <a:srgbClr val="1E2E3B"/>
                </a:solidFill>
                <a:latin typeface="Microsoft YaHei"/>
                <a:ea typeface="Microsoft YaHei"/>
                <a:cs typeface="Microsoft YaHei"/>
              </a:rPr>
              <a:t>片直径7.75~8.00 mm。</a:t>
            </a:r>
          </a:p>
        </p:txBody>
      </p:sp>
      <p:sp>
        <p:nvSpPr>
          <p:cNvPr id="15" name="2024 刊p115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刊p115 / PDF3</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供体标准"/>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供体标准</a:t>
            </a:r>
          </a:p>
        </p:txBody>
      </p:sp>
      <p:sp>
        <p:nvSpPr>
          <p:cNvPr id="19" name="供体内皮不低于2 500个/mm²；DSEK/DSAEK年龄≥10岁，DMEK≥50岁，经验丰富术者"/>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供体内皮不低于2 500个/mm²；DSEK/DSAEK年龄≥10岁，DMEK≥50岁，经验丰富术者可放宽年</a:t>
            </a:r>
          </a:p>
          <a:p>
            <a:pPr>
              <a:lnSpc>
                <a:spcPts val="2120"/>
              </a:lnSpc>
              <a:spcBef>
                <a:spcPts val="0"/>
              </a:spcBef>
              <a:spcAft>
                <a:spcPts val="0"/>
              </a:spcAft>
            </a:pPr>
            <a:r>
              <a:rPr sz="1700" b="0" lang="zh-CN">
                <a:solidFill>
                  <a:srgbClr val="1E2E3B"/>
                </a:solidFill>
                <a:latin typeface="Microsoft YaHei"/>
                <a:ea typeface="Microsoft YaHei"/>
                <a:cs typeface="Microsoft YaHei"/>
              </a:rPr>
              <a:t>龄。较年轻供体卷曲难展开。</a:t>
            </a:r>
          </a:p>
        </p:txBody>
      </p:sp>
      <p:sp>
        <p:nvSpPr>
          <p:cNvPr id="20" name="2024 刊p116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受体准备、展平与固定"/>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受体准备、展平与固定</a:t>
            </a:r>
          </a:p>
        </p:txBody>
      </p:sp>
      <p:sp>
        <p:nvSpPr>
          <p:cNvPr id="4" name="04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受体准备"/>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受体准备</a:t>
            </a:r>
          </a:p>
        </p:txBody>
      </p:sp>
      <p:sp>
        <p:nvSpPr>
          <p:cNvPr id="9" name="建议剥除病变后弹力层/内皮；术中周边虹膜切除或术前激光虹膜切除，防气体瞳孔阻滞；按需重建晶状体-虹膜"/>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建议剥除病变后弹力层/内皮；术中周边虹膜切除或术前激光虹膜切除，防气体瞳孔阻滞；按需重建晶</a:t>
            </a:r>
          </a:p>
          <a:p>
            <a:pPr>
              <a:lnSpc>
                <a:spcPts val="2120"/>
              </a:lnSpc>
              <a:spcBef>
                <a:spcPts val="0"/>
              </a:spcBef>
              <a:spcAft>
                <a:spcPts val="0"/>
              </a:spcAft>
            </a:pPr>
            <a:r>
              <a:rPr sz="1700" b="0" lang="zh-CN">
                <a:solidFill>
                  <a:srgbClr val="1E2E3B"/>
                </a:solidFill>
                <a:latin typeface="Microsoft YaHei"/>
                <a:ea typeface="Microsoft YaHei"/>
                <a:cs typeface="Microsoft YaHei"/>
              </a:rPr>
              <a:t>状体-虹膜隔/处理粘连或阀。</a:t>
            </a:r>
          </a:p>
        </p:txBody>
      </p:sp>
      <p:sp>
        <p:nvSpPr>
          <p:cNvPr id="10" name="2024 刊p116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11" name="Rectangle 10"/>
          <p:cNvSpPr/>
          <p:nvPr/>
        </p:nvSpPr>
        <p:spPr>
          <a:xfrm>
            <a:off x="444500" y="3069166"/>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展平与方向"/>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展平与方向</a:t>
            </a:r>
          </a:p>
        </p:txBody>
      </p:sp>
      <p:sp>
        <p:nvSpPr>
          <p:cNvPr id="14" name="尽量非接触减少内皮损伤；S/F标记辨方向、按条件术中OCT；DSEK较深前房助展开，DMEK较浅前房"/>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尽量非接触减少内皮损伤；S/F标记辨方向、按条件术中OCT；DSEK较深前房助展开，DMEK较浅前房</a:t>
            </a:r>
          </a:p>
          <a:p>
            <a:pPr>
              <a:lnSpc>
                <a:spcPts val="2120"/>
              </a:lnSpc>
              <a:spcBef>
                <a:spcPts val="0"/>
              </a:spcBef>
              <a:spcAft>
                <a:spcPts val="0"/>
              </a:spcAft>
            </a:pPr>
            <a:r>
              <a:rPr sz="1700" b="0" lang="zh-CN">
                <a:solidFill>
                  <a:srgbClr val="1E2E3B"/>
                </a:solidFill>
                <a:latin typeface="Microsoft YaHei"/>
                <a:ea typeface="Microsoft YaHei"/>
                <a:cs typeface="Microsoft YaHei"/>
              </a:rPr>
              <a:t>借液流/气流和表面敲击。</a:t>
            </a:r>
          </a:p>
        </p:txBody>
      </p:sp>
      <p:sp>
        <p:nvSpPr>
          <p:cNvPr id="15" name="2024 刊p116 / PDF4"/>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气体固定"/>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气体固定</a:t>
            </a:r>
          </a:p>
        </p:txBody>
      </p:sp>
      <p:sp>
        <p:nvSpPr>
          <p:cNvPr id="19" name="过滤空气或10%~14% C₃F₈固定；气少/吸收快增脱离，过多致瞳孔阻滞。复杂DSEK可黏弹剂，D"/>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过滤空气或10%~14% C</a:t>
            </a:r>
            <a:r>
              <a:rPr sz="1700" b="0" lang="zh-CN">
                <a:solidFill>
                  <a:srgbClr val="1E2E3B"/>
                </a:solidFill>
                <a:latin typeface="Arial"/>
                <a:ea typeface="Arial"/>
                <a:cs typeface="Arial"/>
              </a:rPr>
              <a:t>₃</a:t>
            </a:r>
            <a:r>
              <a:rPr sz="1700" b="0" lang="zh-CN">
                <a:solidFill>
                  <a:srgbClr val="1E2E3B"/>
                </a:solidFill>
                <a:latin typeface="Microsoft YaHei"/>
                <a:ea typeface="Microsoft YaHei"/>
                <a:cs typeface="Microsoft YaHei"/>
              </a:rPr>
              <a:t>F</a:t>
            </a:r>
            <a:r>
              <a:rPr sz="1700" b="0" lang="zh-CN">
                <a:solidFill>
                  <a:srgbClr val="1E2E3B"/>
                </a:solidFill>
                <a:latin typeface="Arial"/>
                <a:ea typeface="Arial"/>
                <a:cs typeface="Arial"/>
              </a:rPr>
              <a:t>₈</a:t>
            </a:r>
            <a:r>
              <a:rPr sz="1700" b="0" lang="zh-CN">
                <a:solidFill>
                  <a:srgbClr val="1E2E3B"/>
                </a:solidFill>
                <a:latin typeface="Microsoft YaHei"/>
                <a:ea typeface="Microsoft YaHei"/>
                <a:cs typeface="Microsoft YaHei"/>
              </a:rPr>
              <a:t>固定；气少/吸收快增脱离，过多致瞳孔阻滞。复杂DSEK可黏弹剂，DMEK</a:t>
            </a:r>
          </a:p>
          <a:p>
            <a:pPr>
              <a:lnSpc>
                <a:spcPts val="2120"/>
              </a:lnSpc>
              <a:spcBef>
                <a:spcPts val="0"/>
              </a:spcBef>
              <a:spcAft>
                <a:spcPts val="0"/>
              </a:spcAft>
            </a:pPr>
            <a:r>
              <a:rPr sz="1700" b="0" lang="zh-CN">
                <a:solidFill>
                  <a:srgbClr val="1E2E3B"/>
                </a:solidFill>
                <a:latin typeface="Microsoft YaHei"/>
                <a:ea typeface="Microsoft YaHei"/>
                <a:cs typeface="Microsoft YaHei"/>
              </a:rPr>
              <a:t>不能使用黏弹剂固定植片。</a:t>
            </a:r>
          </a:p>
        </p:txBody>
      </p:sp>
      <p:sp>
        <p:nvSpPr>
          <p:cNvPr id="20" name="2024 刊p116 / PDF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植片脱离：阈值与下一步"/>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植片脱离：阈值与下一步</a:t>
            </a:r>
          </a:p>
        </p:txBody>
      </p:sp>
      <p:sp>
        <p:nvSpPr>
          <p:cNvPr id="4" name="05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方向与脱出异常"/>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方向与脱出异常</a:t>
            </a:r>
          </a:p>
        </p:txBody>
      </p:sp>
      <p:sp>
        <p:nvSpPr>
          <p:cNvPr id="9" name="植片反向必致失败/脱离，术中及时矫正；植片脱出前房应防高眼压、按规范处理，不以观察替代矫正。"/>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植片反向必致失败/脱离，术中及时矫正；植片脱出前房应防高眼压、按规范处理，不以观察替代矫</a:t>
            </a:r>
          </a:p>
          <a:p>
            <a:pPr>
              <a:lnSpc>
                <a:spcPts val="2120"/>
              </a:lnSpc>
              <a:spcBef>
                <a:spcPts val="0"/>
              </a:spcBef>
              <a:spcAft>
                <a:spcPts val="0"/>
              </a:spcAft>
            </a:pPr>
            <a:r>
              <a:rPr sz="1700" b="0" lang="zh-CN">
                <a:solidFill>
                  <a:srgbClr val="1E2E3B"/>
                </a:solidFill>
                <a:latin typeface="Microsoft YaHei"/>
                <a:ea typeface="Microsoft YaHei"/>
                <a:cs typeface="Microsoft YaHei"/>
              </a:rPr>
              <a:t>正。</a:t>
            </a:r>
          </a:p>
        </p:txBody>
      </p:sp>
      <p:sp>
        <p:nvSpPr>
          <p:cNvPr id="10" name="2024 刊p116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刊p116 / PDF4</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大范围脱离阈值"/>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大范围脱离阈值</a:t>
            </a:r>
          </a:p>
        </p:txBody>
      </p:sp>
      <p:sp>
        <p:nvSpPr>
          <p:cNvPr id="14" name="DSEK脱离超过1/3面积，DMEK超过1/4面积 → 再次前房注气。小于1/4可暂观；扩大或水肿不"/>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DSEK脱离超过1/3面积，DMEK超过1/4面积 → 再次前房注气。小于1/4可暂观；扩大或水肿不退也需</a:t>
            </a:r>
          </a:p>
          <a:p>
            <a:pPr>
              <a:lnSpc>
                <a:spcPts val="2120"/>
              </a:lnSpc>
              <a:spcBef>
                <a:spcPts val="0"/>
              </a:spcBef>
              <a:spcAft>
                <a:spcPts val="0"/>
              </a:spcAft>
            </a:pPr>
            <a:r>
              <a:rPr sz="1700" b="0" lang="zh-CN">
                <a:solidFill>
                  <a:srgbClr val="1E2E3B"/>
                </a:solidFill>
                <a:latin typeface="Microsoft YaHei"/>
                <a:ea typeface="Microsoft YaHei"/>
                <a:cs typeface="Microsoft YaHei"/>
              </a:rPr>
              <a:t>再注气。</a:t>
            </a:r>
          </a:p>
        </p:txBody>
      </p:sp>
      <p:sp>
        <p:nvSpPr>
          <p:cNvPr id="15" name="2024 刊p117 / PDF5"/>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16" name="Rectangle 15"/>
          <p:cNvSpPr/>
          <p:nvPr/>
        </p:nvSpPr>
        <p:spPr>
          <a:xfrm>
            <a:off x="444500" y="4754033"/>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阈值缺口"/>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阈值缺口</a:t>
            </a:r>
          </a:p>
        </p:txBody>
      </p:sp>
      <p:sp>
        <p:nvSpPr>
          <p:cNvPr id="19" name="DSEK脱离1/4至1/3、恰等于边界以及观察时长，原文未明确独立处置；结合范围进展、水肿及专业判断"/>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DSEK脱离1/4至1/3、恰等于边界以及观察时长，原文未明确独立处置；结合范围进展、水肿及专业判</a:t>
            </a:r>
          </a:p>
          <a:p>
            <a:pPr>
              <a:lnSpc>
                <a:spcPts val="2120"/>
              </a:lnSpc>
              <a:spcBef>
                <a:spcPts val="0"/>
              </a:spcBef>
              <a:spcAft>
                <a:spcPts val="0"/>
              </a:spcAft>
            </a:pPr>
            <a:r>
              <a:rPr sz="1700" b="0" lang="zh-CN">
                <a:solidFill>
                  <a:srgbClr val="1E2E3B"/>
                </a:solidFill>
                <a:latin typeface="Microsoft YaHei"/>
                <a:ea typeface="Microsoft YaHei"/>
                <a:cs typeface="Microsoft YaHei"/>
              </a:rPr>
              <a:t>断，不补造规则。</a:t>
            </a:r>
          </a:p>
        </p:txBody>
      </p:sp>
      <p:sp>
        <p:nvSpPr>
          <p:cNvPr id="20" name="2024 刊p117 / PDF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压、体位与术后监测"/>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眼压、体位与术后监测</a:t>
            </a:r>
          </a:p>
        </p:txBody>
      </p:sp>
      <p:sp>
        <p:nvSpPr>
          <p:cNvPr id="4" name="06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阻滞性青光眼"/>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阻滞性青光眼</a:t>
            </a:r>
          </a:p>
        </p:txBody>
      </p:sp>
      <p:sp>
        <p:nvSpPr>
          <p:cNvPr id="9" name="推荐6点钟方位周边虹膜切除防阻滞；术后早期2~6 h密切看眼压，必要时释过量前房气体，避免不可逆损伤"/>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推荐6点钟方位周边虹膜切除防阻滞；术后早期2~6 h密切看眼压，必要时释过量前房气体，避免不可</a:t>
            </a:r>
          </a:p>
          <a:p>
            <a:pPr>
              <a:lnSpc>
                <a:spcPts val="2120"/>
              </a:lnSpc>
              <a:spcBef>
                <a:spcPts val="0"/>
              </a:spcBef>
              <a:spcAft>
                <a:spcPts val="0"/>
              </a:spcAft>
            </a:pPr>
            <a:r>
              <a:rPr sz="1700" b="0" lang="zh-CN">
                <a:solidFill>
                  <a:srgbClr val="1E2E3B"/>
                </a:solidFill>
                <a:latin typeface="Microsoft YaHei"/>
                <a:ea typeface="Microsoft YaHei"/>
                <a:cs typeface="Microsoft YaHei"/>
              </a:rPr>
              <a:t>逆损伤。具体眼压数值切点未明确。</a:t>
            </a:r>
          </a:p>
        </p:txBody>
      </p:sp>
      <p:sp>
        <p:nvSpPr>
          <p:cNvPr id="10" name="2024 刊p117 / PDF5"/>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体位与测压"/>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体位与测压</a:t>
            </a:r>
          </a:p>
        </p:txBody>
      </p:sp>
      <p:sp>
        <p:nvSpPr>
          <p:cNvPr id="14" name="术后需仰卧面朝上、限制活动30~60 min；避免挤压/揉眼，24 h保持足够气体。术后2周内不建议"/>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术后需仰卧面朝上、限制活动30~60 min；避免挤压/揉眼，24 h保持足够气体。术后2周内不建议非接</a:t>
            </a:r>
          </a:p>
          <a:p>
            <a:pPr>
              <a:lnSpc>
                <a:spcPts val="2120"/>
              </a:lnSpc>
              <a:spcBef>
                <a:spcPts val="0"/>
              </a:spcBef>
              <a:spcAft>
                <a:spcPts val="0"/>
              </a:spcAft>
            </a:pPr>
            <a:r>
              <a:rPr sz="1700" b="0" lang="zh-CN">
                <a:solidFill>
                  <a:srgbClr val="1E2E3B"/>
                </a:solidFill>
                <a:latin typeface="Microsoft YaHei"/>
                <a:ea typeface="Microsoft YaHei"/>
                <a:cs typeface="Microsoft YaHei"/>
              </a:rPr>
              <a:t>触眼压计。</a:t>
            </a:r>
          </a:p>
        </p:txBody>
      </p:sp>
      <p:sp>
        <p:nvSpPr>
          <p:cNvPr id="15" name="2024 刊p114、117 / PDF2、5"/>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刊p114、117 / PDF2、5</a:t>
            </a:r>
          </a:p>
        </p:txBody>
      </p:sp>
      <p:sp>
        <p:nvSpPr>
          <p:cNvPr id="16" name="Rectangle 15"/>
          <p:cNvSpPr/>
          <p:nvPr/>
        </p:nvSpPr>
        <p:spPr>
          <a:xfrm>
            <a:off x="444500" y="4754033"/>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术后检查"/>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术后检查</a:t>
            </a:r>
          </a:p>
        </p:txBody>
      </p:sp>
      <p:sp>
        <p:nvSpPr>
          <p:cNvPr id="19" name="第1天气体填大部前房但坐位避开6点钟方位虹膜切除口；可疑脱离及时前节OCT；透明后尽早内皮计数并定期"/>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第1天气体填大部前房但坐位避开6点钟方位虹膜切除口；可疑脱离及时前节OCT；透明后尽早内皮计</a:t>
            </a:r>
          </a:p>
          <a:p>
            <a:pPr>
              <a:lnSpc>
                <a:spcPts val="2120"/>
              </a:lnSpc>
              <a:spcBef>
                <a:spcPts val="0"/>
              </a:spcBef>
              <a:spcAft>
                <a:spcPts val="0"/>
              </a:spcAft>
            </a:pPr>
            <a:r>
              <a:rPr sz="1700" b="0" lang="zh-CN">
                <a:solidFill>
                  <a:srgbClr val="1E2E3B"/>
                </a:solidFill>
                <a:latin typeface="Microsoft YaHei"/>
                <a:ea typeface="Microsoft YaHei"/>
                <a:cs typeface="Microsoft YaHei"/>
              </a:rPr>
              <a:t>数并定期复查。</a:t>
            </a:r>
          </a:p>
        </p:txBody>
      </p:sp>
      <p:sp>
        <p:nvSpPr>
          <p:cNvPr id="20" name="2024 刊p117 / PDF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其他风险与用药缺项"/>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其他风险与用药缺项</a:t>
            </a:r>
          </a:p>
        </p:txBody>
      </p:sp>
      <p:sp>
        <p:nvSpPr>
          <p:cNvPr id="4" name="07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07 / 08</a:t>
            </a:r>
          </a:p>
        </p:txBody>
      </p:sp>
      <p:sp>
        <p:nvSpPr>
          <p:cNvPr id="5" name="角膜内皮移植术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角膜内皮移植术 · 2024 专家共识</a:t>
            </a:r>
          </a:p>
        </p:txBody>
      </p:sp>
      <p:sp>
        <p:nvSpPr>
          <p:cNvPr id="6" name="Rectangle 5"/>
          <p:cNvSpPr/>
          <p:nvPr/>
        </p:nvSpPr>
        <p:spPr>
          <a:xfrm>
            <a:off x="444500" y="1384300"/>
            <a:ext cx="11303000" cy="24130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2413000"/>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其他并发症"/>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其他并发症</a:t>
            </a:r>
          </a:p>
        </p:txBody>
      </p:sp>
      <p:sp>
        <p:nvSpPr>
          <p:cNvPr id="9" name="DSEK可有0.80~1.20 D远视倾向；疑层间感染尤其真菌，尽早活体共焦检查；排斥/衰竭等按对应"/>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DSEK可有0.80~1.20 D远视倾向；疑层间感染尤其真菌，尽早活体共焦检查；排斥/衰竭等按对应原则</a:t>
            </a:r>
          </a:p>
          <a:p>
            <a:pPr>
              <a:lnSpc>
                <a:spcPts val="2120"/>
              </a:lnSpc>
              <a:spcBef>
                <a:spcPts val="0"/>
              </a:spcBef>
              <a:spcAft>
                <a:spcPts val="0"/>
              </a:spcAft>
            </a:pPr>
            <a:r>
              <a:rPr sz="1700" b="0" lang="zh-CN">
                <a:solidFill>
                  <a:srgbClr val="1E2E3B"/>
                </a:solidFill>
                <a:latin typeface="Microsoft YaHei"/>
                <a:ea typeface="Microsoft YaHei"/>
                <a:cs typeface="Microsoft YaHei"/>
              </a:rPr>
              <a:t>处理。</a:t>
            </a:r>
          </a:p>
        </p:txBody>
      </p:sp>
      <p:sp>
        <p:nvSpPr>
          <p:cNvPr id="10" name="2024 刊p117 / PDF5"/>
          <p:cNvSpPr txBox="1"/>
          <p:nvPr/>
        </p:nvSpPr>
        <p:spPr>
          <a:xfrm>
            <a:off x="622300" y="35941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11" name="Rectangle 10"/>
          <p:cNvSpPr/>
          <p:nvPr/>
        </p:nvSpPr>
        <p:spPr>
          <a:xfrm>
            <a:off x="444500" y="3911600"/>
            <a:ext cx="11303000" cy="24130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911600"/>
            <a:ext cx="38100" cy="2413000"/>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药物及长期缺项"/>
          <p:cNvSpPr txBox="1"/>
          <p:nvPr/>
        </p:nvSpPr>
        <p:spPr>
          <a:xfrm>
            <a:off x="622300" y="40132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药物及长期缺项</a:t>
            </a:r>
          </a:p>
        </p:txBody>
      </p:sp>
      <p:sp>
        <p:nvSpPr>
          <p:cNvPr id="14" name="术后用药参考穿透移植，免疫抑制/激素时间剂量可相应减少；本篇未给具体药物剂量、递减、统一复诊日程或推"/>
          <p:cNvSpPr txBox="1"/>
          <p:nvPr/>
        </p:nvSpPr>
        <p:spPr>
          <a:xfrm>
            <a:off x="622300" y="43561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术后用药参考穿透移植，免疫抑制/激素时间剂量可相应减少；本篇未给具体药物剂量、递减、统一复</a:t>
            </a:r>
          </a:p>
          <a:p>
            <a:pPr>
              <a:lnSpc>
                <a:spcPts val="2120"/>
              </a:lnSpc>
              <a:spcBef>
                <a:spcPts val="0"/>
              </a:spcBef>
              <a:spcAft>
                <a:spcPts val="0"/>
              </a:spcAft>
            </a:pPr>
            <a:r>
              <a:rPr sz="1700" b="0" lang="zh-CN">
                <a:solidFill>
                  <a:srgbClr val="1E2E3B"/>
                </a:solidFill>
                <a:latin typeface="Microsoft YaHei"/>
                <a:ea typeface="Microsoft YaHei"/>
                <a:cs typeface="Microsoft YaHei"/>
              </a:rPr>
              <a:t>诊日程或推荐等级。</a:t>
            </a:r>
          </a:p>
        </p:txBody>
      </p:sp>
      <p:sp>
        <p:nvSpPr>
          <p:cNvPr id="15" name="2024 刊p117 / PDF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刊p117 / PDF5</a:t>
            </a:r>
          </a:p>
        </p:txBody>
      </p:sp>
      <p:sp>
        <p:nvSpPr>
          <p:cNvPr id="16"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内皮移植术"/>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角膜内皮移植术</a:t>
            </a:r>
          </a:p>
        </p:txBody>
      </p:sp>
      <p:sp>
        <p:nvSpPr>
          <p:cNvPr id="4" name="判断条件与下一步 · 按本篇原文整理 · 2024"/>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2024</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是否内皮失代偿且基质相对正常？"/>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是否内皮失代偿且基质相对正常？</a:t>
            </a:r>
          </a:p>
        </p:txBody>
      </p:sp>
      <p:sp>
        <p:nvSpPr>
          <p:cNvPr id="7" name="是 → 排禁忌；视轴瘢痕/活动炎症/正常内皮等 → 不进入本常规路径。"/>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是 → 排禁忌；视轴瘢痕/活动炎症/正常内皮等 → 不进入本常规</a:t>
            </a:r>
          </a:p>
          <a:p>
            <a:pPr>
              <a:lnSpc>
                <a:spcPts val="1630"/>
              </a:lnSpc>
              <a:spcBef>
                <a:spcPts val="0"/>
              </a:spcBef>
              <a:spcAft>
                <a:spcPts val="0"/>
              </a:spcAft>
            </a:pPr>
            <a:r>
              <a:rPr sz="1350" b="0" lang="zh-CN">
                <a:solidFill>
                  <a:srgbClr val="1E2E3B"/>
                </a:solidFill>
                <a:latin typeface="Microsoft YaHei"/>
                <a:ea typeface="Microsoft YaHei"/>
                <a:cs typeface="Microsoft YaHei"/>
              </a:rPr>
              <a:t>路径。</a:t>
            </a:r>
          </a:p>
        </p:txBody>
      </p:sp>
      <p:sp>
        <p:nvSpPr>
          <p:cNvPr id="8" name="2024 刊p114"/>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控炎控压与解剖修复"/>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控炎控压与解剖修复</a:t>
            </a:r>
          </a:p>
        </p:txBody>
      </p:sp>
      <p:sp>
        <p:nvSpPr>
          <p:cNvPr id="12" name="炎症控制≥3个月、青光眼控压；虹膜隔/前粘连等需处理后评估。"/>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炎症控制≥3个月、青光眼控压；虹膜隔/前粘连等需处理后评</a:t>
            </a:r>
          </a:p>
          <a:p>
            <a:pPr>
              <a:lnSpc>
                <a:spcPts val="1630"/>
              </a:lnSpc>
              <a:spcBef>
                <a:spcPts val="0"/>
              </a:spcBef>
              <a:spcAft>
                <a:spcPts val="0"/>
              </a:spcAft>
            </a:pPr>
            <a:r>
              <a:rPr sz="1350" b="0" lang="zh-CN">
                <a:solidFill>
                  <a:srgbClr val="1E2E3B"/>
                </a:solidFill>
                <a:latin typeface="Microsoft YaHei"/>
                <a:ea typeface="Microsoft YaHei"/>
                <a:cs typeface="Microsoft YaHei"/>
              </a:rPr>
              <a:t>估。</a:t>
            </a:r>
          </a:p>
        </p:txBody>
      </p:sp>
      <p:sp>
        <p:nvSpPr>
          <p:cNvPr id="13" name="2024 刊p114–116"/>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刊p114–116</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术式选择"/>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术式选择</a:t>
            </a:r>
          </a:p>
        </p:txBody>
      </p:sp>
      <p:sp>
        <p:nvSpPr>
          <p:cNvPr id="17" name="眼条件好 → 倾向DMEK；复杂前节、后囊/阀/儿童等 → 倾向DSEK。"/>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眼条件好 → 倾向DMEK；复杂前节、后囊/阀/儿童等 → 倾向</a:t>
            </a:r>
          </a:p>
          <a:p>
            <a:pPr>
              <a:lnSpc>
                <a:spcPts val="1630"/>
              </a:lnSpc>
              <a:spcBef>
                <a:spcPts val="0"/>
              </a:spcBef>
              <a:spcAft>
                <a:spcPts val="0"/>
              </a:spcAft>
            </a:pPr>
            <a:r>
              <a:rPr sz="1350" b="0" lang="zh-CN">
                <a:solidFill>
                  <a:srgbClr val="1E2E3B"/>
                </a:solidFill>
                <a:latin typeface="Microsoft YaHei"/>
                <a:ea typeface="Microsoft YaHei"/>
                <a:cs typeface="Microsoft YaHei"/>
              </a:rPr>
              <a:t>DSEK。</a:t>
            </a:r>
          </a:p>
        </p:txBody>
      </p:sp>
      <p:sp>
        <p:nvSpPr>
          <p:cNvPr id="18" name="2024 刊p115"/>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刊p115</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供体、方向与固定"/>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供体、方向与固定</a:t>
            </a:r>
          </a:p>
        </p:txBody>
      </p:sp>
      <p:sp>
        <p:nvSpPr>
          <p:cNvPr id="22" name="内皮密度≥2 500个/mm²、直径7.75~8.00 mm；辨方向、非接触、周边虹膜切除及合适气体"/>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内皮密度≥2 500个/mm²、直径7.75~8.00 mm；辨方向、非接</a:t>
            </a:r>
          </a:p>
          <a:p>
            <a:pPr>
              <a:lnSpc>
                <a:spcPts val="1630"/>
              </a:lnSpc>
              <a:spcBef>
                <a:spcPts val="0"/>
              </a:spcBef>
              <a:spcAft>
                <a:spcPts val="0"/>
              </a:spcAft>
            </a:pPr>
            <a:r>
              <a:rPr sz="1350" b="0" lang="zh-CN">
                <a:solidFill>
                  <a:srgbClr val="1E2E3B"/>
                </a:solidFill>
                <a:latin typeface="Microsoft YaHei"/>
                <a:ea typeface="Microsoft YaHei"/>
                <a:cs typeface="Microsoft YaHei"/>
              </a:rPr>
              <a:t>触、周边虹膜切除及合适气体量。</a:t>
            </a:r>
          </a:p>
        </p:txBody>
      </p:sp>
      <p:sp>
        <p:nvSpPr>
          <p:cNvPr id="23" name="2024 刊p115–116"/>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刊p115–116</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早期眼压和脱离？"/>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早期眼压和脱离？</a:t>
            </a:r>
          </a:p>
        </p:txBody>
      </p:sp>
      <p:sp>
        <p:nvSpPr>
          <p:cNvPr id="27" name="2~6 h密切眼压，阻滞必要释气；OCT见大范围脱离：DSEK脱离&gt;1/3、DMEK脱离&gt;1/4 →"/>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2~6 h密切眼压，阻滞必要释气；OCT见大范围脱离：DSEK脱离</a:t>
            </a:r>
          </a:p>
          <a:p>
            <a:pPr>
              <a:lnSpc>
                <a:spcPts val="1630"/>
              </a:lnSpc>
              <a:spcBef>
                <a:spcPts val="0"/>
              </a:spcBef>
              <a:spcAft>
                <a:spcPts val="0"/>
              </a:spcAft>
            </a:pPr>
            <a:r>
              <a:rPr sz="1350" b="0" lang="zh-CN">
                <a:solidFill>
                  <a:srgbClr val="1E2E3B"/>
                </a:solidFill>
                <a:latin typeface="Microsoft YaHei"/>
                <a:ea typeface="Microsoft YaHei"/>
                <a:cs typeface="Microsoft YaHei"/>
              </a:rPr>
              <a:t>&gt;1/3、DMEK脱离&gt;1/4 → 再注气。</a:t>
            </a:r>
          </a:p>
        </p:txBody>
      </p:sp>
      <p:sp>
        <p:nvSpPr>
          <p:cNvPr id="28" name="2024 刊p117"/>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刊p117</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观察、再注气与长期管理"/>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观察、再注气与长期管理</a:t>
            </a:r>
          </a:p>
        </p:txBody>
      </p:sp>
      <p:sp>
        <p:nvSpPr>
          <p:cNvPr id="32" name="&lt;1/4暂观；扩大/水肿不退再注气。中间阈值未明确；2周不用非接触测压，透明后内皮计数。"/>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&lt;1/4暂观；扩大/水肿不退再注气。中间阈值未明确；2周不用非</a:t>
            </a:r>
          </a:p>
          <a:p>
            <a:pPr>
              <a:lnSpc>
                <a:spcPts val="1630"/>
              </a:lnSpc>
              <a:spcBef>
                <a:spcPts val="0"/>
              </a:spcBef>
              <a:spcAft>
                <a:spcPts val="0"/>
              </a:spcAft>
            </a:pPr>
            <a:r>
              <a:rPr sz="1350" b="0" lang="zh-CN">
                <a:solidFill>
                  <a:srgbClr val="1E2E3B"/>
                </a:solidFill>
                <a:latin typeface="Microsoft YaHei"/>
                <a:ea typeface="Microsoft YaHei"/>
                <a:cs typeface="Microsoft YaHei"/>
              </a:rPr>
              <a:t>接触测压，透明后内皮计数。</a:t>
            </a:r>
          </a:p>
        </p:txBody>
      </p:sp>
      <p:sp>
        <p:nvSpPr>
          <p:cNvPr id="33" name="2024 刊p114、117"/>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刊p114、117</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