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lid-04 病史与相关药物：问不适症状及持续时间、眼热/化学烧伤和眼睑手术史；关注酒渣鼻、甲状腺疾病、特应性皮炎、银屑病、移植物抗宿主病，以及抗组胺药、抗胆碱能药、异维A酸使用。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原文锚点：全身及局部用药情况，重点关注抗组胺药、抗胆碱能药物、异维A酸等药物的使用。</a:t>
            </a:r>
          </a:p>
          <a:p/>
          <a:p>
            <a:r>
              <a:t>lid-05 体格与眼表检查：查视力、眼压及面部皮肤；评估倒睫、内外翻、闭合不全、瞬目，前后睑缘和睫毛根部；查泪河、泪膜破裂时间、结角膜、荧光素染色及角膜上皮/基质病变。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原文锚点：视力及眼压检查。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  <a:p/>
          <a:p>
            <a:r>
              <a:t>lid-16 热敷与按摩安全：热敷时勿压迫眼球。热敷后可用指腹沿垂直睑缘方向轻柔按摩促进排出，注意力度；青光眼患者谨慎操作。观察症状、腺口、睑酯分泌、腺体缺失及脂质层厚度。</a:t>
            </a:r>
          </a:p>
          <a:p>
            <a:r>
              <a:t>来源：2025版/2026刊 p108 / PDF4；类别：禁忌；推荐等级：原文未明确。</a:t>
            </a:r>
          </a:p>
          <a:p>
            <a:r>
              <a:t>原文锚点：热敷时注意不要压迫眼球。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lid-22 IPL防护与初始参数：清洁后使用遮光眼贴/眼罩；治疗上睑需内置眼盾。滤光片590 nm；原文光强度10~16 J，推荐初始12~15 J，按Fitzpatrick肤型选择并先试斑。原文单位为J。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原文锚点：选择滤光片590 nm，光强度10~16 J（根据患者皮肤Fitzpatrick分型选择，推荐选择12~15 J作为初始强度）。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lid-24 热脉动/液脉动：维持睑缘40~42 ℃并同步按摩；连接设备、自测、正确放置治疗头，实时监测，结束后查眼及皮肤。建议单次治疗为1疗程，再次治疗间隔依疗效个体化。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原文锚点：确保睑缘维持在40~42 ℃这一最佳治疗温度区间</a:t>
            </a:r>
          </a:p>
          <a:p/>
          <a:p>
            <a:r>
              <a:t>lid-26 光热脉动复合治疗：LED波长544和860 nm，维持40~42 ℃；加热眼睑持续90 s，需延长时评估后重置；不可夹睫毛，缓增压力并根据反馈调整。建议单次治疗，再次间隔个体化。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原文锚点：通过LED光源发出波长为544和860 nm的光线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lid-30 药物：感染或难治/全身病变：睑缘细菌感染局部用敏感抗生素，如氧氟沙星眼膏、加替沙星凝胶；难治性或合并全身病可考虑口服阿奇霉素、多西环素、四环素，密切观察不良反应。具体剂量疗程未明确。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原文锚点：对于睑缘细菌感染患者，应局部使用敏感的抗生素滴眼液或眼膏，如氧氟沙星眼膏、加替沙星凝胶等。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lid-34 特殊人群与禁忌缺项：青光眼患者热敷后按摩需谨慎。儿童、孕哺期专门方案，各口服抗生素的禁忌、相互作用及完整IPL禁忌证清单：原文未明确，不据本共识补编。</a:t>
            </a:r>
          </a:p>
          <a:p>
            <a:r>
              <a:t>来源：2025版/2026刊 p108–109 / PDF4–5；类别：特殊人群；推荐等级：原文未明确。</a:t>
            </a:r>
          </a:p>
          <a:p>
            <a:r>
              <a:t>原文锚点：青光眼患者需谨慎操作。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  <a:p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  <a:p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  <a:p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  <a:p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lid-27 联合治疗与长期居家维持：病情复杂或单一治疗效果不佳者推荐联合治疗；接受院内物理治疗者，常规维持热敷、清洁等居家物理治疗，加强宣教并融入日常生活。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原文锚点：对于病情复杂或单一治疗方式效果不佳的患者，推荐进行联合治疗。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  <a:p/>
          <a:p>
            <a:r>
              <a:t>lid-29 中重度可联合IPL与热/液脉动：中重度干眼或睑缘炎可考虑两者联合：先IPL，完成后以热脉动/液脉动替代常规按摩；治疗间隔根据疗效个体化。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原文锚点：建议先行IPL治疗，治疗完成后以热脉动/液脉动取代常规的睑板腺按摩。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lid-32 结构异常分支的配套处理：图2：眼睑缺损可眼膏类屏障、人工泪液并手术修补；闭合不全可瞬目练习、睡眠时粘贴眼罩等，院内BCL/巩膜镜/湿房镜，人工泪液（水剂+膏剂）、病因治疗及必要时手术。</a:t>
            </a:r>
          </a:p>
          <a:p>
            <a:r>
              <a:t>来源：2025版/2026刊 p107 / PDF3；类别：治疗；推荐等级：原文未明确。</a:t>
            </a:r>
          </a:p>
          <a:p>
            <a:r>
              <a:t>原文锚点：眼睑缺损　眼睑闭合不全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流程连接：</a:t>
            </a:r>
          </a:p>
          <a:p>
            <a:r>
              <a:t>1 → 2：结构异常</a:t>
            </a:r>
          </a:p>
          <a:p>
            <a:r>
              <a:t>1 → 3：感染分型</a:t>
            </a:r>
          </a:p>
          <a:p>
            <a:r>
              <a:t>1 → 4：轻中度/MGD</a:t>
            </a:r>
          </a:p>
          <a:p>
            <a:r>
              <a:t>4 → 5：需升级</a:t>
            </a:r>
          </a:p>
          <a:p>
            <a:r>
              <a:t>5 → 6：治疗后</a:t>
            </a:r>
          </a:p>
          <a:p>
            <a:r>
              <a:t>2 → 6：复评</a:t>
            </a:r>
          </a:p>
          <a:p>
            <a:r>
              <a:t>3 → 6：复评</a:t>
            </a:r>
          </a:p>
          <a:p>
            <a:r>
              <a:t>4 → 6：复评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先评估睑缘，再按病因分类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先评估睑缘，再按病因分类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1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EDF4FB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所有干眼患者均评估睑缘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所有干眼患者均评估睑缘</a:t>
            </a:r>
          </a:p>
        </p:txBody>
      </p:sp>
      <p:sp>
        <p:nvSpPr>
          <p:cNvPr id="7" name="对所有已诊断为干眼的患者均应完善睑缘评估和相关疾病诊断。睑缘炎、MGD、闭合不全等可诱发或加重干眼；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对所有已诊断为干眼的患者均应完善睑缘评估和相关疾病诊断。睑缘炎、MGD、闭合不全等可诱发或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加重干眼；管理是长期、持续性过程。</a:t>
            </a:r>
          </a:p>
        </p:txBody>
      </p:sp>
      <p:sp>
        <p:nvSpPr>
          <p:cNvPr id="8" name="2025版/2026刊 p106 / PDF2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 / PDF2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EDF4FB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评估顺序与可并存分型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评估顺序与可并存分型</a:t>
            </a:r>
          </a:p>
        </p:txBody>
      </p:sp>
      <p:sp>
        <p:nvSpPr>
          <p:cNvPr id="11" name="先评估睑缘结构异常，再看急性睑板腺炎、睑板腺囊肿等后部疾病，最后评估前部睑缘。分类依次考虑脂溢性、蠕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先评估睑缘结构异常，再看急性睑板腺炎、睑板腺囊肿等后部疾病，最后评估前部睑缘。分类依次考虑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脂溢性、蠕形螨、葡萄球菌性睑缘炎及MGD；可合并2种及以上。</a:t>
            </a:r>
          </a:p>
        </p:txBody>
      </p:sp>
      <p:sp>
        <p:nvSpPr>
          <p:cNvPr id="12" name="2025版/2026刊 p106–107 / PDF2–3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 / PDF2–3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按病因治疗，居家与院内配合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按病因治疗，居家与院内配合</a:t>
            </a:r>
          </a:p>
        </p:txBody>
      </p:sp>
      <p:sp>
        <p:nvSpPr>
          <p:cNvPr id="15" name="急性睑板腺炎和葡萄球菌性睑缘炎积极抗细菌治疗；螨虫性者除螨。轻中度睑缘炎首选居家治疗；居家效果不佳、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急性睑板腺炎和葡萄球菌性睑缘炎积极抗细菌治疗；螨虫性者除螨。轻中度睑缘炎首选居家治疗；居家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效果不佳、依从性差或中重度者可配合院内治疗。</a:t>
            </a:r>
          </a:p>
        </p:txBody>
      </p:sp>
      <p:sp>
        <p:nvSpPr>
          <p:cNvPr id="16" name="2025版/2026刊 p107–108 / PDF3–4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p107–108 / PDF3–4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门诊检查：病史、体征与辅助检查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门诊检查：病史、体征与辅助检查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2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病史与相关药物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病史与相关药物</a:t>
            </a:r>
          </a:p>
        </p:txBody>
      </p:sp>
      <p:sp>
        <p:nvSpPr>
          <p:cNvPr id="7" name="问不适症状及持续时间、眼热/化学烧伤和眼睑手术史；关注酒渣鼻、甲状腺疾病、特应性皮炎、银屑病、移植物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问不适症状及持续时间、眼热/化学烧伤和眼睑手术史；关注酒渣鼻、甲状腺疾病、特应性皮炎、银屑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病、移植物抗宿主病，以及抗组胺药、抗胆碱能药、异维A酸使用。</a:t>
            </a:r>
          </a:p>
        </p:txBody>
      </p:sp>
      <p:sp>
        <p:nvSpPr>
          <p:cNvPr id="8" name="2025版/2026刊 p107 / PDF3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 / PDF3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体格与眼表检查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体格与眼表检查</a:t>
            </a:r>
          </a:p>
        </p:txBody>
      </p:sp>
      <p:sp>
        <p:nvSpPr>
          <p:cNvPr id="11" name="查视力、眼压及面部皮肤；评估倒睫、内外翻、闭合不全、瞬目，前后睑缘和睫毛根部；查泪河、泪膜破裂时间、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查视力、眼压及面部皮肤；评估倒睫、内外翻、闭合不全、瞬目，前后睑缘和睫毛根部；查泪河、泪膜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破裂时间、结角膜、荧光素染色及角膜上皮/基质病变。</a:t>
            </a:r>
          </a:p>
        </p:txBody>
      </p:sp>
      <p:sp>
        <p:nvSpPr>
          <p:cNvPr id="12" name="2025版/2026刊 p107 / PDF3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 / PDF3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辅助检查优先级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辅助检查优先级</a:t>
            </a:r>
          </a:p>
        </p:txBody>
      </p:sp>
      <p:sp>
        <p:nvSpPr>
          <p:cNvPr id="15" name="优先完善眼前节照相和睑板腺红外显影，记录睑缘、结角膜及腺体萎缩。条件允许再做分泌物刮片/培养、蠕形螨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优先完善眼前节照相和睑板腺红外显影，记录睑缘、结角膜及腺体萎缩。条件允许再做分泌物刮片/培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养、蠕形螨检测及激光扫描共聚焦显微镜检查。</a:t>
            </a:r>
          </a:p>
        </p:txBody>
      </p:sp>
      <p:sp>
        <p:nvSpPr>
          <p:cNvPr id="16" name="2025版/2026刊 p107 / PDF3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 / PDF3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居家基础：清洁与除螨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居家基础：清洁与除螨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3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睑缘清洁：溶液、频次及疗程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睑缘清洁：溶液、频次及疗程</a:t>
            </a:r>
          </a:p>
        </p:txBody>
      </p:sp>
      <p:sp>
        <p:nvSpPr>
          <p:cNvPr id="7" name="推荐0.01%次氯酸、睑缘清洁液/湿巾。葡萄球菌性者推荐0.01%次氯酸；脂溢性和MGD者推荐清洁液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推荐0.01%次氯酸、睑缘清洁液/湿巾。葡萄球菌性者推荐0.01%次氯酸；脂溢性和MGD者推荐清洁液/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湿巾去油脂。每日早晚各1次，持续1个月以上。</a:t>
            </a:r>
          </a:p>
        </p:txBody>
      </p:sp>
      <p:sp>
        <p:nvSpPr>
          <p:cNvPr id="8" name="2025版/2026刊 p108 / PDF4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除螨：成分、频次及疗程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除螨：成分、频次及疗程</a:t>
            </a:r>
          </a:p>
        </p:txBody>
      </p:sp>
      <p:sp>
        <p:nvSpPr>
          <p:cNvPr id="11" name="建议含茶树油、4-松油醇或秋葵精油等眼部湿巾擦拭睑缘，每日2次（早晚各1次），一般2~3个月，以减少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建议含茶树油、4-松油醇或秋葵精油等眼部湿巾擦拭睑缘，每日2次（早晚各1次），一般2~3个月，以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减少复发。具体成分浓度：原文未明确。</a:t>
            </a:r>
          </a:p>
        </p:txBody>
      </p:sp>
      <p:sp>
        <p:nvSpPr>
          <p:cNvPr id="12" name="2025版/2026刊 p108 / PDF4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3EFF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除螨疗效不可只看虫数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除螨疗效不可只看虫数</a:t>
            </a:r>
          </a:p>
        </p:txBody>
      </p:sp>
      <p:sp>
        <p:nvSpPr>
          <p:cNvPr id="15" name="综合螨虫数量、症状、袖套状分泌物/倒睫/乱睫等睫毛异常、睑缘炎症及睑板腺异常；不应仅以螨虫减少作为唯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综合螨虫数量、症状、袖套状分泌物/倒睫/乱睫等睫毛异常、睑缘炎症及睑板腺异常；不应仅以螨虫减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少作为唯一疗效及治疗终点指标。</a:t>
            </a:r>
          </a:p>
        </p:txBody>
      </p:sp>
      <p:sp>
        <p:nvSpPr>
          <p:cNvPr id="16" name="2025版/2026刊 p108 / PDF4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热敷、冷敷与操作安全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热敷、冷敷与操作安全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4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GD热敷参数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MGD热敷参数</a:t>
            </a:r>
          </a:p>
        </p:txBody>
      </p:sp>
      <p:sp>
        <p:nvSpPr>
          <p:cNvPr id="7" name="热毛巾或一次性湿热治疗贴，温度40~45 ℃，每次10 min以上，每日至少1次，建议坚持2周以上；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热毛巾或一次性湿热治疗贴，温度40~45 ℃，每次10 min以上，每日至少1次，建议坚持2周以上；之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后可根据自身情况调整时长和频率。</a:t>
            </a:r>
          </a:p>
        </p:txBody>
      </p:sp>
      <p:sp>
        <p:nvSpPr>
          <p:cNvPr id="8" name="2025版/2026刊 p108 / PDF4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重炎症冷敷参数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重炎症冷敷参数</a:t>
            </a:r>
          </a:p>
        </p:txBody>
      </p:sp>
      <p:sp>
        <p:nvSpPr>
          <p:cNvPr id="11" name="冷敷适于睑缘炎症较重者：包冰毛巾或冷敷贴，约10 ℃，持续5~10 min。炎症控制后可改为热敷，或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冷敷适于睑缘炎症较重者：包冰毛巾或冷敷贴，约10 ℃，持续5~10 min。炎症控制后可改为热敷，或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冷热敷交替。冷敷每日次数：原文未明确。</a:t>
            </a:r>
          </a:p>
        </p:txBody>
      </p:sp>
      <p:sp>
        <p:nvSpPr>
          <p:cNvPr id="12" name="2025版/2026刊 p108 / PDF4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热敷与按摩安全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热敷与按摩安全</a:t>
            </a:r>
          </a:p>
        </p:txBody>
      </p:sp>
      <p:sp>
        <p:nvSpPr>
          <p:cNvPr id="15" name="热敷时勿压迫眼球。热敷后可用指腹沿垂直睑缘方向轻柔按摩促进排出，注意力度；青光眼患者谨慎操作。观察症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热敷时勿压迫眼球。热敷后可用指腹沿垂直睑缘方向轻柔按摩促进排出，注意力度；青光眼患者谨慎操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作。观察症状、腺口、睑酯分泌、腺体缺失及脂质层厚度。</a:t>
            </a:r>
          </a:p>
        </p:txBody>
      </p:sp>
      <p:sp>
        <p:nvSpPr>
          <p:cNvPr id="16" name="2025版/2026刊 p108 / PDF4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院内治疗：按摩、清洁与IPL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院内治疗：按摩、清洁与IPL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5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院内睑板腺按摩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院内睑板腺按摩</a:t>
            </a:r>
          </a:p>
        </p:txBody>
      </p:sp>
      <p:sp>
        <p:nvSpPr>
          <p:cNvPr id="7" name="不建议患者居家进行器械性睑板腺按摩。完成热敷或IPL后，表面麻醉剂1~2滴；用玻璃棒或按摩镊轻柔挤出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不建议患者居家进行器械性睑板腺按摩。完成热敷或IPL后，表面麻醉剂1~2滴；用玻璃棒或按摩镊轻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柔挤出睑酯，避免腺体损伤；建议每周1次，持续1个月以上，再个体化调整。</a:t>
            </a:r>
          </a:p>
        </p:txBody>
      </p:sp>
      <p:sp>
        <p:nvSpPr>
          <p:cNvPr id="8" name="2025版/2026刊 p108 / PDF4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 / PDF4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院内深度清洁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院内深度清洁</a:t>
            </a:r>
          </a:p>
        </p:txBody>
      </p:sp>
      <p:sp>
        <p:nvSpPr>
          <p:cNvPr id="11" name="表麻1~2滴；电解水润湿刷头，从低转速起、与患者沟通；鼻侧到颞侧匀速移动，重复2~4次。建议每1~2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表麻1~2滴；电解水润湿刷头，从低转速起、与患者沟通；鼻侧到颞侧匀速移动，重复2~4次。建议每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1~2周1次，直至分泌物明显减少。</a:t>
            </a:r>
          </a:p>
        </p:txBody>
      </p:sp>
      <p:sp>
        <p:nvSpPr>
          <p:cNvPr id="12" name="2025版/2026刊 p108–109 / PDF4–5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 / PDF4–5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PL防护与初始参数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IPL防护与初始参数</a:t>
            </a:r>
          </a:p>
        </p:txBody>
      </p:sp>
      <p:sp>
        <p:nvSpPr>
          <p:cNvPr id="15" name="清洁后使用遮光眼贴/眼罩；治疗上睑需内置眼盾。滤光片590 nm；原文光强度10~16 J，推荐初始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清洁后使用遮光眼贴/眼罩；治疗上睑需内置眼盾。滤光片590 nm；原文光强度10~16 J，推荐初始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12~15 J，按Fitzpatrick肤型选择并先试斑。原文单位为J。</a:t>
            </a:r>
          </a:p>
        </p:txBody>
      </p:sp>
      <p:sp>
        <p:nvSpPr>
          <p:cNvPr id="16" name="2025版/2026刊 p109 / PDF5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 / PDF5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脉动与联合：参数和治疗顺序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脉动与联合：参数和治疗顺序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6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72508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热脉动/液脉动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热脉动/液脉动</a:t>
            </a:r>
          </a:p>
        </p:txBody>
      </p:sp>
      <p:sp>
        <p:nvSpPr>
          <p:cNvPr id="7" name="维持睑缘40~42 ℃并同步按摩；连接设备、自测、正确放置治疗头，实时监测，结束后查眼及皮肤。建议单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维持睑缘40~42 ℃并同步按摩；连接设备、自测、正确放置治疗头，实时监测，结束后查眼及皮肤。建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议单次治疗为1疗程，再次治疗间隔依疗效个体化。</a:t>
            </a:r>
          </a:p>
        </p:txBody>
      </p:sp>
      <p:sp>
        <p:nvSpPr>
          <p:cNvPr id="8" name="2025版/2026刊 p109 / PDF5"/>
          <p:cNvSpPr txBox="1"/>
          <p:nvPr/>
        </p:nvSpPr>
        <p:spPr>
          <a:xfrm>
            <a:off x="622300" y="268393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 / PDF5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58583"/>
            <a:ext cx="11277600" cy="172508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光热脉动复合治疗"/>
          <p:cNvSpPr txBox="1"/>
          <p:nvPr/>
        </p:nvSpPr>
        <p:spPr>
          <a:xfrm>
            <a:off x="622300" y="318558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光热脉动复合治疗</a:t>
            </a:r>
          </a:p>
        </p:txBody>
      </p:sp>
      <p:sp>
        <p:nvSpPr>
          <p:cNvPr id="11" name="LED波长544和860 nm，维持40~42 ℃；加热眼睑持续90 s，需延长时评估后重置；不可夹"/>
          <p:cNvSpPr txBox="1"/>
          <p:nvPr/>
        </p:nvSpPr>
        <p:spPr>
          <a:xfrm>
            <a:off x="622300" y="355388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LED波长544和860 nm，维持40~42 ℃；加热眼睑持续90 s，需延长时评估后重置；不可夹睫毛，缓增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压力并根据反馈调整。建议单次治疗，再次间隔个体化。</a:t>
            </a:r>
          </a:p>
        </p:txBody>
      </p:sp>
      <p:sp>
        <p:nvSpPr>
          <p:cNvPr id="12" name="2025版/2026刊 p109 / PDF5"/>
          <p:cNvSpPr txBox="1"/>
          <p:nvPr/>
        </p:nvSpPr>
        <p:spPr>
          <a:xfrm>
            <a:off x="622300" y="45360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 / PDF5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10666"/>
            <a:ext cx="11277600" cy="1439333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PL联合按摩的顺序"/>
          <p:cNvSpPr txBox="1"/>
          <p:nvPr/>
        </p:nvSpPr>
        <p:spPr>
          <a:xfrm>
            <a:off x="622300" y="50376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IPL联合按摩的顺序</a:t>
            </a:r>
          </a:p>
        </p:txBody>
      </p:sp>
      <p:sp>
        <p:nvSpPr>
          <p:cNvPr id="15" name="推荐先完成IPL，再行睑板腺按摩；睑板腺囊肿患者按摩时避开囊肿区域，以免挤压损伤。"/>
          <p:cNvSpPr txBox="1"/>
          <p:nvPr/>
        </p:nvSpPr>
        <p:spPr>
          <a:xfrm>
            <a:off x="622300" y="5405966"/>
            <a:ext cx="10947400" cy="349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推荐先完成IPL，再行睑板腺按摩；睑板腺囊肿患者按摩时避开囊肿区域，以免挤压损伤。</a:t>
            </a:r>
          </a:p>
        </p:txBody>
      </p:sp>
      <p:sp>
        <p:nvSpPr>
          <p:cNvPr id="16" name="2025版/2026刊 p109 / PDF5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 / PDF5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药物、手术及随访边界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药物、手术及随访边界</a:t>
            </a:r>
          </a:p>
        </p:txBody>
      </p:sp>
      <p:sp>
        <p:nvSpPr>
          <p:cNvPr id="3" name="2025版／2026刊载 · 专家共识 · 干眼患者睑缘管理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专家共识 · 干眼患者睑缘管理</a:t>
            </a:r>
          </a:p>
        </p:txBody>
      </p:sp>
      <p:sp>
        <p:nvSpPr>
          <p:cNvPr id="4" name="07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5499100" cy="2508250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药物：感染或难治/全身病变"/>
          <p:cNvSpPr txBox="1"/>
          <p:nvPr/>
        </p:nvSpPr>
        <p:spPr>
          <a:xfrm>
            <a:off x="622300" y="1333500"/>
            <a:ext cx="51689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药物：感染或难治/全身病变</a:t>
            </a:r>
          </a:p>
        </p:txBody>
      </p:sp>
      <p:sp>
        <p:nvSpPr>
          <p:cNvPr id="7" name="睑缘细菌感染局部用敏感抗生素，如氧氟沙星眼膏、加替沙星凝胶；难治性或合并全身病可考虑口服阿奇霉素、多"/>
          <p:cNvSpPr txBox="1"/>
          <p:nvPr/>
        </p:nvSpPr>
        <p:spPr>
          <a:xfrm>
            <a:off x="622300" y="1701800"/>
            <a:ext cx="5168900" cy="149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睑缘细菌感染局部用敏感抗生素，如氧氟沙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星眼膏、加替沙星凝胶；难治性或合并全身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病可考虑口服阿奇霉素、多西环素、四环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素，密切观察不良反应。具体剂量疗程未明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确。</a:t>
            </a:r>
          </a:p>
        </p:txBody>
      </p:sp>
      <p:sp>
        <p:nvSpPr>
          <p:cNvPr id="8" name="2025版/2026刊 p109 / PDF5"/>
          <p:cNvSpPr txBox="1"/>
          <p:nvPr/>
        </p:nvSpPr>
        <p:spPr>
          <a:xfrm>
            <a:off x="622300" y="3467100"/>
            <a:ext cx="51689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 / PDF5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900" y="1206500"/>
            <a:ext cx="5549900" cy="2508250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手术适应情形"/>
          <p:cNvSpPr txBox="1"/>
          <p:nvPr/>
        </p:nvSpPr>
        <p:spPr>
          <a:xfrm>
            <a:off x="6350000" y="1333500"/>
            <a:ext cx="52197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手术适应情形</a:t>
            </a:r>
          </a:p>
        </p:txBody>
      </p:sp>
      <p:sp>
        <p:nvSpPr>
          <p:cNvPr id="11" name="物理治疗效果不佳的MGD可考虑睑板腺探通；眼睑缺损积极修补以恢复形态；闭合不全必要时考虑睑缘缝合或融"/>
          <p:cNvSpPr txBox="1"/>
          <p:nvPr/>
        </p:nvSpPr>
        <p:spPr>
          <a:xfrm>
            <a:off x="6350000" y="1701800"/>
            <a:ext cx="5219700" cy="920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物理治疗效果不佳的MGD可考虑睑板腺探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通；眼睑缺损积极修补以恢复形态；闭合不全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必要时考虑睑缘缝合或融合手术。</a:t>
            </a:r>
          </a:p>
        </p:txBody>
      </p:sp>
      <p:sp>
        <p:nvSpPr>
          <p:cNvPr id="12" name="2025版/2026刊 p109 / PDF5"/>
          <p:cNvSpPr txBox="1"/>
          <p:nvPr/>
        </p:nvSpPr>
        <p:spPr>
          <a:xfrm>
            <a:off x="6350000" y="3467100"/>
            <a:ext cx="52197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 / PDF5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7000"/>
            <a:ext cx="5499100" cy="2413000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疗效复评及随访缺项"/>
          <p:cNvSpPr txBox="1"/>
          <p:nvPr/>
        </p:nvSpPr>
        <p:spPr>
          <a:xfrm>
            <a:off x="622300" y="4064000"/>
            <a:ext cx="51689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疗效复评及随访缺项</a:t>
            </a:r>
          </a:p>
        </p:txBody>
      </p:sp>
      <p:sp>
        <p:nvSpPr>
          <p:cNvPr id="15" name="复评症状、睑缘、腺口、分泌物及除螨表现，依疗效调整。统一复诊间隔、量化停治阈值及正式风险分层：原文未"/>
          <p:cNvSpPr txBox="1"/>
          <p:nvPr/>
        </p:nvSpPr>
        <p:spPr>
          <a:xfrm>
            <a:off x="622300" y="4432300"/>
            <a:ext cx="5168900" cy="920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复评症状、睑缘、腺口、分泌物及除螨表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现，依疗效调整。统一复诊间隔、量化停治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阈值及正式风险分层：原文未明确。</a:t>
            </a:r>
          </a:p>
        </p:txBody>
      </p:sp>
      <p:sp>
        <p:nvSpPr>
          <p:cNvPr id="16" name="2025版/2026刊 p108–109 / PDF4–5"/>
          <p:cNvSpPr txBox="1"/>
          <p:nvPr/>
        </p:nvSpPr>
        <p:spPr>
          <a:xfrm>
            <a:off x="622300" y="6102350"/>
            <a:ext cx="51689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 / PDF4–5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900" y="3937000"/>
            <a:ext cx="5549900" cy="2413000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特殊人群与禁忌缺项"/>
          <p:cNvSpPr txBox="1"/>
          <p:nvPr/>
        </p:nvSpPr>
        <p:spPr>
          <a:xfrm>
            <a:off x="6350000" y="4064000"/>
            <a:ext cx="52197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特殊人群与禁忌缺项</a:t>
            </a:r>
          </a:p>
        </p:txBody>
      </p:sp>
      <p:sp>
        <p:nvSpPr>
          <p:cNvPr id="19" name="青光眼患者热敷后按摩需谨慎。儿童、孕哺期专门方案，各口服抗生素的禁忌、相互作用及完整IPL禁忌证清单"/>
          <p:cNvSpPr txBox="1"/>
          <p:nvPr/>
        </p:nvSpPr>
        <p:spPr>
          <a:xfrm>
            <a:off x="6350000" y="4432300"/>
            <a:ext cx="5219700" cy="1206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青光眼患者热敷后按摩需谨慎。儿童、孕哺期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专门方案，各口服抗生素的禁忌、相互作用及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完整IPL禁忌证清单：原文未明确，不据本共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识补编。</a:t>
            </a:r>
          </a:p>
        </p:txBody>
      </p:sp>
      <p:sp>
        <p:nvSpPr>
          <p:cNvPr id="20" name="2025版/2026刊 p108–109 / PDF4–5"/>
          <p:cNvSpPr txBox="1"/>
          <p:nvPr/>
        </p:nvSpPr>
        <p:spPr>
          <a:xfrm>
            <a:off x="6350000" y="6102350"/>
            <a:ext cx="52197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 / PDF4–5</a:t>
            </a:r>
          </a:p>
        </p:txBody>
      </p:sp>
      <p:sp>
        <p:nvSpPr>
          <p:cNvPr id="21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一页临床路径｜干眼患者睑缘管理"/>
          <p:cNvSpPr txBox="1"/>
          <p:nvPr/>
        </p:nvSpPr>
        <p:spPr>
          <a:xfrm>
            <a:off x="419100" y="241300"/>
            <a:ext cx="11353800" cy="42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一页临床路径｜干眼患者睑缘管理</a:t>
            </a:r>
          </a:p>
        </p:txBody>
      </p:sp>
      <p:sp>
        <p:nvSpPr>
          <p:cNvPr id="3" name="2025版／2026刊载 · 条件与下一步按原文整理；诊断细则和特殊分支见提取表"/>
          <p:cNvSpPr txBox="1"/>
          <p:nvPr/>
        </p:nvSpPr>
        <p:spPr>
          <a:xfrm>
            <a:off x="419100" y="736600"/>
            <a:ext cx="11353800" cy="2288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条件与下一步按原文整理；诊断细则和特殊分支见提取表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76900" y="1871133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02300" y="1736513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结构异常"/>
          <p:cNvSpPr txBox="1"/>
          <p:nvPr/>
        </p:nvSpPr>
        <p:spPr>
          <a:xfrm>
            <a:off x="5715000" y="1749213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结构异常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8000" y="2586566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8000" y="2770716"/>
            <a:ext cx="3048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000" y="2770716"/>
            <a:ext cx="0" cy="899584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3670300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48000" y="2586566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74800" y="2688166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轻中度/MGD"/>
          <p:cNvSpPr txBox="1"/>
          <p:nvPr/>
        </p:nvSpPr>
        <p:spPr>
          <a:xfrm>
            <a:off x="1587500" y="2713566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轻中度/MGD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8000" y="4385733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74800" y="4487333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需升级"/>
          <p:cNvSpPr txBox="1"/>
          <p:nvPr/>
        </p:nvSpPr>
        <p:spPr>
          <a:xfrm>
            <a:off x="1587500" y="4512733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需升级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76900" y="5469466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02300" y="5334846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治疗后"/>
          <p:cNvSpPr txBox="1"/>
          <p:nvPr/>
        </p:nvSpPr>
        <p:spPr>
          <a:xfrm>
            <a:off x="5715000" y="5347546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治疗后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772900" y="1871133"/>
            <a:ext cx="2794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052300" y="1871133"/>
            <a:ext cx="0" cy="359833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772900" y="5469466"/>
            <a:ext cx="2794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4385733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70800" y="4487333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复评"/>
          <p:cNvSpPr txBox="1"/>
          <p:nvPr/>
        </p:nvSpPr>
        <p:spPr>
          <a:xfrm>
            <a:off x="7683500" y="4512733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复评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48000" y="4385733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048000" y="4569883"/>
            <a:ext cx="3048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6000" y="4569883"/>
            <a:ext cx="0" cy="89958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5469466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19100" y="1155700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1  所有干眼患者：完成睑缘评估"/>
          <p:cNvSpPr txBox="1"/>
          <p:nvPr/>
        </p:nvSpPr>
        <p:spPr>
          <a:xfrm>
            <a:off x="558800" y="1244600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所有干眼患者：完成睑缘评估</a:t>
            </a:r>
          </a:p>
        </p:txBody>
      </p:sp>
      <p:sp>
        <p:nvSpPr>
          <p:cNvPr id="32" name="先结构异常，再后部疾病，最后前部睑缘；分型可并存。优先照相＋腺体红外显影。按发现分别进入2、3或4。"/>
          <p:cNvSpPr txBox="1"/>
          <p:nvPr/>
        </p:nvSpPr>
        <p:spPr>
          <a:xfrm>
            <a:off x="558800" y="1536700"/>
            <a:ext cx="4978400" cy="490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先结构异常，再后部疾病，最后前部睑缘；分型可并存。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优先照相＋腺体红外显影。按发现分别进入2、3或4。</a:t>
            </a:r>
          </a:p>
        </p:txBody>
      </p:sp>
      <p:sp>
        <p:nvSpPr>
          <p:cNvPr id="33" name="2025版/2026刊 p106–107"/>
          <p:cNvSpPr txBox="1"/>
          <p:nvPr/>
        </p:nvSpPr>
        <p:spPr>
          <a:xfrm>
            <a:off x="558800" y="2380826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5100" y="1155700"/>
            <a:ext cx="5257800" cy="1430866"/>
          </a:xfrm>
          <a:prstGeom prst="rect">
            <a:avLst/>
          </a:prstGeom>
          <a:solidFill>
            <a:srgbClr val="FCEFF0"/>
          </a:solidFill>
          <a:ln w="7620">
            <a:solidFill>
              <a:srgbClr val="A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2  有结构异常 → 结构/病因处理"/>
          <p:cNvSpPr txBox="1"/>
          <p:nvPr/>
        </p:nvSpPr>
        <p:spPr>
          <a:xfrm>
            <a:off x="6654800" y="1244600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2  有结构异常 → 结构/病因处理</a:t>
            </a:r>
          </a:p>
        </p:txBody>
      </p:sp>
      <p:sp>
        <p:nvSpPr>
          <p:cNvPr id="36" name="眼睑缺损：积极修补；闭合不全：病因治疗及必要时睑缘缝合/融合。可与其他睑缘分型并存，合并者同时按3/"/>
          <p:cNvSpPr txBox="1"/>
          <p:nvPr/>
        </p:nvSpPr>
        <p:spPr>
          <a:xfrm>
            <a:off x="6654800" y="1536700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眼睑缺损：积极修补；闭合不全：病因治疗及必要时睑缘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缝合/融合。可与其他睑缘分型并存，合并者同时按3/4处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理。</a:t>
            </a:r>
          </a:p>
        </p:txBody>
      </p:sp>
      <p:sp>
        <p:nvSpPr>
          <p:cNvPr id="37" name="2025版/2026刊 p107、109"/>
          <p:cNvSpPr txBox="1"/>
          <p:nvPr/>
        </p:nvSpPr>
        <p:spPr>
          <a:xfrm>
            <a:off x="6654800" y="2380826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p107、109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5100" y="2954866"/>
            <a:ext cx="5257800" cy="1430866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3  有感染线索 → 按病原体治疗"/>
          <p:cNvSpPr txBox="1"/>
          <p:nvPr/>
        </p:nvSpPr>
        <p:spPr>
          <a:xfrm>
            <a:off x="6654800" y="3043766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有感染线索 → 按病原体治疗</a:t>
            </a:r>
          </a:p>
        </p:txBody>
      </p:sp>
      <p:sp>
        <p:nvSpPr>
          <p:cNvPr id="40" name="急性睑板腺炎/葡萄球菌性：抗细菌治疗。螨虫性：除螨每日2次、一般2~3个月；疗效须同时看症状、体征及"/>
          <p:cNvSpPr txBox="1"/>
          <p:nvPr/>
        </p:nvSpPr>
        <p:spPr>
          <a:xfrm>
            <a:off x="6654800" y="3335866"/>
            <a:ext cx="4978400" cy="490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急性睑板腺炎/葡萄球菌性：抗细菌治疗。螨虫性：除螨每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日2次、一般2~3个月；疗效须同时看症状、体征及虫数。</a:t>
            </a:r>
          </a:p>
        </p:txBody>
      </p:sp>
      <p:sp>
        <p:nvSpPr>
          <p:cNvPr id="41" name="2025版/2026刊 p107–108"/>
          <p:cNvSpPr txBox="1"/>
          <p:nvPr/>
        </p:nvSpPr>
        <p:spPr>
          <a:xfrm>
            <a:off x="6654800" y="4179993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100" y="2954866"/>
            <a:ext cx="5257800" cy="1430866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4  轻中度/MGD → 居家基础管理"/>
          <p:cNvSpPr txBox="1"/>
          <p:nvPr/>
        </p:nvSpPr>
        <p:spPr>
          <a:xfrm>
            <a:off x="558800" y="3043766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轻中度/MGD → 居家基础管理</a:t>
            </a:r>
          </a:p>
        </p:txBody>
      </p:sp>
      <p:sp>
        <p:nvSpPr>
          <p:cNvPr id="44" name="清洁早晚各1次、持续1个月以上；MGD热敷40~45 ℃、每次10 min以上、每日至少1次、建议2"/>
          <p:cNvSpPr txBox="1"/>
          <p:nvPr/>
        </p:nvSpPr>
        <p:spPr>
          <a:xfrm>
            <a:off x="558800" y="3335866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清洁早晚各1次、持续1个月以上；MGD热敷40~45 ℃、每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次10 min以上、每日至少1次、建议2周以上。重炎症可冷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敷。</a:t>
            </a:r>
          </a:p>
        </p:txBody>
      </p:sp>
      <p:sp>
        <p:nvSpPr>
          <p:cNvPr id="45" name="2025版/2026刊 p108"/>
          <p:cNvSpPr txBox="1"/>
          <p:nvPr/>
        </p:nvSpPr>
        <p:spPr>
          <a:xfrm>
            <a:off x="558800" y="4179993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100" y="4754033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5  效果不佳/依从性差/中重度 → 院内"/>
          <p:cNvSpPr txBox="1"/>
          <p:nvPr/>
        </p:nvSpPr>
        <p:spPr>
          <a:xfrm>
            <a:off x="558800" y="4842933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5  效果不佳/依从性差/中重度 → 院内</a:t>
            </a:r>
          </a:p>
        </p:txBody>
      </p:sp>
      <p:sp>
        <p:nvSpPr>
          <p:cNvPr id="48" name="个体化选按摩、深度清洁、IPL或脉动；继续居家。联合时先IPL后按摩/热液脉动；囊肿按摩避开病灶。"/>
          <p:cNvSpPr txBox="1"/>
          <p:nvPr/>
        </p:nvSpPr>
        <p:spPr>
          <a:xfrm>
            <a:off x="558800" y="5135033"/>
            <a:ext cx="4978400" cy="490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个体化选按摩、深度清洁、IPL或脉动；继续居家。联合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时先IPL后按摩/热液脉动；囊肿按摩避开病灶。</a:t>
            </a:r>
          </a:p>
        </p:txBody>
      </p:sp>
      <p:sp>
        <p:nvSpPr>
          <p:cNvPr id="49" name="2025版/2026刊 p107–109"/>
          <p:cNvSpPr txBox="1"/>
          <p:nvPr/>
        </p:nvSpPr>
        <p:spPr>
          <a:xfrm>
            <a:off x="558800" y="5979160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5100" y="4754033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6  复评 → 继续、调整或升级"/>
          <p:cNvSpPr txBox="1"/>
          <p:nvPr/>
        </p:nvSpPr>
        <p:spPr>
          <a:xfrm>
            <a:off x="6654800" y="4842933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6  复评 → 继续、调整或升级</a:t>
            </a:r>
          </a:p>
        </p:txBody>
      </p:sp>
      <p:sp>
        <p:nvSpPr>
          <p:cNvPr id="52" name="比较症状、睑缘、腺口及睑酯；除螨不以虫数为唯一终点。无效MGD可考虑探通。统一复诊间隔和停治阈值：原"/>
          <p:cNvSpPr txBox="1"/>
          <p:nvPr/>
        </p:nvSpPr>
        <p:spPr>
          <a:xfrm>
            <a:off x="6654800" y="5135033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比较症状、睑缘、腺口及睑酯；除螨不以虫数为唯一终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点。无效MGD可考虑探通。统一复诊间隔和停治阈值：原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文未明确。</a:t>
            </a:r>
          </a:p>
        </p:txBody>
      </p:sp>
      <p:sp>
        <p:nvSpPr>
          <p:cNvPr id="53" name="2025版/2026刊 p108–109"/>
          <p:cNvSpPr txBox="1"/>
          <p:nvPr/>
        </p:nvSpPr>
        <p:spPr>
          <a:xfrm>
            <a:off x="6654800" y="5979160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54" name="跨行分支：1→3 感染分型；2→6 复评；4→6 复评"/>
          <p:cNvSpPr txBox="1"/>
          <p:nvPr/>
        </p:nvSpPr>
        <p:spPr>
          <a:xfrm>
            <a:off x="419100" y="6299200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跨行分支：1→3 感染分型；2→6 复评；4→6 复评</a:t>
            </a:r>
          </a:p>
        </p:txBody>
      </p:sp>
      <p:sp>
        <p:nvSpPr>
          <p:cNvPr id="55" name="节点内条件优先；未列阈值不补编。完整证据、禁忌与特殊人群见提取表。"/>
          <p:cNvSpPr txBox="1"/>
          <p:nvPr/>
        </p:nvSpPr>
        <p:spPr>
          <a:xfrm>
            <a:off x="419100" y="6667500"/>
            <a:ext cx="11353800" cy="192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6"/>
              </a:lnSpc>
              <a:spcBef>
                <a:spcPts val="0"/>
              </a:spcBef>
              <a:spcAft>
                <a:spcPts val="0"/>
              </a:spcAft>
            </a:pPr>
            <a:r>
              <a:rPr sz="819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节点内条件优先；未列阈值不补编。完整证据、禁忌与特殊人群见提取表。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