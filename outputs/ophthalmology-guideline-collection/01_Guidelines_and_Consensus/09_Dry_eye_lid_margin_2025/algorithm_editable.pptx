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lid-02 所有干眼患者均评估睑缘：对所有已诊断为干眼的患者均应完善睑缘评估和相关疾病诊断。睑缘炎、MGD、闭合不全等可诱发或加重干眼；管理是长期、持续性过程。</a:t>
            </a:r>
          </a:p>
          <a:p>
            <a:r>
              <a:t>来源：2025版/2026刊 p106 / PDF2；类别：适用人群；推荐等级：原文未明确。</a:t>
            </a:r>
          </a:p>
          <a:p>
            <a:r>
              <a:t>原文锚点：对所有诊断为干眼的患者均应完善睑缘评估及睑缘相关疾病诊断。</a:t>
            </a:r>
          </a:p>
          <a:p/>
          <a:p>
            <a:r>
              <a:t>lid-03 评估顺序与可并存分型：先评估睑缘结构异常，再看急性睑板腺炎、睑板腺囊肿等后部疾病，最后评估前部睑缘。分类依次考虑脂溢性、蠕形螨、葡萄球菌性睑缘炎及MGD；可合并2种及以上。</a:t>
            </a:r>
          </a:p>
          <a:p>
            <a:r>
              <a:t>来源：2025版/2026刊 p106–107 / PDF2–3；类别：诊断；推荐等级：原文未明确。</a:t>
            </a:r>
          </a:p>
          <a:p>
            <a:r>
              <a:t>原文锚点：值得注意的是，同一患者可能合并2种及以上类型的睑缘疾病（图2）。</a:t>
            </a:r>
          </a:p>
          <a:p/>
          <a:p>
            <a:r>
              <a:t>lid-06 辅助检查优先级：优先完善眼前节照相和睑板腺红外显影，记录睑缘、结角膜及腺体萎缩。条件允许再做分泌物刮片/培养、蠕形螨检测及激光扫描共聚焦显微镜检查。</a:t>
            </a:r>
          </a:p>
          <a:p>
            <a:r>
              <a:t>来源：2025版/2026刊 p107 / PDF3；类别：检查；推荐等级：原文未明确。</a:t>
            </a:r>
          </a:p>
          <a:p>
            <a:r>
              <a:t>原文锚点：建议优先完善眼前节照相及睑板腺红外显影检查，条件允许时，再进一步进行微生物学检测及激光扫描共聚焦显微镜检查。</a:t>
            </a:r>
          </a:p>
          <a:p/>
          <a:p>
            <a:r>
              <a:t>lid-09 按病因治疗，居家与院内配合：急性睑板腺炎和葡萄球菌性睑缘炎积极抗细菌治疗；螨虫性者除螨。轻中度睑缘炎首选居家治疗；居家效果不佳、依从性差或中重度者可配合院内治疗。</a:t>
            </a:r>
          </a:p>
          <a:p>
            <a:r>
              <a:t>来源：2025版/2026刊 p107–108 / PDF3–4；类别：治疗；推荐等级：原文未明确。</a:t>
            </a:r>
          </a:p>
          <a:p>
            <a:r>
              <a:t>原文锚点：对于居家治疗效果不佳、居家治疗依从性差或中重度睑缘炎患者可配合院内治疗</a:t>
            </a:r>
          </a:p>
          <a:p/>
          <a:p>
            <a:r>
              <a:t>lid-10 睑缘清洁：溶液、频次及疗程：推荐0.01%次氯酸、睑缘清洁液/湿巾。葡萄球菌性者推荐0.01%次氯酸；脂溢性和MGD者推荐清洁液/湿巾去油脂。每日早晚各1次，持续1个月以上。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原文锚点：推荐使用0.01%次氯酸、睑缘清洁液/湿巾等进行清洁。</a:t>
            </a:r>
          </a:p>
          <a:p/>
          <a:p>
            <a:r>
              <a:t>lid-12 除螨：成分、频次及疗程：建议含茶树油、4-松油醇或秋葵精油等眼部湿巾擦拭睑缘，每日2次（早晚各1次），一般2~3个月，以减少复发。具体成分浓度：原文未明确。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原文锚点：建议使用含茶树油、4-松油醇或秋葵精油等眼部湿巾擦拭睑缘，每日2次（早晚各1次），治疗疗程一般为2~3个月</a:t>
            </a:r>
          </a:p>
          <a:p/>
          <a:p>
            <a:r>
              <a:t>lid-13 除螨疗效不可只看虫数：综合螨虫数量、症状、袖套状分泌物/倒睫/乱睫等睫毛异常、睑缘炎症及睑板腺异常；不应仅以螨虫减少作为唯一疗效及治疗终点指标。</a:t>
            </a:r>
          </a:p>
          <a:p>
            <a:r>
              <a:t>来源：2025版/2026刊 p108 / PDF4；类别：随访；推荐等级：原文未明确。</a:t>
            </a:r>
          </a:p>
          <a:p>
            <a:r>
              <a:t>原文锚点：不应仅以螨虫数量减少作为唯一疗效评判指标及治疗终点指标。</a:t>
            </a:r>
          </a:p>
          <a:p/>
          <a:p>
            <a:r>
              <a:t>lid-15 MGD热敷参数：热毛巾或一次性湿热治疗贴，温度40~45 ℃，每次10 min以上，每日至少1次，建议坚持2周以上；之后可根据自身情况调整时长和频率。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原文锚点：温度控制在40~45 ℃，每次10 min以上，每日至少1次，建议坚持2周以上</a:t>
            </a:r>
          </a:p>
          <a:p/>
          <a:p>
            <a:r>
              <a:t>lid-17 重炎症冷敷参数：冷敷适于睑缘炎症较重者：包冰毛巾或冷敷贴，约10 ℃，持续5~10 min。炎症控制后可改为热敷，或冷热敷交替。冷敷每日次数：原文未明确。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原文锚点：温度在10 ℃左右，持续5~10 min。睑缘炎症控制后可改为热敷或者冷热敷交替进行。</a:t>
            </a:r>
          </a:p>
          <a:p/>
          <a:p>
            <a:r>
              <a:t>lid-19 院内睑板腺按摩：不建议患者居家进行器械性睑板腺按摩。完成热敷或IPL后，表面麻醉剂1~2滴；用玻璃棒或按摩镊轻柔挤出睑酯，避免腺体损伤；建议每周1次，持续1个月以上，再个体化调整。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原文锚点：建议每周按摩1次，持续1个月以上，之后可根据患者情况调整治疗频率和次数。</a:t>
            </a:r>
          </a:p>
          <a:p/>
          <a:p>
            <a:r>
              <a:t>lid-20 院内深度清洁：表麻1~2滴；电解水润湿刷头，从低转速起、与患者沟通；鼻侧到颞侧匀速移动，重复2~4次。建议每1~2周1次，直至分泌物明显减少。</a:t>
            </a:r>
          </a:p>
          <a:p>
            <a:r>
              <a:t>来源：2025版/2026刊 p108–109 / PDF4–5；类别：治疗；推荐等级：原文未明确。</a:t>
            </a:r>
          </a:p>
          <a:p>
            <a:r>
              <a:t>原文锚点：建议每1~2周深度清洁1次，直至睑缘分泌物明显减少。</a:t>
            </a:r>
          </a:p>
          <a:p/>
          <a:p>
            <a:r>
              <a:t>lid-27 联合治疗与长期居家维持：病情复杂或单一治疗效果不佳者推荐联合治疗；接受院内物理治疗者，常规维持热敷、清洁等居家物理治疗，加强宣教并融入日常生活。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原文锚点：对于病情复杂或单一治疗方式效果不佳的患者，推荐进行联合治疗。</a:t>
            </a:r>
          </a:p>
          <a:p/>
          <a:p>
            <a:r>
              <a:t>lid-28 IPL联合按摩的顺序：推荐先完成IPL，再行睑板腺按摩；睑板腺囊肿患者按摩时避开囊肿区域，以免挤压损伤。</a:t>
            </a:r>
          </a:p>
          <a:p>
            <a:r>
              <a:t>来源：2025版/2026刊 p109 / PDF5；类别：禁忌；推荐等级：原文未明确。</a:t>
            </a:r>
          </a:p>
          <a:p>
            <a:r>
              <a:t>原文锚点：推荐先完成IPL治疗，后行睑板腺按摩，针对睑板腺囊肿患者按摩时可避开囊肿区域以免造成挤压损伤。</a:t>
            </a:r>
          </a:p>
          <a:p/>
          <a:p>
            <a:r>
              <a:t>lid-29 中重度可联合IPL与热/液脉动：中重度干眼或睑缘炎可考虑两者联合：先IPL，完成后以热脉动/液脉动替代常规按摩；治疗间隔根据疗效个体化。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原文锚点：建议先行IPL治疗，治疗完成后以热脉动/液脉动取代常规的睑板腺按摩。</a:t>
            </a:r>
          </a:p>
          <a:p/>
          <a:p>
            <a:r>
              <a:t>lid-31 手术适应情形：物理治疗效果不佳的MGD可考虑睑板腺探通；眼睑缺损积极修补以恢复形态；闭合不全必要时考虑睑缘缝合或融合手术。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原文锚点：对于物理治疗效果不佳的MGD患者可考虑行睑板腺探通手术。</a:t>
            </a:r>
          </a:p>
          <a:p/>
          <a:p>
            <a:r>
              <a:t>lid-32 结构异常分支的配套处理：图2：眼睑缺损可眼膏类屏障、人工泪液并手术修补；闭合不全可瞬目练习、睡眠时粘贴眼罩等，院内BCL/巩膜镜/湿房镜，人工泪液（水剂+膏剂）、病因治疗及必要时手术。</a:t>
            </a:r>
          </a:p>
          <a:p>
            <a:r>
              <a:t>来源：2025版/2026刊 p107 / PDF3；类别：治疗；推荐等级：原文未明确。</a:t>
            </a:r>
          </a:p>
          <a:p>
            <a:r>
              <a:t>原文锚点：眼睑缺损　眼睑闭合不全</a:t>
            </a:r>
          </a:p>
          <a:p/>
          <a:p>
            <a:r>
              <a:t>lid-33 疗效复评及随访缺项：复评症状、睑缘、腺口、分泌物及除螨表现，依疗效调整。统一复诊间隔、量化停治阈值及正式风险分层：原文未明确。</a:t>
            </a:r>
          </a:p>
          <a:p>
            <a:r>
              <a:t>来源：2025版/2026刊 p108–109 / PDF4–5；类别：随访；推荐等级：原文未明确。</a:t>
            </a:r>
          </a:p>
          <a:p>
            <a:r>
              <a:t>原文锚点：之后可根据患者情况调整治疗频率和次数。</a:t>
            </a:r>
          </a:p>
          <a:p/>
          <a:p>
            <a:r>
              <a:t>流程连接：</a:t>
            </a:r>
          </a:p>
          <a:p>
            <a:r>
              <a:t>1 → 2：结构异常</a:t>
            </a:r>
          </a:p>
          <a:p>
            <a:r>
              <a:t>1 → 3：感染分型</a:t>
            </a:r>
          </a:p>
          <a:p>
            <a:r>
              <a:t>1 → 4：轻中度/MGD</a:t>
            </a:r>
          </a:p>
          <a:p>
            <a:r>
              <a:t>4 → 5：需升级</a:t>
            </a:r>
          </a:p>
          <a:p>
            <a:r>
              <a:t>5 → 6：治疗后</a:t>
            </a:r>
          </a:p>
          <a:p>
            <a:r>
              <a:t>2 → 6：复评</a:t>
            </a:r>
          </a:p>
          <a:p>
            <a:r>
              <a:t>3 → 6：复评</a:t>
            </a:r>
          </a:p>
          <a:p>
            <a:r>
              <a:t>4 → 6：复评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一页临床路径｜干眼患者睑缘管理"/>
          <p:cNvSpPr txBox="1"/>
          <p:nvPr/>
        </p:nvSpPr>
        <p:spPr>
          <a:xfrm>
            <a:off x="419100" y="241300"/>
            <a:ext cx="9853800" cy="4292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一页临床路径｜干眼患者睑缘管理</a:t>
            </a:r>
          </a:p>
        </p:txBody>
      </p:sp>
      <p:sp>
        <p:nvSpPr>
          <p:cNvPr id="3" name="2025版／2026刊载 · 条件与下一步按原文整理；诊断细则和特殊分支见提取表"/>
          <p:cNvSpPr txBox="1"/>
          <p:nvPr/>
        </p:nvSpPr>
        <p:spPr>
          <a:xfrm>
            <a:off x="419100" y="736600"/>
            <a:ext cx="9853800" cy="22885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2025版／2026刊载 · 条件与下一步按原文整理；诊断细则和特殊分支见提取表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26900" y="1988133"/>
            <a:ext cx="8382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952300" y="1853513"/>
            <a:ext cx="787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结构异常"/>
          <p:cNvSpPr txBox="1"/>
          <p:nvPr/>
        </p:nvSpPr>
        <p:spPr>
          <a:xfrm>
            <a:off x="4965000" y="1866213"/>
            <a:ext cx="762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结构异常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73000" y="2820566"/>
            <a:ext cx="0" cy="18415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73000" y="3004716"/>
            <a:ext cx="2673000" cy="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46000" y="3004716"/>
            <a:ext cx="0" cy="1016584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46000" y="4021300"/>
            <a:ext cx="4191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73000" y="2820566"/>
            <a:ext cx="0" cy="36830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199800" y="2922166"/>
            <a:ext cx="2946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轻中度/MGD"/>
          <p:cNvSpPr txBox="1"/>
          <p:nvPr/>
        </p:nvSpPr>
        <p:spPr>
          <a:xfrm>
            <a:off x="1212500" y="2947566"/>
            <a:ext cx="2921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轻中度/MGD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73000" y="4853733"/>
            <a:ext cx="0" cy="36830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199800" y="4955333"/>
            <a:ext cx="2946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需升级"/>
          <p:cNvSpPr txBox="1"/>
          <p:nvPr/>
        </p:nvSpPr>
        <p:spPr>
          <a:xfrm>
            <a:off x="1212500" y="4980733"/>
            <a:ext cx="2921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需升级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26900" y="6054466"/>
            <a:ext cx="8382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952300" y="5919846"/>
            <a:ext cx="787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治疗后"/>
          <p:cNvSpPr txBox="1"/>
          <p:nvPr/>
        </p:nvSpPr>
        <p:spPr>
          <a:xfrm>
            <a:off x="4965000" y="5932546"/>
            <a:ext cx="762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治疗后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272900" y="1988133"/>
            <a:ext cx="279400" cy="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552300" y="1988133"/>
            <a:ext cx="0" cy="4066333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272900" y="6054466"/>
            <a:ext cx="2794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19000" y="4853733"/>
            <a:ext cx="0" cy="36830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45800" y="4955333"/>
            <a:ext cx="2946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复评"/>
          <p:cNvSpPr txBox="1"/>
          <p:nvPr/>
        </p:nvSpPr>
        <p:spPr>
          <a:xfrm>
            <a:off x="6558500" y="4980733"/>
            <a:ext cx="2921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复评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73000" y="4853733"/>
            <a:ext cx="0" cy="18415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000" y="5037883"/>
            <a:ext cx="2673000" cy="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346000" y="5037883"/>
            <a:ext cx="0" cy="1016583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46000" y="6054466"/>
            <a:ext cx="4191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19100" y="1155700"/>
            <a:ext cx="4507800" cy="1664866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1  所有干眼患者：完成睑缘评估"/>
          <p:cNvSpPr txBox="1"/>
          <p:nvPr/>
        </p:nvSpPr>
        <p:spPr>
          <a:xfrm>
            <a:off x="558800" y="1244600"/>
            <a:ext cx="422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1  所有干眼患者：完成睑缘评估</a:t>
            </a:r>
          </a:p>
        </p:txBody>
      </p:sp>
      <p:sp>
        <p:nvSpPr>
          <p:cNvPr id="32" name="先结构异常，再后部疾病，最后前部睑缘；分型可并存。优先照相＋腺体红外显影。按发现分别进入2、3或4。"/>
          <p:cNvSpPr txBox="1"/>
          <p:nvPr/>
        </p:nvSpPr>
        <p:spPr>
          <a:xfrm>
            <a:off x="558800" y="1536700"/>
            <a:ext cx="422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先结构异常，再后部疾病，最后前部睑缘；分型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可并存。优先照相＋腺体红外显影。按发现分别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进入2、3或4。</a:t>
            </a:r>
          </a:p>
        </p:txBody>
      </p:sp>
      <p:sp>
        <p:nvSpPr>
          <p:cNvPr id="33" name="2025版/2026刊 p106–107"/>
          <p:cNvSpPr txBox="1"/>
          <p:nvPr/>
        </p:nvSpPr>
        <p:spPr>
          <a:xfrm>
            <a:off x="558800" y="2614826"/>
            <a:ext cx="422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p106–107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5100" y="1155700"/>
            <a:ext cx="4507800" cy="1664866"/>
          </a:xfrm>
          <a:prstGeom prst="rect">
            <a:avLst/>
          </a:prstGeom>
          <a:solidFill>
            <a:srgbClr val="FCEFF0"/>
          </a:solidFill>
          <a:ln w="7620">
            <a:solidFill>
              <a:srgbClr val="A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2  有结构异常 → 结构/病因处理"/>
          <p:cNvSpPr txBox="1"/>
          <p:nvPr/>
        </p:nvSpPr>
        <p:spPr>
          <a:xfrm>
            <a:off x="5904800" y="1244600"/>
            <a:ext cx="422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2  有结构异常 → 结构/病因处理</a:t>
            </a:r>
          </a:p>
        </p:txBody>
      </p:sp>
      <p:sp>
        <p:nvSpPr>
          <p:cNvPr id="36" name="眼睑缺损：积极修补；闭合不全：病因治疗及必要时睑缘缝合/融合。可与其他睑缘分型并存，合并者同时按3/"/>
          <p:cNvSpPr txBox="1"/>
          <p:nvPr/>
        </p:nvSpPr>
        <p:spPr>
          <a:xfrm>
            <a:off x="5904800" y="1536700"/>
            <a:ext cx="422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眼睑缺损：积极修补；闭合不全：病因治疗及必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要时睑缘缝合/融合。可与其他睑缘分型并存，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合并者同时按3/4处理。</a:t>
            </a:r>
          </a:p>
        </p:txBody>
      </p:sp>
      <p:sp>
        <p:nvSpPr>
          <p:cNvPr id="37" name="2025版/2026刊 p107、109"/>
          <p:cNvSpPr txBox="1"/>
          <p:nvPr/>
        </p:nvSpPr>
        <p:spPr>
          <a:xfrm>
            <a:off x="5904800" y="2614826"/>
            <a:ext cx="422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p107、109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5100" y="3188866"/>
            <a:ext cx="4507800" cy="1664866"/>
          </a:xfrm>
          <a:prstGeom prst="rect">
            <a:avLst/>
          </a:prstGeom>
          <a:solidFill>
            <a:srgbClr val="FFF4E8"/>
          </a:solidFill>
          <a:ln w="7620">
            <a:solidFill>
              <a:srgbClr val="A95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3  有感染线索 → 按病原体治疗"/>
          <p:cNvSpPr txBox="1"/>
          <p:nvPr/>
        </p:nvSpPr>
        <p:spPr>
          <a:xfrm>
            <a:off x="5904800" y="3277766"/>
            <a:ext cx="422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3  有感染线索 → 按病原体治疗</a:t>
            </a:r>
          </a:p>
        </p:txBody>
      </p:sp>
      <p:sp>
        <p:nvSpPr>
          <p:cNvPr id="40" name="急性睑板腺炎/葡萄球菌性：抗细菌治疗。螨虫性：除螨每日2次、一般2~3个月；疗效须同时看症状、体征及"/>
          <p:cNvSpPr txBox="1"/>
          <p:nvPr/>
        </p:nvSpPr>
        <p:spPr>
          <a:xfrm>
            <a:off x="5904800" y="3569866"/>
            <a:ext cx="422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急性睑板腺炎/葡萄球菌性：抗细菌治疗。螨虫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性：除螨每日2次、一般2~3个月；疗效须同时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看症状、体征及虫数。</a:t>
            </a:r>
          </a:p>
        </p:txBody>
      </p:sp>
      <p:sp>
        <p:nvSpPr>
          <p:cNvPr id="41" name="2025版/2026刊 p107–108"/>
          <p:cNvSpPr txBox="1"/>
          <p:nvPr/>
        </p:nvSpPr>
        <p:spPr>
          <a:xfrm>
            <a:off x="5904800" y="4647993"/>
            <a:ext cx="422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p107–108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100" y="3188866"/>
            <a:ext cx="4507800" cy="1664866"/>
          </a:xfrm>
          <a:prstGeom prst="rect">
            <a:avLst/>
          </a:prstGeom>
          <a:solidFill>
            <a:srgbClr val="F3EFF8"/>
          </a:solidFill>
          <a:ln w="7620">
            <a:solidFill>
              <a:srgbClr val="695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4  轻中度/MGD → 居家基础管理"/>
          <p:cNvSpPr txBox="1"/>
          <p:nvPr/>
        </p:nvSpPr>
        <p:spPr>
          <a:xfrm>
            <a:off x="558800" y="3277766"/>
            <a:ext cx="422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4  轻中度/MGD → 居家基础管理</a:t>
            </a:r>
          </a:p>
        </p:txBody>
      </p:sp>
      <p:sp>
        <p:nvSpPr>
          <p:cNvPr id="44" name="清洁早晚各1次、持续1个月以上；MGD热敷40~45 ℃、每次10 min以上、每日至少1次、建议2"/>
          <p:cNvSpPr txBox="1"/>
          <p:nvPr/>
        </p:nvSpPr>
        <p:spPr>
          <a:xfrm>
            <a:off x="558800" y="3569866"/>
            <a:ext cx="422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清洁早晚各1次、持续1个月以上；MGD热敷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40~45 ℃、每次10 min以上、每日至少1次、建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议2周以上。重炎症可冷敷。</a:t>
            </a:r>
          </a:p>
        </p:txBody>
      </p:sp>
      <p:sp>
        <p:nvSpPr>
          <p:cNvPr id="45" name="2025版/2026刊 p108"/>
          <p:cNvSpPr txBox="1"/>
          <p:nvPr/>
        </p:nvSpPr>
        <p:spPr>
          <a:xfrm>
            <a:off x="558800" y="4647993"/>
            <a:ext cx="422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9100" y="5222033"/>
            <a:ext cx="4507800" cy="1664866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5  效果不佳/依从性差/中重度 → 院内"/>
          <p:cNvSpPr txBox="1"/>
          <p:nvPr/>
        </p:nvSpPr>
        <p:spPr>
          <a:xfrm>
            <a:off x="558800" y="5310933"/>
            <a:ext cx="422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5  效果不佳/依从性差/中重度 → 院内</a:t>
            </a:r>
          </a:p>
        </p:txBody>
      </p:sp>
      <p:sp>
        <p:nvSpPr>
          <p:cNvPr id="48" name="个体化选按摩、深度清洁、IPL或脉动；继续居家。联合时先IPL后按摩/热液脉动；囊肿按摩避开病灶。"/>
          <p:cNvSpPr txBox="1"/>
          <p:nvPr/>
        </p:nvSpPr>
        <p:spPr>
          <a:xfrm>
            <a:off x="558800" y="5603033"/>
            <a:ext cx="422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个体化选按摩、深度清洁、IPL或脉动；继续居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家。联合时先IPL后按摩/热液脉动；囊肿按摩避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开病灶。</a:t>
            </a:r>
          </a:p>
        </p:txBody>
      </p:sp>
      <p:sp>
        <p:nvSpPr>
          <p:cNvPr id="49" name="2025版/2026刊 p107–109"/>
          <p:cNvSpPr txBox="1"/>
          <p:nvPr/>
        </p:nvSpPr>
        <p:spPr>
          <a:xfrm>
            <a:off x="558800" y="6681160"/>
            <a:ext cx="422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p107–109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5100" y="5222033"/>
            <a:ext cx="4507800" cy="1664866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6  复评 → 继续、调整或升级"/>
          <p:cNvSpPr txBox="1"/>
          <p:nvPr/>
        </p:nvSpPr>
        <p:spPr>
          <a:xfrm>
            <a:off x="5904800" y="5310933"/>
            <a:ext cx="422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6  复评 → 继续、调整或升级</a:t>
            </a:r>
          </a:p>
        </p:txBody>
      </p:sp>
      <p:sp>
        <p:nvSpPr>
          <p:cNvPr id="52" name="比较症状、睑缘、腺口及睑酯；除螨不以虫数为唯一终点。无效MGD可考虑探通。统一复诊间隔和停治阈值：原"/>
          <p:cNvSpPr txBox="1"/>
          <p:nvPr/>
        </p:nvSpPr>
        <p:spPr>
          <a:xfrm>
            <a:off x="5904800" y="5603033"/>
            <a:ext cx="422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比较症状、睑缘、腺口及睑酯；除螨不以虫数为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唯一终点。无效MGD可考虑探通。统一复诊间隔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和停治阈值：原文未明确。</a:t>
            </a:r>
          </a:p>
        </p:txBody>
      </p:sp>
      <p:sp>
        <p:nvSpPr>
          <p:cNvPr id="53" name="2025版/2026刊 p108–109"/>
          <p:cNvSpPr txBox="1"/>
          <p:nvPr/>
        </p:nvSpPr>
        <p:spPr>
          <a:xfrm>
            <a:off x="5904800" y="6681160"/>
            <a:ext cx="422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54" name="跨行分支：1→3 感染分型；2→6 复评；4→6 复评"/>
          <p:cNvSpPr txBox="1"/>
          <p:nvPr/>
        </p:nvSpPr>
        <p:spPr>
          <a:xfrm>
            <a:off x="419100" y="7001200"/>
            <a:ext cx="98538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跨行分支：1→3 感染分型；2→6 复评；4→6 复评</a:t>
            </a:r>
          </a:p>
        </p:txBody>
      </p:sp>
      <p:sp>
        <p:nvSpPr>
          <p:cNvPr id="55" name="节点内条件优先；未列阈值不补编。完整证据、禁忌与特殊人群见提取表。"/>
          <p:cNvSpPr txBox="1"/>
          <p:nvPr/>
        </p:nvSpPr>
        <p:spPr>
          <a:xfrm>
            <a:off x="419100" y="7369500"/>
            <a:ext cx="9853800" cy="1926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6"/>
              </a:lnSpc>
              <a:spcBef>
                <a:spcPts val="0"/>
              </a:spcBef>
              <a:spcAft>
                <a:spcPts val="0"/>
              </a:spcAft>
            </a:pPr>
            <a:r>
              <a:rPr sz="819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节点内条件优先；未列阈值不补编。完整证据、禁忌与特殊人群见提取表。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干眼患者睑缘管理 一页流程</dc:title>
  <dc:subject>上传文献原文摘录；原生可编辑文字和图形</dc:subject>
  <dc:creator>临床指南速查资料整理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