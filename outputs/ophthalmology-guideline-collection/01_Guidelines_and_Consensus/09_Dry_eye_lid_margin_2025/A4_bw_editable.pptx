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  <a:p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  <a:p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  <a:p/>
          <a:p>
            <a:r>
              <a:t>lid-16 热敷与按摩安全：热敷时勿压迫眼球。热敷后可用指腹沿垂直睑缘方向轻柔按摩促进排出，注意力度；青光眼患者谨慎操作。观察症状、腺口、睑酯分泌、腺体缺失及脂质层厚度。</a:t>
            </a:r>
          </a:p>
          <a:p>
            <a:r>
              <a:t>来源：2025版/2026刊 p108 / PDF4；类别：禁忌；推荐等级：原文未明确。</a:t>
            </a:r>
          </a:p>
          <a:p>
            <a:r>
              <a:t>原文锚点：热敷时注意不要压迫眼球。</a:t>
            </a:r>
          </a:p>
          <a:p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lid-27 联合治疗与长期居家维持：病情复杂或单一治疗效果不佳者推荐联合治疗；接受院内物理治疗者，常规维持热敷、清洁等居家物理治疗，加强宣教并融入日常生活。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原文锚点：对于病情复杂或单一治疗方式效果不佳的患者，推荐进行联合治疗。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  <a:p/>
          <a:p>
            <a:r>
              <a:t>lid-29 中重度可联合IPL与热/液脉动：中重度干眼或睑缘炎可考虑两者联合：先IPL，完成后以热脉动/液脉动替代常规按摩；治疗间隔根据疗效个体化。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原文锚点：建议先行IPL治疗，治疗完成后以热脉动/液脉动取代常规的睑板腺按摩。</a:t>
            </a:r>
          </a:p>
          <a:p/>
          <a:p>
            <a:r>
              <a:t>lid-30 药物：感染或难治/全身病变：睑缘细菌感染局部用敏感抗生素，如氧氟沙星眼膏、加替沙星凝胶；难治性或合并全身病可考虑口服阿奇霉素、多西环素、四环素，密切观察不良反应。具体剂量疗程未明确。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原文锚点：对于睑缘细菌感染患者，应局部使用敏感的抗生素滴眼液或眼膏，如氧氟沙星眼膏、加替沙星凝胶等。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lid-34 特殊人群与禁忌缺项：青光眼患者热敷后按摩需谨慎。儿童、孕哺期专门方案，各口服抗生素的禁忌、相互作用及完整IPL禁忌证清单：原文未明确，不据本共识补编。</a:t>
            </a:r>
          </a:p>
          <a:p>
            <a:r>
              <a:t>来源：2025版/2026刊 p108–109 / PDF4–5；类别：特殊人群；推荐等级：原文未明确。</a:t>
            </a:r>
          </a:p>
          <a:p>
            <a:r>
              <a:t>原文锚点：青光眼患者需谨慎操作。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正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① 评估与分型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26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8" name="2025版/2026刊 p106–107"/>
          <p:cNvSpPr txBox="1"/>
          <p:nvPr/>
        </p:nvSpPr>
        <p:spPr>
          <a:xfrm>
            <a:off x="26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41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② 居家清洁"/>
          <p:cNvSpPr txBox="1"/>
          <p:nvPr/>
        </p:nvSpPr>
        <p:spPr>
          <a:xfrm>
            <a:off x="26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11" name="推荐0.01%次氯酸或清洁液/湿巾；葡萄球菌性用前者，脂溢性/MGD去油脂。早晚各1次，持续1个月以"/>
          <p:cNvSpPr txBox="1"/>
          <p:nvPr/>
        </p:nvSpPr>
        <p:spPr>
          <a:xfrm>
            <a:off x="26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12" name="2025版/2026刊 p108"/>
          <p:cNvSpPr txBox="1"/>
          <p:nvPr/>
        </p:nvSpPr>
        <p:spPr>
          <a:xfrm>
            <a:off x="26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954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③ 热敷与冷敷"/>
          <p:cNvSpPr txBox="1"/>
          <p:nvPr/>
        </p:nvSpPr>
        <p:spPr>
          <a:xfrm>
            <a:off x="26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15" name="MGD热敷40~45 ℃，每次10 min以上，每日至少1次、建议2周以上。重炎症冷敷约10 ℃、5"/>
          <p:cNvSpPr txBox="1"/>
          <p:nvPr/>
        </p:nvSpPr>
        <p:spPr>
          <a:xfrm>
            <a:off x="264160" y="2585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16" name="2025版/2026刊 p108"/>
          <p:cNvSpPr txBox="1"/>
          <p:nvPr/>
        </p:nvSpPr>
        <p:spPr>
          <a:xfrm>
            <a:off x="264160" y="2905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14982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④ 螨虫性睑缘炎"/>
          <p:cNvSpPr txBox="1"/>
          <p:nvPr/>
        </p:nvSpPr>
        <p:spPr>
          <a:xfrm>
            <a:off x="264160" y="3187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1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264160" y="3340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20" name="2025版/2026刊 p108"/>
          <p:cNvSpPr txBox="1"/>
          <p:nvPr/>
        </p:nvSpPr>
        <p:spPr>
          <a:xfrm>
            <a:off x="26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干眼患者睑缘管理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24" name="2025版／2026刊载 · 正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① 评估与分型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2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404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28" name="2025版/2026刊 p106–107"/>
          <p:cNvSpPr txBox="1"/>
          <p:nvPr/>
        </p:nvSpPr>
        <p:spPr>
          <a:xfrm>
            <a:off x="404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641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② 居家清洁"/>
          <p:cNvSpPr txBox="1"/>
          <p:nvPr/>
        </p:nvSpPr>
        <p:spPr>
          <a:xfrm>
            <a:off x="404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31" name="推荐0.01%次氯酸或清洁液/湿巾；葡萄球菌性用前者，脂溢性/MGD去油脂。早晚各1次，持续1个月以"/>
          <p:cNvSpPr txBox="1"/>
          <p:nvPr/>
        </p:nvSpPr>
        <p:spPr>
          <a:xfrm>
            <a:off x="404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32" name="2025版/2026刊 p108"/>
          <p:cNvSpPr txBox="1"/>
          <p:nvPr/>
        </p:nvSpPr>
        <p:spPr>
          <a:xfrm>
            <a:off x="404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3954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③ 热敷与冷敷"/>
          <p:cNvSpPr txBox="1"/>
          <p:nvPr/>
        </p:nvSpPr>
        <p:spPr>
          <a:xfrm>
            <a:off x="404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35" name="MGD热敷40~45 ℃，每次10 min以上，每日至少1次、建议2周以上。重炎症冷敷约10 ℃、5"/>
          <p:cNvSpPr txBox="1"/>
          <p:nvPr/>
        </p:nvSpPr>
        <p:spPr>
          <a:xfrm>
            <a:off x="4044160" y="2585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36" name="2025版/2026刊 p108"/>
          <p:cNvSpPr txBox="1"/>
          <p:nvPr/>
        </p:nvSpPr>
        <p:spPr>
          <a:xfrm>
            <a:off x="4044160" y="2905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14982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④ 螨虫性睑缘炎"/>
          <p:cNvSpPr txBox="1"/>
          <p:nvPr/>
        </p:nvSpPr>
        <p:spPr>
          <a:xfrm>
            <a:off x="4044160" y="3187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3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4044160" y="3340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40" name="2025版/2026刊 p108"/>
          <p:cNvSpPr txBox="1"/>
          <p:nvPr/>
        </p:nvSpPr>
        <p:spPr>
          <a:xfrm>
            <a:off x="404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干眼患者睑缘管理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4" name="2025版／2026刊载 · 正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① 评估与分型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4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26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48" name="2025版/2026刊 p106–107"/>
          <p:cNvSpPr txBox="1"/>
          <p:nvPr/>
        </p:nvSpPr>
        <p:spPr>
          <a:xfrm>
            <a:off x="26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969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② 居家清洁"/>
          <p:cNvSpPr txBox="1"/>
          <p:nvPr/>
        </p:nvSpPr>
        <p:spPr>
          <a:xfrm>
            <a:off x="26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51" name="推荐0.01%次氯酸或清洁液/湿巾；葡萄球菌性用前者，脂溢性/MGD去油脂。早晚各1次，持续1个月以"/>
          <p:cNvSpPr txBox="1"/>
          <p:nvPr/>
        </p:nvSpPr>
        <p:spPr>
          <a:xfrm>
            <a:off x="26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52" name="2025版/2026刊 p108"/>
          <p:cNvSpPr txBox="1"/>
          <p:nvPr/>
        </p:nvSpPr>
        <p:spPr>
          <a:xfrm>
            <a:off x="26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7234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③ 热敷与冷敷"/>
          <p:cNvSpPr txBox="1"/>
          <p:nvPr/>
        </p:nvSpPr>
        <p:spPr>
          <a:xfrm>
            <a:off x="26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55" name="MGD热敷40~45 ℃，每次10 min以上，每日至少1次、建议2周以上。重炎症冷敷约10 ℃、5"/>
          <p:cNvSpPr txBox="1"/>
          <p:nvPr/>
        </p:nvSpPr>
        <p:spPr>
          <a:xfrm>
            <a:off x="264160" y="7913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56" name="2025版/2026刊 p108"/>
          <p:cNvSpPr txBox="1"/>
          <p:nvPr/>
        </p:nvSpPr>
        <p:spPr>
          <a:xfrm>
            <a:off x="264160" y="8233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47782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④ 螨虫性睑缘炎"/>
          <p:cNvSpPr txBox="1"/>
          <p:nvPr/>
        </p:nvSpPr>
        <p:spPr>
          <a:xfrm>
            <a:off x="264160" y="8515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5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264160" y="8668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60" name="2025版/2026刊 p108"/>
          <p:cNvSpPr txBox="1"/>
          <p:nvPr/>
        </p:nvSpPr>
        <p:spPr>
          <a:xfrm>
            <a:off x="26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干眼患者睑缘管理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64" name="2025版／2026刊载 · 正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① 评估与分型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6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404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68" name="2025版/2026刊 p106–107"/>
          <p:cNvSpPr txBox="1"/>
          <p:nvPr/>
        </p:nvSpPr>
        <p:spPr>
          <a:xfrm>
            <a:off x="404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969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② 居家清洁"/>
          <p:cNvSpPr txBox="1"/>
          <p:nvPr/>
        </p:nvSpPr>
        <p:spPr>
          <a:xfrm>
            <a:off x="404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71" name="推荐0.01%次氯酸或清洁液/湿巾；葡萄球菌性用前者，脂溢性/MGD去油脂。早晚各1次，持续1个月以"/>
          <p:cNvSpPr txBox="1"/>
          <p:nvPr/>
        </p:nvSpPr>
        <p:spPr>
          <a:xfrm>
            <a:off x="404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72" name="2025版/2026刊 p108"/>
          <p:cNvSpPr txBox="1"/>
          <p:nvPr/>
        </p:nvSpPr>
        <p:spPr>
          <a:xfrm>
            <a:off x="404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7234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③ 热敷与冷敷"/>
          <p:cNvSpPr txBox="1"/>
          <p:nvPr/>
        </p:nvSpPr>
        <p:spPr>
          <a:xfrm>
            <a:off x="404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75" name="MGD热敷40~45 ℃，每次10 min以上，每日至少1次、建议2周以上。重炎症冷敷约10 ℃、5"/>
          <p:cNvSpPr txBox="1"/>
          <p:nvPr/>
        </p:nvSpPr>
        <p:spPr>
          <a:xfrm>
            <a:off x="4044160" y="7913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76" name="2025版/2026刊 p108"/>
          <p:cNvSpPr txBox="1"/>
          <p:nvPr/>
        </p:nvSpPr>
        <p:spPr>
          <a:xfrm>
            <a:off x="4044160" y="8233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47782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④ 螨虫性睑缘炎"/>
          <p:cNvSpPr txBox="1"/>
          <p:nvPr/>
        </p:nvSpPr>
        <p:spPr>
          <a:xfrm>
            <a:off x="4044160" y="8515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7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4044160" y="8668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80" name="2025版/2026刊 p108"/>
          <p:cNvSpPr txBox="1"/>
          <p:nvPr/>
        </p:nvSpPr>
        <p:spPr>
          <a:xfrm>
            <a:off x="404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背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⑤ 何时加院内治疗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26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8" name="2025版/2026刊 p107–109"/>
          <p:cNvSpPr txBox="1"/>
          <p:nvPr/>
        </p:nvSpPr>
        <p:spPr>
          <a:xfrm>
            <a:off x="26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41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⑥ 联合顺序与安全"/>
          <p:cNvSpPr txBox="1"/>
          <p:nvPr/>
        </p:nvSpPr>
        <p:spPr>
          <a:xfrm>
            <a:off x="26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1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26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12" name="2025版/2026刊 p108–109"/>
          <p:cNvSpPr txBox="1"/>
          <p:nvPr/>
        </p:nvSpPr>
        <p:spPr>
          <a:xfrm>
            <a:off x="26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95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⑦ 药物与结构异常"/>
          <p:cNvSpPr txBox="1"/>
          <p:nvPr/>
        </p:nvSpPr>
        <p:spPr>
          <a:xfrm>
            <a:off x="26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1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26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16" name="2025版/2026刊 p109"/>
          <p:cNvSpPr txBox="1"/>
          <p:nvPr/>
        </p:nvSpPr>
        <p:spPr>
          <a:xfrm>
            <a:off x="26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971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⑧ 复评与特殊人群"/>
          <p:cNvSpPr txBox="1"/>
          <p:nvPr/>
        </p:nvSpPr>
        <p:spPr>
          <a:xfrm>
            <a:off x="26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1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264160" y="3487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20" name="2025版/2026刊 p108–109"/>
          <p:cNvSpPr txBox="1"/>
          <p:nvPr/>
        </p:nvSpPr>
        <p:spPr>
          <a:xfrm>
            <a:off x="26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干眼患者睑缘管理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24" name="2025版／2026刊载 · 背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⑤ 何时加院内治疗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2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404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28" name="2025版/2026刊 p107–109"/>
          <p:cNvSpPr txBox="1"/>
          <p:nvPr/>
        </p:nvSpPr>
        <p:spPr>
          <a:xfrm>
            <a:off x="404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641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⑥ 联合顺序与安全"/>
          <p:cNvSpPr txBox="1"/>
          <p:nvPr/>
        </p:nvSpPr>
        <p:spPr>
          <a:xfrm>
            <a:off x="404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3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404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32" name="2025版/2026刊 p108–109"/>
          <p:cNvSpPr txBox="1"/>
          <p:nvPr/>
        </p:nvSpPr>
        <p:spPr>
          <a:xfrm>
            <a:off x="404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395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⑦ 药物与结构异常"/>
          <p:cNvSpPr txBox="1"/>
          <p:nvPr/>
        </p:nvSpPr>
        <p:spPr>
          <a:xfrm>
            <a:off x="404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3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404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36" name="2025版/2026刊 p109"/>
          <p:cNvSpPr txBox="1"/>
          <p:nvPr/>
        </p:nvSpPr>
        <p:spPr>
          <a:xfrm>
            <a:off x="404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2971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⑧ 复评与特殊人群"/>
          <p:cNvSpPr txBox="1"/>
          <p:nvPr/>
        </p:nvSpPr>
        <p:spPr>
          <a:xfrm>
            <a:off x="404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3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4044160" y="3487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40" name="2025版/2026刊 p108–109"/>
          <p:cNvSpPr txBox="1"/>
          <p:nvPr/>
        </p:nvSpPr>
        <p:spPr>
          <a:xfrm>
            <a:off x="404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干眼患者睑缘管理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4" name="2025版／2026刊载 · 背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⑤ 何时加院内治疗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4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26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48" name="2025版/2026刊 p107–109"/>
          <p:cNvSpPr txBox="1"/>
          <p:nvPr/>
        </p:nvSpPr>
        <p:spPr>
          <a:xfrm>
            <a:off x="26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969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⑥ 联合顺序与安全"/>
          <p:cNvSpPr txBox="1"/>
          <p:nvPr/>
        </p:nvSpPr>
        <p:spPr>
          <a:xfrm>
            <a:off x="26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5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26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52" name="2025版/2026刊 p108–109"/>
          <p:cNvSpPr txBox="1"/>
          <p:nvPr/>
        </p:nvSpPr>
        <p:spPr>
          <a:xfrm>
            <a:off x="26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723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⑦ 药物与结构异常"/>
          <p:cNvSpPr txBox="1"/>
          <p:nvPr/>
        </p:nvSpPr>
        <p:spPr>
          <a:xfrm>
            <a:off x="26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5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26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56" name="2025版/2026刊 p109"/>
          <p:cNvSpPr txBox="1"/>
          <p:nvPr/>
        </p:nvSpPr>
        <p:spPr>
          <a:xfrm>
            <a:off x="26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6251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⑧ 复评与特殊人群"/>
          <p:cNvSpPr txBox="1"/>
          <p:nvPr/>
        </p:nvSpPr>
        <p:spPr>
          <a:xfrm>
            <a:off x="26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5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264160" y="8815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60" name="2025版/2026刊 p108–109"/>
          <p:cNvSpPr txBox="1"/>
          <p:nvPr/>
        </p:nvSpPr>
        <p:spPr>
          <a:xfrm>
            <a:off x="26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干眼患者睑缘管理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64" name="2025版／2026刊载 · 背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⑤ 何时加院内治疗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6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404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68" name="2025版/2026刊 p107–109"/>
          <p:cNvSpPr txBox="1"/>
          <p:nvPr/>
        </p:nvSpPr>
        <p:spPr>
          <a:xfrm>
            <a:off x="404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969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⑥ 联合顺序与安全"/>
          <p:cNvSpPr txBox="1"/>
          <p:nvPr/>
        </p:nvSpPr>
        <p:spPr>
          <a:xfrm>
            <a:off x="404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7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404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72" name="2025版/2026刊 p108–109"/>
          <p:cNvSpPr txBox="1"/>
          <p:nvPr/>
        </p:nvSpPr>
        <p:spPr>
          <a:xfrm>
            <a:off x="404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723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⑦ 药物与结构异常"/>
          <p:cNvSpPr txBox="1"/>
          <p:nvPr/>
        </p:nvSpPr>
        <p:spPr>
          <a:xfrm>
            <a:off x="404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7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404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76" name="2025版/2026刊 p109"/>
          <p:cNvSpPr txBox="1"/>
          <p:nvPr/>
        </p:nvSpPr>
        <p:spPr>
          <a:xfrm>
            <a:off x="404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6251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⑧ 复评与特殊人群"/>
          <p:cNvSpPr txBox="1"/>
          <p:nvPr/>
        </p:nvSpPr>
        <p:spPr>
          <a:xfrm>
            <a:off x="404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7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4044160" y="8815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80" name="2025版/2026刊 p108–109"/>
          <p:cNvSpPr txBox="1"/>
          <p:nvPr/>
        </p:nvSpPr>
        <p:spPr>
          <a:xfrm>
            <a:off x="404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 A4 bw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