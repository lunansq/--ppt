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320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原图2忠实彩色重绘。文字和连接线为原生可编辑对象。原图的物理、药物、手术为相应治疗选项，未新增各行之间的阶梯箭头。</a:t>
            </a:r>
          </a:p>
          <a:p>
            <a:r>
              <a:t>来源：据《中国干眼患者睑缘管理专家共识（2025）》图2彩色重绘｜2026年刊载，原刊p107（PDF第3页）</a:t>
            </a:r>
          </a:p>
          <a:p/>
          <a:p>
            <a:r>
              <a:t>逐列原文：</a:t>
            </a:r>
          </a:p>
          <a:p>
            <a:r>
              <a:t>{</a:t>
            </a:r>
          </a:p>
          <a:p>
            <a:r>
              <a:t>  "source": {</a:t>
            </a:r>
          </a:p>
          <a:p>
            <a:r>
              <a:t>    "title": "中国干眼患者睑缘管理专家共识（2025）",</a:t>
            </a:r>
          </a:p>
          <a:p>
            <a:r>
              <a:t>    "version_year": 2025,</a:t>
            </a:r>
          </a:p>
          <a:p>
            <a:r>
              <a:t>    "publication_year": 2026,</a:t>
            </a:r>
          </a:p>
          <a:p>
            <a:r>
              <a:t>    "journal_page": 107,</a:t>
            </a:r>
          </a:p>
          <a:p>
            <a:r>
              <a:t>    "pdf_page": 3,</a:t>
            </a:r>
          </a:p>
          <a:p>
            <a:r>
              <a:t>    "figure": 2,</a:t>
            </a:r>
          </a:p>
          <a:p>
            <a:r>
              <a:t>    "caption": "图2 干眼患者睑缘管理流程图",</a:t>
            </a:r>
          </a:p>
          <a:p>
            <a:r>
              <a:t>    "abbreviations": "MGD：睑板腺功能障碍；IPL：强脉冲光；BCL：治疗性角膜接触镜"</a:t>
            </a:r>
          </a:p>
          <a:p>
            <a:r>
              <a:t>  },</a:t>
            </a:r>
          </a:p>
          <a:p>
            <a:r>
              <a:t>  "entry": "睑缘评估",</a:t>
            </a:r>
          </a:p>
          <a:p>
            <a:r>
              <a:t>  "groups": [</a:t>
            </a:r>
          </a:p>
          <a:p>
            <a:r>
              <a:t>    {</a:t>
            </a:r>
          </a:p>
          <a:p>
            <a:r>
              <a:t>      "id": "anterior",</a:t>
            </a:r>
          </a:p>
          <a:p>
            <a:r>
              <a:t>      "title": "前部睑缘炎",</a:t>
            </a:r>
          </a:p>
          <a:p>
            <a:r>
              <a:t>      "columns": [</a:t>
            </a:r>
          </a:p>
          <a:p>
            <a:r>
              <a:t>        "c1",</a:t>
            </a:r>
          </a:p>
          <a:p>
            <a:r>
              <a:t>        "c2",</a:t>
            </a:r>
          </a:p>
          <a:p>
            <a:r>
              <a:t>        "c3"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"posterior",</a:t>
            </a:r>
          </a:p>
          <a:p>
            <a:r>
              <a:t>      "title": "后部睑缘炎",</a:t>
            </a:r>
          </a:p>
          <a:p>
            <a:r>
              <a:t>      "columns": [</a:t>
            </a:r>
          </a:p>
          <a:p>
            <a:r>
              <a:t>        "c4",</a:t>
            </a:r>
          </a:p>
          <a:p>
            <a:r>
              <a:t>        "c5",</a:t>
            </a:r>
          </a:p>
          <a:p>
            <a:r>
              <a:t>        "c6"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"structural",</a:t>
            </a:r>
          </a:p>
          <a:p>
            <a:r>
              <a:t>      "title": "睑缘结构异常",</a:t>
            </a:r>
          </a:p>
          <a:p>
            <a:r>
              <a:t>      "columns": [</a:t>
            </a:r>
          </a:p>
          <a:p>
            <a:r>
              <a:t>        "c7",</a:t>
            </a:r>
          </a:p>
          <a:p>
            <a:r>
              <a:t>        "c8"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"rows": [</a:t>
            </a:r>
          </a:p>
          <a:p>
            <a:r>
              <a:t>    "signs",</a:t>
            </a:r>
          </a:p>
          <a:p>
            <a:r>
              <a:t>    "diagnosis",</a:t>
            </a:r>
          </a:p>
          <a:p>
            <a:r>
              <a:t>    "physical",</a:t>
            </a:r>
          </a:p>
          <a:p>
            <a:r>
              <a:t>    "medication",</a:t>
            </a:r>
          </a:p>
          <a:p>
            <a:r>
              <a:t>    "surgery"</a:t>
            </a:r>
          </a:p>
          <a:p>
            <a:r>
              <a:t>  ],</a:t>
            </a:r>
          </a:p>
          <a:p>
            <a:r>
              <a:t>  "row_labels": {</a:t>
            </a:r>
          </a:p>
          <a:p>
            <a:r>
              <a:t>    "physical": "物理治疗",</a:t>
            </a:r>
          </a:p>
          <a:p>
            <a:r>
              <a:t>    "medication": "药物治疗",</a:t>
            </a:r>
          </a:p>
          <a:p>
            <a:r>
              <a:t>    "surgery": "手术治疗"</a:t>
            </a:r>
          </a:p>
          <a:p>
            <a:r>
              <a:t>  },</a:t>
            </a:r>
          </a:p>
          <a:p>
            <a:r>
              <a:t>  "columns": [</a:t>
            </a:r>
          </a:p>
          <a:p>
            <a:r>
              <a:t>    {</a:t>
            </a:r>
          </a:p>
          <a:p>
            <a:r>
              <a:t>      "id": "c1",</a:t>
            </a:r>
          </a:p>
          <a:p>
            <a:r>
              <a:t>      "group": "anterior",</a:t>
            </a:r>
          </a:p>
          <a:p>
            <a:r>
              <a:t>      "signs": "面部皮肤改变\n眼睑油脂堆积等",</a:t>
            </a:r>
          </a:p>
          <a:p>
            <a:r>
              <a:t>      "diagnosis": "脂溢性睑缘炎",</a:t>
            </a:r>
          </a:p>
          <a:p>
            <a:r>
              <a:t>      "physical": "居家：睑缘清洁\n院内：深度清洁",</a:t>
            </a:r>
          </a:p>
          <a:p>
            <a:r>
              <a:t>      "medication": "必要时抗生素、\n口服脂肪酸等",</a:t>
            </a:r>
          </a:p>
          <a:p>
            <a:r>
              <a:t>      "surgery":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"c2",</a:t>
            </a:r>
          </a:p>
          <a:p>
            <a:r>
              <a:t>      "group": "anterior",</a:t>
            </a:r>
          </a:p>
          <a:p>
            <a:r>
              <a:t>      "signs": "睫毛根部袖套样分泌物\n螨虫检查阳性等",</a:t>
            </a:r>
          </a:p>
          <a:p>
            <a:r>
              <a:t>      "diagnosis": "蠕形螨睑缘炎",</a:t>
            </a:r>
          </a:p>
          <a:p>
            <a:r>
              <a:t>      "physical": "居家：茶树精油/4-松\n油醇清洁除螨\n院内：深度清洁、IPL",</a:t>
            </a:r>
          </a:p>
          <a:p>
            <a:r>
              <a:t>      "medication": "局部抗生素",</a:t>
            </a:r>
          </a:p>
          <a:p>
            <a:r>
              <a:t>      "surgery":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"c3",</a:t>
            </a:r>
          </a:p>
          <a:p>
            <a:r>
              <a:t>      "group": "anterior",</a:t>
            </a:r>
          </a:p>
          <a:p>
            <a:r>
              <a:t>      "signs": "秃睫倒睫、睑缘溃疡\n染色及培养等",</a:t>
            </a:r>
          </a:p>
          <a:p>
            <a:r>
              <a:t>      "diagnosis": "葡萄球菌性睑缘炎",</a:t>
            </a:r>
          </a:p>
          <a:p>
            <a:r>
              <a:t>      "physical": "居家：次氯酸清洁\n院内：深度清洁",</a:t>
            </a:r>
          </a:p>
          <a:p>
            <a:r>
              <a:t>      "medication": "局部抗生素，必\n要时口服",</a:t>
            </a:r>
          </a:p>
          <a:p>
            <a:r>
              <a:t>      "surgery": "手术纠正并发的\n倒睫等"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"c4",</a:t>
            </a:r>
          </a:p>
          <a:p>
            <a:r>
              <a:t>      "group": "posterior",</a:t>
            </a:r>
          </a:p>
          <a:p>
            <a:r>
              <a:t>      "signs": "睑板腺萎缩/迂曲\n睑酯质/量异常",</a:t>
            </a:r>
          </a:p>
          <a:p>
            <a:r>
              <a:t>      "diagnosis": "MGD",</a:t>
            </a:r>
          </a:p>
          <a:p>
            <a:r>
              <a:t>      "physical": "居家：热敷\n院内：睑板腺按摩、\nIPL、热/液/光脉动",</a:t>
            </a:r>
          </a:p>
          <a:p>
            <a:r>
              <a:t>      "medication": "人工泪液、抗炎、\n口服脂肪酸等",</a:t>
            </a:r>
          </a:p>
          <a:p>
            <a:r>
              <a:t>      "surgery": "睑板腺探通"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"c5",</a:t>
            </a:r>
          </a:p>
          <a:p>
            <a:r>
              <a:t>      "group": "posterior",</a:t>
            </a:r>
          </a:p>
          <a:p>
            <a:r>
              <a:t>      "signs": "眼睑肿块（边界清晰）\n可伴结膜面肉芽",</a:t>
            </a:r>
          </a:p>
          <a:p>
            <a:r>
              <a:t>      "diagnosis": "睑板腺囊肿",</a:t>
            </a:r>
          </a:p>
          <a:p>
            <a:r>
              <a:t>      "physical": "居家：热敷\n院内：IPL",</a:t>
            </a:r>
          </a:p>
          <a:p>
            <a:r>
              <a:t>      "medication": "必要时局部抗生素",</a:t>
            </a:r>
          </a:p>
          <a:p>
            <a:r>
              <a:t>      "surgery": "囊肿切除/切排"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"c6",</a:t>
            </a:r>
          </a:p>
          <a:p>
            <a:r>
              <a:t>      "group": "posterior",</a:t>
            </a:r>
          </a:p>
          <a:p>
            <a:r>
              <a:t>      "signs": "眼睑红肿热痛\n可伴结膜充血",</a:t>
            </a:r>
          </a:p>
          <a:p>
            <a:r>
              <a:t>      "diagnosis": "急性睑板腺炎",</a:t>
            </a:r>
          </a:p>
          <a:p>
            <a:r>
              <a:t>      "physical": "居家：热敷、\n冷敷及热敷\n交替",</a:t>
            </a:r>
          </a:p>
          <a:p>
            <a:r>
              <a:t>      "medication": "局部抗生素，\n必要时口服",</a:t>
            </a:r>
          </a:p>
          <a:p>
            <a:r>
              <a:t>      "surgery": null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"c7",</a:t>
            </a:r>
          </a:p>
          <a:p>
            <a:r>
              <a:t>      "group": "structural",</a:t>
            </a:r>
          </a:p>
          <a:p>
            <a:r>
              <a:t>      "signs": "外伤、眼睑术后、\n先天畸形等",</a:t>
            </a:r>
          </a:p>
          <a:p>
            <a:r>
              <a:t>      "diagnosis": "眼睑缺损",</a:t>
            </a:r>
          </a:p>
          <a:p>
            <a:r>
              <a:t>      "physical": null,</a:t>
            </a:r>
          </a:p>
          <a:p>
            <a:r>
              <a:t>      "medication": "眼膏类厚涂，\n人工泪液",</a:t>
            </a:r>
          </a:p>
          <a:p>
            <a:r>
              <a:t>      "surgery": "手术修补"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"c8",</a:t>
            </a:r>
          </a:p>
          <a:p>
            <a:r>
              <a:t>      "group": "structural",</a:t>
            </a:r>
          </a:p>
          <a:p>
            <a:r>
              <a:t>      "signs": "眼睑术后、甲亢、\n面神经疾病等",</a:t>
            </a:r>
          </a:p>
          <a:p>
            <a:r>
              <a:t>      "diagnosis": "眼睑闭合不全",</a:t>
            </a:r>
          </a:p>
          <a:p>
            <a:r>
              <a:t>      "physical": "居家：瞬目练习、睡\n眠时粘贴眼罩等\n院内：BCL、巩膜镜、\n湿房镜等",</a:t>
            </a:r>
          </a:p>
          <a:p>
            <a:r>
              <a:t>      "medication": "人工泪液（水剂+\n膏剂）\n病因治疗",</a:t>
            </a:r>
          </a:p>
          <a:p>
            <a:r>
              <a:t>      "surgery": "睑缘融合等手术"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"edges": [</a:t>
            </a:r>
          </a:p>
          <a:p>
            <a:r>
              <a:t>    {</a:t>
            </a:r>
          </a:p>
          <a:p>
            <a:r>
              <a:t>      "from": "entry",</a:t>
            </a:r>
          </a:p>
          <a:p>
            <a:r>
              <a:t>      "to": "anterior",</a:t>
            </a:r>
          </a:p>
          <a:p>
            <a:r>
              <a:t>      "type": "group_bus"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"entry",</a:t>
            </a:r>
          </a:p>
          <a:p>
            <a:r>
              <a:t>      "to": "posterior",</a:t>
            </a:r>
          </a:p>
          <a:p>
            <a:r>
              <a:t>      "type": "group_bus"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"entry",</a:t>
            </a:r>
          </a:p>
          <a:p>
            <a:r>
              <a:t>      "to": "structural",</a:t>
            </a:r>
          </a:p>
          <a:p>
            <a:r>
              <a:t>      "type": "group_bus"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"anterior",</a:t>
            </a:r>
          </a:p>
          <a:p>
            <a:r>
              <a:t>      "to": "c1.signs",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"c1.signs",</a:t>
            </a:r>
          </a:p>
          <a:p>
            <a:r>
              <a:t>      "to": "c1.diagnosis",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"c1.diagnosis",</a:t>
            </a:r>
          </a:p>
          <a:p>
            <a:r>
              <a:t>      "to": "c1.physical",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"anterior",</a:t>
            </a:r>
          </a:p>
          <a:p>
            <a:r>
              <a:t>      "to": "c2.signs",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"c2.signs",</a:t>
            </a:r>
          </a:p>
          <a:p>
            <a:r>
              <a:t>      "to": "c2.diagnosis",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"c2.diagnosis",</a:t>
            </a:r>
          </a:p>
          <a:p>
            <a:r>
              <a:t>      "to": "c2.physical",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"anterior",</a:t>
            </a:r>
          </a:p>
          <a:p>
            <a:r>
              <a:t>      "to": "c3.signs",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"c3.signs",</a:t>
            </a:r>
          </a:p>
          <a:p>
            <a:r>
              <a:t>      "to": "c3.diagnosis",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"c3.diagnosis",</a:t>
            </a:r>
          </a:p>
          <a:p>
            <a:r>
              <a:t>      "to": "c3.physical",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"posterior",</a:t>
            </a:r>
          </a:p>
          <a:p>
            <a:r>
              <a:t>      "to": "c4.signs",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"c4.signs",</a:t>
            </a:r>
          </a:p>
          <a:p>
            <a:r>
              <a:t>      "to": "c4.diagnosis",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"c4.diagnosis",</a:t>
            </a:r>
          </a:p>
          <a:p>
            <a:r>
              <a:t>      "to": "c4.physical",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"posterior",</a:t>
            </a:r>
          </a:p>
          <a:p>
            <a:r>
              <a:t>      "to": "c5.signs",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"c5.signs",</a:t>
            </a:r>
          </a:p>
          <a:p>
            <a:r>
              <a:t>      "to": "c5.diagnosis",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"c5.diagnosis",</a:t>
            </a:r>
          </a:p>
          <a:p>
            <a:r>
              <a:t>      "to": "c5.physical",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"posterior",</a:t>
            </a:r>
          </a:p>
          <a:p>
            <a:r>
              <a:t>      "to": "c6.signs",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"c6.signs",</a:t>
            </a:r>
          </a:p>
          <a:p>
            <a:r>
              <a:t>      "to": "c6.diagnosis",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"c6.diagnosis",</a:t>
            </a:r>
          </a:p>
          <a:p>
            <a:r>
              <a:t>      "to": "c6.physical",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"structural",</a:t>
            </a:r>
          </a:p>
          <a:p>
            <a:r>
              <a:t>      "to": "c7.signs",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"c7.signs",</a:t>
            </a:r>
          </a:p>
          <a:p>
            <a:r>
              <a:t>      "to": "c7.diagnosis",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"c7.diagnosis",</a:t>
            </a:r>
          </a:p>
          <a:p>
            <a:r>
              <a:t>      "to": "c7.medication",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"structural",</a:t>
            </a:r>
          </a:p>
          <a:p>
            <a:r>
              <a:t>      "to": "c8.signs",</a:t>
            </a:r>
          </a:p>
          <a:p>
            <a:r>
              <a:t>      "type": "plain_branch"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"c8.signs",</a:t>
            </a:r>
          </a:p>
          <a:p>
            <a:r>
              <a:t>      "to": "c8.diagnosis",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"c8.diagnosis",</a:t>
            </a:r>
          </a:p>
          <a:p>
            <a:r>
              <a:t>      "to": "c8.physical",</a:t>
            </a:r>
          </a:p>
          <a:p>
            <a:r>
              <a:t>      "type": "arrow"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"label.physical",</a:t>
            </a:r>
          </a:p>
          <a:p>
            <a:r>
              <a:t>      "to": "c1.physical",</a:t>
            </a:r>
          </a:p>
          <a:p>
            <a:r>
              <a:t>      "type": "row_label_arrow"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"label.medication",</a:t>
            </a:r>
          </a:p>
          <a:p>
            <a:r>
              <a:t>      "to": "c1.medication",</a:t>
            </a:r>
          </a:p>
          <a:p>
            <a:r>
              <a:t>      "type": "row_label_arrow"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"label.surgery",</a:t>
            </a:r>
          </a:p>
          <a:p>
            <a:r>
              <a:t>      "to": "c3.surgery",</a:t>
            </a:r>
          </a:p>
          <a:p>
            <a:r>
              <a:t>      "type": "row_label_arrow"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"verification_notes": [</a:t>
            </a:r>
          </a:p>
          <a:p>
            <a:r>
              <a:t>    "所有文字按原图核对，换行可因新版布局改变，内容不补编。",</a:t>
            </a:r>
          </a:p>
          <a:p>
            <a:r>
              <a:t>    "第7列药物框经两名复核者放大视觉核对，确认“眼膏类厚涂，人工泪液”；原图初读的“屏”已更正，中文OCR亦支持“厚”。",</a:t>
            </a:r>
          </a:p>
          <a:p>
            <a:r>
              <a:t>    "第8列手术是“睑缘融合等手术”，不是“睑缘缝合”。",</a:t>
            </a:r>
          </a:p>
          <a:p>
            <a:r>
              <a:t>    "第2列为“茶树精油/4-松油醇清洁除螨”，不是将正文茶树油替代进图。",</a:t>
            </a:r>
          </a:p>
          <a:p>
            <a:r>
              <a:t>    "第3列体征原图连写“秃睫倒睫”，不擅加逗号。",</a:t>
            </a:r>
          </a:p>
          <a:p>
            <a:r>
              <a:t>    "第1列药物“必要时抗生素、口服脂肪酸等”，第4列“人工泪液、抗炎、口服脂肪酸等”，不从正文添加剂量或疗程。",</a:t>
            </a:r>
          </a:p>
          <a:p>
            <a:r>
              <a:t>    "物理/药物/手术三行是选项框，原图并无从物理治疗到药物再到手术的序贯箭头。",</a:t>
            </a:r>
          </a:p>
          <a:p>
            <a:r>
              <a:t>    "第1、2、6列没有手术框；第7列没有物理治疗框，不补空缺内容。"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16100" y="3162300"/>
            <a:ext cx="6791325" cy="75438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07425" y="3162300"/>
            <a:ext cx="6791325" cy="7543800"/>
          </a:xfrm>
          <a:prstGeom prst="roundRect">
            <a:avLst>
              <a:gd name="adj" fmla="val 5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398750" y="3162300"/>
            <a:ext cx="4527550" cy="7543800"/>
          </a:xfrm>
          <a:prstGeom prst="roundRect">
            <a:avLst>
              <a:gd name="adj" fmla="val 5000"/>
            </a:avLst>
          </a:prstGeom>
          <a:solidFill>
            <a:srgbClr val="F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干眼患者睑缘管理流程图"/>
          <p:cNvSpPr txBox="1"/>
          <p:nvPr/>
        </p:nvSpPr>
        <p:spPr>
          <a:xfrm>
            <a:off x="482600" y="254000"/>
            <a:ext cx="19050000" cy="596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干眼患者睑缘管理流程图</a:t>
            </a:r>
          </a:p>
        </p:txBody>
      </p:sp>
      <p:sp>
        <p:nvSpPr>
          <p:cNvPr id="6" name="原共识图2 · 彩色重绘"/>
          <p:cNvSpPr txBox="1"/>
          <p:nvPr/>
        </p:nvSpPr>
        <p:spPr>
          <a:xfrm>
            <a:off x="508000" y="914400"/>
            <a:ext cx="184150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原共识图</a:t>
            </a:r>
            <a:r>
              <a:rPr sz="145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2 </a:t>
            </a:r>
            <a:r>
              <a:rPr sz="145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45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 </a:t>
            </a:r>
            <a:r>
              <a:rPr sz="145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彩色重绘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371600"/>
            <a:ext cx="2489200" cy="584200"/>
          </a:xfrm>
          <a:prstGeom prst="roundRect">
            <a:avLst>
              <a:gd name="adj" fmla="val 5000"/>
            </a:avLst>
          </a:prstGeom>
          <a:solidFill>
            <a:srgbClr val="183D5A"/>
          </a:solidFill>
          <a:ln w="11430">
            <a:solidFill>
              <a:srgbClr val="183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睑缘评估"/>
          <p:cNvSpPr txBox="1"/>
          <p:nvPr/>
        </p:nvSpPr>
        <p:spPr>
          <a:xfrm>
            <a:off x="9017000" y="1435100"/>
            <a:ext cx="228600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睑缘评估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160000" y="1955800"/>
            <a:ext cx="0" cy="1905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1762" y="2146300"/>
            <a:ext cx="12450763" cy="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1762" y="2146300"/>
            <a:ext cx="0" cy="2413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05000" y="2387600"/>
            <a:ext cx="6613525" cy="558800"/>
          </a:xfrm>
          <a:prstGeom prst="roundRect">
            <a:avLst>
              <a:gd name="adj" fmla="val 5000"/>
            </a:avLst>
          </a:prstGeom>
          <a:solidFill>
            <a:srgbClr val="215B96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前部睑缘炎"/>
          <p:cNvSpPr txBox="1"/>
          <p:nvPr/>
        </p:nvSpPr>
        <p:spPr>
          <a:xfrm>
            <a:off x="2006600" y="2451100"/>
            <a:ext cx="6410325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前部睑缘炎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1762" y="2946400"/>
            <a:ext cx="0" cy="1905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47987" y="3136900"/>
            <a:ext cx="4527550" cy="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47987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11762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75537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003087" y="2146300"/>
            <a:ext cx="0" cy="2413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96325" y="2387600"/>
            <a:ext cx="6613525" cy="558800"/>
          </a:xfrm>
          <a:prstGeom prst="roundRect">
            <a:avLst>
              <a:gd name="adj" fmla="val 5000"/>
            </a:avLst>
          </a:prstGeom>
          <a:solidFill>
            <a:srgbClr val="14756E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后部睑缘炎"/>
          <p:cNvSpPr txBox="1"/>
          <p:nvPr/>
        </p:nvSpPr>
        <p:spPr>
          <a:xfrm>
            <a:off x="8797925" y="2451100"/>
            <a:ext cx="6410325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后部睑缘炎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003087" y="2946400"/>
            <a:ext cx="0" cy="1905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39312" y="3136900"/>
            <a:ext cx="4527550" cy="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39312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003087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266862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662525" y="2146300"/>
            <a:ext cx="0" cy="2413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5487650" y="2387600"/>
            <a:ext cx="4349750" cy="558800"/>
          </a:xfrm>
          <a:prstGeom prst="roundRect">
            <a:avLst>
              <a:gd name="adj" fmla="val 5000"/>
            </a:avLst>
          </a:prstGeom>
          <a:solidFill>
            <a:srgbClr val="76539C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睑缘结构异常"/>
          <p:cNvSpPr txBox="1"/>
          <p:nvPr/>
        </p:nvSpPr>
        <p:spPr>
          <a:xfrm>
            <a:off x="15589250" y="2451100"/>
            <a:ext cx="414655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睑缘结构异常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662525" y="2946400"/>
            <a:ext cx="0" cy="1905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530637" y="3136900"/>
            <a:ext cx="2263775" cy="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530637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794412" y="3136900"/>
            <a:ext cx="0" cy="165100"/>
          </a:xfrm>
          <a:prstGeom prst="line">
            <a:avLst/>
          </a:prstGeom>
          <a:ln w="16510">
            <a:solidFill>
              <a:srgbClr val="65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905000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面部皮肤改变&#10;眼睑油脂堆积等"/>
          <p:cNvSpPr txBox="1"/>
          <p:nvPr/>
        </p:nvSpPr>
        <p:spPr>
          <a:xfrm>
            <a:off x="2006600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面部皮肤改变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眼睑油脂堆积等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47987" y="4483100"/>
            <a:ext cx="0" cy="381000"/>
          </a:xfrm>
          <a:prstGeom prst="line">
            <a:avLst/>
          </a:prstGeom>
          <a:ln w="16510">
            <a:solidFill>
              <a:srgbClr val="215B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905000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D7E7FB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脂溢性睑缘炎"/>
          <p:cNvSpPr txBox="1"/>
          <p:nvPr/>
        </p:nvSpPr>
        <p:spPr>
          <a:xfrm>
            <a:off x="2006600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15B96"/>
                </a:solidFill>
                <a:latin typeface="Microsoft YaHei"/>
                <a:ea typeface="Microsoft YaHei"/>
                <a:cs typeface="Microsoft YaHei"/>
              </a:rPr>
              <a:t>脂溢性睑缘炎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47987" y="5588000"/>
            <a:ext cx="0" cy="381000"/>
          </a:xfrm>
          <a:prstGeom prst="line">
            <a:avLst/>
          </a:prstGeom>
          <a:ln w="16510">
            <a:solidFill>
              <a:srgbClr val="215B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905000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居家：睑缘清洁&#10;院内：深度清洁"/>
          <p:cNvSpPr txBox="1"/>
          <p:nvPr/>
        </p:nvSpPr>
        <p:spPr>
          <a:xfrm>
            <a:off x="2006600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居家：睑缘清洁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院内：深度清洁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05000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必要时抗生素、&#10;口服脂肪酸等"/>
          <p:cNvSpPr txBox="1"/>
          <p:nvPr/>
        </p:nvSpPr>
        <p:spPr>
          <a:xfrm>
            <a:off x="2006600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必要时抗生素、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口服脂肪酸等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8775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睫毛根部袖套样分泌物&#10;螨虫检查阳性等"/>
          <p:cNvSpPr txBox="1"/>
          <p:nvPr/>
        </p:nvSpPr>
        <p:spPr>
          <a:xfrm>
            <a:off x="4270375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睫毛根部袖套样分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泌物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螨虫检查阳性等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211762" y="4483100"/>
            <a:ext cx="0" cy="381000"/>
          </a:xfrm>
          <a:prstGeom prst="line">
            <a:avLst/>
          </a:prstGeom>
          <a:ln w="16510">
            <a:solidFill>
              <a:srgbClr val="215B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168775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D7E7FB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蠕形螨睑缘炎"/>
          <p:cNvSpPr txBox="1"/>
          <p:nvPr/>
        </p:nvSpPr>
        <p:spPr>
          <a:xfrm>
            <a:off x="4270375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15B96"/>
                </a:solidFill>
                <a:latin typeface="Microsoft YaHei"/>
                <a:ea typeface="Microsoft YaHei"/>
                <a:cs typeface="Microsoft YaHei"/>
              </a:rPr>
              <a:t>蠕形螨睑缘炎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211762" y="5588000"/>
            <a:ext cx="0" cy="381000"/>
          </a:xfrm>
          <a:prstGeom prst="line">
            <a:avLst/>
          </a:prstGeom>
          <a:ln w="16510">
            <a:solidFill>
              <a:srgbClr val="215B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168775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居家：茶树精油/4-松油醇清洁除螨&#10;院内：深度清洁、IPL"/>
          <p:cNvSpPr txBox="1"/>
          <p:nvPr/>
        </p:nvSpPr>
        <p:spPr>
          <a:xfrm>
            <a:off x="4270375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居家：茶树精油</a:t>
            </a: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/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4-</a:t>
            </a: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松油醇清洁除螨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院内：深度清洁、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IPL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68775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局部抗生素"/>
          <p:cNvSpPr txBox="1"/>
          <p:nvPr/>
        </p:nvSpPr>
        <p:spPr>
          <a:xfrm>
            <a:off x="4270375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局部抗生素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32550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秃睫倒睫、睑缘溃疡&#10;染色及培养等"/>
          <p:cNvSpPr txBox="1"/>
          <p:nvPr/>
        </p:nvSpPr>
        <p:spPr>
          <a:xfrm>
            <a:off x="6534150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秃睫倒睫、睑缘溃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疡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染色及培养等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75537" y="4483100"/>
            <a:ext cx="0" cy="381000"/>
          </a:xfrm>
          <a:prstGeom prst="line">
            <a:avLst/>
          </a:prstGeom>
          <a:ln w="16510">
            <a:solidFill>
              <a:srgbClr val="215B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432550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D7E7FB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葡萄球菌性睑缘炎"/>
          <p:cNvSpPr txBox="1"/>
          <p:nvPr/>
        </p:nvSpPr>
        <p:spPr>
          <a:xfrm>
            <a:off x="6534150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15B96"/>
                </a:solidFill>
                <a:latin typeface="Microsoft YaHei"/>
                <a:ea typeface="Microsoft YaHei"/>
                <a:cs typeface="Microsoft YaHei"/>
              </a:rPr>
              <a:t>葡萄球菌性睑缘炎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475537" y="5588000"/>
            <a:ext cx="0" cy="381000"/>
          </a:xfrm>
          <a:prstGeom prst="line">
            <a:avLst/>
          </a:prstGeom>
          <a:ln w="16510">
            <a:solidFill>
              <a:srgbClr val="215B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432550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居家：次氯酸清洁&#10;院内：深度清洁"/>
          <p:cNvSpPr txBox="1"/>
          <p:nvPr/>
        </p:nvSpPr>
        <p:spPr>
          <a:xfrm>
            <a:off x="6534150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居家：次氯酸清洁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院内：深度清洁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32550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局部抗生素，必&#10;要时口服"/>
          <p:cNvSpPr txBox="1"/>
          <p:nvPr/>
        </p:nvSpPr>
        <p:spPr>
          <a:xfrm>
            <a:off x="6534150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局部抗生素，必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要时口服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32550" y="9639300"/>
            <a:ext cx="2085975" cy="99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21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手术纠正并发的&#10;倒睫等"/>
          <p:cNvSpPr txBox="1"/>
          <p:nvPr/>
        </p:nvSpPr>
        <p:spPr>
          <a:xfrm>
            <a:off x="6534150" y="9702800"/>
            <a:ext cx="1882775" cy="86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手术纠正并发的</a:t>
            </a:r>
          </a:p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倒睫等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96325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睑板腺萎缩/迂曲&#10;睑酯质/量异常"/>
          <p:cNvSpPr txBox="1"/>
          <p:nvPr/>
        </p:nvSpPr>
        <p:spPr>
          <a:xfrm>
            <a:off x="8797925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睑板腺萎缩</a:t>
            </a:r>
            <a:r>
              <a:rPr sz="155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/</a:t>
            </a: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迂曲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睑酯质</a:t>
            </a:r>
            <a:r>
              <a:rPr sz="155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/</a:t>
            </a: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量异常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739312" y="4483100"/>
            <a:ext cx="0" cy="381000"/>
          </a:xfrm>
          <a:prstGeom prst="line">
            <a:avLst/>
          </a:prstGeom>
          <a:ln w="16510">
            <a:solidFill>
              <a:srgbClr val="1475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8696325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D3EEE7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GD"/>
          <p:cNvSpPr txBox="1"/>
          <p:nvPr/>
        </p:nvSpPr>
        <p:spPr>
          <a:xfrm>
            <a:off x="8797925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4756E"/>
                </a:solidFill>
                <a:latin typeface="Arial"/>
                <a:ea typeface="Arial"/>
                <a:cs typeface="Arial"/>
              </a:rPr>
              <a:t>MGD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739312" y="5588000"/>
            <a:ext cx="0" cy="381000"/>
          </a:xfrm>
          <a:prstGeom prst="line">
            <a:avLst/>
          </a:prstGeom>
          <a:ln w="16510">
            <a:solidFill>
              <a:srgbClr val="1475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696325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居家：热敷&#10;院内：睑板腺按摩、IPL、热/液/光脉动"/>
          <p:cNvSpPr txBox="1"/>
          <p:nvPr/>
        </p:nvSpPr>
        <p:spPr>
          <a:xfrm>
            <a:off x="8797925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居家：热敷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院内：睑板腺按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摩、</a:t>
            </a: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IPL</a:t>
            </a: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、热</a:t>
            </a: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/</a:t>
            </a: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液</a:t>
            </a: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/</a:t>
            </a: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光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脉动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96325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人工泪液、抗炎、&#10;口服脂肪酸等"/>
          <p:cNvSpPr txBox="1"/>
          <p:nvPr/>
        </p:nvSpPr>
        <p:spPr>
          <a:xfrm>
            <a:off x="8797925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人工泪液、抗炎、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口服脂肪酸等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96325" y="9639300"/>
            <a:ext cx="2085975" cy="99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睑板腺探通"/>
          <p:cNvSpPr txBox="1"/>
          <p:nvPr/>
        </p:nvSpPr>
        <p:spPr>
          <a:xfrm>
            <a:off x="8797925" y="9702800"/>
            <a:ext cx="1882775" cy="86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睑板腺探通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960100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眼睑肿块（边界清晰）&#10;可伴结膜面肉芽"/>
          <p:cNvSpPr txBox="1"/>
          <p:nvPr/>
        </p:nvSpPr>
        <p:spPr>
          <a:xfrm>
            <a:off x="11061700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眼睑肿块（边界清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晰）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可伴结膜面肉芽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2003087" y="4483100"/>
            <a:ext cx="0" cy="381000"/>
          </a:xfrm>
          <a:prstGeom prst="line">
            <a:avLst/>
          </a:prstGeom>
          <a:ln w="16510">
            <a:solidFill>
              <a:srgbClr val="1475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0960100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D3EEE7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睑板腺囊肿"/>
          <p:cNvSpPr txBox="1"/>
          <p:nvPr/>
        </p:nvSpPr>
        <p:spPr>
          <a:xfrm>
            <a:off x="11061700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4756E"/>
                </a:solidFill>
                <a:latin typeface="Microsoft YaHei"/>
                <a:ea typeface="Microsoft YaHei"/>
                <a:cs typeface="Microsoft YaHei"/>
              </a:rPr>
              <a:t>睑板腺囊肿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2003087" y="5588000"/>
            <a:ext cx="0" cy="381000"/>
          </a:xfrm>
          <a:prstGeom prst="line">
            <a:avLst/>
          </a:prstGeom>
          <a:ln w="16510">
            <a:solidFill>
              <a:srgbClr val="1475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10960100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居家：热敷&#10;院内：IPL"/>
          <p:cNvSpPr txBox="1"/>
          <p:nvPr/>
        </p:nvSpPr>
        <p:spPr>
          <a:xfrm>
            <a:off x="11061700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居家：热敷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院内：</a:t>
            </a: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IPL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60100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必要时局部抗生素"/>
          <p:cNvSpPr txBox="1"/>
          <p:nvPr/>
        </p:nvSpPr>
        <p:spPr>
          <a:xfrm>
            <a:off x="11061700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必要时局部抗生素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960100" y="9639300"/>
            <a:ext cx="2085975" cy="99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囊肿切除/切排"/>
          <p:cNvSpPr txBox="1"/>
          <p:nvPr/>
        </p:nvSpPr>
        <p:spPr>
          <a:xfrm>
            <a:off x="11061700" y="9702800"/>
            <a:ext cx="1882775" cy="86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囊肿切除</a:t>
            </a:r>
            <a:r>
              <a:rPr sz="155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/</a:t>
            </a: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切排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3223875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眼睑红肿热痛&#10;可伴结膜充血"/>
          <p:cNvSpPr txBox="1"/>
          <p:nvPr/>
        </p:nvSpPr>
        <p:spPr>
          <a:xfrm>
            <a:off x="13325475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眼睑红肿热痛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可伴结膜充血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4266862" y="4483100"/>
            <a:ext cx="0" cy="381000"/>
          </a:xfrm>
          <a:prstGeom prst="line">
            <a:avLst/>
          </a:prstGeom>
          <a:ln w="16510">
            <a:solidFill>
              <a:srgbClr val="1475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3223875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D3EEE7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急性睑板腺炎"/>
          <p:cNvSpPr txBox="1"/>
          <p:nvPr/>
        </p:nvSpPr>
        <p:spPr>
          <a:xfrm>
            <a:off x="13325475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14756E"/>
                </a:solidFill>
                <a:latin typeface="Microsoft YaHei"/>
                <a:ea typeface="Microsoft YaHei"/>
                <a:cs typeface="Microsoft YaHei"/>
              </a:rPr>
              <a:t>急性睑板腺炎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4266862" y="5588000"/>
            <a:ext cx="0" cy="381000"/>
          </a:xfrm>
          <a:prstGeom prst="line">
            <a:avLst/>
          </a:prstGeom>
          <a:ln w="16510">
            <a:solidFill>
              <a:srgbClr val="1475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3223875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居家：热敷、冷敷及热敷交替"/>
          <p:cNvSpPr txBox="1"/>
          <p:nvPr/>
        </p:nvSpPr>
        <p:spPr>
          <a:xfrm>
            <a:off x="13325475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居家：热敷、冷敷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及热敷交替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3223875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4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局部抗生素，&#10;必要时口服"/>
          <p:cNvSpPr txBox="1"/>
          <p:nvPr/>
        </p:nvSpPr>
        <p:spPr>
          <a:xfrm>
            <a:off x="13325475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局部抗生素，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必要时口服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5487650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外伤、眼睑术后、&#10;先天畸形等"/>
          <p:cNvSpPr txBox="1"/>
          <p:nvPr/>
        </p:nvSpPr>
        <p:spPr>
          <a:xfrm>
            <a:off x="15589250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外伤、眼睑术后、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先天畸形等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30637" y="4483100"/>
            <a:ext cx="0" cy="381000"/>
          </a:xfrm>
          <a:prstGeom prst="line">
            <a:avLst/>
          </a:prstGeom>
          <a:ln w="16510">
            <a:solidFill>
              <a:srgbClr val="7653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5487650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E7DCF4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眼睑缺损"/>
          <p:cNvSpPr txBox="1"/>
          <p:nvPr/>
        </p:nvSpPr>
        <p:spPr>
          <a:xfrm>
            <a:off x="15589250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76539C"/>
                </a:solidFill>
                <a:latin typeface="Microsoft YaHei"/>
                <a:ea typeface="Microsoft YaHei"/>
                <a:cs typeface="Microsoft YaHei"/>
              </a:rPr>
              <a:t>眼睑缺损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6530637" y="5588000"/>
            <a:ext cx="0" cy="2514600"/>
          </a:xfrm>
          <a:prstGeom prst="line">
            <a:avLst/>
          </a:prstGeom>
          <a:ln w="16510">
            <a:solidFill>
              <a:srgbClr val="7653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15487650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眼膏类厚涂，&#10;人工泪液"/>
          <p:cNvSpPr txBox="1"/>
          <p:nvPr/>
        </p:nvSpPr>
        <p:spPr>
          <a:xfrm>
            <a:off x="15589250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眼膏类厚涂，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人工泪液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5487650" y="9639300"/>
            <a:ext cx="2085975" cy="99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手术修补"/>
          <p:cNvSpPr txBox="1"/>
          <p:nvPr/>
        </p:nvSpPr>
        <p:spPr>
          <a:xfrm>
            <a:off x="15589250" y="9702800"/>
            <a:ext cx="1882775" cy="86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手术修补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7751425" y="3302000"/>
            <a:ext cx="2085975" cy="1181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眼睑术后、甲亢、&#10;面神经疾病等"/>
          <p:cNvSpPr txBox="1"/>
          <p:nvPr/>
        </p:nvSpPr>
        <p:spPr>
          <a:xfrm>
            <a:off x="17853025" y="3365500"/>
            <a:ext cx="1882775" cy="1054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眼睑术后、甲亢、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面神经疾病等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8794412" y="4483100"/>
            <a:ext cx="0" cy="381000"/>
          </a:xfrm>
          <a:prstGeom prst="line">
            <a:avLst/>
          </a:prstGeom>
          <a:ln w="16510">
            <a:solidFill>
              <a:srgbClr val="7653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17751425" y="4902200"/>
            <a:ext cx="2085975" cy="685800"/>
          </a:xfrm>
          <a:prstGeom prst="roundRect">
            <a:avLst>
              <a:gd name="adj" fmla="val 5000"/>
            </a:avLst>
          </a:prstGeom>
          <a:solidFill>
            <a:srgbClr val="E7DCF4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眼睑闭合不全"/>
          <p:cNvSpPr txBox="1"/>
          <p:nvPr/>
        </p:nvSpPr>
        <p:spPr>
          <a:xfrm>
            <a:off x="17853025" y="4965700"/>
            <a:ext cx="1882775" cy="558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4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76539C"/>
                </a:solidFill>
                <a:latin typeface="Microsoft YaHei"/>
                <a:ea typeface="Microsoft YaHei"/>
                <a:cs typeface="Microsoft YaHei"/>
              </a:rPr>
              <a:t>眼睑闭合不全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8794412" y="5588000"/>
            <a:ext cx="0" cy="381000"/>
          </a:xfrm>
          <a:prstGeom prst="line">
            <a:avLst/>
          </a:prstGeom>
          <a:ln w="16510">
            <a:solidFill>
              <a:srgbClr val="7653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17751425" y="6007100"/>
            <a:ext cx="2085975" cy="187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居家：瞬目练习、睡眠时粘贴眼罩等&#10;院内：BCL、巩膜镜、湿房镜等"/>
          <p:cNvSpPr txBox="1"/>
          <p:nvPr/>
        </p:nvSpPr>
        <p:spPr>
          <a:xfrm>
            <a:off x="17853025" y="6070600"/>
            <a:ext cx="1882775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居家：瞬目练习、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睡眠时粘贴眼罩等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院内：</a:t>
            </a:r>
            <a:r>
              <a:rPr sz="153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BCL</a:t>
            </a: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、巩膜</a:t>
            </a:r>
          </a:p>
          <a:p>
            <a:pPr>
              <a:lnSpc>
                <a:spcPts val="1958"/>
              </a:lnSpc>
              <a:spcBef>
                <a:spcPts val="0"/>
              </a:spcBef>
              <a:spcAft>
                <a:spcPts val="0"/>
              </a:spcAft>
            </a:pPr>
            <a:r>
              <a:rPr sz="153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镜、湿房镜等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7751425" y="8140700"/>
            <a:ext cx="2085975" cy="121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人工泪液（水剂+&#10;膏剂）&#10;病因治疗"/>
          <p:cNvSpPr txBox="1"/>
          <p:nvPr/>
        </p:nvSpPr>
        <p:spPr>
          <a:xfrm>
            <a:off x="17853025" y="8204200"/>
            <a:ext cx="1882775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人工泪液（水剂</a:t>
            </a:r>
            <a:r>
              <a:rPr sz="1550" b="0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+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膏剂）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病因治疗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7751425" y="9639300"/>
            <a:ext cx="2085975" cy="99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76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睑缘融合等手术"/>
          <p:cNvSpPr txBox="1"/>
          <p:nvPr/>
        </p:nvSpPr>
        <p:spPr>
          <a:xfrm>
            <a:off x="17853025" y="9702800"/>
            <a:ext cx="1882775" cy="86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睑缘融合等手术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31800" y="6007100"/>
            <a:ext cx="1117600" cy="18796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 w="11430">
            <a:solidFill>
              <a:srgbClr val="527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物理&#10;治疗"/>
          <p:cNvSpPr txBox="1"/>
          <p:nvPr/>
        </p:nvSpPr>
        <p:spPr>
          <a:xfrm>
            <a:off x="533400" y="6070600"/>
            <a:ext cx="914400" cy="1752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527DA5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  <a:p>
            <a:pPr algn="ctr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527DA5"/>
                </a:solidFill>
                <a:latin typeface="Microsoft YaHei"/>
                <a:ea typeface="Microsoft YaHei"/>
                <a:cs typeface="Microsoft YaHei"/>
              </a:rPr>
              <a:t>治疗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549400" y="6946900"/>
            <a:ext cx="317500" cy="0"/>
          </a:xfrm>
          <a:prstGeom prst="line">
            <a:avLst/>
          </a:prstGeom>
          <a:ln w="16510">
            <a:solidFill>
              <a:srgbClr val="527D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31800" y="8140700"/>
            <a:ext cx="1117600" cy="1219200"/>
          </a:xfrm>
          <a:prstGeom prst="roundRect">
            <a:avLst>
              <a:gd name="adj" fmla="val 5000"/>
            </a:avLst>
          </a:prstGeom>
          <a:solidFill>
            <a:srgbClr val="FFF3E5"/>
          </a:solidFill>
          <a:ln w="11430">
            <a:solidFill>
              <a:srgbClr val="A8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药物&#10;治疗"/>
          <p:cNvSpPr txBox="1"/>
          <p:nvPr/>
        </p:nvSpPr>
        <p:spPr>
          <a:xfrm>
            <a:off x="533400" y="8204200"/>
            <a:ext cx="914400" cy="1092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A8783C"/>
                </a:solidFill>
                <a:latin typeface="Microsoft YaHei"/>
                <a:ea typeface="Microsoft YaHei"/>
                <a:cs typeface="Microsoft YaHei"/>
              </a:rPr>
              <a:t>药物</a:t>
            </a:r>
          </a:p>
          <a:p>
            <a:pPr algn="ctr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A8783C"/>
                </a:solidFill>
                <a:latin typeface="Microsoft YaHei"/>
                <a:ea typeface="Microsoft YaHei"/>
                <a:cs typeface="Microsoft YaHei"/>
              </a:rPr>
              <a:t>治疗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549400" y="8750300"/>
            <a:ext cx="317500" cy="0"/>
          </a:xfrm>
          <a:prstGeom prst="line">
            <a:avLst/>
          </a:prstGeom>
          <a:ln w="16510">
            <a:solidFill>
              <a:srgbClr val="A878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431800" y="9639300"/>
            <a:ext cx="1117600" cy="990600"/>
          </a:xfrm>
          <a:prstGeom prst="roundRect">
            <a:avLst>
              <a:gd name="adj" fmla="val 5000"/>
            </a:avLst>
          </a:prstGeom>
          <a:solidFill>
            <a:srgbClr val="FBEEF2"/>
          </a:solidFill>
          <a:ln w="11430">
            <a:solidFill>
              <a:srgbClr val="9C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手术&#10;治疗"/>
          <p:cNvSpPr txBox="1"/>
          <p:nvPr/>
        </p:nvSpPr>
        <p:spPr>
          <a:xfrm>
            <a:off x="533400" y="9702800"/>
            <a:ext cx="914400" cy="863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9C6071"/>
                </a:solidFill>
                <a:latin typeface="Microsoft YaHei"/>
                <a:ea typeface="Microsoft YaHei"/>
                <a:cs typeface="Microsoft YaHei"/>
              </a:rPr>
              <a:t>手术</a:t>
            </a:r>
          </a:p>
          <a:p>
            <a:pPr algn="ctr"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9C6071"/>
                </a:solidFill>
                <a:latin typeface="Microsoft YaHei"/>
                <a:ea typeface="Microsoft YaHei"/>
                <a:cs typeface="Microsoft YaHei"/>
              </a:rPr>
              <a:t>治疗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549400" y="10134600"/>
            <a:ext cx="4845050" cy="0"/>
          </a:xfrm>
          <a:prstGeom prst="line">
            <a:avLst/>
          </a:prstGeom>
          <a:ln w="16510">
            <a:solidFill>
              <a:srgbClr val="9C60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图2  干眼患者睑缘管理流程图"/>
          <p:cNvSpPr txBox="1"/>
          <p:nvPr/>
        </p:nvSpPr>
        <p:spPr>
          <a:xfrm>
            <a:off x="508000" y="10871200"/>
            <a:ext cx="19050000" cy="317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图</a:t>
            </a:r>
            <a:r>
              <a:rPr sz="1700" b="1" lang="zh-CN">
                <a:solidFill>
                  <a:srgbClr val="1A2F42"/>
                </a:solidFill>
                <a:latin typeface="Arial"/>
                <a:ea typeface="Arial"/>
                <a:cs typeface="Arial"/>
              </a:rPr>
              <a:t>2  </a:t>
            </a:r>
            <a:r>
              <a:rPr sz="1700" b="1" lang="zh-CN">
                <a:solidFill>
                  <a:srgbClr val="1A2F42"/>
                </a:solidFill>
                <a:latin typeface="Microsoft YaHei"/>
                <a:ea typeface="Microsoft YaHei"/>
                <a:cs typeface="Microsoft YaHei"/>
              </a:rPr>
              <a:t>干眼患者睑缘管理流程图</a:t>
            </a:r>
          </a:p>
        </p:txBody>
      </p:sp>
      <p:sp>
        <p:nvSpPr>
          <p:cNvPr id="132" name="MGD：睑板腺功能障碍；IPL：强脉冲光；BCL：治疗性角膜接触镜"/>
          <p:cNvSpPr txBox="1"/>
          <p:nvPr/>
        </p:nvSpPr>
        <p:spPr>
          <a:xfrm>
            <a:off x="508000" y="11239500"/>
            <a:ext cx="190500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MGD</a:t>
            </a:r>
            <a:r>
              <a:rPr sz="145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：睑板腺功能障碍；</a:t>
            </a:r>
            <a:r>
              <a:rPr sz="145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IPL</a:t>
            </a:r>
            <a:r>
              <a:rPr sz="145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：强脉冲光；</a:t>
            </a:r>
            <a:r>
              <a:rPr sz="145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BCL</a:t>
            </a:r>
            <a:r>
              <a:rPr sz="145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：治疗性角膜接触镜</a:t>
            </a:r>
          </a:p>
        </p:txBody>
      </p:sp>
      <p:sp>
        <p:nvSpPr>
          <p:cNvPr id="133" name="据《中国干眼患者睑缘管理专家共识（2025）》图2彩色重绘｜2026年刊载，原刊p107（PDF第3页）"/>
          <p:cNvSpPr txBox="1"/>
          <p:nvPr/>
        </p:nvSpPr>
        <p:spPr>
          <a:xfrm>
            <a:off x="508000" y="11671300"/>
            <a:ext cx="190500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据《中国干眼患者睑缘管理专家共识（</a:t>
            </a:r>
            <a:r>
              <a:rPr sz="130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2025</a:t>
            </a: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）》图</a:t>
            </a:r>
            <a:r>
              <a:rPr sz="130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2</a:t>
            </a: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彩色重绘｜</a:t>
            </a:r>
            <a:r>
              <a:rPr sz="130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2026</a:t>
            </a: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年刊载，原刊</a:t>
            </a:r>
            <a:r>
              <a:rPr sz="130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p107</a:t>
            </a: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30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PDF</a:t>
            </a: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sz="1300" b="0" lang="zh-CN">
                <a:solidFill>
                  <a:srgbClr val="546A7E"/>
                </a:solidFill>
                <a:latin typeface="Arial"/>
                <a:ea typeface="Arial"/>
                <a:cs typeface="Arial"/>
              </a:rPr>
              <a:t>3</a:t>
            </a:r>
            <a:r>
              <a:rPr sz="1300" b="0" lang="zh-CN">
                <a:solidFill>
                  <a:srgbClr val="546A7E"/>
                </a:solidFill>
                <a:latin typeface="Microsoft YaHei"/>
                <a:ea typeface="Microsoft YaHei"/>
                <a:cs typeface="Microsoft YaHei"/>
              </a:rPr>
              <a:t>页）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干眼患者睑缘管理流程图｜原图2彩色重绘</dc:title>
  <dc:subject>原图文字、分支及治疗选项保持；原生可编辑图形</dc:subject>
  <dc:creator>据中国干眼患者睑缘管理专家共识（2025）图2重绘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