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175564" y="3565226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" y="3565226"/>
            <a:ext cx="25603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" y="3565226"/>
            <a:ext cx="3438144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5564" y="2612726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" y="2612726"/>
            <a:ext cx="25603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" y="2612726"/>
            <a:ext cx="3438144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564" y="1802467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" y="1802467"/>
            <a:ext cx="25603" cy="80954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" y="1802467"/>
            <a:ext cx="3438144" cy="80954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564" y="849967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" y="849967"/>
            <a:ext cx="25603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" y="849967"/>
            <a:ext cx="3438144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" y="118872"/>
            <a:ext cx="3538728" cy="66751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正面 · 诊断与处置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正面 · 诊断与处置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诊断与病原检查〔2023 p14–15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诊断与病原检查〔2023 p14–15〕</a:t>
            </a:r>
          </a:p>
        </p:txBody>
      </p:sp>
      <p:sp>
        <p:nvSpPr>
          <p:cNvPr id="7" name="可编辑文字 05 | 临床：依据1（急性起病；感染史/免疫下降诱因可有）＋3（"/>
          <p:cNvSpPr txBox="1"/>
          <p:nvPr/>
        </p:nvSpPr>
        <p:spPr>
          <a:xfrm>
            <a:off x="198000" y="103874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PCR阴性不能排除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，必要时补充房水特异抗体/G-W。</a:t>
            </a:r>
          </a:p>
        </p:txBody>
      </p:sp>
      <p:sp>
        <p:nvSpPr>
          <p:cNvPr id="8" name="可编辑文字 06 | 重点风险与鉴别〔2023 p15–16〕"/>
          <p:cNvSpPr txBox="1"/>
          <p:nvPr/>
        </p:nvSpPr>
        <p:spPr>
          <a:xfrm>
            <a:off x="198000" y="18134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重点风险与鉴别〔2023 p15–16〕</a:t>
            </a:r>
          </a:p>
        </p:txBody>
      </p:sp>
      <p:sp>
        <p:nvSpPr>
          <p:cNvPr id="9" name="可编辑文字 07 | 线状型内皮丢失最快、易失代偿；关注眼压和内皮变化。鉴别前"/>
          <p:cNvSpPr txBox="1"/>
          <p:nvPr/>
        </p:nvSpPr>
        <p:spPr>
          <a:xfrm>
            <a:off x="198000" y="1991240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线状型内皮丢失最快、易失代偿；关注眼压和内皮变化。鉴别前葡萄膜炎、基质炎、Fuchs/Chandler、移植排斥及急闭。正式危险分层、PCR和眼压处置阈值：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可编辑文字 08 | 病原与局部抗病毒〔2023 p16–17〕"/>
          <p:cNvSpPr txBox="1"/>
          <p:nvPr/>
        </p:nvSpPr>
        <p:spPr>
          <a:xfrm>
            <a:off x="198000" y="26236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病原与局部抗病毒〔2023 p16–17〕</a:t>
            </a:r>
          </a:p>
        </p:txBody>
      </p:sp>
      <p:sp>
        <p:nvSpPr>
          <p:cNvPr id="11" name="可编辑文字 09 | HSV：阿昔洛韦或更昔洛韦；CMV：首选更昔洛韦，阿昔洛"/>
          <p:cNvSpPr txBox="1"/>
          <p:nvPr/>
        </p:nvSpPr>
        <p:spPr>
          <a:xfrm>
            <a:off x="198000" y="28014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HSV：阿昔洛韦或更昔洛韦；CMV：首选更昔洛韦，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阿昔洛韦无效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；VZV：全身更昔洛韦/泛昔洛韦或更高剂量阿昔洛韦（确切量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），局部更昔洛韦。0.15%凝胶或0.1%更昔洛韦滴眼液4~6次/d；痊愈后2次/d，2~4周。</a:t>
            </a:r>
          </a:p>
        </p:txBody>
      </p:sp>
      <p:sp>
        <p:nvSpPr>
          <p:cNvPr id="12" name="可编辑文字 10 | 激素、眼压、手术〔2023 p17〕"/>
          <p:cNvSpPr txBox="1"/>
          <p:nvPr/>
        </p:nvSpPr>
        <p:spPr>
          <a:xfrm>
            <a:off x="198000" y="35761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激素、眼压、手术〔2023 p17〕</a:t>
            </a:r>
          </a:p>
        </p:txBody>
      </p:sp>
      <p:sp>
        <p:nvSpPr>
          <p:cNvPr id="13" name="可编辑文字 11 | 在有效抗病毒基础上联合：1%醋酸泼尼松龙或妥布霉素地塞米"/>
          <p:cNvSpPr txBox="1"/>
          <p:nvPr/>
        </p:nvSpPr>
        <p:spPr>
          <a:xfrm>
            <a:off x="198000" y="37539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有效抗病毒基础上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联合：1%醋酸泼尼松龙或妥布霉素地塞米松滴眼液4次/d。羊脂/尘状KP消退后，每周减1次，至1次/d后按炎症调整。关注眼压；升高需降压，正常后减停，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慎用前列腺素类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。严重失代偿评估移植；术前后充分抗病毒，术后全身用药通常3~6个月。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175564" y="3849706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" y="3849706"/>
            <a:ext cx="25603" cy="790873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" y="3849706"/>
            <a:ext cx="3438144" cy="790873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5564" y="2897207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" y="2897207"/>
            <a:ext cx="25603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" y="2897207"/>
            <a:ext cx="3438144" cy="951788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564" y="1944706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" y="1944706"/>
            <a:ext cx="25603" cy="951789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" y="1944706"/>
            <a:ext cx="3438144" cy="951789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564" y="849967"/>
            <a:ext cx="3401568" cy="190195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" y="849967"/>
            <a:ext cx="25603" cy="1094027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" y="849967"/>
            <a:ext cx="3438144" cy="1094027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" y="118872"/>
            <a:ext cx="3538728" cy="66751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背面 · 用药与随访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背面 · 用药与随访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成人全身剂量摘录〔2023 p16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成人全身剂量摘录〔2023 p16〕</a:t>
            </a:r>
          </a:p>
        </p:txBody>
      </p:sp>
      <p:sp>
        <p:nvSpPr>
          <p:cNvPr id="7" name="可编辑文字 05 | 阿昔洛韦200 mg/次，5次/d，7 d；缓解后400"/>
          <p:cNvSpPr txBox="1"/>
          <p:nvPr/>
        </p:nvSpPr>
        <p:spPr>
          <a:xfrm>
            <a:off x="198000" y="1038740"/>
            <a:ext cx="3155400" cy="8915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</a:r>
          </a:p>
        </p:txBody>
      </p:sp>
      <p:sp>
        <p:nvSpPr>
          <p:cNvPr id="8" name="可编辑文字 06 | 更昔洛韦监测与停药〔2023 p16〕"/>
          <p:cNvSpPr txBox="1"/>
          <p:nvPr/>
        </p:nvSpPr>
        <p:spPr>
          <a:xfrm>
            <a:off x="198000" y="1955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更昔洛韦监测与停药〔2023 p16〕</a:t>
            </a:r>
          </a:p>
        </p:txBody>
      </p:sp>
      <p:sp>
        <p:nvSpPr>
          <p:cNvPr id="9" name="可编辑文字 07 | 用前血常规/肝肾。诱导：血常规每3 d、肝肾每周；维持："/>
          <p:cNvSpPr txBox="1"/>
          <p:nvPr/>
        </p:nvSpPr>
        <p:spPr>
          <a:xfrm>
            <a:off x="198000" y="21334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用前血常规/肝肾。诱导：血常规每3 d、肝肾每周；维持：血常规每周、肝肾每2~4周。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停药：肝肾恶化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血小板≤25×10</a:t>
            </a:r>
            <a:r>
              <a:rPr sz="950" b="1" lang="zh-CN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粒细胞≤0.5×10</a:t>
            </a:r>
            <a:r>
              <a:rPr sz="950" b="1" lang="zh-CN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降至用前50%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。3周无效考虑耐药，改膦甲酸钠（二线、肾毒性，剂量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</p:txBody>
      </p:sp>
      <p:sp>
        <p:nvSpPr>
          <p:cNvPr id="10" name="可编辑文字 08 | 特殊人群与慎用〔2023 p16〕"/>
          <p:cNvSpPr txBox="1"/>
          <p:nvPr/>
        </p:nvSpPr>
        <p:spPr>
          <a:xfrm>
            <a:off x="198000" y="290818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特殊人群与慎用〔2023 p16〕</a:t>
            </a:r>
          </a:p>
        </p:txBody>
      </p:sp>
      <p:sp>
        <p:nvSpPr>
          <p:cNvPr id="11" name="可编辑文字 09 | 儿童：阿昔洛韦10~15 mg/(kg·d)，分3~5次"/>
          <p:cNvSpPr txBox="1"/>
          <p:nvPr/>
        </p:nvSpPr>
        <p:spPr>
          <a:xfrm>
            <a:off x="198000" y="30859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儿童：阿昔洛韦10~15 mg/(kg·d)，分3~5次、7 d；更昔洛韦5 mg/(kg·次)，诱导2次/d、14 d，维持1次/d、2个月；儿童途径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肾损伤避免阿昔洛韦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；泛昔洛韦按肾功能调整（分档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）；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骨髓移植慎用更昔洛韦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可编辑文字 10 | 随访缺项〔2023 p14、17〕"/>
          <p:cNvSpPr txBox="1"/>
          <p:nvPr/>
        </p:nvSpPr>
        <p:spPr>
          <a:xfrm>
            <a:off x="198000" y="3860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随访缺项〔2023 p14、17〕</a:t>
            </a:r>
          </a:p>
        </p:txBody>
      </p:sp>
      <p:sp>
        <p:nvSpPr>
          <p:cNvPr id="13" name="可编辑文字 11 | 关注KP/炎症、眼压、内皮细胞变化及药物化验。统一复诊间"/>
          <p:cNvSpPr txBox="1"/>
          <p:nvPr/>
        </p:nvSpPr>
        <p:spPr>
          <a:xfrm>
            <a:off x="198000" y="4038479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关注KP/炎症、眼压、内皮细胞变化及药物化验。统一复诊间隔、妊娠/哺乳方案、正式推荐等级：</a:t>
            </a:r>
            <a:r>
              <a:rPr sz="950" b="1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。CMV易复发者适当延长治疗；避免劳累、感冒，加强锻炼。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病毒性角膜内皮炎｜A6双面速查卡（可编辑）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