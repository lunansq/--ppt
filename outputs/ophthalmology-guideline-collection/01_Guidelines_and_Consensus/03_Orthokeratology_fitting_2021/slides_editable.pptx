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明确数值禁忌：8岁以下儿童（原文表述，8岁整的边界未单独说明）；角膜内皮细胞密度少于2 000个/mm²，为原文禁忌证。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明确数值禁忌：8岁以下儿童（原文表述，8岁整的边界未单独说明）；角膜内皮细胞密度少于2 000个/mm²，为原文禁忌证。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a:p/>
          <a:p>
            <a:r>
              <a:t>ok_fitting-10 首日检查内容：回顾体验与护理；戴镜视力/配适/镜片状态，摘镜后裸眼视力、主觉或电脑验光、裂隙灯、角膜地形图、眼压，沟通并计划随访。</a:t>
            </a:r>
          </a:p>
          <a:p>
            <a:r>
              <a:t>来源：2021 刊p3 / PDF3；类别：检查；推荐等级：原文未明确。</a:t>
            </a:r>
          </a:p>
          <a:p>
            <a:r>
              <a:t>原文锚点：Theexaminationprocessonorthokeratologylensdispensingvisi配裂隙灯图3.配戴角膜塑形镜首日复查流程Figure3.Theexaminationprocessoforthokeratologylensonthefirstfollo裂隙灯显微镜检查/角膜地形图角膜内皮细胞眼轴长度图4.配戴角膜塑形镜后复查流程（带*的项目为可选项目）Figure4.Thefollowupvisitafterwearingorthokeratologylens(Itemswit3验配流</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适应证与数值禁忌"/>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适应证与数值禁忌</a:t>
            </a:r>
          </a:p>
        </p:txBody>
      </p:sp>
      <p:sp>
        <p:nvSpPr>
          <p:cNvPr id="4" name="01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基本入选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基本入选条件</a:t>
            </a:r>
          </a:p>
        </p:txBody>
      </p:sp>
      <p:sp>
        <p:nvSpPr>
          <p:cNvPr id="9" name="近视/散光范围在国家药监注册适用范围内；顺规散光相对合适；角膜曲率39.00～48.00 D；卫生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近视/散光范围在国家药监注册适用范围内；顺规散光相对合适；角膜曲率39.00～48.00 D；卫生环</a:t>
            </a:r>
          </a:p>
          <a:p>
            <a:pPr>
              <a:lnSpc>
                <a:spcPts val="2120"/>
              </a:lnSpc>
              <a:spcBef>
                <a:spcPts val="0"/>
              </a:spcBef>
              <a:spcAft>
                <a:spcPts val="0"/>
              </a:spcAft>
            </a:pPr>
            <a:r>
              <a:rPr sz="1700" b="0" lang="zh-CN">
                <a:solidFill>
                  <a:srgbClr val="1E2E3B"/>
                </a:solidFill>
                <a:latin typeface="Microsoft YaHei"/>
                <a:ea typeface="Microsoft YaHei"/>
                <a:cs typeface="Microsoft YaHei"/>
              </a:rPr>
              <a:t>境、理解与依从性满足要求。</a:t>
            </a:r>
          </a:p>
        </p:txBody>
      </p:sp>
      <p:sp>
        <p:nvSpPr>
          <p:cNvPr id="10" name="2021 刊p1 / PDF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明确数值禁忌"/>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明确数值禁忌</a:t>
            </a:r>
          </a:p>
        </p:txBody>
      </p:sp>
      <p:sp>
        <p:nvSpPr>
          <p:cNvPr id="14" name="8岁以下儿童（原文表述，8岁整的边界未单独说明）；角膜内皮细胞密度少于2 000个/mm²，为原文禁"/>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8岁以下儿童（原文表述，8岁整的边界未单独说明）；角膜内皮细胞密度少于2 000个/mm²，为原文</a:t>
            </a:r>
          </a:p>
          <a:p>
            <a:pPr>
              <a:lnSpc>
                <a:spcPts val="2120"/>
              </a:lnSpc>
              <a:spcBef>
                <a:spcPts val="0"/>
              </a:spcBef>
              <a:spcAft>
                <a:spcPts val="0"/>
              </a:spcAft>
            </a:pPr>
            <a:r>
              <a:rPr sz="1700" b="0" lang="zh-CN">
                <a:solidFill>
                  <a:srgbClr val="1E2E3B"/>
                </a:solidFill>
                <a:latin typeface="Microsoft YaHei"/>
                <a:ea typeface="Microsoft YaHei"/>
                <a:cs typeface="Microsoft YaHei"/>
              </a:rPr>
              <a:t>禁忌证。</a:t>
            </a:r>
          </a:p>
        </p:txBody>
      </p:sp>
      <p:sp>
        <p:nvSpPr>
          <p:cNvPr id="15" name="2021 刊p1 / PDF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部禁忌"/>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眼部禁忌</a:t>
            </a:r>
          </a:p>
        </p:txBody>
      </p:sp>
      <p:sp>
        <p:nvSpPr>
          <p:cNvPr id="19" name="活动性感染/前节炎症、明显上皮染色、角膜异常/手术或外伤史、角膜知觉减退、泪囊/眼睑病、眼压异常或青"/>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活动性感染/前节炎症、明显上皮染色、角膜异常/手术或外伤史、角膜知觉减退、泪囊/眼睑病、眼压</a:t>
            </a:r>
          </a:p>
          <a:p>
            <a:pPr>
              <a:lnSpc>
                <a:spcPts val="2120"/>
              </a:lnSpc>
              <a:spcBef>
                <a:spcPts val="0"/>
              </a:spcBef>
              <a:spcAft>
                <a:spcPts val="0"/>
              </a:spcAft>
            </a:pPr>
            <a:r>
              <a:rPr sz="1700" b="0" lang="zh-CN">
                <a:solidFill>
                  <a:srgbClr val="1E2E3B"/>
                </a:solidFill>
                <a:latin typeface="Microsoft YaHei"/>
                <a:ea typeface="Microsoft YaHei"/>
                <a:cs typeface="Microsoft YaHei"/>
              </a:rPr>
              <a:t>异常或青光眼等。</a:t>
            </a:r>
          </a:p>
        </p:txBody>
      </p:sp>
      <p:sp>
        <p:nvSpPr>
          <p:cNvPr id="20" name="2021 刊p1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特殊人群与知情同意"/>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特殊人群与知情同意</a:t>
            </a:r>
          </a:p>
        </p:txBody>
      </p:sp>
      <p:sp>
        <p:nvSpPr>
          <p:cNvPr id="4" name="02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全身及用药禁忌"/>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全身及用药禁忌</a:t>
            </a:r>
          </a:p>
        </p:txBody>
      </p:sp>
      <p:sp>
        <p:nvSpPr>
          <p:cNvPr id="9" name="免疫低下或影响塑形的系统病、影响眼生理/干眼/视力/曲率的药物、接触镜/护理液过敏；孕妇、哺乳期或近"/>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免疫低下或影响塑形的系统病、影响眼生理/干眼/视力/曲率的药物、接触镜/护理液过敏；孕妇、哺乳</a:t>
            </a:r>
          </a:p>
          <a:p>
            <a:pPr>
              <a:lnSpc>
                <a:spcPts val="2120"/>
              </a:lnSpc>
              <a:spcBef>
                <a:spcPts val="0"/>
              </a:spcBef>
              <a:spcAft>
                <a:spcPts val="0"/>
              </a:spcAft>
            </a:pPr>
            <a:r>
              <a:rPr sz="1700" b="0" lang="zh-CN">
                <a:solidFill>
                  <a:srgbClr val="1E2E3B"/>
                </a:solidFill>
                <a:latin typeface="Microsoft YaHei"/>
                <a:ea typeface="Microsoft YaHei"/>
                <a:cs typeface="Microsoft YaHei"/>
              </a:rPr>
              <a:t>期或近期计划怀孕者。</a:t>
            </a:r>
          </a:p>
        </p:txBody>
      </p:sp>
      <p:sp>
        <p:nvSpPr>
          <p:cNvPr id="10" name="2021 刊p1 / PDF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特殊需求处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特殊需求处理</a:t>
            </a:r>
          </a:p>
        </p:txBody>
      </p:sp>
      <p:sp>
        <p:nvSpPr>
          <p:cNvPr id="14" name="禁忌证人群或屈光超范围但有特殊戴镜需求：经验丰富医师酌情评估，充分沟通，签特殊知情同意并加强监控，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禁忌证人群或屈光超范围但有特殊戴镜需求：经验丰富医师酌情评估，充分沟通，签特殊知情同意并加</a:t>
            </a:r>
          </a:p>
          <a:p>
            <a:pPr>
              <a:lnSpc>
                <a:spcPts val="2120"/>
              </a:lnSpc>
              <a:spcBef>
                <a:spcPts val="0"/>
              </a:spcBef>
              <a:spcAft>
                <a:spcPts val="0"/>
              </a:spcAft>
            </a:pPr>
            <a:r>
              <a:rPr sz="1700" b="0" lang="zh-CN">
                <a:solidFill>
                  <a:srgbClr val="1E2E3B"/>
                </a:solidFill>
                <a:latin typeface="Microsoft YaHei"/>
                <a:ea typeface="Microsoft YaHei"/>
                <a:cs typeface="Microsoft YaHei"/>
              </a:rPr>
              <a:t>强监控，不能改作常规放宽。</a:t>
            </a:r>
          </a:p>
        </p:txBody>
      </p:sp>
      <p:sp>
        <p:nvSpPr>
          <p:cNvPr id="15" name="2021 刊p1 / PDF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 / PDF1</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原文未明确"/>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原文未明确</a:t>
            </a:r>
          </a:p>
        </p:txBody>
      </p:sp>
      <p:sp>
        <p:nvSpPr>
          <p:cNvPr id="19" name="本篇未给统一近视/散光度数上下限、镜片活动度切点、具体停戴疗程和药物处方、正式推荐等级，不能用其他文"/>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本篇未给统一近视/散光度数上下限、镜片活动度切点、具体停戴疗程和药物处方、正式推荐等级，不</a:t>
            </a:r>
          </a:p>
          <a:p>
            <a:pPr>
              <a:lnSpc>
                <a:spcPts val="2120"/>
              </a:lnSpc>
              <a:spcBef>
                <a:spcPts val="0"/>
              </a:spcBef>
              <a:spcAft>
                <a:spcPts val="0"/>
              </a:spcAft>
            </a:pPr>
            <a:r>
              <a:rPr sz="1700" b="0" lang="zh-CN">
                <a:solidFill>
                  <a:srgbClr val="1E2E3B"/>
                </a:solidFill>
                <a:latin typeface="Microsoft YaHei"/>
                <a:ea typeface="Microsoft YaHei"/>
                <a:cs typeface="Microsoft YaHei"/>
              </a:rPr>
              <a:t>能用其他文献补作本篇规定。</a:t>
            </a:r>
          </a:p>
        </p:txBody>
      </p:sp>
      <p:sp>
        <p:nvSpPr>
          <p:cNvPr id="20" name="2021 刊p1、4 / PDF1、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刊p1、4 / PDF1、4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初配、试戴与取镜"/>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初配、试戴与取镜</a:t>
            </a:r>
          </a:p>
        </p:txBody>
      </p:sp>
      <p:sp>
        <p:nvSpPr>
          <p:cNvPr id="4" name="03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初配前基线"/>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初配前基线</a:t>
            </a:r>
          </a:p>
        </p:txBody>
      </p:sp>
      <p:sp>
        <p:nvSpPr>
          <p:cNvPr id="9" name="病史；裸眼视力/电脑及主觉验光、裂隙灯、泪膜/角膜直径、角膜曲率/地形图、眼压/眼底/眼轴、角膜内皮"/>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病史；裸眼视力/电脑及主觉验光、裂隙灯、泪膜/角膜直径、角膜曲率/地形图、眼压/眼底/眼轴、角膜</a:t>
            </a:r>
          </a:p>
          <a:p>
            <a:pPr>
              <a:lnSpc>
                <a:spcPts val="2120"/>
              </a:lnSpc>
              <a:spcBef>
                <a:spcPts val="0"/>
              </a:spcBef>
              <a:spcAft>
                <a:spcPts val="0"/>
              </a:spcAft>
            </a:pPr>
            <a:r>
              <a:rPr sz="1700" b="0" lang="zh-CN">
                <a:solidFill>
                  <a:srgbClr val="1E2E3B"/>
                </a:solidFill>
                <a:latin typeface="Microsoft YaHei"/>
                <a:ea typeface="Microsoft YaHei"/>
                <a:cs typeface="Microsoft YaHei"/>
              </a:rPr>
              <a:t>内皮/厚度；试戴前知情同意。</a:t>
            </a:r>
          </a:p>
        </p:txBody>
      </p:sp>
      <p:sp>
        <p:nvSpPr>
          <p:cNvPr id="10" name="2021 刊p2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试戴选择"/>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试戴选择</a:t>
            </a:r>
          </a:p>
        </p:txBody>
      </p:sp>
      <p:sp>
        <p:nvSpPr>
          <p:cNvPr id="14" name="不同品牌材料/设计不同，试戴镜不宜通用；评估可能多次摘戴比较参数，确认最终订片处方；同时示教洗手、摘"/>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不同品牌材料/设计不同，试戴镜不宜通用；评估可能多次摘戴比较参数，确认最终订片处方；同时示</a:t>
            </a:r>
          </a:p>
          <a:p>
            <a:pPr>
              <a:lnSpc>
                <a:spcPts val="2120"/>
              </a:lnSpc>
              <a:spcBef>
                <a:spcPts val="0"/>
              </a:spcBef>
              <a:spcAft>
                <a:spcPts val="0"/>
              </a:spcAft>
            </a:pPr>
            <a:r>
              <a:rPr sz="1700" b="0" lang="zh-CN">
                <a:solidFill>
                  <a:srgbClr val="1E2E3B"/>
                </a:solidFill>
                <a:latin typeface="Microsoft YaHei"/>
                <a:ea typeface="Microsoft YaHei"/>
                <a:cs typeface="Microsoft YaHei"/>
              </a:rPr>
              <a:t>教洗手、摘戴与清洁。</a:t>
            </a:r>
          </a:p>
        </p:txBody>
      </p:sp>
      <p:sp>
        <p:nvSpPr>
          <p:cNvPr id="15" name="2021 刊p2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取镜日流程"/>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取镜日流程</a:t>
            </a:r>
          </a:p>
        </p:txBody>
      </p:sp>
      <p:sp>
        <p:nvSpPr>
          <p:cNvPr id="19" name="核验镜片信息和健康状态，评估裂隙灯、戴镜视力、配适及镜片状况；摘戴/护理教育放在评估最后，确保能独立"/>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核验镜片信息和健康状态，评估裂隙灯、戴镜视力、配适及镜片状况；摘戴/护理教育放在评估最后，</a:t>
            </a:r>
          </a:p>
          <a:p>
            <a:pPr>
              <a:lnSpc>
                <a:spcPts val="2120"/>
              </a:lnSpc>
              <a:spcBef>
                <a:spcPts val="0"/>
              </a:spcBef>
              <a:spcAft>
                <a:spcPts val="0"/>
              </a:spcAft>
            </a:pPr>
            <a:r>
              <a:rPr sz="1700" b="0" lang="zh-CN">
                <a:solidFill>
                  <a:srgbClr val="1E2E3B"/>
                </a:solidFill>
                <a:latin typeface="Microsoft YaHei"/>
                <a:ea typeface="Microsoft YaHei"/>
                <a:cs typeface="Microsoft YaHei"/>
              </a:rPr>
              <a:t>确保能独立或由监护人帮助完成。</a:t>
            </a:r>
          </a:p>
        </p:txBody>
      </p:sp>
      <p:sp>
        <p:nvSpPr>
          <p:cNvPr id="20" name="2021 刊p2–3 / PDF2–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刊p2–3 / PDF2–3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首日复查和定期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首日复查和定期随访</a:t>
            </a:r>
          </a:p>
        </p:txBody>
      </p:sp>
      <p:sp>
        <p:nvSpPr>
          <p:cNvPr id="4" name="04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48082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48082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首日复查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首日复查条件</a:t>
            </a:r>
          </a:p>
        </p:txBody>
      </p:sp>
      <p:sp>
        <p:nvSpPr>
          <p:cNvPr id="9" name="前夜戴镜睡眠不少于8 h；无不适者晨起2 h内戴镜复诊；强烈异物感或疼痛者摘镜后及时就诊。"/>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前夜戴镜睡眠不少于8 h；无不适者晨起2 h内戴镜复诊；强烈异物感或疼痛者摘镜后及时就诊。</a:t>
            </a:r>
          </a:p>
        </p:txBody>
      </p:sp>
      <p:sp>
        <p:nvSpPr>
          <p:cNvPr id="10" name="2021 刊p2 / PDF2"/>
          <p:cNvSpPr txBox="1"/>
          <p:nvPr/>
        </p:nvSpPr>
        <p:spPr>
          <a:xfrm>
            <a:off x="622300" y="266192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2979420"/>
            <a:ext cx="11303000" cy="175006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979420"/>
            <a:ext cx="38100" cy="1750060"/>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首日检查内容"/>
          <p:cNvSpPr txBox="1"/>
          <p:nvPr/>
        </p:nvSpPr>
        <p:spPr>
          <a:xfrm>
            <a:off x="622300" y="308102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首日检查内容</a:t>
            </a:r>
          </a:p>
        </p:txBody>
      </p:sp>
      <p:sp>
        <p:nvSpPr>
          <p:cNvPr id="14" name="回顾体验与护理；戴镜视力/配适/镜片状态，摘镜后裸眼视力、主觉或电脑验光、裂隙灯、角膜地形图、眼压，"/>
          <p:cNvSpPr txBox="1"/>
          <p:nvPr/>
        </p:nvSpPr>
        <p:spPr>
          <a:xfrm>
            <a:off x="622300" y="342392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回顾体验与护理；戴镜视力/配适/镜片状态，摘镜后裸眼视力、主觉或电脑验光、裂隙灯、角膜地形</a:t>
            </a:r>
          </a:p>
          <a:p>
            <a:pPr>
              <a:lnSpc>
                <a:spcPts val="2120"/>
              </a:lnSpc>
              <a:spcBef>
                <a:spcPts val="0"/>
              </a:spcBef>
              <a:spcAft>
                <a:spcPts val="0"/>
              </a:spcAft>
            </a:pPr>
            <a:r>
              <a:rPr sz="1700" b="0" lang="zh-CN">
                <a:solidFill>
                  <a:srgbClr val="1E2E3B"/>
                </a:solidFill>
                <a:latin typeface="Microsoft YaHei"/>
                <a:ea typeface="Microsoft YaHei"/>
                <a:cs typeface="Microsoft YaHei"/>
              </a:rPr>
              <a:t>图、眼压，沟通并计划随访。</a:t>
            </a:r>
          </a:p>
        </p:txBody>
      </p:sp>
      <p:sp>
        <p:nvSpPr>
          <p:cNvPr id="15" name="2021 刊p3 / PDF3"/>
          <p:cNvSpPr txBox="1"/>
          <p:nvPr/>
        </p:nvSpPr>
        <p:spPr>
          <a:xfrm>
            <a:off x="622300" y="452628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刊p3 / PDF3</a:t>
            </a:r>
          </a:p>
        </p:txBody>
      </p:sp>
      <p:sp>
        <p:nvSpPr>
          <p:cNvPr id="16" name="Rectangle 15"/>
          <p:cNvSpPr/>
          <p:nvPr/>
        </p:nvSpPr>
        <p:spPr>
          <a:xfrm>
            <a:off x="444500" y="4843780"/>
            <a:ext cx="11303000" cy="148082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843780"/>
            <a:ext cx="38100" cy="148082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复查时间"/>
          <p:cNvSpPr txBox="1"/>
          <p:nvPr/>
        </p:nvSpPr>
        <p:spPr>
          <a:xfrm>
            <a:off x="622300" y="494538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固定复查时间</a:t>
            </a:r>
          </a:p>
        </p:txBody>
      </p:sp>
      <p:sp>
        <p:nvSpPr>
          <p:cNvPr id="19" name="初配后第1天、第1周、第2周、第1个月、第3个月，以后每2～3个月定期复查。"/>
          <p:cNvSpPr txBox="1"/>
          <p:nvPr/>
        </p:nvSpPr>
        <p:spPr>
          <a:xfrm>
            <a:off x="622300" y="528828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初配后第1天、第1周、第2周、第1个月、第3个月，以后每2～3个月定期复查。</a:t>
            </a:r>
          </a:p>
        </p:txBody>
      </p:sp>
      <p:sp>
        <p:nvSpPr>
          <p:cNvPr id="20" name="2021 刊p2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随访异常与半年项目"/>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随访异常与半年项目</a:t>
            </a:r>
          </a:p>
        </p:txBody>
      </p:sp>
      <p:sp>
        <p:nvSpPr>
          <p:cNvPr id="4" name="05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24130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241300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后续复查处置"/>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后续复查处置</a:t>
            </a:r>
          </a:p>
        </p:txBody>
      </p:sp>
      <p:sp>
        <p:nvSpPr>
          <p:cNvPr id="9" name="过夜戴镜后摘镜来诊；配适或裸眼视力不良时结合眼表、地形图、配适及镜片状态决定调参或补偿框架眼镜。"/>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过夜戴镜后摘镜来诊；配适或裸眼视力不良时结合眼表、地形图、配适及镜片状态决定调参或补偿框架</a:t>
            </a:r>
          </a:p>
          <a:p>
            <a:pPr>
              <a:lnSpc>
                <a:spcPts val="2120"/>
              </a:lnSpc>
              <a:spcBef>
                <a:spcPts val="0"/>
              </a:spcBef>
              <a:spcAft>
                <a:spcPts val="0"/>
              </a:spcAft>
            </a:pPr>
            <a:r>
              <a:rPr sz="1700" b="0" lang="zh-CN">
                <a:solidFill>
                  <a:srgbClr val="1E2E3B"/>
                </a:solidFill>
                <a:latin typeface="Microsoft YaHei"/>
                <a:ea typeface="Microsoft YaHei"/>
                <a:cs typeface="Microsoft YaHei"/>
              </a:rPr>
              <a:t>眼镜。</a:t>
            </a:r>
          </a:p>
        </p:txBody>
      </p:sp>
      <p:sp>
        <p:nvSpPr>
          <p:cNvPr id="10" name="2021 刊p2 / PDF2"/>
          <p:cNvSpPr txBox="1"/>
          <p:nvPr/>
        </p:nvSpPr>
        <p:spPr>
          <a:xfrm>
            <a:off x="622300" y="35941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 / PDF2</a:t>
            </a:r>
          </a:p>
        </p:txBody>
      </p:sp>
      <p:sp>
        <p:nvSpPr>
          <p:cNvPr id="11" name="Rectangle 10"/>
          <p:cNvSpPr/>
          <p:nvPr/>
        </p:nvSpPr>
        <p:spPr>
          <a:xfrm>
            <a:off x="444500" y="3911600"/>
            <a:ext cx="11303000" cy="241300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911600"/>
            <a:ext cx="38100" cy="2413000"/>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半年项目与配件"/>
          <p:cNvSpPr txBox="1"/>
          <p:nvPr/>
        </p:nvSpPr>
        <p:spPr>
          <a:xfrm>
            <a:off x="622300" y="40132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半年项目与配件</a:t>
            </a:r>
          </a:p>
        </p:txBody>
      </p:sp>
      <p:sp>
        <p:nvSpPr>
          <p:cNvPr id="14" name="眼轴及角膜内皮细胞检查可结合情况/经验每半年一次，为可选项目；回顾摘戴护理，核对镜盒、吸棒清洁和更换"/>
          <p:cNvSpPr txBox="1"/>
          <p:nvPr/>
        </p:nvSpPr>
        <p:spPr>
          <a:xfrm>
            <a:off x="622300" y="43561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眼轴及角膜内皮细胞检查可结合情况/经验每半年一次，为可选项目；回顾摘戴护理，核对镜盒、吸棒</a:t>
            </a:r>
          </a:p>
          <a:p>
            <a:pPr>
              <a:lnSpc>
                <a:spcPts val="2120"/>
              </a:lnSpc>
              <a:spcBef>
                <a:spcPts val="0"/>
              </a:spcBef>
              <a:spcAft>
                <a:spcPts val="0"/>
              </a:spcAft>
            </a:pPr>
            <a:r>
              <a:rPr sz="1700" b="0" lang="zh-CN">
                <a:solidFill>
                  <a:srgbClr val="1E2E3B"/>
                </a:solidFill>
                <a:latin typeface="Microsoft YaHei"/>
                <a:ea typeface="Microsoft YaHei"/>
                <a:cs typeface="Microsoft YaHei"/>
              </a:rPr>
              <a:t>清洁和更换、产品有效期。</a:t>
            </a:r>
          </a:p>
        </p:txBody>
      </p:sp>
      <p:sp>
        <p:nvSpPr>
          <p:cNvPr id="15" name="2021 刊p2–3 / PDF2–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刊p2–3 / PDF2–3</a:t>
            </a:r>
          </a:p>
        </p:txBody>
      </p:sp>
      <p:sp>
        <p:nvSpPr>
          <p:cNvPr id="16"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检查质量与配适判断"/>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检查质量与配适判断</a:t>
            </a:r>
          </a:p>
        </p:txBody>
      </p:sp>
      <p:sp>
        <p:nvSpPr>
          <p:cNvPr id="4" name="06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07</a:t>
            </a:r>
          </a:p>
        </p:txBody>
      </p:sp>
      <p:sp>
        <p:nvSpPr>
          <p:cNvPr id="5" name="角膜塑形镜验配流程 · 2021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角膜塑形镜验配流程 · 2021 专家共识</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验光规范"/>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验光规范</a:t>
            </a:r>
          </a:p>
        </p:txBody>
      </p:sp>
      <p:sp>
        <p:nvSpPr>
          <p:cNvPr id="9" name="放松调节，主觉验光终点为最佳视力的最大正镜；初配以电脑/主觉球镜更负值参考基弧，戴镜验光须在镜片居中"/>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放松调节，主觉验光终点为最佳视力的最大正镜；初配以电脑/主觉球镜更负值参考基弧，戴镜验光须</a:t>
            </a:r>
          </a:p>
          <a:p>
            <a:pPr>
              <a:lnSpc>
                <a:spcPts val="2120"/>
              </a:lnSpc>
              <a:spcBef>
                <a:spcPts val="0"/>
              </a:spcBef>
              <a:spcAft>
                <a:spcPts val="0"/>
              </a:spcAft>
            </a:pPr>
            <a:r>
              <a:rPr sz="1700" b="0" lang="zh-CN">
                <a:solidFill>
                  <a:srgbClr val="1E2E3B"/>
                </a:solidFill>
                <a:latin typeface="Microsoft YaHei"/>
                <a:ea typeface="Microsoft YaHei"/>
                <a:cs typeface="Microsoft YaHei"/>
              </a:rPr>
              <a:t>在镜片居中时测量。</a:t>
            </a:r>
          </a:p>
        </p:txBody>
      </p:sp>
      <p:sp>
        <p:nvSpPr>
          <p:cNvPr id="10" name="2021 刊p4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地形图规范"/>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地形图规范</a:t>
            </a:r>
          </a:p>
        </p:txBody>
      </p:sp>
      <p:sp>
        <p:nvSpPr>
          <p:cNvPr id="14" name="泪膜稳定、采样充分、Kappa角补偿和色阶调整；轴向图看整体屈光，切线图看治疗区/定位，高度图供设计"/>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泪膜稳定、采样充分、Kappa角补偿和色阶调整；轴向图看整体屈光，切线图看治疗区/定位，高度图</a:t>
            </a:r>
          </a:p>
          <a:p>
            <a:pPr>
              <a:lnSpc>
                <a:spcPts val="2120"/>
              </a:lnSpc>
              <a:spcBef>
                <a:spcPts val="0"/>
              </a:spcBef>
              <a:spcAft>
                <a:spcPts val="0"/>
              </a:spcAft>
            </a:pPr>
            <a:r>
              <a:rPr sz="1700" b="0" lang="zh-CN">
                <a:solidFill>
                  <a:srgbClr val="1E2E3B"/>
                </a:solidFill>
                <a:latin typeface="Microsoft YaHei"/>
                <a:ea typeface="Microsoft YaHei"/>
                <a:cs typeface="Microsoft YaHei"/>
              </a:rPr>
              <a:t>供设计参考；结合荧光配适。</a:t>
            </a:r>
          </a:p>
        </p:txBody>
      </p:sp>
      <p:sp>
        <p:nvSpPr>
          <p:cNvPr id="15" name="2021 刊p4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荧光配适"/>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荧光配适</a:t>
            </a:r>
          </a:p>
        </p:txBody>
      </p:sp>
      <p:sp>
        <p:nvSpPr>
          <p:cNvPr id="19" name="荧光素条用不含防腐剂等渗盐水湿润，轻柔点结膜；结合静态/动态，观察居中、治疗区、活动度和弧区松紧，品"/>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荧光素条用不含防腐剂等渗盐水湿润，轻柔点结膜；结合静态/动态，观察居中、治疗区、活动度和弧</a:t>
            </a:r>
          </a:p>
          <a:p>
            <a:pPr>
              <a:lnSpc>
                <a:spcPts val="2120"/>
              </a:lnSpc>
              <a:spcBef>
                <a:spcPts val="0"/>
              </a:spcBef>
              <a:spcAft>
                <a:spcPts val="0"/>
              </a:spcAft>
            </a:pPr>
            <a:r>
              <a:rPr sz="1700" b="0" lang="zh-CN">
                <a:solidFill>
                  <a:srgbClr val="1E2E3B"/>
                </a:solidFill>
                <a:latin typeface="Microsoft YaHei"/>
                <a:ea typeface="Microsoft YaHei"/>
                <a:cs typeface="Microsoft YaHei"/>
              </a:rPr>
              <a:t>区松紧，品牌标准可能不同。</a:t>
            </a:r>
          </a:p>
        </p:txBody>
      </p:sp>
      <p:sp>
        <p:nvSpPr>
          <p:cNvPr id="20" name="2021 刊p4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2021 刊p4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验配流程"/>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角膜塑形镜验配流程</a:t>
            </a:r>
          </a:p>
        </p:txBody>
      </p:sp>
      <p:sp>
        <p:nvSpPr>
          <p:cNvPr id="4" name="判断条件与下一步 · 按本篇原文整理 · 2021"/>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2021</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在注册范围并无禁忌？"/>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是否在注册范围并无禁忌？</a:t>
            </a:r>
          </a:p>
        </p:txBody>
      </p:sp>
      <p:sp>
        <p:nvSpPr>
          <p:cNvPr id="7" name="曲率39.00～48.00 D；8岁以下/内皮密度&lt;2 000个/mm²等 → 非常规验配，特殊需求"/>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曲率39.00～48.00 D；8岁以下/内皮密度&lt;2 000个/mm²等 → 非</a:t>
            </a:r>
          </a:p>
          <a:p>
            <a:pPr>
              <a:lnSpc>
                <a:spcPts val="1630"/>
              </a:lnSpc>
              <a:spcBef>
                <a:spcPts val="0"/>
              </a:spcBef>
              <a:spcAft>
                <a:spcPts val="0"/>
              </a:spcAft>
            </a:pPr>
            <a:r>
              <a:rPr sz="1350" b="0" lang="zh-CN">
                <a:solidFill>
                  <a:srgbClr val="1E2E3B"/>
                </a:solidFill>
                <a:latin typeface="Microsoft YaHei"/>
                <a:ea typeface="Microsoft YaHei"/>
                <a:cs typeface="Microsoft YaHei"/>
              </a:rPr>
              <a:t>常规验配，特殊需求按原文专门评估。</a:t>
            </a:r>
          </a:p>
        </p:txBody>
      </p:sp>
      <p:sp>
        <p:nvSpPr>
          <p:cNvPr id="8" name="2021 刊p1"/>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刊p1</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初配前检查与试戴"/>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初配前检查与试戴</a:t>
            </a:r>
          </a:p>
        </p:txBody>
      </p:sp>
      <p:sp>
        <p:nvSpPr>
          <p:cNvPr id="12" name="完整基线、知情同意 → 品牌匹配的试戴与调参 → 订片。"/>
          <p:cNvSpPr txBox="1"/>
          <p:nvPr/>
        </p:nvSpPr>
        <p:spPr>
          <a:xfrm>
            <a:off x="6438900" y="1778000"/>
            <a:ext cx="5232400" cy="27051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完整基线、知情同意 → 品牌匹配的试戴与调参 → 订片。</a:t>
            </a:r>
          </a:p>
        </p:txBody>
      </p:sp>
      <p:sp>
        <p:nvSpPr>
          <p:cNvPr id="13" name="2021 刊p2"/>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取镜日"/>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取镜日</a:t>
            </a:r>
          </a:p>
        </p:txBody>
      </p:sp>
      <p:sp>
        <p:nvSpPr>
          <p:cNvPr id="17" name="核验参数/健康 → 检查与配适 → 最后摘戴、护理培训 → 能完成后安排首日复查。"/>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核验参数/健康 → 检查与配适 → 最后摘戴、护理培训 → 能完成</a:t>
            </a:r>
          </a:p>
          <a:p>
            <a:pPr>
              <a:lnSpc>
                <a:spcPts val="1630"/>
              </a:lnSpc>
              <a:spcBef>
                <a:spcPts val="0"/>
              </a:spcBef>
              <a:spcAft>
                <a:spcPts val="0"/>
              </a:spcAft>
            </a:pPr>
            <a:r>
              <a:rPr sz="1350" b="0" lang="zh-CN">
                <a:solidFill>
                  <a:srgbClr val="1E2E3B"/>
                </a:solidFill>
                <a:latin typeface="Microsoft YaHei"/>
                <a:ea typeface="Microsoft YaHei"/>
                <a:cs typeface="Microsoft YaHei"/>
              </a:rPr>
              <a:t>后安排首日复查。</a:t>
            </a:r>
          </a:p>
        </p:txBody>
      </p:sp>
      <p:sp>
        <p:nvSpPr>
          <p:cNvPr id="18" name="2021 刊p2–3"/>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首日症状分支"/>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首日症状分支</a:t>
            </a:r>
          </a:p>
        </p:txBody>
      </p:sp>
      <p:sp>
        <p:nvSpPr>
          <p:cNvPr id="22" name="无不适：前夜≥8 h、晨起2 h内戴镜来诊；强烈异物感/痛：摘镜后及时就诊。"/>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无不适：前夜≥8 h、晨起2 h内戴镜来诊；强烈异物感/痛：摘镜</a:t>
            </a:r>
          </a:p>
          <a:p>
            <a:pPr>
              <a:lnSpc>
                <a:spcPts val="1630"/>
              </a:lnSpc>
              <a:spcBef>
                <a:spcPts val="0"/>
              </a:spcBef>
              <a:spcAft>
                <a:spcPts val="0"/>
              </a:spcAft>
            </a:pPr>
            <a:r>
              <a:rPr sz="1350" b="0" lang="zh-CN">
                <a:solidFill>
                  <a:srgbClr val="1E2E3B"/>
                </a:solidFill>
                <a:latin typeface="Microsoft YaHei"/>
                <a:ea typeface="Microsoft YaHei"/>
                <a:cs typeface="Microsoft YaHei"/>
              </a:rPr>
              <a:t>后及时就诊。</a:t>
            </a:r>
          </a:p>
        </p:txBody>
      </p:sp>
      <p:sp>
        <p:nvSpPr>
          <p:cNvPr id="23" name="2021 刊p2–3"/>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后续复查"/>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后续复查</a:t>
            </a:r>
          </a:p>
        </p:txBody>
      </p:sp>
      <p:sp>
        <p:nvSpPr>
          <p:cNvPr id="27" name="1周、2周、1月、3月，后每2～3月；摘镜检查，眼轴/内皮可半年一次。"/>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1周、2周、1月、3月，后每2～3月；摘镜检查，眼轴/内皮可半</a:t>
            </a:r>
          </a:p>
          <a:p>
            <a:pPr>
              <a:lnSpc>
                <a:spcPts val="1630"/>
              </a:lnSpc>
              <a:spcBef>
                <a:spcPts val="0"/>
              </a:spcBef>
              <a:spcAft>
                <a:spcPts val="0"/>
              </a:spcAft>
            </a:pPr>
            <a:r>
              <a:rPr sz="1350" b="0" lang="zh-CN">
                <a:solidFill>
                  <a:srgbClr val="1E2E3B"/>
                </a:solidFill>
                <a:latin typeface="Microsoft YaHei"/>
                <a:ea typeface="Microsoft YaHei"/>
                <a:cs typeface="Microsoft YaHei"/>
              </a:rPr>
              <a:t>年一次。</a:t>
            </a:r>
          </a:p>
        </p:txBody>
      </p:sp>
      <p:sp>
        <p:nvSpPr>
          <p:cNvPr id="28" name="2021 刊p2–3"/>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结果异常？"/>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结果异常？</a:t>
            </a:r>
          </a:p>
        </p:txBody>
      </p:sp>
      <p:sp>
        <p:nvSpPr>
          <p:cNvPr id="32" name="配适/视力不良 → 综合眼表、地形图、镜片评估调参/补偿；每次强化护理与配件管理。"/>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配适/视力不良 → 综合眼表、地形图、镜片评估调参/补偿；每次</a:t>
            </a:r>
          </a:p>
          <a:p>
            <a:pPr>
              <a:lnSpc>
                <a:spcPts val="1630"/>
              </a:lnSpc>
              <a:spcBef>
                <a:spcPts val="0"/>
              </a:spcBef>
              <a:spcAft>
                <a:spcPts val="0"/>
              </a:spcAft>
            </a:pPr>
            <a:r>
              <a:rPr sz="1350" b="0" lang="zh-CN">
                <a:solidFill>
                  <a:srgbClr val="1E2E3B"/>
                </a:solidFill>
                <a:latin typeface="Microsoft YaHei"/>
                <a:ea typeface="Microsoft YaHei"/>
                <a:cs typeface="Microsoft YaHei"/>
              </a:rPr>
              <a:t>强化护理与配件管理。</a:t>
            </a:r>
          </a:p>
        </p:txBody>
      </p:sp>
      <p:sp>
        <p:nvSpPr>
          <p:cNvPr id="33" name="2021 刊p2–3"/>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2021 刊p2–3</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