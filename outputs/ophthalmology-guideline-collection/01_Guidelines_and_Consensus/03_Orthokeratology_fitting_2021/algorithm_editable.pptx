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ok_fitting-01 基本入选条件：近视/散光范围在国家药监注册适用范围内；顺规散光相对合适；角膜曲率39.00～48.00 D；卫生环境、理解与依从性满足要求。</a:t>
            </a:r>
          </a:p>
          <a:p>
            <a:r>
              <a:t>来源：2021 刊p1 / PDF1；类别：适用人群；推荐等级：原文未明确。</a:t>
            </a:r>
          </a:p>
          <a:p>
            <a:r>
              <a:t>原文锚点：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节急性、慢性炎症。（5）正在使用可能会导致干眼或影响视</a:t>
            </a:r>
          </a:p>
          <a:p/>
          <a:p>
            <a:r>
              <a:t>ok_fitting-02 明确数值禁忌：8岁以下儿童（原文表述，8岁整的边界未单独说明）；角膜内皮细胞密度少于2 000个/mm²，为原文禁忌证。</a:t>
            </a:r>
          </a:p>
          <a:p>
            <a:r>
              <a:t>来源：2021 刊p1 / PDF1；类别：禁忌；推荐等级：原文未明确。</a:t>
            </a:r>
          </a:p>
          <a:p>
            <a:r>
              <a:t>原文锚点：膜感染，或其他眼前节急性、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a:t>
            </a:r>
          </a:p>
          <a:p/>
          <a:p>
            <a:r>
              <a:t>ok_fitting-03 眼部禁忌：活动性感染/前节炎症、明显上皮染色、角膜异常/手术或外伤史、角膜知觉减退、泪囊/眼睑病、眼压异常或青光眼等。</a:t>
            </a:r>
          </a:p>
          <a:p>
            <a:r>
              <a:t>来源：2021 刊p1 / PDF1；类别：禁忌；推荐等级：原文未明确。</a:t>
            </a:r>
          </a:p>
          <a:p>
            <a:r>
              <a:t>原文锚点：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近期计划怀孕者。如果配戴者</a:t>
            </a:r>
          </a:p>
          <a:p/>
          <a:p>
            <a:r>
              <a:t>ok_fitting-04 全身及用药禁忌：免疫低下或影响塑形的系统病、影响眼生理/干眼/视力/曲率的药物、接触镜/护理液过敏；孕妇、哺乳期或近期计划怀孕者。</a:t>
            </a:r>
          </a:p>
          <a:p>
            <a:r>
              <a:t>来源：2021 刊p1 / PDF1；类别：特殊人群；推荐等级：原文未明确。</a:t>
            </a:r>
          </a:p>
          <a:p>
            <a:r>
              <a:t>原文锚点：者（如急、慢性鼻窦炎，糖尿病，唐氏综合征，类风湿性关节炎，精神病患者等）。（10）有接触镜或接触镜护理液过敏史。（11）孕妇、哺乳期或近期计划怀孕者。如果配戴者属于禁忌证人群，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ok_fitting-05 特殊需求处理：禁忌证人群或屈光超范围但有特殊戴镜需求：经验丰富医师酌情评估，充分沟通，签特殊知情同意并加强监控，不能改作常规放宽。</a:t>
            </a:r>
          </a:p>
          <a:p>
            <a:r>
              <a:t>来源：2021 刊p1 / PDF1；类别：特殊人群；推荐等级：原文未明确。</a:t>
            </a:r>
          </a:p>
          <a:p>
            <a:r>
              <a:t>原文锚点：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ok_fitting-06 初配前基线：病史；裸眼视力/电脑及主觉验光、裂隙灯、泪膜/角膜直径、角膜曲率/地形图、眼压/眼底/眼轴、角膜内皮/厚度；试戴前知情同意。</a:t>
            </a:r>
          </a:p>
          <a:p>
            <a:r>
              <a:t>来源：2021 刊p2 / PDF2；类别：检查；推荐等级：原文未明确。</a:t>
            </a:r>
          </a:p>
          <a:p>
            <a:r>
              <a:t>原文锚点：项及费用，并在试戴前让配戴者及（或）监护人充分知情同意。②检查项目务必完整、操作规范以确保角膜塑形术安全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a:t>
            </a:r>
          </a:p>
          <a:p/>
          <a:p>
            <a:r>
              <a:t>ok_fitting-07 试戴选择：不同品牌材料/设计不同，试戴镜不宜通用；评估可能多次摘戴比较参数，确认最终订片处方；同时示教洗手、摘戴与清洁。</a:t>
            </a:r>
          </a:p>
          <a:p>
            <a:r>
              <a:t>来源：2021 刊p2 / PDF2；类别：验配；推荐等级：原文未明确。</a:t>
            </a:r>
          </a:p>
          <a:p>
            <a:r>
              <a:t>原文锚点：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形镜初次配前检查流程Figure1.Theexaminationprocessbeforeinitial</a:t>
            </a:r>
          </a:p>
          <a:p/>
          <a:p>
            <a:r>
              <a:t>ok_fitting-08 取镜日流程：核验镜片信息和健康状态，评估裂隙灯、戴镜视力、配适及镜片状况；摘戴/护理教育放在评估最后，确保能独立或由监护人帮助完成。</a:t>
            </a:r>
          </a:p>
          <a:p>
            <a:r>
              <a:t>来源：2021 刊p2–3 / PDF2–3；类别：验配；推荐等级：原文未明确。</a:t>
            </a:r>
          </a:p>
          <a:p>
            <a:r>
              <a:t>原文锚点：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告知配戴角膜塑形镜的受益和风险，随访需要不良反应，注意事项及费用，并在试戴前让配戴者及（或）监护人充分知情同意。②检查项目务必完</a:t>
            </a:r>
          </a:p>
          <a:p/>
          <a:p>
            <a:r>
              <a:t>ok_fitting-09 首日复查条件：前夜戴镜睡眠不少于8 h；无不适者晨起2 h内戴镜复诊；强烈异物感或疼痛者摘镜后及时就诊。</a:t>
            </a:r>
          </a:p>
          <a:p>
            <a:r>
              <a:t>来源：2021 刊p2 / PDF2；类别：随访；推荐等级：原文未明确。</a:t>
            </a:r>
          </a:p>
          <a:p>
            <a:r>
              <a:t>原文锚点：完成完整的摘镜、戴镜、护理程序。角膜塑形镜取镜日检查流程见图2。2.3.3戴镜首日复查流程注意事项①随访的前夜，需不少于8h的戴镜睡眠时间。②如无不适，建议晨起后2h内于戴镜状态下及时复诊；但如异物感强烈甚至疼痛，则须摘镜后及时就诊。③镜片外观、划痕、沉淀物检查应作为复查流程检查的内容。④戴镜首日复查需要对初次配戴者的摘镜、戴镜、护理做出全程回顾，及时纠正不当的护理行为，籍此巩固其学习曲线[6]。配戴角膜塑形镜首日复查流程见图3。2.3.4配后复查流程注意事项①配后复查建议在过夜戴镜后摘镜前往复查。②随访时发现配适</a:t>
            </a:r>
          </a:p>
          <a:p/>
          <a:p>
            <a:r>
              <a:t>ok_fitting-10 首日检查内容：回顾体验与护理；戴镜视力/配适/镜片状态，摘镜后裸眼视力、主觉或电脑验光、裂隙灯、角膜地形图、眼压，沟通并计划随访。</a:t>
            </a:r>
          </a:p>
          <a:p>
            <a:r>
              <a:t>来源：2021 刊p3 / PDF3；类别：检查；推荐等级：原文未明确。</a:t>
            </a:r>
          </a:p>
          <a:p>
            <a:r>
              <a:t>原文锚点：Theexaminationprocessonorthokeratologylensdispensingvisi配裂隙灯图3.配戴角膜塑形镜首日复查流程Figure3.Theexaminationprocessoforthokeratologylensonthefirstfollo裂隙灯显微镜检查/角膜地形图角膜内皮细胞眼轴长度图4.配戴角膜塑形镜后复查流程（带*的项目为可选项目）Figure4.Thefollowupvisitafterwearingorthokeratologylens(Itemswit3验配流</a:t>
            </a:r>
          </a:p>
          <a:p/>
          <a:p>
            <a:r>
              <a:t>ok_fitting-11 固定复查时间：初配后第1天、第1周、第2周、第1个月、第3个月，以后每2～3个月定期复查。</a:t>
            </a:r>
          </a:p>
          <a:p>
            <a:r>
              <a:t>来源：2021 刊p2 / PDF2；类别：随访；推荐等级：原文未明确。</a:t>
            </a:r>
          </a:p>
          <a:p>
            <a:r>
              <a:t>原文锚点：·2·中华眼视光学与视觉科2角膜塑形镜规范验配流程2.1验配流程初次配戴者需在配镜后第1天、第1周、第2周、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a:t>
            </a:r>
          </a:p>
          <a:p/>
          <a:p>
            <a:r>
              <a:t>ok_fitting-12 后续复查处置：过夜戴镜后摘镜来诊；配适或裸眼视力不良时结合眼表、地形图、配适及镜片状态决定调参或补偿框架眼镜。</a:t>
            </a:r>
          </a:p>
          <a:p>
            <a:r>
              <a:t>来源：2021 刊p2 / PDF2；类别：随访；推荐等级：原文未明确。</a:t>
            </a:r>
          </a:p>
          <a:p>
            <a:r>
              <a:t>原文锚点：]。配戴角膜塑形镜首日复查流程见图3。2.3.4配后复查流程注意事项①配后复查建议在过夜戴镜后摘镜前往复查。②随访时发现配适不良，需要结合眼表状况、角膜地形图形态、镜片配适及镜片状况确定是否需要调整镜片参数。③随访发现裸眼视力不良，需视情况戴镜检查并结合眼部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a:t>
            </a:r>
          </a:p>
          <a:p/>
          <a:p>
            <a:r>
              <a:t>ok_fitting-13 半年项目与配件：眼轴及角膜内皮细胞检查可结合情况/经验每半年一次，为可选项目；回顾摘戴护理，核对镜盒、吸棒清洁和更换、产品有效期。</a:t>
            </a:r>
          </a:p>
          <a:p>
            <a:r>
              <a:t>来源：2021 刊p2–3 / PDF2–3；类别：随访；推荐等级：原文未明确。</a:t>
            </a:r>
          </a:p>
          <a:p>
            <a:r>
              <a:t>原文锚点：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工具等出现超期使用。配戴角膜塑形镜后复查流程见图4。知lens.Q2xvdWRWZXJzaW9uLQo?中华眼视光学与视觉科学杂志，2021，23（1）ChinJOptomOphthalm裂隙灯显微镜检查图2.角膜塑形镜取镜日检查流程Figure2.Th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6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角膜塑形镜验配流程"/>
          <p:cNvSpPr txBox="1"/>
          <p:nvPr/>
        </p:nvSpPr>
        <p:spPr>
          <a:xfrm>
            <a:off x="368300" y="203200"/>
            <a:ext cx="9955400" cy="425703"/>
          </a:xfrm>
          <a:prstGeom prst="rect">
            <a:avLst/>
          </a:prstGeom>
          <a:noFill/>
        </p:spPr>
        <p:txBody>
          <a:bodyPr wrap="none" lIns="0" rIns="0" tIns="0" bIns="0" anchor="t">
            <a:noAutofit/>
          </a:bodyPr>
          <a:lstStyle/>
          <a:p>
            <a:pPr>
              <a:lnSpc>
                <a:spcPts val="2852"/>
              </a:lnSpc>
              <a:spcBef>
                <a:spcPts val="0"/>
              </a:spcBef>
              <a:spcAft>
                <a:spcPts val="0"/>
              </a:spcAft>
            </a:pPr>
            <a:r>
              <a:rPr sz="2300" b="1" lang="zh-CN">
                <a:solidFill>
                  <a:srgbClr val="FFFFFF"/>
                </a:solidFill>
                <a:latin typeface="Microsoft YaHei"/>
                <a:ea typeface="Microsoft YaHei"/>
                <a:cs typeface="Microsoft YaHei"/>
              </a:rPr>
              <a:t>一页流程</a:t>
            </a:r>
            <a:r>
              <a:rPr sz="2300" b="1" lang="zh-CN">
                <a:solidFill>
                  <a:srgbClr val="FFFFFF"/>
                </a:solidFill>
                <a:latin typeface="Arial"/>
                <a:ea typeface="Arial"/>
                <a:cs typeface="Arial"/>
              </a:rPr>
              <a:t>｜</a:t>
            </a:r>
            <a:r>
              <a:rPr sz="2300" b="1" lang="zh-CN">
                <a:solidFill>
                  <a:srgbClr val="FFFFFF"/>
                </a:solidFill>
                <a:latin typeface="Microsoft YaHei"/>
                <a:ea typeface="Microsoft YaHei"/>
                <a:cs typeface="Microsoft YaHei"/>
              </a:rPr>
              <a:t>角膜塑形镜验配流程</a:t>
            </a:r>
          </a:p>
        </p:txBody>
      </p:sp>
      <p:sp>
        <p:nvSpPr>
          <p:cNvPr id="4" name="判断条件与下一步 · 按本篇原文整理 · 2021"/>
          <p:cNvSpPr txBox="1"/>
          <p:nvPr/>
        </p:nvSpPr>
        <p:spPr>
          <a:xfrm>
            <a:off x="368300" y="965200"/>
            <a:ext cx="99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2021</a:t>
            </a:r>
          </a:p>
        </p:txBody>
      </p:sp>
      <p:sp>
        <p:nvSpPr>
          <p:cNvPr id="5" name="Rectangle 4"/>
          <p:cNvSpPr/>
          <p:nvPr/>
        </p:nvSpPr>
        <p:spPr>
          <a:xfrm>
            <a:off x="368300" y="1384300"/>
            <a:ext cx="4787200" cy="1762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是否在注册范围并无禁忌？"/>
          <p:cNvSpPr txBox="1"/>
          <p:nvPr/>
        </p:nvSpPr>
        <p:spPr>
          <a:xfrm>
            <a:off x="5207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是否在注册范围并无禁忌？</a:t>
            </a:r>
          </a:p>
        </p:txBody>
      </p:sp>
      <p:sp>
        <p:nvSpPr>
          <p:cNvPr id="7" name="曲率39.00～48.00 D；8岁以下/内皮密度&lt;2 000个/mm²等 → 非常规验配，特殊需求"/>
          <p:cNvSpPr txBox="1"/>
          <p:nvPr/>
        </p:nvSpPr>
        <p:spPr>
          <a:xfrm>
            <a:off x="5207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曲率39.00～48.00 D；8岁以下/内皮密度&lt;2 000个/</a:t>
            </a:r>
          </a:p>
          <a:p>
            <a:pPr>
              <a:lnSpc>
                <a:spcPts val="1630"/>
              </a:lnSpc>
              <a:spcBef>
                <a:spcPts val="0"/>
              </a:spcBef>
              <a:spcAft>
                <a:spcPts val="0"/>
              </a:spcAft>
            </a:pPr>
            <a:r>
              <a:rPr sz="1340" b="0" lang="zh-CN">
                <a:solidFill>
                  <a:srgbClr val="1E2E3B"/>
                </a:solidFill>
                <a:latin typeface="Microsoft YaHei"/>
                <a:ea typeface="Microsoft YaHei"/>
                <a:cs typeface="Microsoft YaHei"/>
              </a:rPr>
              <a:t>mm²等 → 非常规验配，特殊需求按原文专门评估。</a:t>
            </a:r>
          </a:p>
        </p:txBody>
      </p:sp>
      <p:sp>
        <p:nvSpPr>
          <p:cNvPr id="8" name="2021 刊p1 / PDF1"/>
          <p:cNvSpPr txBox="1"/>
          <p:nvPr/>
        </p:nvSpPr>
        <p:spPr>
          <a:xfrm>
            <a:off x="5207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刊p1 / PDF1</a:t>
            </a:r>
          </a:p>
        </p:txBody>
      </p:sp>
      <p:cxnSp>
        <p:nvCxnSpPr>
          <p:cNvPr id="9" name="Connector 8"/>
          <p:cNvCxnSpPr/>
          <p:nvPr/>
        </p:nvCxnSpPr>
        <p:spPr>
          <a:xfrm>
            <a:off x="5180900" y="2265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536500" y="1384300"/>
            <a:ext cx="4787200" cy="1762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初配前检查与试戴"/>
          <p:cNvSpPr txBox="1"/>
          <p:nvPr/>
        </p:nvSpPr>
        <p:spPr>
          <a:xfrm>
            <a:off x="56889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初配前检查与试戴</a:t>
            </a:r>
          </a:p>
        </p:txBody>
      </p:sp>
      <p:sp>
        <p:nvSpPr>
          <p:cNvPr id="12" name="完整基线、知情同意 → 品牌匹配的试戴与调参 → 订片。"/>
          <p:cNvSpPr txBox="1"/>
          <p:nvPr/>
        </p:nvSpPr>
        <p:spPr>
          <a:xfrm>
            <a:off x="56889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完整基线、知情同意 → 品牌匹配的试戴与调参 → 订</a:t>
            </a:r>
          </a:p>
          <a:p>
            <a:pPr>
              <a:lnSpc>
                <a:spcPts val="1630"/>
              </a:lnSpc>
              <a:spcBef>
                <a:spcPts val="0"/>
              </a:spcBef>
              <a:spcAft>
                <a:spcPts val="0"/>
              </a:spcAft>
            </a:pPr>
            <a:r>
              <a:rPr sz="1340" b="0" lang="zh-CN">
                <a:solidFill>
                  <a:srgbClr val="1E2E3B"/>
                </a:solidFill>
                <a:latin typeface="Microsoft YaHei"/>
                <a:ea typeface="Microsoft YaHei"/>
                <a:cs typeface="Microsoft YaHei"/>
              </a:rPr>
              <a:t>片。</a:t>
            </a:r>
          </a:p>
        </p:txBody>
      </p:sp>
      <p:sp>
        <p:nvSpPr>
          <p:cNvPr id="13" name="2021 刊p2 / PDF2"/>
          <p:cNvSpPr txBox="1"/>
          <p:nvPr/>
        </p:nvSpPr>
        <p:spPr>
          <a:xfrm>
            <a:off x="56889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 / PDF2</a:t>
            </a:r>
          </a:p>
        </p:txBody>
      </p:sp>
      <p:cxnSp>
        <p:nvCxnSpPr>
          <p:cNvPr id="14" name="Connector 13"/>
          <p:cNvCxnSpPr/>
          <p:nvPr/>
        </p:nvCxnSpPr>
        <p:spPr>
          <a:xfrm>
            <a:off x="7930100" y="3171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536500" y="3387833"/>
            <a:ext cx="4787200" cy="1762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取镜日"/>
          <p:cNvSpPr txBox="1"/>
          <p:nvPr/>
        </p:nvSpPr>
        <p:spPr>
          <a:xfrm>
            <a:off x="56889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取镜日</a:t>
            </a:r>
          </a:p>
        </p:txBody>
      </p:sp>
      <p:sp>
        <p:nvSpPr>
          <p:cNvPr id="17" name="核验参数/健康 → 检查与配适 → 最后摘戴、护理培训 → 能完成后安排首日复查。"/>
          <p:cNvSpPr txBox="1"/>
          <p:nvPr/>
        </p:nvSpPr>
        <p:spPr>
          <a:xfrm>
            <a:off x="56889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核验参数/健康 → 检查与配适 → 最后摘戴、护理培训</a:t>
            </a:r>
          </a:p>
          <a:p>
            <a:pPr>
              <a:lnSpc>
                <a:spcPts val="1630"/>
              </a:lnSpc>
              <a:spcBef>
                <a:spcPts val="0"/>
              </a:spcBef>
              <a:spcAft>
                <a:spcPts val="0"/>
              </a:spcAft>
            </a:pPr>
            <a:r>
              <a:rPr sz="1340" b="0" lang="zh-CN">
                <a:solidFill>
                  <a:srgbClr val="1E2E3B"/>
                </a:solidFill>
                <a:latin typeface="Microsoft YaHei"/>
                <a:ea typeface="Microsoft YaHei"/>
                <a:cs typeface="Microsoft YaHei"/>
              </a:rPr>
              <a:t>→ 能完成后安排首日复查。</a:t>
            </a:r>
          </a:p>
        </p:txBody>
      </p:sp>
      <p:sp>
        <p:nvSpPr>
          <p:cNvPr id="18" name="2021 刊p2–3 / PDF2–3"/>
          <p:cNvSpPr txBox="1"/>
          <p:nvPr/>
        </p:nvSpPr>
        <p:spPr>
          <a:xfrm>
            <a:off x="56889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 / PDF2–3</a:t>
            </a:r>
          </a:p>
        </p:txBody>
      </p:sp>
      <p:cxnSp>
        <p:nvCxnSpPr>
          <p:cNvPr id="19" name="Connector 18"/>
          <p:cNvCxnSpPr/>
          <p:nvPr/>
        </p:nvCxnSpPr>
        <p:spPr>
          <a:xfrm flipH="1">
            <a:off x="5180900" y="4268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387833"/>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首日症状分支"/>
          <p:cNvSpPr txBox="1"/>
          <p:nvPr/>
        </p:nvSpPr>
        <p:spPr>
          <a:xfrm>
            <a:off x="5207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首日症状分支</a:t>
            </a:r>
          </a:p>
        </p:txBody>
      </p:sp>
      <p:sp>
        <p:nvSpPr>
          <p:cNvPr id="22" name="无不适：前夜≥8 h、晨起2 h内戴镜来诊；强烈异物感/痛：摘镜后及时就诊。"/>
          <p:cNvSpPr txBox="1"/>
          <p:nvPr/>
        </p:nvSpPr>
        <p:spPr>
          <a:xfrm>
            <a:off x="5207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无不适：前夜≥8 h、晨起2 h内戴镜来诊；强烈异物感/</a:t>
            </a:r>
          </a:p>
          <a:p>
            <a:pPr>
              <a:lnSpc>
                <a:spcPts val="1630"/>
              </a:lnSpc>
              <a:spcBef>
                <a:spcPts val="0"/>
              </a:spcBef>
              <a:spcAft>
                <a:spcPts val="0"/>
              </a:spcAft>
            </a:pPr>
            <a:r>
              <a:rPr sz="1340" b="0" lang="zh-CN">
                <a:solidFill>
                  <a:srgbClr val="1E2E3B"/>
                </a:solidFill>
                <a:latin typeface="Microsoft YaHei"/>
                <a:ea typeface="Microsoft YaHei"/>
                <a:cs typeface="Microsoft YaHei"/>
              </a:rPr>
              <a:t>痛：摘镜后及时就诊。</a:t>
            </a:r>
          </a:p>
        </p:txBody>
      </p:sp>
      <p:sp>
        <p:nvSpPr>
          <p:cNvPr id="23" name="2021 刊p2–3 / PDF2–3"/>
          <p:cNvSpPr txBox="1"/>
          <p:nvPr/>
        </p:nvSpPr>
        <p:spPr>
          <a:xfrm>
            <a:off x="5207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 / PDF2–3</a:t>
            </a:r>
          </a:p>
        </p:txBody>
      </p:sp>
      <p:cxnSp>
        <p:nvCxnSpPr>
          <p:cNvPr id="24" name="Connector 23"/>
          <p:cNvCxnSpPr/>
          <p:nvPr/>
        </p:nvCxnSpPr>
        <p:spPr>
          <a:xfrm>
            <a:off x="2761900" y="5175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5391366"/>
            <a:ext cx="4787200" cy="1762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后续复查"/>
          <p:cNvSpPr txBox="1"/>
          <p:nvPr/>
        </p:nvSpPr>
        <p:spPr>
          <a:xfrm>
            <a:off x="5207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后续复查</a:t>
            </a:r>
          </a:p>
        </p:txBody>
      </p:sp>
      <p:sp>
        <p:nvSpPr>
          <p:cNvPr id="27" name="1周、2周、1月、3月，后每2～3月；摘镜检查，眼轴/内皮可半年一次。"/>
          <p:cNvSpPr txBox="1"/>
          <p:nvPr/>
        </p:nvSpPr>
        <p:spPr>
          <a:xfrm>
            <a:off x="5207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1周、2周、1月、3月，后每2～3月；摘镜检查，眼轴/</a:t>
            </a:r>
          </a:p>
          <a:p>
            <a:pPr>
              <a:lnSpc>
                <a:spcPts val="1630"/>
              </a:lnSpc>
              <a:spcBef>
                <a:spcPts val="0"/>
              </a:spcBef>
              <a:spcAft>
                <a:spcPts val="0"/>
              </a:spcAft>
            </a:pPr>
            <a:r>
              <a:rPr sz="1340" b="0" lang="zh-CN">
                <a:solidFill>
                  <a:srgbClr val="1E2E3B"/>
                </a:solidFill>
                <a:latin typeface="Microsoft YaHei"/>
                <a:ea typeface="Microsoft YaHei"/>
                <a:cs typeface="Microsoft YaHei"/>
              </a:rPr>
              <a:t>内皮可半年一次。</a:t>
            </a:r>
          </a:p>
        </p:txBody>
      </p:sp>
      <p:sp>
        <p:nvSpPr>
          <p:cNvPr id="28" name="2021 刊p2–3 / PDF2–3"/>
          <p:cNvSpPr txBox="1"/>
          <p:nvPr/>
        </p:nvSpPr>
        <p:spPr>
          <a:xfrm>
            <a:off x="5207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 / PDF2–3</a:t>
            </a:r>
          </a:p>
        </p:txBody>
      </p:sp>
      <p:cxnSp>
        <p:nvCxnSpPr>
          <p:cNvPr id="29" name="Connector 28"/>
          <p:cNvCxnSpPr/>
          <p:nvPr/>
        </p:nvCxnSpPr>
        <p:spPr>
          <a:xfrm>
            <a:off x="5180900" y="6272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536500" y="5391366"/>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结果异常？"/>
          <p:cNvSpPr txBox="1"/>
          <p:nvPr/>
        </p:nvSpPr>
        <p:spPr>
          <a:xfrm>
            <a:off x="56889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结果异常？</a:t>
            </a:r>
          </a:p>
        </p:txBody>
      </p:sp>
      <p:sp>
        <p:nvSpPr>
          <p:cNvPr id="32" name="配适/视力不良 → 综合眼表、地形图、镜片评估调参/补偿；每次强化护理与配件管理。"/>
          <p:cNvSpPr txBox="1"/>
          <p:nvPr/>
        </p:nvSpPr>
        <p:spPr>
          <a:xfrm>
            <a:off x="56889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配适/视力不良 → 综合眼表、地形图、镜片评估调参/补</a:t>
            </a:r>
          </a:p>
          <a:p>
            <a:pPr>
              <a:lnSpc>
                <a:spcPts val="1630"/>
              </a:lnSpc>
              <a:spcBef>
                <a:spcPts val="0"/>
              </a:spcBef>
              <a:spcAft>
                <a:spcPts val="0"/>
              </a:spcAft>
            </a:pPr>
            <a:r>
              <a:rPr sz="1340" b="0" lang="zh-CN">
                <a:solidFill>
                  <a:srgbClr val="1E2E3B"/>
                </a:solidFill>
                <a:latin typeface="Microsoft YaHei"/>
                <a:ea typeface="Microsoft YaHei"/>
                <a:cs typeface="Microsoft YaHei"/>
              </a:rPr>
              <a:t>偿；每次强化护理与配件管理。</a:t>
            </a:r>
          </a:p>
        </p:txBody>
      </p:sp>
      <p:sp>
        <p:nvSpPr>
          <p:cNvPr id="33" name="2021 刊p2–3 / PDF2–3"/>
          <p:cNvSpPr txBox="1"/>
          <p:nvPr/>
        </p:nvSpPr>
        <p:spPr>
          <a:xfrm>
            <a:off x="56889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 / PDF2–3</a:t>
            </a:r>
          </a:p>
        </p:txBody>
      </p:sp>
      <p:sp>
        <p:nvSpPr>
          <p:cNvPr id="34" name="流程为整理表达；原文未明确的切点、剂量或等级不补编。完整证据与特殊分支见提取表。"/>
          <p:cNvSpPr txBox="1"/>
          <p:nvPr/>
        </p:nvSpPr>
        <p:spPr>
          <a:xfrm>
            <a:off x="368300" y="7306000"/>
            <a:ext cx="99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角膜塑形镜验配流程 一页流程</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