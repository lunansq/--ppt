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Lst>
  <p:sldSz cx="3780000" cy="532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flacs-01 适应证：以传统白内障手术入选标准为主，患者能主动配合、角膜透明、睑裂正常，没有影响飞秒正常操作的情况。</a:t>
            </a:r>
          </a:p>
          <a:p>
            <a:r>
              <a:t>来源：2018 刊p328 / PDF1；类别：适用人群；推荐等级：原文未明确。</a:t>
            </a:r>
          </a:p>
          <a:p>
            <a:r>
              <a:t>原文锚点：温度：18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a:t>
            </a:r>
          </a:p>
          <a:p/>
          <a:p>
            <a:r>
              <a:t>flacs-02 不能接受手术的情形：解剖异常无法操作、不能固视/仰卧配合、妨碍压平的角膜病（非接触设备除外）、阻挡激光的混浊、后弹力层膨出、近期反复角膜感染、前房血液/硅油、低眼压或角膜植入物。</a:t>
            </a:r>
          </a:p>
          <a:p>
            <a:r>
              <a:t>来源：2018 刊p328 / PDF1；类别：禁忌；推荐等级：原文未明确。</a:t>
            </a:r>
          </a:p>
          <a:p>
            <a:r>
              <a:t>原文锚点：8～24℃（恒定于此范围的某一值），相对湿度：＜50％（不同设备可能要求不同，以达到要求为准）。二、FLACS的适应证及禁忌证（一）适应证以传统白内障摘除手术患者入选标准为主，患者能主动配合手术，角膜透明，睑裂大小正常，眼部无影响飞秒激光正常操作的情况。（二）禁忌证存在下列情况中任何一项者，不能接受手术：（1）眼眶、眼睑或眼球解剖结构异常致飞秒激光无法正常操作，如睑裂狭小、眼睑变形；（2）患者无法主动配合手术，如眼球震颤、术中无法固视配合、头位不能处于正常位置或因全身性疾病不能仰卧者；（3）合并妨碍角膜压平的角膜疾</a:t>
            </a:r>
          </a:p>
          <a:p/>
          <a:p>
            <a:r>
              <a:t>flacs-03 须严密评估：小睑裂、散大瞳孔直径&lt;5 mm或异位、未控制青光眼/薄壁滤过泡、肥厚翼状胬肉/严重结膜松弛、晶状体明显异位。</a:t>
            </a:r>
          </a:p>
          <a:p>
            <a:r>
              <a:t>来源：2018 刊p328 / PDF1；类别：风险评估；推荐等级：原文未明确。</a:t>
            </a:r>
          </a:p>
          <a:p>
            <a:r>
              <a:t>原文锚点：物存在。存在下列情况中任何一项的患者，术前须经术者全面严密评估，以确定是否行FLACS：（1）小睑裂；（2）散大瞳孔直径＜5mm，瞳孔异位；（3）未控制的青光眼或存在薄壁滤过泡；（4）大而肥厚的翼状胬肉，较严重的球结膜松弛症；（5）晶状体明显异位。（三）特殊应用1.硬核白内障患者行FLACS，可减少有效超声乳化时间和能量，减轻术后早期角膜水肿，降低角膜内</a:t>
            </a:r>
          </a:p>
          <a:p/>
          <a:p>
            <a:r>
              <a:t>flacs-04 特殊患者：硬核、功能性IOL、浅前房/全白内障、内皮病、部分半脱位/高度近视可考虑FLACS；半脱位严重且切囊区被虹膜遮挡，不建议飞秒切囊。</a:t>
            </a:r>
          </a:p>
          <a:p>
            <a:r>
              <a:t>来源：2018 刊p328–329 / PDF1–2；类别：特殊人群；推荐等级：原文未明确。</a:t>
            </a:r>
          </a:p>
          <a:p>
            <a:r>
              <a:t>原文锚点：晶状体前囊膜切开和激光劈核可最大限度减轻晶状体悬韧带的术源性损伤，90%术眼可成功保护晶状体囊袋。对于异位不明显的晶状体半脱位，FLACS较传统白内障摘除手术更安全，具有明显优势[8-10]。但对于脱位范围大、晶状体偏位严重者，晶状体前囊膜切开区域被虹膜遮挡者，不建议采用飞秒激光切开晶状体前囊膜。对于角膜穿通伤导致的晶状体前囊膜破裂6.或眼部钝挫伤所致晶状体全混浊，采用飞秒激光可实现重复性撕囊，降低手术难度，提升手术安全性[11]。轴性高度近视眼由于眼轴长、前房深、晶状7.体大囊袋及悬韧带松弛，影响术者对撕囊直径的</a:t>
            </a:r>
          </a:p>
          <a:p/>
          <a:p>
            <a:r>
              <a:t>flacs-08 切囊直径：可设4.5～6.0 mm，通常5.0～5.2 mm；硬核或拟植入可调节IOL可用5.5 mm。原则360°覆盖IOL边缘，撕囊边缘距瞳孔缘按原文1 mm安全范围。</a:t>
            </a:r>
          </a:p>
          <a:p>
            <a:r>
              <a:t>来源：2018 刊p330 / PDF3；类别：参数；推荐等级：原文未明确。</a:t>
            </a:r>
          </a:p>
          <a:p>
            <a:r>
              <a:t>原文锚点：··330中华眼科杂志2体半脱位患者。飞秒激光晶状体前囊膜切开口直径可根据需要自行设定（4.5～6.0mm），原则为360°覆盖IOL边缘，一般建议选择直径为5.0～5.2mm，的患者需设硬核白内障患者或拟植入可调节IOL定较大切开直径（5.5mm），原则为撕囊边缘到瞳孔缘的距离在1mm安全范围内。（二）预劈核飞秒激光预劈核的优势在于可减少有效超乳时间和能量释放，从而减轻术后早期角膜水肿和内皮损伤，视力恢复更快[16-17]，尤其对于硬核白内障、角膜内皮病变患者是更安全的选择。但是，</a:t>
            </a:r>
          </a:p>
          <a:p/>
          <a:p>
            <a:r>
              <a:t>flacs-09 预劈核选择：Ⅳ级及以上硬核强烈建议预劈核，可劈6块；并非所有病例必需。后极性白内障暂不建议预劈核；参数按核硬度、方式、设备个体化。</a:t>
            </a:r>
          </a:p>
          <a:p>
            <a:r>
              <a:t>来源：2018 刊p330 / PDF3；类别：治疗；推荐等级：原文未明确。</a:t>
            </a:r>
          </a:p>
          <a:p>
            <a:r>
              <a:t>原文锚点：实际情况不进行飞秒激光预劈核。飞秒激光预劈核的参数可根据晶状体核的硬度、劈核方式、飞秒激光设备等因素进行个性化设计。对于Ⅳ级及以上硬核白内障，强烈建议采用飞秒激光预劈核，可块。因后极性白内障飞秒激光将晶状体核劈成6处理后气泡较多，水分离后晶状体后囊膜易破，暂不建议使用飞秒激光预劈核操作。飞秒激光处理前眼前节扫描不清晰时可降低劈核深度。建议在实践中优化劈核参数和手术技巧，以有效降低超声乳化能量。（三）制作角膜切口飞秒激光制作透明角膜切口不是必需操作[18]，可根据不同设备和需求自行选择。若采用飞秒激光制作角膜切口，建</a:t>
            </a:r>
          </a:p>
          <a:p/>
          <a:p>
            <a:r>
              <a:t>flacs-10 角膜切口与散光：透明角膜切口不是必需；可用两/三平面，明显前移或定位困难可改手工。规则散光1.00～1.50 D或散光IOL术后残余散光在此范围，可考虑松解切口。</a:t>
            </a:r>
          </a:p>
          <a:p>
            <a:r>
              <a:t>来源：2018 刊p330 / PDF3；类别：治疗；推荐等级：原文未明确。</a:t>
            </a:r>
          </a:p>
          <a:p>
            <a:r>
              <a:t>原文锚点：指万方数据2018年5月第54卷第5期ChinJOphthalmol，May2018,Vol.54,No.5数增加。对于1.00～1.50D的规则散光及植入矫正散光型IOL仍残余1.00～1.50D角膜散光的患者，可考虑采用飞秒激光角膜松解切口。七、手术并发症及处理（一）负压环固定困难及脱落接触式机型的发生率为1.4%～2.5%不等，可能与结膜松弛、翼状胬肉致接口不密闭或患者突然转动眼球有关。关键在于术前筛选合适的患者。强调术前应通过充分的沟通以指导和教育患者，术中合理精确放置患者接口（patientinterf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flacs-11 缩瞳预防用药：术前1 h内散瞳并联合NSAID；NSAID术前1 d点眼3或4次、每次1滴。激光后立即1%复方托吡卡胺1滴；推荐15～20 min内超乳。</a:t>
            </a:r>
          </a:p>
          <a:p>
            <a:r>
              <a:t>来源：2018 刊p330–331 / PDF3–4；类别：用药；推荐等级：原文未明确。</a:t>
            </a:r>
          </a:p>
          <a:p>
            <a:r>
              <a:t>原文锚点：前1d眼，3或4次，1次1滴），若无法达到上述时间，应采用强化给药方式[27-28]。飞秒激光操作后立即局部点用1%复方托吡卡胺眼液1滴。对于术中难以散大瞳孔的患者，可采用前房内注射1∶10000～1∶50000稀释的肾上腺素和（或）虹膜牵引器、虹膜扩张环等机械扩大瞳孔的装置散大瞳孔[29]。对于伴发虹膜松弛脱垂综合征、假性囊膜剥脱中华眼科杂志2018年5月第54卷第5期ChinJOphthalmol，May2018综合征、葡萄膜炎、高度近视眼、糖尿病和服用肾上腺α受体拮抗剂等的白内障患者，尤其应警惕飞秒激光操作后</a:t>
            </a:r>
          </a:p>
          <a:p/>
          <a:p>
            <a:r>
              <a:t>flacs-13 负压固定异常：脱吸或异常气泡/结膜进入等 → 迅速松脚踏终止操作，休息后重新放置；多次无法固定可终止激光改常规超乳。</a:t>
            </a:r>
          </a:p>
          <a:p>
            <a:r>
              <a:t>来源：2018 刊p330 / PDF3；类别：并发症；推荐等级：原文未明确。</a:t>
            </a:r>
          </a:p>
          <a:p>
            <a:r>
              <a:t>原文锚点：并及时判断。处理方式：当发现术中出现固定环脱落，多余结膜组织移向PI区域或PI的结膜固定区域出现皱褶和气泡进入征兆，迅速松开脚踏以终止操作，让患者休息片刻后重新放置固定环。非接触式机型可实时用色环监测提示负压吸引情况，若发现色环局部变黄，可迅速调整PI位置以补充负压，避免出现脱吸而影响激光发射。多次无法固定者，可终止激光操作，直接进行超声乳化白内障吸除术。负压环固定困难及脱落的发生率随术者熟练度和操作例数的增加可逐渐降低，初学者宜选择睑裂较大、配合度较高的患者。（二）结膜下出血负压固定等机械因素导致球结膜下小血管破</a:t>
            </a:r>
          </a:p>
          <a:p/>
          <a:p>
            <a:r>
              <a:t>flacs-14 切囊不全/撕裂：切囊不全手法二次撕囊；不确定是否完整，可染色后取出，避免突然快速取囊。已撕裂则维持前房、轻巧操作并避开裂区。</a:t>
            </a:r>
          </a:p>
          <a:p>
            <a:r>
              <a:t>来源：2018 刊p331 / PDF4；类别：并发症；推荐等级：原文未明确。</a:t>
            </a:r>
          </a:p>
          <a:p>
            <a:r>
              <a:t>原文锚点：状体前囊膜撕裂比例为0.31%～4.00%，多与前囊膜锯齿状边缘受力不均或前囊膜切开不完整有关。对于截囊不全者应采用手法二次撕囊；对于无法判断晶状体前囊膜是否完全切开者，可进行前囊膜染色后再取出，避免利用撕囊镊或超声乳化手柄突然快速取出前囊膜。若晶状体前囊膜已发生撕裂，则在水分离和超声乳化时应减小负压并轻巧操作，维持前房，同时避开撕裂区，IOL襻也应避开撕裂线位置，以保证手术的安全性和稳定性。随着操作者对技术的熟练掌握，该并发症的比例可下降至0.10%～0.21%。（五）水分离不完全飞秒激光预劈核可使水分离水流轨道</a:t>
            </a:r>
          </a:p>
          <a:p/>
          <a:p>
            <a:r>
              <a:t>flacs-15 后囊与囊袋阻滞：保守扫描深度，关注眼位倾斜；减少气泡，移除囊膜前避免过量黏弹剂，水分离前囊袋减压。后极性合并硬核水分离尤其谨慎。</a:t>
            </a:r>
          </a:p>
          <a:p>
            <a:r>
              <a:t>来源：2018 刊p331 / PDF4；类别：并发症；推荐等级：原文未明确。</a:t>
            </a:r>
          </a:p>
          <a:p>
            <a:r>
              <a:t>原文锚点：，注意气泡产生的张力，及时减小张力，避免晶状体囊袋内压力过高导致后囊膜破裂，对于硬核可酌情扩大撕囊口以降低囊内压。（十）囊袋阻滞综合征飞秒激光的光致分解作用引发的等离子体微爆破效应急速产生大量气泡积于囊袋内，使得晶状体内压力过大所致。飞秒激光操作后晶状体皮质与囊膜的黏附力更强，环形前囊膜切开均一完整以及水分离操作进一步增加了液体在囊袋内滞留的风险，也是导致晶状体后囊膜破裂及晶状体核坠入玻璃体腔的重要因素。建议飞秒激光操作中最大限度减少晶状体内气泡形成，移除囊膜前避免过度注入黏弹剂，水分离前先对晶体状囊袋进行减压处理</a:t>
            </a:r>
          </a:p>
          <a:p/>
          <a:p>
            <a:r>
              <a:t>flacs-16 眼表与术后随访：术前/早期术后评估干眼，酌情人工泪液；术后1 d、7 d、1个月复查视力、眼压和前房；并发症增频、异常及时就诊。</a:t>
            </a:r>
          </a:p>
          <a:p>
            <a:r>
              <a:t>来源：2018 刊p331–332 / PDF4–5；类别：随访；推荐等级：原文未明确。</a:t>
            </a:r>
          </a:p>
          <a:p>
            <a:r>
              <a:t>原文锚点：人工泪液。八、术后评估和随访术后随访方案参照常规白内障摘除手FLACS··332中华眼科杂志2次常规检术，建议术后1d、7d、1个月分别进行1查。术后检查项目应包括视力、眼压和前房情况等。出现其他并发症的患者应适当增加随访次数，若术眼出现异常情况应及时就诊。形成共识意见的专家组成员:姚克浙江大学医学院附属第二医院眼科中心（白内障及人工晶状体学组组长）汤欣天津市眼科医院（白内障及人工晶状体学组副组长）毕宏生山东中医药大学附属眼科医院（白内障及人工晶状体学组副组长）陈伟蓉中山大学中山眼科中心（白内障及人工晶状体学组副组</a:t>
            </a:r>
          </a:p>
          <a:p/>
          <a:p>
            <a:r>
              <a:t>flacs-18 缺项与证据边界：原文部分优势来自其引用研究，不能写作所有患者必然获益；未统一给出激光能量/劈核深度、儿童妊娠方案及正式推荐分级。</a:t>
            </a:r>
          </a:p>
          <a:p>
            <a:r>
              <a:t>来源：2018 刊p328–330 / PDF1–3；类别：原文未明确；推荐等级：原文未明确。</a:t>
            </a:r>
          </a:p>
          <a:p>
            <a:r>
              <a:t>原文锚点：主治医师及以上职称，具有一定超声乳化白内障吸除术经验和眼科手术经验。（三）环境要求手术室的面积和尺寸应符合激光设备要求的参数标准，手术室内空气必须达到原国家卫生和计划生育委员会在《医院消毒卫生标准（GB15982—2012）》中规定的Ⅱ类环境空气消毒标准，若飞秒激光与超声乳化白内障吸除术在同一间手术室完成，则需要达到Ⅰ类环境空气消毒标准。手术室温度：18～24℃（恒定于此范围的某一值），相对湿度：＜50％（不同设备可能要求不同，以达到要求为准）。二、FLACS的适应证及禁忌证（一）适应证以传统白内障摘除手术患者入选</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4" name="2018 专家共识 · 正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正面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患者选择"/>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患者选择</a:t>
            </a:r>
          </a:p>
        </p:txBody>
      </p:sp>
      <p:sp>
        <p:nvSpPr>
          <p:cNvPr id="7" name="能配合、角膜透明、睑裂合适。解剖/固视不适、激光阻挡、活动角膜问题、低眼压等禁忌须排查。"/>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能配合、角膜透明、睑裂合适。解剖/固视不适、激光阻挡、</a:t>
            </a:r>
          </a:p>
          <a:p>
            <a:pPr>
              <a:lnSpc>
                <a:spcPts val="1160"/>
              </a:lnSpc>
              <a:spcBef>
                <a:spcPts val="0"/>
              </a:spcBef>
              <a:spcAft>
                <a:spcPts val="0"/>
              </a:spcAft>
            </a:pPr>
            <a:r>
              <a:rPr sz="950" b="0" lang="zh-CN">
                <a:solidFill>
                  <a:srgbClr val="1E2E3B"/>
                </a:solidFill>
                <a:latin typeface="Microsoft YaHei"/>
                <a:ea typeface="Microsoft YaHei"/>
                <a:cs typeface="Microsoft YaHei"/>
              </a:rPr>
              <a:t>活动角膜问题、低眼压等禁忌须排查。</a:t>
            </a:r>
          </a:p>
        </p:txBody>
      </p:sp>
      <p:sp>
        <p:nvSpPr>
          <p:cNvPr id="8" name="2018 刊p328"/>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a:t>
            </a:r>
          </a:p>
        </p:txBody>
      </p:sp>
      <p:sp>
        <p:nvSpPr>
          <p:cNvPr id="9" name="Rectangle 8"/>
          <p:cNvSpPr/>
          <p:nvPr/>
        </p:nvSpPr>
        <p:spPr>
          <a:xfrm>
            <a:off x="172720" y="1511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高风险评估"/>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高风险评估</a:t>
            </a:r>
          </a:p>
        </p:txBody>
      </p:sp>
      <p:sp>
        <p:nvSpPr>
          <p:cNvPr id="11" name="散大瞳孔&lt;5 mm、未控制青光眼、薄壁滤过泡、明显半脱位等须严密评估。"/>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散大瞳孔&lt;5 mm、未控制青光眼、薄壁滤过泡、明显半脱位</a:t>
            </a:r>
          </a:p>
          <a:p>
            <a:pPr>
              <a:lnSpc>
                <a:spcPts val="1160"/>
              </a:lnSpc>
              <a:spcBef>
                <a:spcPts val="0"/>
              </a:spcBef>
              <a:spcAft>
                <a:spcPts val="0"/>
              </a:spcAft>
            </a:pPr>
            <a:r>
              <a:rPr sz="950" b="0" lang="zh-CN">
                <a:solidFill>
                  <a:srgbClr val="1E2E3B"/>
                </a:solidFill>
                <a:latin typeface="Microsoft YaHei"/>
                <a:ea typeface="Microsoft YaHei"/>
                <a:cs typeface="Microsoft YaHei"/>
              </a:rPr>
              <a:t>等须严密评估。</a:t>
            </a:r>
          </a:p>
        </p:txBody>
      </p:sp>
      <p:sp>
        <p:nvSpPr>
          <p:cNvPr id="12" name="2018 刊p328–329"/>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刊p328–329</a:t>
            </a:r>
          </a:p>
        </p:txBody>
      </p:sp>
      <p:sp>
        <p:nvSpPr>
          <p:cNvPr id="13" name="Rectangle 12"/>
          <p:cNvSpPr/>
          <p:nvPr/>
        </p:nvSpPr>
        <p:spPr>
          <a:xfrm>
            <a:off x="172720" y="2278380"/>
            <a:ext cx="3434560" cy="716280"/>
          </a:xfrm>
          <a:prstGeom prst="rect">
            <a:avLst/>
          </a:prstGeom>
          <a:solidFill>
            <a:srgbClr val="FFF4E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切囊参数"/>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95612"/>
                </a:solidFill>
                <a:latin typeface="Microsoft YaHei"/>
                <a:ea typeface="Microsoft YaHei"/>
                <a:cs typeface="Microsoft YaHei"/>
              </a:rPr>
              <a:t>切囊参数</a:t>
            </a:r>
          </a:p>
        </p:txBody>
      </p:sp>
      <p:sp>
        <p:nvSpPr>
          <p:cNvPr id="15" name="通常5.0～5.2 mm；可设4.5～6.0 mm；硬核/可调节IOL 5.5 mm。360°覆盖I"/>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通常5.0～5.2 mm；可设4.5～6.0 mm；硬核/可调节IOL 5.5</a:t>
            </a:r>
          </a:p>
          <a:p>
            <a:pPr>
              <a:lnSpc>
                <a:spcPts val="1160"/>
              </a:lnSpc>
              <a:spcBef>
                <a:spcPts val="0"/>
              </a:spcBef>
              <a:spcAft>
                <a:spcPts val="0"/>
              </a:spcAft>
            </a:pPr>
            <a:r>
              <a:rPr sz="950" b="0" lang="zh-CN">
                <a:solidFill>
                  <a:srgbClr val="1E2E3B"/>
                </a:solidFill>
                <a:latin typeface="Microsoft YaHei"/>
                <a:ea typeface="Microsoft YaHei"/>
                <a:cs typeface="Microsoft YaHei"/>
              </a:rPr>
              <a:t>mm。360°覆盖IOL边缘。</a:t>
            </a:r>
          </a:p>
        </p:txBody>
      </p:sp>
      <p:sp>
        <p:nvSpPr>
          <p:cNvPr id="16" name="2018 刊p330"/>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17" name="Rectangle 16"/>
          <p:cNvSpPr/>
          <p:nvPr/>
        </p:nvSpPr>
        <p:spPr>
          <a:xfrm>
            <a:off x="172720" y="304546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预劈核/切口"/>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预劈核/切口</a:t>
            </a:r>
          </a:p>
        </p:txBody>
      </p:sp>
      <p:sp>
        <p:nvSpPr>
          <p:cNvPr id="19" name="Ⅳ级及以上硬核建议预劈核；后极性暂不建议。角膜切口非必需；松解切口可考虑规则散光1.00～1.50 "/>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Ⅳ级及以上硬核建议预劈核；后极性暂不建议。角膜切口非</a:t>
            </a:r>
          </a:p>
          <a:p>
            <a:pPr>
              <a:lnSpc>
                <a:spcPts val="1160"/>
              </a:lnSpc>
              <a:spcBef>
                <a:spcPts val="0"/>
              </a:spcBef>
              <a:spcAft>
                <a:spcPts val="0"/>
              </a:spcAft>
            </a:pPr>
            <a:r>
              <a:rPr sz="950" b="0" lang="zh-CN">
                <a:solidFill>
                  <a:srgbClr val="1E2E3B"/>
                </a:solidFill>
                <a:latin typeface="Microsoft YaHei"/>
                <a:ea typeface="Microsoft YaHei"/>
                <a:cs typeface="Microsoft YaHei"/>
              </a:rPr>
              <a:t>必需；松解切口可考虑规则散光1.00～1.50 D。</a:t>
            </a:r>
          </a:p>
        </p:txBody>
      </p:sp>
      <p:sp>
        <p:nvSpPr>
          <p:cNvPr id="20" name="2018 刊p330"/>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160020" y="160020"/>
            <a:ext cx="3459960" cy="520700"/>
          </a:xfrm>
          <a:prstGeom prst="rect">
            <a:avLst/>
          </a:prstGeom>
          <a:solidFill>
            <a:srgbClr val="17334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飞秒激光辅助白内障手术规范"/>
          <p:cNvSpPr txBox="1"/>
          <p:nvPr/>
        </p:nvSpPr>
        <p:spPr>
          <a:xfrm>
            <a:off x="236220" y="198120"/>
            <a:ext cx="3307560" cy="241300"/>
          </a:xfrm>
          <a:prstGeom prst="rect">
            <a:avLst/>
          </a:prstGeom>
          <a:noFill/>
        </p:spPr>
        <p:txBody>
          <a:bodyPr wrap="none" lIns="0" rIns="0" tIns="0" bIns="0" anchor="t">
            <a:noAutofit/>
          </a:bodyPr>
          <a:lstStyle/>
          <a:p>
            <a:pPr>
              <a:lnSpc>
                <a:spcPts val="1400"/>
              </a:lnSpc>
              <a:spcBef>
                <a:spcPts val="0"/>
              </a:spcBef>
              <a:spcAft>
                <a:spcPts val="0"/>
              </a:spcAft>
            </a:pPr>
            <a:r>
              <a:rPr sz="1150" b="1" lang="zh-CN">
                <a:solidFill>
                  <a:srgbClr val="FFFFFF"/>
                </a:solidFill>
                <a:latin typeface="Microsoft YaHei"/>
                <a:ea typeface="Microsoft YaHei"/>
                <a:cs typeface="Microsoft YaHei"/>
              </a:rPr>
              <a:t>飞秒激光辅助白内障手术规范</a:t>
            </a:r>
          </a:p>
        </p:txBody>
      </p:sp>
      <p:sp>
        <p:nvSpPr>
          <p:cNvPr id="4" name="2018 专家共识 · 背面"/>
          <p:cNvSpPr txBox="1"/>
          <p:nvPr/>
        </p:nvSpPr>
        <p:spPr>
          <a:xfrm>
            <a:off x="236220" y="414020"/>
            <a:ext cx="33075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FFFFFF"/>
                </a:solidFill>
                <a:latin typeface="Microsoft YaHei"/>
                <a:ea typeface="Microsoft YaHei"/>
                <a:cs typeface="Microsoft YaHei"/>
              </a:rPr>
              <a:t>2018 专家共识 · 背面</a:t>
            </a:r>
          </a:p>
        </p:txBody>
      </p:sp>
      <p:sp>
        <p:nvSpPr>
          <p:cNvPr id="5" name="Rectangle 4"/>
          <p:cNvSpPr/>
          <p:nvPr/>
        </p:nvSpPr>
        <p:spPr>
          <a:xfrm>
            <a:off x="172720" y="74422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 name="缩瞳预防"/>
          <p:cNvSpPr txBox="1"/>
          <p:nvPr/>
        </p:nvSpPr>
        <p:spPr>
          <a:xfrm>
            <a:off x="274320" y="78232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缩瞳预防</a:t>
            </a:r>
          </a:p>
        </p:txBody>
      </p:sp>
      <p:sp>
        <p:nvSpPr>
          <p:cNvPr id="7" name="术前1 h内散瞳+NSAID；NSAID术前1 d，3或4次、每次1滴。激光后1%复方托吡卡胺1滴；"/>
          <p:cNvSpPr txBox="1"/>
          <p:nvPr/>
        </p:nvSpPr>
        <p:spPr>
          <a:xfrm>
            <a:off x="274320" y="934719"/>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术前1 h内散瞳+NSAID；NSAID术前1 d，3或4次、每次1</a:t>
            </a:r>
          </a:p>
          <a:p>
            <a:pPr>
              <a:lnSpc>
                <a:spcPts val="1160"/>
              </a:lnSpc>
              <a:spcBef>
                <a:spcPts val="0"/>
              </a:spcBef>
              <a:spcAft>
                <a:spcPts val="0"/>
              </a:spcAft>
            </a:pPr>
            <a:r>
              <a:rPr sz="950" b="0" lang="zh-CN">
                <a:solidFill>
                  <a:srgbClr val="1E2E3B"/>
                </a:solidFill>
                <a:latin typeface="Microsoft YaHei"/>
                <a:ea typeface="Microsoft YaHei"/>
                <a:cs typeface="Microsoft YaHei"/>
              </a:rPr>
              <a:t>滴。激光后1%复方托吡卡胺1滴；15～20 min内超乳。</a:t>
            </a:r>
          </a:p>
        </p:txBody>
      </p:sp>
      <p:sp>
        <p:nvSpPr>
          <p:cNvPr id="8" name="2018 刊p330–331"/>
          <p:cNvSpPr txBox="1"/>
          <p:nvPr/>
        </p:nvSpPr>
        <p:spPr>
          <a:xfrm>
            <a:off x="274320" y="125476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9" name="Rectangle 8"/>
          <p:cNvSpPr/>
          <p:nvPr/>
        </p:nvSpPr>
        <p:spPr>
          <a:xfrm>
            <a:off x="172720" y="1511300"/>
            <a:ext cx="3434560" cy="716280"/>
          </a:xfrm>
          <a:prstGeom prst="rect">
            <a:avLst/>
          </a:prstGeom>
          <a:solidFill>
            <a:srgbClr val="FCEFF0"/>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异常处理"/>
          <p:cNvSpPr txBox="1"/>
          <p:nvPr/>
        </p:nvSpPr>
        <p:spPr>
          <a:xfrm>
            <a:off x="274320" y="154940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A13438"/>
                </a:solidFill>
                <a:latin typeface="Microsoft YaHei"/>
                <a:ea typeface="Microsoft YaHei"/>
                <a:cs typeface="Microsoft YaHei"/>
              </a:rPr>
              <a:t>异常处理</a:t>
            </a:r>
          </a:p>
        </p:txBody>
      </p:sp>
      <p:sp>
        <p:nvSpPr>
          <p:cNvPr id="11" name="脱吸迅速停激光，重放接口；反复失败改超乳。切囊不全手法完成；不确定可染色，不突然快速取囊。"/>
          <p:cNvSpPr txBox="1"/>
          <p:nvPr/>
        </p:nvSpPr>
        <p:spPr>
          <a:xfrm>
            <a:off x="274320" y="170180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脱吸迅速停激光，重放接口；反复失败改超乳。切囊不全手</a:t>
            </a:r>
          </a:p>
          <a:p>
            <a:pPr>
              <a:lnSpc>
                <a:spcPts val="1160"/>
              </a:lnSpc>
              <a:spcBef>
                <a:spcPts val="0"/>
              </a:spcBef>
              <a:spcAft>
                <a:spcPts val="0"/>
              </a:spcAft>
            </a:pPr>
            <a:r>
              <a:rPr sz="950" b="0" lang="zh-CN">
                <a:solidFill>
                  <a:srgbClr val="1E2E3B"/>
                </a:solidFill>
                <a:latin typeface="Microsoft YaHei"/>
                <a:ea typeface="Microsoft YaHei"/>
                <a:cs typeface="Microsoft YaHei"/>
              </a:rPr>
              <a:t>法完成；不确定可染色，不突然快速取囊。</a:t>
            </a:r>
          </a:p>
        </p:txBody>
      </p:sp>
      <p:sp>
        <p:nvSpPr>
          <p:cNvPr id="12" name="2018 刊p330–331"/>
          <p:cNvSpPr txBox="1"/>
          <p:nvPr/>
        </p:nvSpPr>
        <p:spPr>
          <a:xfrm>
            <a:off x="274320" y="2021839"/>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刊p330–331</a:t>
            </a:r>
          </a:p>
        </p:txBody>
      </p:sp>
      <p:sp>
        <p:nvSpPr>
          <p:cNvPr id="13" name="Rectangle 12"/>
          <p:cNvSpPr/>
          <p:nvPr/>
        </p:nvSpPr>
        <p:spPr>
          <a:xfrm>
            <a:off x="172720" y="2278380"/>
            <a:ext cx="3434560" cy="716280"/>
          </a:xfrm>
          <a:prstGeom prst="rect">
            <a:avLst/>
          </a:prstGeom>
          <a:solidFill>
            <a:srgbClr val="EDF4FB"/>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后囊安全"/>
          <p:cNvSpPr txBox="1"/>
          <p:nvPr/>
        </p:nvSpPr>
        <p:spPr>
          <a:xfrm>
            <a:off x="274320" y="231648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245A91"/>
                </a:solidFill>
                <a:latin typeface="Microsoft YaHei"/>
                <a:ea typeface="Microsoft YaHei"/>
                <a:cs typeface="Microsoft YaHei"/>
              </a:rPr>
              <a:t>后囊安全</a:t>
            </a:r>
          </a:p>
        </p:txBody>
      </p:sp>
      <p:sp>
        <p:nvSpPr>
          <p:cNvPr id="15" name="保守扫描、观察眼位；减气泡、避免过量黏弹剂，水分离前囊袋减压；后极性更谨慎。"/>
          <p:cNvSpPr txBox="1"/>
          <p:nvPr/>
        </p:nvSpPr>
        <p:spPr>
          <a:xfrm>
            <a:off x="274320" y="246888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保守扫描、观察眼位；减气泡、避免过量黏弹剂，水分离前</a:t>
            </a:r>
          </a:p>
          <a:p>
            <a:pPr>
              <a:lnSpc>
                <a:spcPts val="1160"/>
              </a:lnSpc>
              <a:spcBef>
                <a:spcPts val="0"/>
              </a:spcBef>
              <a:spcAft>
                <a:spcPts val="0"/>
              </a:spcAft>
            </a:pPr>
            <a:r>
              <a:rPr sz="950" b="0" lang="zh-CN">
                <a:solidFill>
                  <a:srgbClr val="1E2E3B"/>
                </a:solidFill>
                <a:latin typeface="Microsoft YaHei"/>
                <a:ea typeface="Microsoft YaHei"/>
                <a:cs typeface="Microsoft YaHei"/>
              </a:rPr>
              <a:t>囊袋减压；后极性更谨慎。</a:t>
            </a:r>
          </a:p>
        </p:txBody>
      </p:sp>
      <p:sp>
        <p:nvSpPr>
          <p:cNvPr id="16" name="2018 刊p331"/>
          <p:cNvSpPr txBox="1"/>
          <p:nvPr/>
        </p:nvSpPr>
        <p:spPr>
          <a:xfrm>
            <a:off x="274320" y="278892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刊p331</a:t>
            </a:r>
          </a:p>
        </p:txBody>
      </p:sp>
      <p:sp>
        <p:nvSpPr>
          <p:cNvPr id="17" name="Rectangle 16"/>
          <p:cNvSpPr/>
          <p:nvPr/>
        </p:nvSpPr>
        <p:spPr>
          <a:xfrm>
            <a:off x="172720" y="3045460"/>
            <a:ext cx="3434560" cy="716280"/>
          </a:xfrm>
          <a:prstGeom prst="rect">
            <a:avLst/>
          </a:prstGeom>
          <a:solidFill>
            <a:srgbClr val="F3EFF8"/>
          </a:solidFill>
          <a:ln w="7620">
            <a:solidFill>
              <a:srgbClr val="D6E0E8"/>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随访"/>
          <p:cNvSpPr txBox="1"/>
          <p:nvPr/>
        </p:nvSpPr>
        <p:spPr>
          <a:xfrm>
            <a:off x="274320" y="3083560"/>
            <a:ext cx="3231360" cy="215900"/>
          </a:xfrm>
          <a:prstGeom prst="rect">
            <a:avLst/>
          </a:prstGeom>
          <a:noFill/>
        </p:spPr>
        <p:txBody>
          <a:bodyPr wrap="none" lIns="0" rIns="0" tIns="0" bIns="0" anchor="t">
            <a:noAutofit/>
          </a:bodyPr>
          <a:lstStyle/>
          <a:p>
            <a:pPr>
              <a:lnSpc>
                <a:spcPts val="1200"/>
              </a:lnSpc>
              <a:spcBef>
                <a:spcPts val="0"/>
              </a:spcBef>
              <a:spcAft>
                <a:spcPts val="0"/>
              </a:spcAft>
            </a:pPr>
            <a:r>
              <a:rPr sz="1000" b="1" lang="zh-CN">
                <a:solidFill>
                  <a:srgbClr val="695292"/>
                </a:solidFill>
                <a:latin typeface="Microsoft YaHei"/>
                <a:ea typeface="Microsoft YaHei"/>
                <a:cs typeface="Microsoft YaHei"/>
              </a:rPr>
              <a:t>随访</a:t>
            </a:r>
          </a:p>
        </p:txBody>
      </p:sp>
      <p:sp>
        <p:nvSpPr>
          <p:cNvPr id="19" name="术后1 d、7 d、1个月：视力/眼压/前房；异常及时就诊。激光统一能量和完整药物禁忌原文未明确。"/>
          <p:cNvSpPr txBox="1"/>
          <p:nvPr/>
        </p:nvSpPr>
        <p:spPr>
          <a:xfrm>
            <a:off x="274320" y="3235960"/>
            <a:ext cx="3231360" cy="358140"/>
          </a:xfrm>
          <a:prstGeom prst="rect">
            <a:avLst/>
          </a:prstGeom>
          <a:noFill/>
        </p:spPr>
        <p:txBody>
          <a:bodyPr wrap="none" lIns="0" rIns="0" tIns="0" bIns="0" anchor="t">
            <a:noAutofit/>
          </a:bodyPr>
          <a:lstStyle/>
          <a:p>
            <a:pPr>
              <a:lnSpc>
                <a:spcPts val="1160"/>
              </a:lnSpc>
              <a:spcBef>
                <a:spcPts val="0"/>
              </a:spcBef>
              <a:spcAft>
                <a:spcPts val="0"/>
              </a:spcAft>
            </a:pPr>
            <a:r>
              <a:rPr sz="950" b="0" lang="zh-CN">
                <a:solidFill>
                  <a:srgbClr val="1E2E3B"/>
                </a:solidFill>
                <a:latin typeface="Microsoft YaHei"/>
                <a:ea typeface="Microsoft YaHei"/>
                <a:cs typeface="Microsoft YaHei"/>
              </a:rPr>
              <a:t>术后1 d、7 d、1个月：视力/眼压/前房；异常及时就诊。激</a:t>
            </a:r>
          </a:p>
          <a:p>
            <a:pPr>
              <a:lnSpc>
                <a:spcPts val="1160"/>
              </a:lnSpc>
              <a:spcBef>
                <a:spcPts val="0"/>
              </a:spcBef>
              <a:spcAft>
                <a:spcPts val="0"/>
              </a:spcAft>
            </a:pPr>
            <a:r>
              <a:rPr sz="950" b="0" lang="zh-CN">
                <a:solidFill>
                  <a:srgbClr val="1E2E3B"/>
                </a:solidFill>
                <a:latin typeface="Microsoft YaHei"/>
                <a:ea typeface="Microsoft YaHei"/>
                <a:cs typeface="Microsoft YaHei"/>
              </a:rPr>
              <a:t>光统一能量和完整药物禁忌原文未明确。</a:t>
            </a:r>
          </a:p>
        </p:txBody>
      </p:sp>
      <p:sp>
        <p:nvSpPr>
          <p:cNvPr id="20" name="2018 刊p328–332"/>
          <p:cNvSpPr txBox="1"/>
          <p:nvPr/>
        </p:nvSpPr>
        <p:spPr>
          <a:xfrm>
            <a:off x="274320" y="3556000"/>
            <a:ext cx="3231360" cy="19304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2018 刊p328–332</a:t>
            </a:r>
          </a:p>
        </p:txBody>
      </p:sp>
      <p:sp>
        <p:nvSpPr>
          <p:cNvPr id="21" name="原文摘录；处方前核对。详见提取表与原文缺项。&#10;100%原尺寸 · 双面长边翻转"/>
          <p:cNvSpPr txBox="1"/>
          <p:nvPr/>
        </p:nvSpPr>
        <p:spPr>
          <a:xfrm>
            <a:off x="198120" y="4870800"/>
            <a:ext cx="3383760" cy="322580"/>
          </a:xfrm>
          <a:prstGeom prst="rect">
            <a:avLst/>
          </a:prstGeom>
          <a:noFill/>
        </p:spPr>
        <p:txBody>
          <a:bodyPr wrap="none" lIns="0" rIns="0" tIns="0" bIns="0" anchor="t">
            <a:noAutofit/>
          </a:bodyPr>
          <a:lstStyle/>
          <a:p>
            <a:pPr>
              <a:lnSpc>
                <a:spcPts val="1019"/>
              </a:lnSpc>
              <a:spcBef>
                <a:spcPts val="0"/>
              </a:spcBef>
              <a:spcAft>
                <a:spcPts val="0"/>
              </a:spcAft>
            </a:pPr>
            <a:r>
              <a:rPr sz="850" b="0" lang="zh-CN">
                <a:solidFill>
                  <a:srgbClr val="526578"/>
                </a:solidFill>
                <a:latin typeface="Microsoft YaHei"/>
                <a:ea typeface="Microsoft YaHei"/>
                <a:cs typeface="Microsoft YaHei"/>
              </a:rPr>
              <a:t>原文摘录；处方前核对。详见提取表与原文缺项。</a:t>
            </a:r>
          </a:p>
          <a:p>
            <a:pPr>
              <a:lnSpc>
                <a:spcPts val="1019"/>
              </a:lnSpc>
              <a:spcBef>
                <a:spcPts val="0"/>
              </a:spcBef>
              <a:spcAft>
                <a:spcPts val="0"/>
              </a:spcAft>
            </a:pPr>
            <a:r>
              <a:rPr sz="850" b="0" lang="zh-CN">
                <a:solidFill>
                  <a:srgbClr val="526578"/>
                </a:solidFill>
                <a:latin typeface="Microsoft YaHei"/>
                <a:ea typeface="Microsoft YaHei"/>
                <a:cs typeface="Microsoft YaHei"/>
              </a:rPr>
              <a:t>100%原尺寸 · 双面长边翻转</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飞秒激光辅助白内障手术规范 A6 color</dc:title>
  <dc:subject>上传文献原文摘录；原生可编辑文字和图形</dc:subject>
  <dc:creator>眼科临床速查资料整理</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