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mg，心率恢复正常后继续；由麻醉/心内医师处理。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睫状肌麻痹验光、远视足矫/必要棱镜，高AC/A双光。连续内斜&gt;6月等情况考虑二次手术/肉毒毒素。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欠矫处理：外斜欠矫足矫近视/屈光参差、视功能训练；控制好观察，控制差可术后6周二次手术。内斜欠矫睫状肌麻痹验光、远视足矫/双光及治弱视。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a:p/>
          <a:p>
            <a:r>
              <a:t>pediatric-18 肌肉滑脱识别：术后眼位异常、运动受限、扫视减慢应疑滑脱；MRI/回弹试验辅助，术中探查透见试验阳性可确诊；二次寻找实体肌并重固定。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 name="2025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前闭环"/>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7" name="病史/全身/视功能评估；额部标眼别/肌肉，医护麻醉三方核对。儿童以全麻为主，高危联合个体化评估。"/>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8" name="2025 刊p50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感染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11" name="严重眼表/疑眶感染治愈后择期。术前常规抗生素尚无定论；与2026指南分开。局麻总量未明确。"/>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12" name="2025 刊p50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心反射阈值"/>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15" name="心率较基线降幅&lt;20%观察；20%~50%稳定按轻度、不稳按重度；&gt;50%移钩暂停，由麻醉/心内处理"/>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000000"/>
                </a:solidFill>
                <a:latin typeface="Microsoft YaHei"/>
                <a:ea typeface="Microsoft YaHei"/>
                <a:cs typeface="Microsoft YaHei"/>
              </a:rPr>
              <a:t>重度；&gt;50%移钩暂停，由麻醉/心内处理。</a:t>
            </a:r>
          </a:p>
        </p:txBody>
      </p:sp>
      <p:sp>
        <p:nvSpPr>
          <p:cNvPr id="16" name="2025 刊p502"/>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重度反射升级"/>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19" name="暂停后未恢复→增强局麻；仍无效静推阿托品0.1~0.3 mg，心率恢复正常后继续。勿外推为通用儿童急"/>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心率恢复正常后继续。勿外推为通用儿童急救剂量。</a:t>
            </a:r>
          </a:p>
        </p:txBody>
      </p:sp>
      <p:sp>
        <p:nvSpPr>
          <p:cNvPr id="20" name="2025 刊p50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24" name="2025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前闭环"/>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27" name="病史/全身/视功能评估；额部标眼别/肌肉，医护麻醉三方核对。儿童以全麻为主，高危联合个体化评估。"/>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28" name="2025 刊p50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感染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31" name="严重眼表/疑眶感染治愈后择期。术前常规抗生素尚无定论；与2026指南分开。局麻总量未明确。"/>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32" name="2025 刊p50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眼心反射阈值"/>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35" name="心率较基线降幅&lt;20%观察；20%~50%稳定按轻度、不稳按重度；&gt;50%移钩暂停，由麻醉/心内处理"/>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000000"/>
                </a:solidFill>
                <a:latin typeface="Microsoft YaHei"/>
                <a:ea typeface="Microsoft YaHei"/>
                <a:cs typeface="Microsoft YaHei"/>
              </a:rPr>
              <a:t>重度；&gt;50%移钩暂停，由麻醉/心内处理。</a:t>
            </a:r>
          </a:p>
        </p:txBody>
      </p:sp>
      <p:sp>
        <p:nvSpPr>
          <p:cNvPr id="36" name="2025 刊p502"/>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重度反射升级"/>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39" name="暂停后未恢复→增强局麻；仍无效静推阿托品0.1~0.3 mg，心率恢复正常后继续。勿外推为通用儿童急"/>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心率恢复正常后继续。勿外推为通用儿童急救剂量。</a:t>
            </a:r>
          </a:p>
        </p:txBody>
      </p:sp>
      <p:sp>
        <p:nvSpPr>
          <p:cNvPr id="40" name="2025 刊p50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4" name="2025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前闭环"/>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47" name="病史/全身/视功能评估；额部标眼别/肌肉，医护麻醉三方核对。儿童以全麻为主，高危联合个体化评估。"/>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48" name="2025 刊p50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感染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51" name="严重眼表/疑眶感染治愈后择期。术前常规抗生素尚无定论；与2026指南分开。局麻总量未明确。"/>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52" name="2025 刊p50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眼心反射阈值"/>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55" name="心率较基线降幅&lt;20%观察；20%~50%稳定按轻度、不稳按重度；&gt;50%移钩暂停，由麻醉/心内处理"/>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000000"/>
                </a:solidFill>
                <a:latin typeface="Microsoft YaHei"/>
                <a:ea typeface="Microsoft YaHei"/>
                <a:cs typeface="Microsoft YaHei"/>
              </a:rPr>
              <a:t>重度；&gt;50%移钩暂停，由麻醉/心内处理。</a:t>
            </a:r>
          </a:p>
        </p:txBody>
      </p:sp>
      <p:sp>
        <p:nvSpPr>
          <p:cNvPr id="56" name="2025 刊p502"/>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重度反射升级"/>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59" name="暂停后未恢复→增强局麻；仍无效静推阿托品0.1~0.3 mg，心率恢复正常后继续。勿外推为通用儿童急"/>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心率恢复正常后继续。勿外推为通用儿童急救剂量。</a:t>
            </a:r>
          </a:p>
        </p:txBody>
      </p:sp>
      <p:sp>
        <p:nvSpPr>
          <p:cNvPr id="60" name="2025 刊p50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64" name="2025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前闭环"/>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67" name="病史/全身/视功能评估；额部标眼别/肌肉，医护麻醉三方核对。儿童以全麻为主，高危联合个体化评估。"/>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68" name="2025 刊p50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感染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71" name="严重眼表/疑眶感染治愈后择期。术前常规抗生素尚无定论；与2026指南分开。局麻总量未明确。"/>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72" name="2025 刊p50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眼心反射阈值"/>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75" name="心率较基线降幅&lt;20%观察；20%~50%稳定按轻度、不稳按重度；&gt;50%移钩暂停，由麻醉/心内处理"/>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心率较基线降幅&lt;20%观察；20%~50%稳定按轻度、不稳按</a:t>
            </a:r>
          </a:p>
          <a:p>
            <a:pPr>
              <a:lnSpc>
                <a:spcPts val="1160"/>
              </a:lnSpc>
              <a:spcBef>
                <a:spcPts val="0"/>
              </a:spcBef>
              <a:spcAft>
                <a:spcPts val="0"/>
              </a:spcAft>
            </a:pPr>
            <a:r>
              <a:rPr sz="950" b="0" lang="zh-CN">
                <a:solidFill>
                  <a:srgbClr val="000000"/>
                </a:solidFill>
                <a:latin typeface="Microsoft YaHei"/>
                <a:ea typeface="Microsoft YaHei"/>
                <a:cs typeface="Microsoft YaHei"/>
              </a:rPr>
              <a:t>重度；&gt;50%移钩暂停，由麻醉/心内处理。</a:t>
            </a:r>
          </a:p>
        </p:txBody>
      </p:sp>
      <p:sp>
        <p:nvSpPr>
          <p:cNvPr id="76" name="2025 刊p502"/>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重度反射升级"/>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79" name="暂停后未恢复→增强局麻；仍无效静推阿托品0.1~0.3 mg，心率恢复正常后继续。勿外推为通用儿童急"/>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心率恢复正常后继续。勿外推为通用儿童急救剂量。</a:t>
            </a:r>
          </a:p>
        </p:txBody>
      </p:sp>
      <p:sp>
        <p:nvSpPr>
          <p:cNvPr id="80" name="2025 刊p50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 name="2025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5" name="Rectangle 4"/>
          <p:cNvSpPr/>
          <p:nvPr/>
        </p:nvSpPr>
        <p:spPr>
          <a:xfrm>
            <a:off x="17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后用药/包眼"/>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7" name="不双眼包盖，按手术情况单眼24 h；低龄避免久包。氟米龙优先替代妥布霉素地塞米松，用药1周首测压；仅"/>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8" name="2025 刊p502–503"/>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9" name="Rectangle 8"/>
          <p:cNvSpPr/>
          <p:nvPr/>
        </p:nvSpPr>
        <p:spPr>
          <a:xfrm>
            <a:off x="172720" y="1676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后随访"/>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11" name="1天、1周、第1、3、6个月，后每半年；视力、屈光、眼位/运动、头位/双眼视；早期眼压/前节。"/>
          <p:cNvSpPr txBox="1"/>
          <p:nvPr/>
        </p:nvSpPr>
        <p:spPr>
          <a:xfrm>
            <a:off x="27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000000"/>
                </a:solidFill>
                <a:latin typeface="Microsoft YaHei"/>
                <a:ea typeface="Microsoft YaHei"/>
                <a:cs typeface="Microsoft YaHei"/>
              </a:rPr>
              <a:t>运动、头位/双眼视；早期眼压/前节。</a:t>
            </a:r>
          </a:p>
        </p:txBody>
      </p:sp>
      <p:sp>
        <p:nvSpPr>
          <p:cNvPr id="12" name="2025 刊p502"/>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3" name="Rectangle 12"/>
          <p:cNvSpPr/>
          <p:nvPr/>
        </p:nvSpPr>
        <p:spPr>
          <a:xfrm>
            <a:off x="17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异常需警惕"/>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15" name="嗜睡/食欲差、红肿痛警惕眼内炎；眼位异常+运动受限/扫视慢疑滑脱。避免一眼同时≥3条直肌。"/>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16" name="2025 刊p503–504"/>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17" name="Rectangle 16"/>
          <p:cNvSpPr/>
          <p:nvPr/>
        </p:nvSpPr>
        <p:spPr>
          <a:xfrm>
            <a:off x="17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过矫/欠矫与缺项"/>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19" name="外斜过矫复视1~4周交替遮盖，4周仍内斜再验光；欠矫控制差6周可再手术。药物完整剂量/递减未明确。"/>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20" name="2025 刊p501–503"/>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24" name="2025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25" name="Rectangle 24"/>
          <p:cNvSpPr/>
          <p:nvPr/>
        </p:nvSpPr>
        <p:spPr>
          <a:xfrm>
            <a:off x="395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后用药/包眼"/>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27" name="不双眼包盖，按手术情况单眼24 h；低龄避免久包。氟米龙优先替代妥布霉素地塞米松，用药1周首测压；仅"/>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28" name="2025 刊p502–503"/>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29" name="Rectangle 28"/>
          <p:cNvSpPr/>
          <p:nvPr/>
        </p:nvSpPr>
        <p:spPr>
          <a:xfrm>
            <a:off x="3952720" y="1676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后随访"/>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31" name="1天、1周、第1、3、6个月，后每半年；视力、屈光、眼位/运动、头位/双眼视；早期眼压/前节。"/>
          <p:cNvSpPr txBox="1"/>
          <p:nvPr/>
        </p:nvSpPr>
        <p:spPr>
          <a:xfrm>
            <a:off x="405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000000"/>
                </a:solidFill>
                <a:latin typeface="Microsoft YaHei"/>
                <a:ea typeface="Microsoft YaHei"/>
                <a:cs typeface="Microsoft YaHei"/>
              </a:rPr>
              <a:t>运动、头位/双眼视；早期眼压/前节。</a:t>
            </a:r>
          </a:p>
        </p:txBody>
      </p:sp>
      <p:sp>
        <p:nvSpPr>
          <p:cNvPr id="32" name="2025 刊p502"/>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33" name="Rectangle 32"/>
          <p:cNvSpPr/>
          <p:nvPr/>
        </p:nvSpPr>
        <p:spPr>
          <a:xfrm>
            <a:off x="395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异常需警惕"/>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35" name="嗜睡/食欲差、红肿痛警惕眼内炎；眼位异常+运动受限/扫视慢疑滑脱。避免一眼同时≥3条直肌。"/>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36" name="2025 刊p503–504"/>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37" name="Rectangle 36"/>
          <p:cNvSpPr/>
          <p:nvPr/>
        </p:nvSpPr>
        <p:spPr>
          <a:xfrm>
            <a:off x="395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过矫/欠矫与缺项"/>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39" name="外斜过矫复视1~4周交替遮盖，4周仍内斜再验光；欠矫控制差6周可再手术。药物完整剂量/递减未明确。"/>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40" name="2025 刊p501–503"/>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4" name="2025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45" name="Rectangle 44"/>
          <p:cNvSpPr/>
          <p:nvPr/>
        </p:nvSpPr>
        <p:spPr>
          <a:xfrm>
            <a:off x="17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后用药/包眼"/>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47" name="不双眼包盖，按手术情况单眼24 h；低龄避免久包。氟米龙优先替代妥布霉素地塞米松，用药1周首测压；仅"/>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48" name="2025 刊p502–503"/>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49" name="Rectangle 48"/>
          <p:cNvSpPr/>
          <p:nvPr/>
        </p:nvSpPr>
        <p:spPr>
          <a:xfrm>
            <a:off x="172720" y="7004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后随访"/>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51" name="1天、1周、第1、3、6个月，后每半年；视力、屈光、眼位/运动、头位/双眼视；早期眼压/前节。"/>
          <p:cNvSpPr txBox="1"/>
          <p:nvPr/>
        </p:nvSpPr>
        <p:spPr>
          <a:xfrm>
            <a:off x="27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000000"/>
                </a:solidFill>
                <a:latin typeface="Microsoft YaHei"/>
                <a:ea typeface="Microsoft YaHei"/>
                <a:cs typeface="Microsoft YaHei"/>
              </a:rPr>
              <a:t>运动、头位/双眼视；早期眼压/前节。</a:t>
            </a:r>
          </a:p>
        </p:txBody>
      </p:sp>
      <p:sp>
        <p:nvSpPr>
          <p:cNvPr id="52" name="2025 刊p502"/>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53" name="Rectangle 52"/>
          <p:cNvSpPr/>
          <p:nvPr/>
        </p:nvSpPr>
        <p:spPr>
          <a:xfrm>
            <a:off x="17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异常需警惕"/>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55" name="嗜睡/食欲差、红肿痛警惕眼内炎；眼位异常+运动受限/扫视慢疑滑脱。避免一眼同时≥3条直肌。"/>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56" name="2025 刊p503–504"/>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57" name="Rectangle 56"/>
          <p:cNvSpPr/>
          <p:nvPr/>
        </p:nvSpPr>
        <p:spPr>
          <a:xfrm>
            <a:off x="17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过矫/欠矫与缺项"/>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59" name="外斜过矫复视1~4周交替遮盖，4周仍内斜再验光；欠矫控制差6周可再手术。药物完整剂量/递减未明确。"/>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60" name="2025 刊p501–503"/>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64" name="2025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65" name="Rectangle 64"/>
          <p:cNvSpPr/>
          <p:nvPr/>
        </p:nvSpPr>
        <p:spPr>
          <a:xfrm>
            <a:off x="395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后用药/包眼"/>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67" name="不双眼包盖，按手术情况单眼24 h；低龄避免久包。氟米龙优先替代妥布霉素地塞米松，用药1周首测压；仅"/>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68" name="2025 刊p502–503"/>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69" name="Rectangle 68"/>
          <p:cNvSpPr/>
          <p:nvPr/>
        </p:nvSpPr>
        <p:spPr>
          <a:xfrm>
            <a:off x="3952720" y="7004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后随访"/>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71" name="1天、1周、第1、3、6个月，后每半年；视力、屈光、眼位/运动、头位/双眼视；早期眼压/前节。"/>
          <p:cNvSpPr txBox="1"/>
          <p:nvPr/>
        </p:nvSpPr>
        <p:spPr>
          <a:xfrm>
            <a:off x="405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1天、1周、第1、3、6个月，后每半年；视力、屈光、眼位/</a:t>
            </a:r>
          </a:p>
          <a:p>
            <a:pPr>
              <a:lnSpc>
                <a:spcPts val="1160"/>
              </a:lnSpc>
              <a:spcBef>
                <a:spcPts val="0"/>
              </a:spcBef>
              <a:spcAft>
                <a:spcPts val="0"/>
              </a:spcAft>
            </a:pPr>
            <a:r>
              <a:rPr sz="950" b="0" lang="zh-CN">
                <a:solidFill>
                  <a:srgbClr val="000000"/>
                </a:solidFill>
                <a:latin typeface="Microsoft YaHei"/>
                <a:ea typeface="Microsoft YaHei"/>
                <a:cs typeface="Microsoft YaHei"/>
              </a:rPr>
              <a:t>运动、头位/双眼视；早期眼压/前节。</a:t>
            </a:r>
          </a:p>
        </p:txBody>
      </p:sp>
      <p:sp>
        <p:nvSpPr>
          <p:cNvPr id="72" name="2025 刊p502"/>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73" name="Rectangle 72"/>
          <p:cNvSpPr/>
          <p:nvPr/>
        </p:nvSpPr>
        <p:spPr>
          <a:xfrm>
            <a:off x="395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异常需警惕"/>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75" name="嗜睡/食欲差、红肿痛警惕眼内炎；眼位异常+运动受限/扫视慢疑滑脱。避免一眼同时≥3条直肌。"/>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76" name="2025 刊p503–504"/>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77" name="Rectangle 76"/>
          <p:cNvSpPr/>
          <p:nvPr/>
        </p:nvSpPr>
        <p:spPr>
          <a:xfrm>
            <a:off x="395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过矫/欠矫与缺项"/>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79" name="外斜过矫复视1~4周交替遮盖，4周仍内斜再验光；欠矫控制差6周可再手术。药物完整剂量/递减未明确。"/>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80" name="2025 刊p501–503"/>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