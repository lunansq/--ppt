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mogad-03 眼科识别：急性视神经炎：急性视力下降、视野缺损和色觉减退，常伴眼眶痛或同侧头痛、眼球转动痛；可见RAPD和视盘水肿。双侧同时发作、明显视盘水肿及激素依赖性复发提示MOG相关视神经炎。</a:t>
            </a:r>
          </a:p>
          <a:p>
            <a:r>
              <a:t>来源：2025 p705–706 / PDF2–3；类别：诊断；推荐等级：原文未明确。</a:t>
            </a:r>
          </a:p>
          <a:p>
            <a:r>
              <a:t>原文锚点：+NMOSD）不同，是一种独立的疾病单元。基导致急性、快速恶化的视力下降，严重的视野缺损和色觉减退。常伴眼眶疼痛或同侧头痛，在眼球转领域的重要进展，本指南采用英国牛津于MOGAD大学循证医学中心证据分级和推荐标准对MOGAD动时疼痛加重［23］。体格检查可发现相对性传入性的诊断和治疗作出推荐建议（表1）。瞳孔障碍（relativeafferentpupillarydefect，RAPD）［24］，急性期眼底镜检查通常可发现视盘水肿［21，人口学</a:t>
            </a:r>
          </a:p>
          <a:p/>
          <a:p>
            <a:r>
              <a:t>mogad-04 眼眶MRI检查参数：急性视神经炎建议行视神经/眼眶MRI：T1、T2、脂肪抑制及T1增强；覆盖眼球后部至颅内视束，层厚2~3 mm，层间距0~0.5 mm。关注长节段前部病变及视神经周围强化。</a:t>
            </a:r>
          </a:p>
          <a:p>
            <a:r>
              <a:t>来源：2025 p706 / PDF3；类别：检查；推荐等级：原文未明确。</a:t>
            </a:r>
          </a:p>
          <a:p>
            <a:r>
              <a:t>原文锚点：神经/眼眶MRI应包括T1、T2、脂肪抑制、T1增强。扫描范围：从眼球后部至颅内视束，扫描层厚为2~3mm，层间距0~0.5mm［37］。MOG⁃视神经炎的典型表现为纵向延伸的长节段视神MRI经异常信号，好累及视神经前段。尤其多见于眶内段（图3A、B），也可累及视神经管段和视交叉前段［3，8，15，38］，视交叉和视束受累相对较少［39］。视神经水肿增粗，强化。图1视神经鞘膜（图3C）和视神经周围1例髓鞘少突胶质细胞糖蛋白抗体相关视神经炎反</a:t>
            </a:r>
          </a:p>
          <a:p/>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mogad-32 硫唑嘌呤筛查与监测：开始硫唑嘌呤前建议评估硫代嘌呤-甲基转移酶活性或相关药物基因；用药前后定期全血细胞计数、肝功能。注意白细胞减少、肝损害、感染及长期恶性肿瘤风险。</a:t>
            </a:r>
          </a:p>
          <a:p>
            <a:r>
              <a:t>来源：2025 p714 / PDF11；类别：检查；推荐等级：原文未明确。</a:t>
            </a:r>
          </a:p>
          <a:p>
            <a:r>
              <a:t>原文锚点：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mogad-34 MMF风险及备孕：MMF有致畸作用，应在备孕前至少6周停药；注意白细胞减少、胃肠道反应、感染和长期恶性肿瘤风险。用药前后定期监测全血细胞计数与肝功能；替代妊娠方案原文未明确。</a:t>
            </a:r>
          </a:p>
          <a:p>
            <a:r>
              <a:t>来源：2025 p715 / PDF12；类别：特殊人群；推荐等级：原文未明确。</a:t>
            </a:r>
          </a:p>
          <a:p>
            <a:r>
              <a:t>原文锚点：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mogad-37 RTX筛查与风险：RTX用药前需筛查HBV及结核等。注意输液反应、胃肠道反应、血细胞减少、低丙种球蛋白血症和感染；不能将B细胞清除作为保证不复发的指标。</a:t>
            </a:r>
          </a:p>
          <a:p>
            <a:r>
              <a:t>来源：2025 p715 / PDF12；类别：检查；推荐等级：原文未明确。</a:t>
            </a:r>
          </a:p>
          <a:p>
            <a:r>
              <a:t>原文锚点：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mogad-39 托珠单抗筛查与监测：首次托珠单抗前筛查HBV及结核；治疗期间定期监测肝功能、血常规及血脂。注意中性粒细胞减少、血脂及转氨酶升高、感染。具体监测间隔原文未明确。</a:t>
            </a:r>
          </a:p>
          <a:p>
            <a:r>
              <a:t>来源：2025 p715 / PDF12；类别：检查；推荐等级：原文未明确。</a:t>
            </a:r>
          </a:p>
          <a:p>
            <a:r>
              <a:t>原文锚点：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推荐意见：可考虑使用托珠单抗用于预防3.通常是激素冲击后序贯减量的过程。静脉激素疗MOGAD复</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mogad-41 IVIG长期安全性：间歇IVIG期间注意血栓形成、头痛和无菌性脑膜炎，监测肾功能。每4周≥1 g/kg与较低复发比例相关的结果来自回顾性研究，不应改写为所有患者必须采用的阈值。</a:t>
            </a:r>
          </a:p>
          <a:p>
            <a:r>
              <a:t>来源：2025 p715 / PDF12；类别：禁忌；推荐等级：原文未明确。</a:t>
            </a:r>
          </a:p>
          <a:p>
            <a:r>
              <a:t>原文锚点：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疗持续时间推荐意见：可考虑使用RTX用于预防MOGAD序贯治疗复发（证据水平：2b；推荐级别：B）。目前没有</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mogad-46 特殊人群及随访缺项：儿童激素剂量及儿童/成人序贯启动条件有说明。妊娠、产后、哺乳的完整治疗与复发管理方案，固定随访间隔、统一视力/OCT复查频率，原文未明确；不从其他指南补编。</a:t>
            </a:r>
          </a:p>
          <a:p>
            <a:r>
              <a:t>来源：2025 p708、712、714–715 / PDF5、9、11–12；类别：特殊人群；推荐等级：原文未明确。</a:t>
            </a:r>
          </a:p>
          <a:p>
            <a:r>
              <a:t>原文锚点：明显下降（由1.75下降至0，P=0.001），且79%长期使用增加恶性肿瘤的风险，有一定致畸作用，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 name="2025 · 正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正面</a:t>
            </a:r>
          </a:p>
        </p:txBody>
      </p:sp>
      <p:sp>
        <p:nvSpPr>
          <p:cNvPr id="5" name="Rectangle 4"/>
          <p:cNvSpPr/>
          <p:nvPr/>
        </p:nvSpPr>
        <p:spPr>
          <a:xfrm>
            <a:off x="16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识别与确诊框架"/>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识别与确诊框架</a:t>
            </a:r>
          </a:p>
        </p:txBody>
      </p:sp>
      <p:sp>
        <p:nvSpPr>
          <p:cNvPr id="7" name="急性痛性视力下降、双眼同时受累、视盘水肿时考虑MOG相关视神经炎。确诊须核心事件+符合MOG-IgG"/>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000000"/>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000000"/>
                </a:solidFill>
                <a:latin typeface="Microsoft YaHei"/>
                <a:ea typeface="Microsoft YaHei"/>
                <a:cs typeface="Microsoft YaHei"/>
              </a:rPr>
              <a:t>病；不能仅凭抗体阳性。</a:t>
            </a:r>
          </a:p>
        </p:txBody>
      </p:sp>
      <p:sp>
        <p:nvSpPr>
          <p:cNvPr id="8" name="2025 p705–706、711"/>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p705–706、711</a:t>
            </a:r>
          </a:p>
        </p:txBody>
      </p:sp>
      <p:sp>
        <p:nvSpPr>
          <p:cNvPr id="9" name="Rectangle 8"/>
          <p:cNvSpPr/>
          <p:nvPr/>
        </p:nvSpPr>
        <p:spPr>
          <a:xfrm>
            <a:off x="16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体阈值与附加条件"/>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抗体阈值与附加条件</a:t>
            </a:r>
          </a:p>
        </p:txBody>
      </p:sp>
      <p:sp>
        <p:nvSpPr>
          <p:cNvPr id="11" name="CBA≥1∶100为明确阳性；≥1∶10且&lt;1∶100为弱阳性。弱阳性、滴度未知或仅脑脊液阳性，另需"/>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000000"/>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000000"/>
                </a:solidFill>
                <a:latin typeface="Microsoft YaHei"/>
                <a:ea typeface="Microsoft YaHei"/>
                <a:cs typeface="Microsoft YaHei"/>
              </a:rPr>
              <a:t>件（完整标准见提取表）。</a:t>
            </a:r>
          </a:p>
        </p:txBody>
      </p:sp>
      <p:sp>
        <p:nvSpPr>
          <p:cNvPr id="12" name="2025 p710–711"/>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p710–711</a:t>
            </a:r>
          </a:p>
        </p:txBody>
      </p:sp>
      <p:sp>
        <p:nvSpPr>
          <p:cNvPr id="13" name="Rectangle 12"/>
          <p:cNvSpPr/>
          <p:nvPr/>
        </p:nvSpPr>
        <p:spPr>
          <a:xfrm>
            <a:off x="16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视神经炎附加条件"/>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视神经炎附加条件</a:t>
            </a:r>
          </a:p>
        </p:txBody>
      </p:sp>
      <p:sp>
        <p:nvSpPr>
          <p:cNvPr id="15" name="双侧同时受累、病灶&gt;50%视神经长度、视盘水肿、视神经周围强化，任一可作对应支持条件；仍须核心事件、"/>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000000"/>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000000"/>
                </a:solidFill>
                <a:latin typeface="Microsoft YaHei"/>
                <a:ea typeface="Microsoft YaHei"/>
                <a:cs typeface="Microsoft YaHei"/>
              </a:rPr>
              <a:t>及排除其他病。</a:t>
            </a:r>
          </a:p>
        </p:txBody>
      </p:sp>
      <p:sp>
        <p:nvSpPr>
          <p:cNvPr id="16" name="2025 p711"/>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p711</a:t>
            </a:r>
          </a:p>
        </p:txBody>
      </p:sp>
      <p:sp>
        <p:nvSpPr>
          <p:cNvPr id="17" name="Rectangle 16"/>
          <p:cNvSpPr/>
          <p:nvPr/>
        </p:nvSpPr>
        <p:spPr>
          <a:xfrm>
            <a:off x="16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送检与影像"/>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送检与影像</a:t>
            </a:r>
          </a:p>
        </p:txBody>
      </p:sp>
      <p:sp>
        <p:nvSpPr>
          <p:cNvPr id="19" name="优先血清live-CBA，尽量治疗前取样；治疗后阴性者≥3个月后或复发时复测。眼眶MRI含T1/T2"/>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000000"/>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000000"/>
                </a:solidFill>
                <a:latin typeface="Microsoft YaHei"/>
                <a:ea typeface="Microsoft YaHei"/>
                <a:cs typeface="Microsoft YaHei"/>
              </a:rPr>
              <a:t>2~3 mm。</a:t>
            </a:r>
          </a:p>
        </p:txBody>
      </p:sp>
      <p:sp>
        <p:nvSpPr>
          <p:cNvPr id="20" name="2025 p706、710–711"/>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p706、710–711</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OGAD诊断与治疗"/>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24" name="2025 · 正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正面</a:t>
            </a:r>
          </a:p>
        </p:txBody>
      </p:sp>
      <p:sp>
        <p:nvSpPr>
          <p:cNvPr id="25" name="Rectangle 24"/>
          <p:cNvSpPr/>
          <p:nvPr/>
        </p:nvSpPr>
        <p:spPr>
          <a:xfrm>
            <a:off x="394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识别与确诊框架"/>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识别与确诊框架</a:t>
            </a:r>
          </a:p>
        </p:txBody>
      </p:sp>
      <p:sp>
        <p:nvSpPr>
          <p:cNvPr id="27" name="急性痛性视力下降、双眼同时受累、视盘水肿时考虑MOG相关视神经炎。确诊须核心事件+符合MOG-IgG"/>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000000"/>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000000"/>
                </a:solidFill>
                <a:latin typeface="Microsoft YaHei"/>
                <a:ea typeface="Microsoft YaHei"/>
                <a:cs typeface="Microsoft YaHei"/>
              </a:rPr>
              <a:t>病；不能仅凭抗体阳性。</a:t>
            </a:r>
          </a:p>
        </p:txBody>
      </p:sp>
      <p:sp>
        <p:nvSpPr>
          <p:cNvPr id="28" name="2025 p705–706、711"/>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p705–706、711</a:t>
            </a:r>
          </a:p>
        </p:txBody>
      </p:sp>
      <p:sp>
        <p:nvSpPr>
          <p:cNvPr id="29" name="Rectangle 28"/>
          <p:cNvSpPr/>
          <p:nvPr/>
        </p:nvSpPr>
        <p:spPr>
          <a:xfrm>
            <a:off x="394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抗体阈值与附加条件"/>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抗体阈值与附加条件</a:t>
            </a:r>
          </a:p>
        </p:txBody>
      </p:sp>
      <p:sp>
        <p:nvSpPr>
          <p:cNvPr id="31" name="CBA≥1∶100为明确阳性；≥1∶10且&lt;1∶100为弱阳性。弱阳性、滴度未知或仅脑脊液阳性，另需"/>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000000"/>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000000"/>
                </a:solidFill>
                <a:latin typeface="Microsoft YaHei"/>
                <a:ea typeface="Microsoft YaHei"/>
                <a:cs typeface="Microsoft YaHei"/>
              </a:rPr>
              <a:t>件（完整标准见提取表）。</a:t>
            </a:r>
          </a:p>
        </p:txBody>
      </p:sp>
      <p:sp>
        <p:nvSpPr>
          <p:cNvPr id="32" name="2025 p710–711"/>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p710–711</a:t>
            </a:r>
          </a:p>
        </p:txBody>
      </p:sp>
      <p:sp>
        <p:nvSpPr>
          <p:cNvPr id="33" name="Rectangle 32"/>
          <p:cNvSpPr/>
          <p:nvPr/>
        </p:nvSpPr>
        <p:spPr>
          <a:xfrm>
            <a:off x="394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视神经炎附加条件"/>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视神经炎附加条件</a:t>
            </a:r>
          </a:p>
        </p:txBody>
      </p:sp>
      <p:sp>
        <p:nvSpPr>
          <p:cNvPr id="35" name="双侧同时受累、病灶&gt;50%视神经长度、视盘水肿、视神经周围强化，任一可作对应支持条件；仍须核心事件、"/>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000000"/>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000000"/>
                </a:solidFill>
                <a:latin typeface="Microsoft YaHei"/>
                <a:ea typeface="Microsoft YaHei"/>
                <a:cs typeface="Microsoft YaHei"/>
              </a:rPr>
              <a:t>及排除其他病。</a:t>
            </a:r>
          </a:p>
        </p:txBody>
      </p:sp>
      <p:sp>
        <p:nvSpPr>
          <p:cNvPr id="36" name="2025 p711"/>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p711</a:t>
            </a:r>
          </a:p>
        </p:txBody>
      </p:sp>
      <p:sp>
        <p:nvSpPr>
          <p:cNvPr id="37" name="Rectangle 36"/>
          <p:cNvSpPr/>
          <p:nvPr/>
        </p:nvSpPr>
        <p:spPr>
          <a:xfrm>
            <a:off x="394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送检与影像"/>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送检与影像</a:t>
            </a:r>
          </a:p>
        </p:txBody>
      </p:sp>
      <p:sp>
        <p:nvSpPr>
          <p:cNvPr id="39" name="优先血清live-CBA，尽量治疗前取样；治疗后阴性者≥3个月后或复发时复测。眼眶MRI含T1/T2"/>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000000"/>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000000"/>
                </a:solidFill>
                <a:latin typeface="Microsoft YaHei"/>
                <a:ea typeface="Microsoft YaHei"/>
                <a:cs typeface="Microsoft YaHei"/>
              </a:rPr>
              <a:t>2~3 mm。</a:t>
            </a:r>
          </a:p>
        </p:txBody>
      </p:sp>
      <p:sp>
        <p:nvSpPr>
          <p:cNvPr id="40" name="2025 p706、710–711"/>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p706、710–711</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OGAD诊断与治疗"/>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4" name="2025 · 正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正面</a:t>
            </a:r>
          </a:p>
        </p:txBody>
      </p:sp>
      <p:sp>
        <p:nvSpPr>
          <p:cNvPr id="45" name="Rectangle 44"/>
          <p:cNvSpPr/>
          <p:nvPr/>
        </p:nvSpPr>
        <p:spPr>
          <a:xfrm>
            <a:off x="16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识别与确诊框架"/>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识别与确诊框架</a:t>
            </a:r>
          </a:p>
        </p:txBody>
      </p:sp>
      <p:sp>
        <p:nvSpPr>
          <p:cNvPr id="47" name="急性痛性视力下降、双眼同时受累、视盘水肿时考虑MOG相关视神经炎。确诊须核心事件+符合MOG-IgG"/>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000000"/>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000000"/>
                </a:solidFill>
                <a:latin typeface="Microsoft YaHei"/>
                <a:ea typeface="Microsoft YaHei"/>
                <a:cs typeface="Microsoft YaHei"/>
              </a:rPr>
              <a:t>病；不能仅凭抗体阳性。</a:t>
            </a:r>
          </a:p>
        </p:txBody>
      </p:sp>
      <p:sp>
        <p:nvSpPr>
          <p:cNvPr id="48" name="2025 p705–706、711"/>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p705–706、711</a:t>
            </a:r>
          </a:p>
        </p:txBody>
      </p:sp>
      <p:sp>
        <p:nvSpPr>
          <p:cNvPr id="49" name="Rectangle 48"/>
          <p:cNvSpPr/>
          <p:nvPr/>
        </p:nvSpPr>
        <p:spPr>
          <a:xfrm>
            <a:off x="16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抗体阈值与附加条件"/>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抗体阈值与附加条件</a:t>
            </a:r>
          </a:p>
        </p:txBody>
      </p:sp>
      <p:sp>
        <p:nvSpPr>
          <p:cNvPr id="51" name="CBA≥1∶100为明确阳性；≥1∶10且&lt;1∶100为弱阳性。弱阳性、滴度未知或仅脑脊液阳性，另需"/>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000000"/>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000000"/>
                </a:solidFill>
                <a:latin typeface="Microsoft YaHei"/>
                <a:ea typeface="Microsoft YaHei"/>
                <a:cs typeface="Microsoft YaHei"/>
              </a:rPr>
              <a:t>件（完整标准见提取表）。</a:t>
            </a:r>
          </a:p>
        </p:txBody>
      </p:sp>
      <p:sp>
        <p:nvSpPr>
          <p:cNvPr id="52" name="2025 p710–711"/>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p710–711</a:t>
            </a:r>
          </a:p>
        </p:txBody>
      </p:sp>
      <p:sp>
        <p:nvSpPr>
          <p:cNvPr id="53" name="Rectangle 52"/>
          <p:cNvSpPr/>
          <p:nvPr/>
        </p:nvSpPr>
        <p:spPr>
          <a:xfrm>
            <a:off x="16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视神经炎附加条件"/>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视神经炎附加条件</a:t>
            </a:r>
          </a:p>
        </p:txBody>
      </p:sp>
      <p:sp>
        <p:nvSpPr>
          <p:cNvPr id="55" name="双侧同时受累、病灶&gt;50%视神经长度、视盘水肿、视神经周围强化，任一可作对应支持条件；仍须核心事件、"/>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000000"/>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000000"/>
                </a:solidFill>
                <a:latin typeface="Microsoft YaHei"/>
                <a:ea typeface="Microsoft YaHei"/>
                <a:cs typeface="Microsoft YaHei"/>
              </a:rPr>
              <a:t>及排除其他病。</a:t>
            </a:r>
          </a:p>
        </p:txBody>
      </p:sp>
      <p:sp>
        <p:nvSpPr>
          <p:cNvPr id="56" name="2025 p711"/>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p711</a:t>
            </a:r>
          </a:p>
        </p:txBody>
      </p:sp>
      <p:sp>
        <p:nvSpPr>
          <p:cNvPr id="57" name="Rectangle 56"/>
          <p:cNvSpPr/>
          <p:nvPr/>
        </p:nvSpPr>
        <p:spPr>
          <a:xfrm>
            <a:off x="16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送检与影像"/>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送检与影像</a:t>
            </a:r>
          </a:p>
        </p:txBody>
      </p:sp>
      <p:sp>
        <p:nvSpPr>
          <p:cNvPr id="59" name="优先血清live-CBA，尽量治疗前取样；治疗后阴性者≥3个月后或复发时复测。眼眶MRI含T1/T2"/>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000000"/>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000000"/>
                </a:solidFill>
                <a:latin typeface="Microsoft YaHei"/>
                <a:ea typeface="Microsoft YaHei"/>
                <a:cs typeface="Microsoft YaHei"/>
              </a:rPr>
              <a:t>2~3 mm。</a:t>
            </a:r>
          </a:p>
        </p:txBody>
      </p:sp>
      <p:sp>
        <p:nvSpPr>
          <p:cNvPr id="60" name="2025 p706、710–711"/>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p706、710–711</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MOGAD诊断与治疗"/>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64" name="2025 · 正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正面</a:t>
            </a:r>
          </a:p>
        </p:txBody>
      </p:sp>
      <p:sp>
        <p:nvSpPr>
          <p:cNvPr id="65" name="Rectangle 64"/>
          <p:cNvSpPr/>
          <p:nvPr/>
        </p:nvSpPr>
        <p:spPr>
          <a:xfrm>
            <a:off x="394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识别与确诊框架"/>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识别与确诊框架</a:t>
            </a:r>
          </a:p>
        </p:txBody>
      </p:sp>
      <p:sp>
        <p:nvSpPr>
          <p:cNvPr id="67" name="急性痛性视力下降、双眼同时受累、视盘水肿时考虑MOG相关视神经炎。确诊须核心事件+符合MOG-IgG"/>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000000"/>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000000"/>
                </a:solidFill>
                <a:latin typeface="Microsoft YaHei"/>
                <a:ea typeface="Microsoft YaHei"/>
                <a:cs typeface="Microsoft YaHei"/>
              </a:rPr>
              <a:t>病；不能仅凭抗体阳性。</a:t>
            </a:r>
          </a:p>
        </p:txBody>
      </p:sp>
      <p:sp>
        <p:nvSpPr>
          <p:cNvPr id="68" name="2025 p705–706、711"/>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p705–706、711</a:t>
            </a:r>
          </a:p>
        </p:txBody>
      </p:sp>
      <p:sp>
        <p:nvSpPr>
          <p:cNvPr id="69" name="Rectangle 68"/>
          <p:cNvSpPr/>
          <p:nvPr/>
        </p:nvSpPr>
        <p:spPr>
          <a:xfrm>
            <a:off x="394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抗体阈值与附加条件"/>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抗体阈值与附加条件</a:t>
            </a:r>
          </a:p>
        </p:txBody>
      </p:sp>
      <p:sp>
        <p:nvSpPr>
          <p:cNvPr id="71" name="CBA≥1∶100为明确阳性；≥1∶10且&lt;1∶100为弱阳性。弱阳性、滴度未知或仅脑脊液阳性，另需"/>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000000"/>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000000"/>
                </a:solidFill>
                <a:latin typeface="Microsoft YaHei"/>
                <a:ea typeface="Microsoft YaHei"/>
                <a:cs typeface="Microsoft YaHei"/>
              </a:rPr>
              <a:t>件（完整标准见提取表）。</a:t>
            </a:r>
          </a:p>
        </p:txBody>
      </p:sp>
      <p:sp>
        <p:nvSpPr>
          <p:cNvPr id="72" name="2025 p710–711"/>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p710–711</a:t>
            </a:r>
          </a:p>
        </p:txBody>
      </p:sp>
      <p:sp>
        <p:nvSpPr>
          <p:cNvPr id="73" name="Rectangle 72"/>
          <p:cNvSpPr/>
          <p:nvPr/>
        </p:nvSpPr>
        <p:spPr>
          <a:xfrm>
            <a:off x="394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视神经炎附加条件"/>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视神经炎附加条件</a:t>
            </a:r>
          </a:p>
        </p:txBody>
      </p:sp>
      <p:sp>
        <p:nvSpPr>
          <p:cNvPr id="75" name="双侧同时受累、病灶&gt;50%视神经长度、视盘水肿、视神经周围强化，任一可作对应支持条件；仍须核心事件、"/>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000000"/>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000000"/>
                </a:solidFill>
                <a:latin typeface="Microsoft YaHei"/>
                <a:ea typeface="Microsoft YaHei"/>
                <a:cs typeface="Microsoft YaHei"/>
              </a:rPr>
              <a:t>及排除其他病。</a:t>
            </a:r>
          </a:p>
        </p:txBody>
      </p:sp>
      <p:sp>
        <p:nvSpPr>
          <p:cNvPr id="76" name="2025 p711"/>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p711</a:t>
            </a:r>
          </a:p>
        </p:txBody>
      </p:sp>
      <p:sp>
        <p:nvSpPr>
          <p:cNvPr id="77" name="Rectangle 76"/>
          <p:cNvSpPr/>
          <p:nvPr/>
        </p:nvSpPr>
        <p:spPr>
          <a:xfrm>
            <a:off x="394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送检与影像"/>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送检与影像</a:t>
            </a:r>
          </a:p>
        </p:txBody>
      </p:sp>
      <p:sp>
        <p:nvSpPr>
          <p:cNvPr id="79" name="优先血清live-CBA，尽量治疗前取样；治疗后阴性者≥3个月后或复发时复测。眼眶MRI含T1/T2"/>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000000"/>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000000"/>
                </a:solidFill>
                <a:latin typeface="Microsoft YaHei"/>
                <a:ea typeface="Microsoft YaHei"/>
                <a:cs typeface="Microsoft YaHei"/>
              </a:rPr>
              <a:t>2~3 mm。</a:t>
            </a:r>
          </a:p>
        </p:txBody>
      </p:sp>
      <p:sp>
        <p:nvSpPr>
          <p:cNvPr id="80" name="2025 p706、710–711"/>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p706、710–711</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 name="2025 · 背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背面</a:t>
            </a:r>
          </a:p>
        </p:txBody>
      </p:sp>
      <p:sp>
        <p:nvSpPr>
          <p:cNvPr id="5" name="Rectangle 4"/>
          <p:cNvSpPr/>
          <p:nvPr/>
        </p:nvSpPr>
        <p:spPr>
          <a:xfrm>
            <a:off x="16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激素与缓减"/>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急性激素与缓减</a:t>
            </a:r>
          </a:p>
        </p:txBody>
      </p:sp>
      <p:sp>
        <p:nvSpPr>
          <p:cNvPr id="7" name="成人IVMP 1 000 mg/d×3~5 d；儿童20~30 mg·kg⁻¹·d⁻¹。之后递减、转"/>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成人IVMP 1 000 mg/d×3~5 d；儿童20~30 mg·kg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a:t>
            </a:r>
          </a:p>
          <a:p>
            <a:pPr>
              <a:lnSpc>
                <a:spcPts val="1160"/>
              </a:lnSpc>
              <a:spcBef>
                <a:spcPts val="0"/>
              </a:spcBef>
              <a:spcAft>
                <a:spcPts val="0"/>
              </a:spcAft>
            </a:pPr>
            <a:r>
              <a:rPr sz="950" b="0" lang="zh-CN">
                <a:solidFill>
                  <a:srgbClr val="000000"/>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000000"/>
                </a:solidFill>
                <a:latin typeface="Microsoft YaHei"/>
                <a:ea typeface="Microsoft YaHei"/>
                <a:cs typeface="Microsoft YaHei"/>
              </a:rPr>
              <a:t>梯见提取表。</a:t>
            </a:r>
          </a:p>
        </p:txBody>
      </p:sp>
      <p:sp>
        <p:nvSpPr>
          <p:cNvPr id="8" name="2025 p712"/>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9" name="Rectangle 8"/>
          <p:cNvSpPr/>
          <p:nvPr/>
        </p:nvSpPr>
        <p:spPr>
          <a:xfrm>
            <a:off x="16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重症/激素反应差"/>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重症/激素反应差</a:t>
            </a:r>
          </a:p>
        </p:txBody>
      </p:sp>
      <p:sp>
        <p:nvSpPr>
          <p:cNvPr id="11" name="可联合IVIG 0.4 g·kg⁻¹·d⁻¹×5 d；激素反应差可血浆置换5~7次，每次1.0~1."/>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可联合IVIG 0.4 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000000"/>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000000"/>
                </a:solidFill>
                <a:latin typeface="Microsoft YaHei"/>
                <a:ea typeface="Microsoft YaHei"/>
                <a:cs typeface="Microsoft YaHei"/>
              </a:rPr>
              <a:t>IVIG后立即置换。</a:t>
            </a:r>
          </a:p>
        </p:txBody>
      </p:sp>
      <p:sp>
        <p:nvSpPr>
          <p:cNvPr id="12" name="2025 p712"/>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13" name="Rectangle 12"/>
          <p:cNvSpPr/>
          <p:nvPr/>
        </p:nvSpPr>
        <p:spPr>
          <a:xfrm>
            <a:off x="16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何时启动序贯治疗"/>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何时启动序贯治疗</a:t>
            </a:r>
          </a:p>
        </p:txBody>
      </p:sp>
      <p:sp>
        <p:nvSpPr>
          <p:cNvPr id="15" name="首次严重且恢复差（如EDSS仍≥2分、视力仍&lt;0.6），或发作≥2次，可考虑序贯治疗。可选硫唑嘌呤、"/>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000000"/>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000000"/>
                </a:solidFill>
                <a:latin typeface="Microsoft YaHei"/>
                <a:ea typeface="Microsoft YaHei"/>
                <a:cs typeface="Microsoft YaHei"/>
              </a:rPr>
              <a:t>珠单抗或间歇IVIG；方案见提取表。</a:t>
            </a:r>
          </a:p>
        </p:txBody>
      </p:sp>
      <p:sp>
        <p:nvSpPr>
          <p:cNvPr id="16" name="2025 p714–715"/>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p714–715</a:t>
            </a:r>
          </a:p>
        </p:txBody>
      </p:sp>
      <p:sp>
        <p:nvSpPr>
          <p:cNvPr id="17" name="Rectangle 16"/>
          <p:cNvSpPr/>
          <p:nvPr/>
        </p:nvSpPr>
        <p:spPr>
          <a:xfrm>
            <a:off x="162560" y="3444460"/>
            <a:ext cx="3454880" cy="998219"/>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监测、备孕与停药"/>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监测、备孕与停药</a:t>
            </a:r>
          </a:p>
        </p:txBody>
      </p:sp>
      <p:sp>
        <p:nvSpPr>
          <p:cNvPr id="19" name="按药物筛查感染并监测血常规、肝/肾功能。MMF备孕前≥6周停药。一般认为持续治疗满5年且无复发，可个"/>
          <p:cNvSpPr txBox="1"/>
          <p:nvPr/>
        </p:nvSpPr>
        <p:spPr>
          <a:xfrm>
            <a:off x="264160" y="3634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000000"/>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000000"/>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000000"/>
                </a:solidFill>
                <a:latin typeface="Microsoft YaHei"/>
                <a:ea typeface="Microsoft YaHei"/>
                <a:cs typeface="Microsoft YaHei"/>
              </a:rPr>
              <a:t>未明确。</a:t>
            </a:r>
          </a:p>
        </p:txBody>
      </p:sp>
      <p:sp>
        <p:nvSpPr>
          <p:cNvPr id="20" name="2025 p708、712、714–715"/>
          <p:cNvSpPr txBox="1"/>
          <p:nvPr/>
        </p:nvSpPr>
        <p:spPr>
          <a:xfrm>
            <a:off x="264160" y="4249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p708、712、714–715</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OGAD诊断与治疗"/>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24" name="2025 · 背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背面</a:t>
            </a:r>
          </a:p>
        </p:txBody>
      </p:sp>
      <p:sp>
        <p:nvSpPr>
          <p:cNvPr id="25" name="Rectangle 24"/>
          <p:cNvSpPr/>
          <p:nvPr/>
        </p:nvSpPr>
        <p:spPr>
          <a:xfrm>
            <a:off x="394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急性激素与缓减"/>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急性激素与缓减</a:t>
            </a:r>
          </a:p>
        </p:txBody>
      </p:sp>
      <p:sp>
        <p:nvSpPr>
          <p:cNvPr id="27" name="成人IVMP 1 000 mg/d×3~5 d；儿童20~30 mg·kg⁻¹·d⁻¹。之后递减、转"/>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成人IVMP 1 000 mg/d×3~5 d；儿童20~30 mg·kg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a:t>
            </a:r>
          </a:p>
          <a:p>
            <a:pPr>
              <a:lnSpc>
                <a:spcPts val="1160"/>
              </a:lnSpc>
              <a:spcBef>
                <a:spcPts val="0"/>
              </a:spcBef>
              <a:spcAft>
                <a:spcPts val="0"/>
              </a:spcAft>
            </a:pPr>
            <a:r>
              <a:rPr sz="950" b="0" lang="zh-CN">
                <a:solidFill>
                  <a:srgbClr val="000000"/>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000000"/>
                </a:solidFill>
                <a:latin typeface="Microsoft YaHei"/>
                <a:ea typeface="Microsoft YaHei"/>
                <a:cs typeface="Microsoft YaHei"/>
              </a:rPr>
              <a:t>梯见提取表。</a:t>
            </a:r>
          </a:p>
        </p:txBody>
      </p:sp>
      <p:sp>
        <p:nvSpPr>
          <p:cNvPr id="28" name="2025 p712"/>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29" name="Rectangle 28"/>
          <p:cNvSpPr/>
          <p:nvPr/>
        </p:nvSpPr>
        <p:spPr>
          <a:xfrm>
            <a:off x="394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重症/激素反应差"/>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重症/激素反应差</a:t>
            </a:r>
          </a:p>
        </p:txBody>
      </p:sp>
      <p:sp>
        <p:nvSpPr>
          <p:cNvPr id="31" name="可联合IVIG 0.4 g·kg⁻¹·d⁻¹×5 d；激素反应差可血浆置换5~7次，每次1.0~1."/>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可联合IVIG 0.4 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000000"/>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000000"/>
                </a:solidFill>
                <a:latin typeface="Microsoft YaHei"/>
                <a:ea typeface="Microsoft YaHei"/>
                <a:cs typeface="Microsoft YaHei"/>
              </a:rPr>
              <a:t>IVIG后立即置换。</a:t>
            </a:r>
          </a:p>
        </p:txBody>
      </p:sp>
      <p:sp>
        <p:nvSpPr>
          <p:cNvPr id="32" name="2025 p712"/>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33" name="Rectangle 32"/>
          <p:cNvSpPr/>
          <p:nvPr/>
        </p:nvSpPr>
        <p:spPr>
          <a:xfrm>
            <a:off x="394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何时启动序贯治疗"/>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何时启动序贯治疗</a:t>
            </a:r>
          </a:p>
        </p:txBody>
      </p:sp>
      <p:sp>
        <p:nvSpPr>
          <p:cNvPr id="35" name="首次严重且恢复差（如EDSS仍≥2分、视力仍&lt;0.6），或发作≥2次，可考虑序贯治疗。可选硫唑嘌呤、"/>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000000"/>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000000"/>
                </a:solidFill>
                <a:latin typeface="Microsoft YaHei"/>
                <a:ea typeface="Microsoft YaHei"/>
                <a:cs typeface="Microsoft YaHei"/>
              </a:rPr>
              <a:t>珠单抗或间歇IVIG；方案见提取表。</a:t>
            </a:r>
          </a:p>
        </p:txBody>
      </p:sp>
      <p:sp>
        <p:nvSpPr>
          <p:cNvPr id="36" name="2025 p714–715"/>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p714–715</a:t>
            </a:r>
          </a:p>
        </p:txBody>
      </p:sp>
      <p:sp>
        <p:nvSpPr>
          <p:cNvPr id="37" name="Rectangle 36"/>
          <p:cNvSpPr/>
          <p:nvPr/>
        </p:nvSpPr>
        <p:spPr>
          <a:xfrm>
            <a:off x="3942560" y="3444460"/>
            <a:ext cx="3454880" cy="998219"/>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监测、备孕与停药"/>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监测、备孕与停药</a:t>
            </a:r>
          </a:p>
        </p:txBody>
      </p:sp>
      <p:sp>
        <p:nvSpPr>
          <p:cNvPr id="39" name="按药物筛查感染并监测血常规、肝/肾功能。MMF备孕前≥6周停药。一般认为持续治疗满5年且无复发，可个"/>
          <p:cNvSpPr txBox="1"/>
          <p:nvPr/>
        </p:nvSpPr>
        <p:spPr>
          <a:xfrm>
            <a:off x="4044160" y="3634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000000"/>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000000"/>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000000"/>
                </a:solidFill>
                <a:latin typeface="Microsoft YaHei"/>
                <a:ea typeface="Microsoft YaHei"/>
                <a:cs typeface="Microsoft YaHei"/>
              </a:rPr>
              <a:t>未明确。</a:t>
            </a:r>
          </a:p>
        </p:txBody>
      </p:sp>
      <p:sp>
        <p:nvSpPr>
          <p:cNvPr id="40" name="2025 p708、712、714–715"/>
          <p:cNvSpPr txBox="1"/>
          <p:nvPr/>
        </p:nvSpPr>
        <p:spPr>
          <a:xfrm>
            <a:off x="4044160" y="4249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p708、712、714–715</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OGAD诊断与治疗"/>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44" name="2025 · 背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背面</a:t>
            </a:r>
          </a:p>
        </p:txBody>
      </p:sp>
      <p:sp>
        <p:nvSpPr>
          <p:cNvPr id="45" name="Rectangle 44"/>
          <p:cNvSpPr/>
          <p:nvPr/>
        </p:nvSpPr>
        <p:spPr>
          <a:xfrm>
            <a:off x="16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急性激素与缓减"/>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急性激素与缓减</a:t>
            </a:r>
          </a:p>
        </p:txBody>
      </p:sp>
      <p:sp>
        <p:nvSpPr>
          <p:cNvPr id="47" name="成人IVMP 1 000 mg/d×3~5 d；儿童20~30 mg·kg⁻¹·d⁻¹。之后递减、转"/>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成人IVMP 1 000 mg/d×3~5 d；儿童20~30 mg·kg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a:t>
            </a:r>
          </a:p>
          <a:p>
            <a:pPr>
              <a:lnSpc>
                <a:spcPts val="1160"/>
              </a:lnSpc>
              <a:spcBef>
                <a:spcPts val="0"/>
              </a:spcBef>
              <a:spcAft>
                <a:spcPts val="0"/>
              </a:spcAft>
            </a:pPr>
            <a:r>
              <a:rPr sz="950" b="0" lang="zh-CN">
                <a:solidFill>
                  <a:srgbClr val="000000"/>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000000"/>
                </a:solidFill>
                <a:latin typeface="Microsoft YaHei"/>
                <a:ea typeface="Microsoft YaHei"/>
                <a:cs typeface="Microsoft YaHei"/>
              </a:rPr>
              <a:t>梯见提取表。</a:t>
            </a:r>
          </a:p>
        </p:txBody>
      </p:sp>
      <p:sp>
        <p:nvSpPr>
          <p:cNvPr id="48" name="2025 p712"/>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49" name="Rectangle 48"/>
          <p:cNvSpPr/>
          <p:nvPr/>
        </p:nvSpPr>
        <p:spPr>
          <a:xfrm>
            <a:off x="16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重症/激素反应差"/>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重症/激素反应差</a:t>
            </a:r>
          </a:p>
        </p:txBody>
      </p:sp>
      <p:sp>
        <p:nvSpPr>
          <p:cNvPr id="51" name="可联合IVIG 0.4 g·kg⁻¹·d⁻¹×5 d；激素反应差可血浆置换5~7次，每次1.0~1."/>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可联合IVIG 0.4 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000000"/>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000000"/>
                </a:solidFill>
                <a:latin typeface="Microsoft YaHei"/>
                <a:ea typeface="Microsoft YaHei"/>
                <a:cs typeface="Microsoft YaHei"/>
              </a:rPr>
              <a:t>IVIG后立即置换。</a:t>
            </a:r>
          </a:p>
        </p:txBody>
      </p:sp>
      <p:sp>
        <p:nvSpPr>
          <p:cNvPr id="52" name="2025 p712"/>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53" name="Rectangle 52"/>
          <p:cNvSpPr/>
          <p:nvPr/>
        </p:nvSpPr>
        <p:spPr>
          <a:xfrm>
            <a:off x="16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何时启动序贯治疗"/>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何时启动序贯治疗</a:t>
            </a:r>
          </a:p>
        </p:txBody>
      </p:sp>
      <p:sp>
        <p:nvSpPr>
          <p:cNvPr id="55" name="首次严重且恢复差（如EDSS仍≥2分、视力仍&lt;0.6），或发作≥2次，可考虑序贯治疗。可选硫唑嘌呤、"/>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000000"/>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000000"/>
                </a:solidFill>
                <a:latin typeface="Microsoft YaHei"/>
                <a:ea typeface="Microsoft YaHei"/>
                <a:cs typeface="Microsoft YaHei"/>
              </a:rPr>
              <a:t>珠单抗或间歇IVIG；方案见提取表。</a:t>
            </a:r>
          </a:p>
        </p:txBody>
      </p:sp>
      <p:sp>
        <p:nvSpPr>
          <p:cNvPr id="56" name="2025 p714–715"/>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p714–715</a:t>
            </a:r>
          </a:p>
        </p:txBody>
      </p:sp>
      <p:sp>
        <p:nvSpPr>
          <p:cNvPr id="57" name="Rectangle 56"/>
          <p:cNvSpPr/>
          <p:nvPr/>
        </p:nvSpPr>
        <p:spPr>
          <a:xfrm>
            <a:off x="162560" y="8772460"/>
            <a:ext cx="3454880" cy="998219"/>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监测、备孕与停药"/>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监测、备孕与停药</a:t>
            </a:r>
          </a:p>
        </p:txBody>
      </p:sp>
      <p:sp>
        <p:nvSpPr>
          <p:cNvPr id="59" name="按药物筛查感染并监测血常规、肝/肾功能。MMF备孕前≥6周停药。一般认为持续治疗满5年且无复发，可个"/>
          <p:cNvSpPr txBox="1"/>
          <p:nvPr/>
        </p:nvSpPr>
        <p:spPr>
          <a:xfrm>
            <a:off x="264160" y="8962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000000"/>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000000"/>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000000"/>
                </a:solidFill>
                <a:latin typeface="Microsoft YaHei"/>
                <a:ea typeface="Microsoft YaHei"/>
                <a:cs typeface="Microsoft YaHei"/>
              </a:rPr>
              <a:t>未明确。</a:t>
            </a:r>
          </a:p>
        </p:txBody>
      </p:sp>
      <p:sp>
        <p:nvSpPr>
          <p:cNvPr id="60" name="2025 p708、712、714–715"/>
          <p:cNvSpPr txBox="1"/>
          <p:nvPr/>
        </p:nvSpPr>
        <p:spPr>
          <a:xfrm>
            <a:off x="264160" y="9577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p708、712、714–715</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MOGAD诊断与治疗"/>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MOGAD诊断与治疗</a:t>
            </a:r>
          </a:p>
        </p:txBody>
      </p:sp>
      <p:sp>
        <p:nvSpPr>
          <p:cNvPr id="64" name="2025 · 背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 背面</a:t>
            </a:r>
          </a:p>
        </p:txBody>
      </p:sp>
      <p:sp>
        <p:nvSpPr>
          <p:cNvPr id="65" name="Rectangle 64"/>
          <p:cNvSpPr/>
          <p:nvPr/>
        </p:nvSpPr>
        <p:spPr>
          <a:xfrm>
            <a:off x="394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急性激素与缓减"/>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急性激素与缓减</a:t>
            </a:r>
          </a:p>
        </p:txBody>
      </p:sp>
      <p:sp>
        <p:nvSpPr>
          <p:cNvPr id="67" name="成人IVMP 1 000 mg/d×3~5 d；儿童20~30 mg·kg⁻¹·d⁻¹。之后递减、转"/>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成人IVMP 1 000 mg/d×3~5 d；儿童20~30 mg·kg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a:t>
            </a:r>
          </a:p>
          <a:p>
            <a:pPr>
              <a:lnSpc>
                <a:spcPts val="1160"/>
              </a:lnSpc>
              <a:spcBef>
                <a:spcPts val="0"/>
              </a:spcBef>
              <a:spcAft>
                <a:spcPts val="0"/>
              </a:spcAft>
            </a:pPr>
            <a:r>
              <a:rPr sz="950" b="0" lang="zh-CN">
                <a:solidFill>
                  <a:srgbClr val="000000"/>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000000"/>
                </a:solidFill>
                <a:latin typeface="Microsoft YaHei"/>
                <a:ea typeface="Microsoft YaHei"/>
                <a:cs typeface="Microsoft YaHei"/>
              </a:rPr>
              <a:t>梯见提取表。</a:t>
            </a:r>
          </a:p>
        </p:txBody>
      </p:sp>
      <p:sp>
        <p:nvSpPr>
          <p:cNvPr id="68" name="2025 p712"/>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69" name="Rectangle 68"/>
          <p:cNvSpPr/>
          <p:nvPr/>
        </p:nvSpPr>
        <p:spPr>
          <a:xfrm>
            <a:off x="394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重症/激素反应差"/>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重症/激素反应差</a:t>
            </a:r>
          </a:p>
        </p:txBody>
      </p:sp>
      <p:sp>
        <p:nvSpPr>
          <p:cNvPr id="71" name="可联合IVIG 0.4 g·kg⁻¹·d⁻¹×5 d；激素反应差可血浆置换5~7次，每次1.0~1."/>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可联合IVIG 0.4 g·kg</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¹·d</a:t>
            </a:r>
            <a:r>
              <a:rPr sz="950" b="0" lang="zh-CN">
                <a:solidFill>
                  <a:srgbClr val="000000"/>
                </a:solidFill>
                <a:latin typeface="Arial"/>
                <a:ea typeface="Arial"/>
                <a:cs typeface="Arial"/>
              </a:rPr>
              <a:t>⁻</a:t>
            </a:r>
            <a:r>
              <a:rPr sz="950" b="0" lang="zh-CN">
                <a:solidFill>
                  <a:srgbClr val="000000"/>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000000"/>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000000"/>
                </a:solidFill>
                <a:latin typeface="Microsoft YaHei"/>
                <a:ea typeface="Microsoft YaHei"/>
                <a:cs typeface="Microsoft YaHei"/>
              </a:rPr>
              <a:t>IVIG后立即置换。</a:t>
            </a:r>
          </a:p>
        </p:txBody>
      </p:sp>
      <p:sp>
        <p:nvSpPr>
          <p:cNvPr id="72" name="2025 p712"/>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p712</a:t>
            </a:r>
          </a:p>
        </p:txBody>
      </p:sp>
      <p:sp>
        <p:nvSpPr>
          <p:cNvPr id="73" name="Rectangle 72"/>
          <p:cNvSpPr/>
          <p:nvPr/>
        </p:nvSpPr>
        <p:spPr>
          <a:xfrm>
            <a:off x="394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何时启动序贯治疗"/>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何时启动序贯治疗</a:t>
            </a:r>
          </a:p>
        </p:txBody>
      </p:sp>
      <p:sp>
        <p:nvSpPr>
          <p:cNvPr id="75" name="首次严重且恢复差（如EDSS仍≥2分、视力仍&lt;0.6），或发作≥2次，可考虑序贯治疗。可选硫唑嘌呤、"/>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000000"/>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000000"/>
                </a:solidFill>
                <a:latin typeface="Microsoft YaHei"/>
                <a:ea typeface="Microsoft YaHei"/>
                <a:cs typeface="Microsoft YaHei"/>
              </a:rPr>
              <a:t>珠单抗或间歇IVIG；方案见提取表。</a:t>
            </a:r>
          </a:p>
        </p:txBody>
      </p:sp>
      <p:sp>
        <p:nvSpPr>
          <p:cNvPr id="76" name="2025 p714–715"/>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p714–715</a:t>
            </a:r>
          </a:p>
        </p:txBody>
      </p:sp>
      <p:sp>
        <p:nvSpPr>
          <p:cNvPr id="77" name="Rectangle 76"/>
          <p:cNvSpPr/>
          <p:nvPr/>
        </p:nvSpPr>
        <p:spPr>
          <a:xfrm>
            <a:off x="3942560" y="8772460"/>
            <a:ext cx="3454880" cy="998219"/>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监测、备孕与停药"/>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监测、备孕与停药</a:t>
            </a:r>
          </a:p>
        </p:txBody>
      </p:sp>
      <p:sp>
        <p:nvSpPr>
          <p:cNvPr id="79" name="按药物筛查感染并监测血常规、肝/肾功能。MMF备孕前≥6周停药。一般认为持续治疗满5年且无复发，可个"/>
          <p:cNvSpPr txBox="1"/>
          <p:nvPr/>
        </p:nvSpPr>
        <p:spPr>
          <a:xfrm>
            <a:off x="4044160" y="8962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000000"/>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000000"/>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000000"/>
                </a:solidFill>
                <a:latin typeface="Microsoft YaHei"/>
                <a:ea typeface="Microsoft YaHei"/>
                <a:cs typeface="Microsoft YaHei"/>
              </a:rPr>
              <a:t>未明确。</a:t>
            </a:r>
          </a:p>
        </p:txBody>
      </p:sp>
      <p:sp>
        <p:nvSpPr>
          <p:cNvPr id="80" name="2025 p708、712、714–715"/>
          <p:cNvSpPr txBox="1"/>
          <p:nvPr/>
        </p:nvSpPr>
        <p:spPr>
          <a:xfrm>
            <a:off x="4044160" y="9577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2025 p708、712、714–715</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 A4 bw</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