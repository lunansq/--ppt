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mogad-03 眼科识别：急性视神经炎：急性视力下降、视野缺损和色觉减退，常伴眼眶痛或同侧头痛、眼球转动痛；可见RAPD和视盘水肿。双侧同时发作、明显视盘水肿及激素依赖性复发提示MOG相关视神经炎。</a:t>
            </a:r>
          </a:p>
          <a:p>
            <a:r>
              <a:t>来源：2025 p705–706 / PDF2–3；类别：诊断；推荐等级：原文未明确。</a:t>
            </a:r>
          </a:p>
          <a:p>
            <a:r>
              <a:t>原文锚点：+NMOSD）不同，是一种独立的疾病单元。基导致急性、快速恶化的视力下降，严重的视野缺损和色觉减退。常伴眼眶疼痛或同侧头痛，在眼球转领域的重要进展，本指南采用英国牛津于MOGAD大学循证医学中心证据分级和推荐标准对MOGAD动时疼痛加重［23］。体格检查可发现相对性传入性的诊断和治疗作出推荐建议（表1）。瞳孔障碍（relativeafferentpupillarydefect，RAPD）［24］，急性期眼底镜检查通常可发现视盘水肿［21，人口学</a:t>
            </a:r>
          </a:p>
          <a:p/>
          <a:p>
            <a:r>
              <a:t>mogad-04 眼眶MRI检查参数：急性视神经炎建议行视神经/眼眶MRI：T1、T2、脂肪抑制及T1增强；覆盖眼球后部至颅内视束，层厚2~3 mm，层间距0~0.5 mm。关注长节段前部病变及视神经周围强化。</a:t>
            </a:r>
          </a:p>
          <a:p>
            <a:r>
              <a:t>来源：2025 p706 / PDF3；类别：检查；推荐等级：原文未明确。</a:t>
            </a:r>
          </a:p>
          <a:p>
            <a:r>
              <a:t>原文锚点：神经/眼眶MRI应包括T1、T2、脂肪抑制、T1增强。扫描范围：从眼球后部至颅内视束，扫描层厚为2~3mm，层间距0~0.5mm［37］。MOG⁃视神经炎的典型表现为纵向延伸的长节段视神MRI经异常信号，好累及视神经前段。尤其多见于眶内段（图3A、B），也可累及视神经管段和视交叉前段［3，8，15，38］，视交叉和视束受累相对较少［39］。视神经水肿增粗，强化。图1视神经鞘膜（图3C）和视神经周围1例髓鞘少突胶质细胞糖蛋白抗体相关视神经炎反</a:t>
            </a:r>
          </a:p>
          <a:p/>
          <a:p>
            <a:r>
              <a:t>mogad-09 抗体检测方法：采用转染人全长MOG基因的CBA法，优先live-CBA，不能实施时选fixed-CBA；不推荐ELISA。报告需包含阴性/弱阳性/明确阳性及滴度，不同实验室滴度不能完全直接比较。</a:t>
            </a:r>
          </a:p>
          <a:p>
            <a:r>
              <a:t>来源：2025 p710 / PDF7；类别：检查；推荐等级：原文未明确。</a:t>
            </a:r>
          </a:p>
          <a:p>
            <a:r>
              <a:t>原文锚点：⁃7，31，73］。MOG⁃IgG主要是1.使用转染人全长MOG基因的CBA法检测特异2.推荐使用live⁃CBA，无法进行live⁃CBA时，可选择fixed⁃CBAIgG1类抗体，检测中建议使用IgGFc或IgG1的个体进行检测；性二抗［6，74］。推荐使用基于活细胞的CBA3.结合临床、影像特征，选择很可能是MOGAD炎性疾病的患者进行时，可选择基于固避免无选择性地对所有怀疑为CNS（live⁃CBA）。无法进行live⁃CBAMOG⁃IgG筛查</a:t>
            </a:r>
          </a:p>
          <a:p/>
          <a:p>
            <a:r>
              <a:t>mogad-10 取样与复测时点：优先血清，尽量在免疫治疗前采样；治疗后阴性者建议至少3个月后或复发时复测。高度怀疑而血清阴性时可考虑脑脊液MOG-IgG，不建议常规同时检测血清与脑脊液。</a:t>
            </a:r>
          </a:p>
          <a:p>
            <a:r>
              <a:t>来源：2025 p710–711 / PDF7–8；类别：检查；推荐等级：原文未明确。</a:t>
            </a:r>
          </a:p>
          <a:p>
            <a:r>
              <a:t>原文锚点：诊断较为困难，建议至少MOG⁃IgG的个体进行检测，以提高选择很可能是MOGAD3个月后或复发时再次检测。检测的阳性预测值。不推荐无选择性地的滴度高低对预后或复MOG⁃IgG起病时血清MOG⁃IgG炎性疾病的患者均筛查对所有怀疑为CNS发的预测价值不高。MOG⁃IgG持续阳性的患者，特持续处于高滴度者，复发风险增MOG⁃IgG。临床或影像学特征不符合典型MOGAD别是MOG⁃IgG高［9，19，30，79⁃80］。但在个体水平，根据抗体滴度的动态的患</a:t>
            </a:r>
          </a:p>
          <a:p/>
          <a:p>
            <a:r>
              <a:t>mogad-11 明确阳性与弱阳性阈值：fixed-CBA或live-CBA滴度≥1∶100为明确阳性；≥1∶10且&lt;1∶100为弱阳性。滴度必须结合相应检测方法和临床解释，低滴度阳性本身不能确诊。</a:t>
            </a:r>
          </a:p>
          <a:p>
            <a:r>
              <a:t>来源：2025 p710–711 / PDF7–8；类别：诊断；推荐等级：原文未明确。</a:t>
            </a:r>
          </a:p>
          <a:p>
            <a:r>
              <a:t>原文锚点：滴度）。注：MOG：髓鞘少突胶质细胞糖蛋白；CBA：基于细胞底物的实fixed⁃CBA滴度≥1∶100视为明确阳性，≥1∶10，但&lt;验；live⁃CBA：基于活细胞的CBA；fixed⁃CBA，基于固定细胞的CBA；MOGAD：髓鞘少突胶质细胞糖蛋白抗体相关疾病；CNS：中枢1∶100，为弱阳性［16］。对于live⁃CBA，也建议将滴神经系统；MOG⁃IgG：MOG免疫球蛋白G为弱阳度≥1∶100视为明确阳性，≥1∶10，但&lt;1∶100三、合并</a:t>
            </a:r>
          </a:p>
          <a:p/>
          <a:p>
            <a:r>
              <a:t>mogad-12 确诊须同时满足三部分：同时满足：①至少一种核心临床脱髓鞘事件；②符合CBA检测的MOG-IgG阳性条件；③排除其他可能疾病。明确阳性无需抗体条目的附加条件，仍须满足核心事件与排除诊断。</a:t>
            </a:r>
          </a:p>
          <a:p>
            <a:r>
              <a:t>来源：2025 p711 / PDF8；类别：诊断；推荐等级：原文未明确。</a:t>
            </a:r>
          </a:p>
          <a:p>
            <a:r>
              <a:t>原文锚点：yteglycoproteinantibody⁃associateddisease[16]MOGAD诊断需同时满足1~3视神经炎1.核心临床脱髓鞘事件脊髓炎ADEM大脑多灶或单灶性炎性病变脑干或小脑炎皮质脑炎（常伴癫痫）2.MOG⁃IgG阳性（以CBA法明确阳性b（fixed⁃CBA滴度≥1∶100，或live⁃CBA滴度≥1∶100）时，无需附加条件检测血清a）弱阳性b（fixed⁃CBA滴度≥1∶10且&lt;1∶100，或live⁃CBA滴度≥1∶10且&lt;1∶100</a:t>
            </a:r>
          </a:p>
          <a:p/>
          <a:p>
            <a:r>
              <a:t>mogad-13 核心临床脱髓鞘事件：核心事件包括视神经炎、脊髓炎、ADEM、大脑多灶或单灶炎性病变、脑干或小脑炎、皮质脑炎（常伴癫痫）。单纯抗体阳性而无核心临床事件，不满足该诊断标准。</a:t>
            </a:r>
          </a:p>
          <a:p>
            <a:r>
              <a:t>来源：2025 p711 / PDF8；类别：诊断；推荐等级：原文未明确。</a:t>
            </a:r>
          </a:p>
          <a:p>
            <a:r>
              <a:t>原文锚点：dy⁃associateddisease[16]MOGAD诊断需同时满足1~3视神经炎1.核心临床脱髓鞘事件脊髓炎ADEM大脑多灶或单灶性炎性病变脑干或小脑炎皮质脑炎（常伴癫痫）2.MOG⁃IgG阳性（以CBA法明确阳性b（fixed⁃CBA滴度≥1∶100，或live⁃CBA滴度≥1∶100）时，无需附加条件检测血清a）弱阳性b（fixed⁃CBA滴度≥1∶10且&lt;1∶100，或live⁃CBA滴度≥1∶10且&lt;1∶100），或血清阳性但滴度未知，或血</a:t>
            </a:r>
          </a:p>
          <a:p/>
          <a:p>
            <a:r>
              <a:t>mogad-14 弱阳性等情况的附加门槛：血清弱阳性、阳性但滴度未知，或血清阴性而脑脊液阳性时，需同时满足血清AQP4-IgG阴性，且对应临床/MRI附加条件至少1条；另仍须核心事件及排除其他病。</a:t>
            </a:r>
          </a:p>
          <a:p>
            <a:r>
              <a:t>来源：2025 p711 / PDF8；类别：诊断；推荐等级：原文未明确。</a:t>
            </a:r>
          </a:p>
          <a:p>
            <a:r>
              <a:t>原文锚点：⁃CBA滴度≥1∶10且&lt;1∶100，或live⁃CBA滴度≥1∶10且&lt;1∶100），或血清阳性但滴度未知，或血清阴性但脑脊液阳性时，需同时满足：（1）血清AQP4⁃IgG阴性；（2）下述11条附加条件至少满足1条支持诊断的临床和MRI附加条件对应视神经炎的附加条件（1）双侧同时受累的临床表现（2）长病灶（&gt;50%视神经长度）（3）视盘水肿（4）视神经周围组织强化对应脊髓炎的附加条件（5）纵向延伸的长节段脊髓炎（6）圆锥病灶（7）H征或脊髓中央病灶对应</a:t>
            </a:r>
          </a:p>
          <a:p/>
          <a:p>
            <a:r>
              <a:t>mogad-15 视神经炎的四项附加条件：对应视神经炎的附加条件为：双侧同时受累；长病灶（&gt;50%视神经长度）；视盘水肿；视神经周围组织强化。此处阈值为诊断表原文的“&gt;50%”。</a:t>
            </a:r>
          </a:p>
          <a:p>
            <a:r>
              <a:t>来源：2025 p711 / PDF8；类别：诊断；推荐等级：原文未明确。</a:t>
            </a:r>
          </a:p>
          <a:p>
            <a:r>
              <a:t>原文锚点：诊断的临床和MRI附加条件对应视神经炎的附加条件（1）双侧同时受累的临床表现（2）长病灶（&gt;50%视神经长度）（3）视盘水肿（4）视神经周围组织强化对应脊髓炎的附加条件（5）纵向延伸的长节段脊髓炎（6）圆锥病灶（7）H征或脊髓中央病灶对应脑部综合征的附加条件（8）深部灰质受累（9）幕上或幕下多发边界不清的白质T2高信号病灶（10）皮质病灶伴或不伴相应区域的脑膜强化（11）累及脑桥、小脑中脚或延髓的边界不清的T2高信号病灶3.排除其他可能的疾病c注：但血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mogad-24 急性期成人激素冲击：排除禁忌证后尽早启动IVMP。甲泼尼龙1 000 mg静脉输注，1次/d，连续3~5 d；视病情进入递减方案。该推荐为证据水平2b、推荐级别B。</a:t>
            </a:r>
          </a:p>
          <a:p>
            <a:r>
              <a:t>来源：2025 p712 / PDF9；类别：治疗；推荐等级：B（证据水平2b）。</a:t>
            </a:r>
          </a:p>
          <a:p>
            <a:r>
              <a:t>原文锚点：的回顾性研究结果表明，NMOSD和MOGAD早期治疗可能有助于视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a:t>
            </a:r>
          </a:p>
          <a:p/>
          <a:p>
            <a:r>
              <a:t>mogad-25 冲击后递减与口服衔接：视病情减至甲泼尼龙500 mg、240 mg、120 mg，均1次/d、各3 d；再改泼尼松60 mg或1 mg/kg口服、1次/d。所有患者口服激素缓慢减量过程应≥6个月，避免减量过快相关复发。</a:t>
            </a:r>
          </a:p>
          <a:p>
            <a:r>
              <a:t>来源：2025 p712 / PDF9；类别：治疗；推荐等级：原文未明确。</a:t>
            </a:r>
          </a:p>
          <a:p>
            <a:r>
              <a:t>原文锚点：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-1，参考成人方案递减。急性期在排除禁忌证后应图61例血清髓鞘</a:t>
            </a:r>
          </a:p>
          <a:p/>
          <a:p>
            <a:r>
              <a:t>mogad-27 儿童急性期剂量：儿童甲泼尼龙静脉起始剂量20~30 mg·kg⁻¹·d⁻¹，参考成人方案递减。本文儿童该段未给出单日最大剂量，不自行补入上限；口服激素减量过程仍应≥6个月。</a:t>
            </a:r>
          </a:p>
          <a:p>
            <a:r>
              <a:t>来源：2025 p712 / PDF9；类别：特殊人群；推荐等级：原文未明确。</a:t>
            </a:r>
          </a:p>
          <a:p>
            <a:r>
              <a:t>原文锚点：渐缓慢减量。个月，对所有患者，建议口服激素减量的过程应≥6以减少因激素减量过快相关的复发。儿童起始剂量为甲泼尼龙静脉输注20~30mg·kg-1·d-1，参考成人方案递减。急性期在排除禁忌证后应图61例血清髓鞘少突胶质细胞糖蛋白（MOG）⁃免疫球蛋白G推荐意见：MOGAD（IgG）低滴度阳性的多发性硬化（MS）患者影像学和实验室检查见边界清尽早启动IVMP治疗（证据水平：2b；推荐级别：B）。结果。A：该患者临床表现为单次视神经炎发作，MRI2.</a:t>
            </a:r>
          </a:p>
          <a:p/>
          <a:p>
            <a:r>
              <a:t>mogad-28 急性期IVIG联合救治：大剂量激素可联合IVIG，尤其严重发作或激素反应不佳者。IVIG 0.4 g·kg⁻¹·d⁻¹，连续5 d为1疗程；注意血栓、肾功能异常、头痛和无菌性脑膜炎。</a:t>
            </a:r>
          </a:p>
          <a:p>
            <a:r>
              <a:t>来源：2025 p712 / PDF9；类别：治疗；推荐等级：B（证据水平2b）。</a:t>
            </a:r>
          </a:p>
          <a:p>
            <a:r>
              <a:t>原文锚点：IVIG）：推荐用法：使用剂量间接免疫荧光法检测，患者血清MOG⁃IgG阳性（显微镜下可见0.4g·kg-1·d-1，连续用5d为1个疗程。注意血栓形阳性（红色荧成、肾功能异常、头痛、无菌性脑膜炎等不良反应。红色荧光信号），滴度1∶10；D：患者血清MOG⁃IgG光）与绿色荧光蛋白标记的转染MOG抗原的细胞共定位。该患诊断，即使推荐意见：MOGAD急性期，大剂量激素冲击治治疗，尤其对于发作严重对激素者临床，影像学及脑脊液寡克隆区带均符合MS疗可</a:t>
            </a:r>
          </a:p>
          <a:p/>
          <a:p>
            <a:r>
              <a:t>mogad-29 血浆置换的条件与剂量：激素反应差可考虑血浆置换；危重者可与激素同时启动。建议5~7次，单次为患者血浆容量的1.0~1.5倍。避免IVIG后立即血浆置换。</a:t>
            </a:r>
          </a:p>
          <a:p>
            <a:r>
              <a:t>来源：2025 p712 / PDF9；类别：治疗；推荐等级：B（证据水平2b）。</a:t>
            </a:r>
          </a:p>
          <a:p>
            <a:r>
              <a:t>原文锚点：荐级别：B）。建议行血浆置遗传性视神经病高压、缺血性视神经病变、Leber换治疗5~7次，单次置换剂量以患者血浆容量的1.0~淋巴变、中枢神经系统血管炎、神经白塞病、CNS1.5倍为宜。应避免IVIG后立即行血浆置换治疗。</a:t>
            </a:r>
          </a:p>
          <a:p/>
          <a:p>
            <a:r>
              <a:t>mogad-30 何时考虑序贯预防复发：儿童或成人满足任一项可考虑序贯治疗：①首次严重且恢复不佳，遗留明显功能残疾（如恢复后EDSS仍≥2分、视力仍&lt;0.6）；②发作2次或以上。不是所有首次发作者均自动长期免疫治疗。</a:t>
            </a:r>
          </a:p>
          <a:p>
            <a:r>
              <a:t>来源：2025 p714 / PDF11；类别：治疗；推荐等级：B（证据水平2b）。</a:t>
            </a:r>
          </a:p>
          <a:p>
            <a:r>
              <a:t>原文锚点：疾状态量表评分仍≥细胞、T细胞增殖。MMF可降低MOGAD例2分，视力仍&lt;0.6）；（2）发作2次或2次以上者（证据ARR［95⁃96］。一项前瞻观察性队列研究纳入了79治疗的患水平：2b；推荐级别：B）。MOGAD患者，发现相比于未使用MMF常用的缓解期序贯治疗药物包括口服免疫抑患者的复发风险（风者，使用MMF可降低MOGAD</a:t>
            </a:r>
          </a:p>
          <a:p/>
          <a:p>
            <a:r>
              <a:t>mogad-31 硫唑嘌呤方案：可考虑硫唑嘌呤减少复发。常用2~3 mg·kg⁻¹·d⁻¹，单次或分次口服；完全起效前（4~5个月）联合口服激素。推荐级别C、证据水平4。</a:t>
            </a:r>
          </a:p>
          <a:p>
            <a:r>
              <a:t>来源：2025 p714 / PDF11；类别：治疗；推荐等级：C（证据水平4）。</a:t>
            </a:r>
          </a:p>
          <a:p>
            <a:r>
              <a:t>原文锚点：MOGAD的神经功能残疾随着发作次数增多而低到0.2（范围0~3.2）［94］。推荐用法：常用剂量2~会复发，故是否在累积。但MOGAD仅50%~60%3mg·kg-1·d-1，单次或分次口服。在开始用药前，建持首次发作后启用序贯治疗较难决策。MOG⁃IgG议评估硫代嘌呤⁃甲基转移酶活性或相关药物基续阳性与复发风险增高有关［9，19，30，79⁃80］，但在个体水因。不良反应包括白细胞减少、肝功能损害、感染平，抗体的动态变化对复发的预测和治疗的指导</a:t>
            </a:r>
          </a:p>
          <a:p/>
          <a:p>
            <a:r>
              <a:t>mogad-32 硫唑嘌呤筛查与监测：开始硫唑嘌呤前建议评估硫代嘌呤-甲基转移酶活性或相关药物基因；用药前后定期全血细胞计数、肝功能。注意白细胞减少、肝损害、感染及长期恶性肿瘤风险。</a:t>
            </a:r>
          </a:p>
          <a:p>
            <a:r>
              <a:t>来源：2025 p714 / PDF11；类别：检查；推荐等级：原文未明确。</a:t>
            </a:r>
          </a:p>
          <a:p>
            <a:r>
              <a:t>原文锚点：分次口服。在开始用药前，建持首次发作后启用序贯治疗较难决策。MOG⁃IgG议评估硫代嘌呤⁃甲基转移酶活性或相关药物基续阳性与复发风险增高有关［9，19，30，79⁃80］，但在个体水因。不良反应包括白细胞减少、肝功能损害、感染平，抗体的动态变化对复发的预测和治疗的指导意以及长期用药恶性肿瘤的风险。应该在用药前和复发用药后定期监测全血细胞计数和肝功能。义尚不清楚。使用序贯治疗能降低MOGAD风险［8，20，91］。首次发作恢复不佳，发作次数多，与长</a:t>
            </a:r>
          </a:p>
          <a:p/>
          <a:p>
            <a:r>
              <a:t>mogad-33 吗替麦考酚酯成人方案：可考虑MMF减少复发：500 mg/次、2次/d，持续2周；无不良反应增至750~1 000 mg/次、2次/d。MMF完全起效前联合口服糖皮质激素。</a:t>
            </a:r>
          </a:p>
          <a:p>
            <a:r>
              <a:t>来源：2025 p714–715 / PDF11–12；类别：治疗；推荐等级：B（证据水平2b）。</a:t>
            </a:r>
          </a:p>
          <a:p>
            <a:r>
              <a:t>原文锚点：⁃6受体抗体，少量证据表明其可降低周，无不的复发率［100⁃101］。一项回顾性研究结果显成人常规剂量为500mg/次，2次/d，持续2MOGAD患者接受托珠单抗治疗后中位良反应增至维持剂量750~1000mg/次，2次/d。最示，57例MOGAD常见的不良反应是白细胞减少、胃肠道反应、感染、ARR明显下降（由1.75下降至0，P=0.001），且79%长期使用增加恶性肿瘤的风险，有一定致畸作用，的患者在托珠单抗治疗期间未出现复发［100］。推荐周</a:t>
            </a:r>
          </a:p>
          <a:p/>
          <a:p>
            <a:r>
              <a:t>mogad-34 MMF风险及备孕：MMF有致畸作用，应在备孕前至少6周停药；注意白细胞减少、胃肠道反应、感染和长期恶性肿瘤风险。用药前后定期监测全血细胞计数与肝功能；替代妊娠方案原文未明确。</a:t>
            </a:r>
          </a:p>
          <a:p>
            <a:r>
              <a:t>来源：2025 p715 / PDF12；类别：特殊人群；推荐等级：原文未明确。</a:t>
            </a:r>
          </a:p>
          <a:p>
            <a:r>
              <a:t>原文锚点：的患者在托珠单抗治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a:t>
            </a:r>
          </a:p>
          <a:p/>
          <a:p>
            <a:r>
              <a:t>mogad-36 利妥昔单抗剂量：可考虑RTX预防复发：375 mg/m²静滴，每周1次、连用4周；或1 000 mg静滴共2次、间隔2周；之后每6个月500~1 000 mg静脉输注。B细胞清除后仍可能复发。</a:t>
            </a:r>
          </a:p>
          <a:p>
            <a:r>
              <a:t>来源：2025 p715 / PDF12；类别：治疗；推荐等级：B（证据水平2b）。</a:t>
            </a:r>
          </a:p>
          <a:p>
            <a:r>
              <a:t>原文锚点：37%（P&lt;百分率为17%，而低于此剂量或此治疗频率的患者0.001）［98］。推荐用法：国际方案：按体表面积中50%出现复发；IVIG治疗期间患者的中位复发时周；或周输注375mg/m2静脉滴注，每周1次，连用4间为1（0.03，4.80）年［105］。推荐用法：可每4周）；随后每至少1000mg静脉滴注，共用2次（间隔21次、每次0.4~2.0g/kg，建议间歇性输注IVIG静脉输注。在用药前需要进行6个月500~1000mg持续1年以上［</a:t>
            </a:r>
          </a:p>
          <a:p/>
          <a:p>
            <a:r>
              <a:t>mogad-37 RTX筛查与风险：RTX用药前需筛查HBV及结核等。注意输液反应、胃肠道反应、血细胞减少、低丙种球蛋白血症和感染；不能将B细胞清除作为保证不复发的指标。</a:t>
            </a:r>
          </a:p>
          <a:p>
            <a:r>
              <a:t>来源：2025 p715 / PDF12；类别：检查；推荐等级：原文未明确。</a:t>
            </a:r>
          </a:p>
          <a:p>
            <a:r>
              <a:t>原文锚点：脉滴注，共用2次（间隔21次、每次0.4~2.0g/kg，建议间歇性输注IVIG静脉输注。在用药前需要进行6个月500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D复发（证据水平：2b；推荐级别：B）。三、序贯治</a:t>
            </a:r>
          </a:p>
          <a:p/>
          <a:p>
            <a:r>
              <a:t>mogad-38 托珠单抗剂量：可考虑托珠单抗预防MOGAD复发：8 mg/kg静脉输注，每4周重复1次。该推荐为B级、证据水平2b；不能把回顾性研究的疗效幅度当作个体获益保证。</a:t>
            </a:r>
          </a:p>
          <a:p>
            <a:r>
              <a:t>来源：2025 p715 / PDF12；类别：治疗；推荐等级：B（证据水平2b）。</a:t>
            </a:r>
          </a:p>
          <a:p>
            <a:r>
              <a:t>原文锚点：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口服糖皮质激素维持</a:t>
            </a:r>
          </a:p>
          <a:p/>
          <a:p>
            <a:r>
              <a:t>mogad-39 托珠单抗筛查与监测：首次托珠单抗前筛查HBV及结核；治疗期间定期监测肝功能、血常规及血脂。注意中性粒细胞减少、血脂及转氨酶升高、感染。具体监测间隔原文未明确。</a:t>
            </a:r>
          </a:p>
          <a:p>
            <a:r>
              <a:t>来源：2025 p715 / PDF12；类别：检查；推荐等级：原文未明确。</a:t>
            </a:r>
          </a:p>
          <a:p>
            <a:r>
              <a:t>原文锚点：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口服糖皮质激素维持推荐意见：可考虑使用托珠单抗用于预防3.通常是激素冲击后序贯减量的过程。静脉激素疗MOGAD复</a:t>
            </a:r>
          </a:p>
          <a:p/>
          <a:p>
            <a:r>
              <a:t>mogad-40 间歇性IVIG预防复发：可考虑间歇IVIG：每4周输注1次、每次0.4~2.0 g/kg，建议至少持续1年以上。是儿童常用序贯方案；指南未用统一固定剂量替代此范围。</a:t>
            </a:r>
          </a:p>
          <a:p>
            <a:r>
              <a:t>来源：2025 p715 / PDF12；类别：治疗；推荐等级：B（证据水平2b）。</a:t>
            </a:r>
          </a:p>
          <a:p>
            <a:r>
              <a:t>原文锚点：年［105］。推荐用法：可每4周）；随后每至少1000mg静脉滴注，共用2次（间隔21次、每次0.4~2.0g/kg，建议间歇性输注IVIG静脉输注。在用药前需要进行6个月500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a:t>
            </a:r>
          </a:p>
          <a:p/>
          <a:p>
            <a:r>
              <a:t>mogad-41 IVIG长期安全性：间歇IVIG期间注意血栓形成、头痛和无菌性脑膜炎，监测肾功能。每4周≥1 g/kg与较低复发比例相关的结果来自回顾性研究，不应改写为所有患者必须采用的阈值。</a:t>
            </a:r>
          </a:p>
          <a:p>
            <a:r>
              <a:t>来源：2025 p715 / PDF12；类别：禁忌；推荐等级：原文未明确。</a:t>
            </a:r>
          </a:p>
          <a:p>
            <a:r>
              <a:t>原文锚点：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D复发（证据水平：2b；推荐级别：B）。三、序贯治疗持续时间推荐意见：可考虑使用RTX用于预防MOGAD序贯治疗复发（证据水平：2b；推荐级别：B）。目前没有</a:t>
            </a:r>
          </a:p>
          <a:p/>
          <a:p>
            <a:r>
              <a:t>mogad-44 序贯治疗多久及停药：目前没有确切证据确定序贯治疗持续时长。一般认为持续治疗满5年、期间无复发者可重新个体化评估，权衡利弊后谨慎决定是否停药；不能理解为满5年自动停药。</a:t>
            </a:r>
          </a:p>
          <a:p>
            <a:r>
              <a:t>来源：2025 p715 / PDF12；类别：随访；推荐等级：原文未明确。</a:t>
            </a:r>
          </a:p>
          <a:p>
            <a:r>
              <a:t>原文锚点：VIG胞减少，低丙种球蛋白血症，感染。MOGAD复发（证据水平：2b；推荐级别：B）。三、序贯治疗持续时间推荐意见：可考虑使用RTX用于预防MOGAD序贯治疗复发（证据水平：2b；推荐级别：B）。目前没有确切的证据表明MOGAD年，且治奥法妥木单抗（ofatumumab）是皮下注射的需要持续多久。一般认为，持续治疗满5疗期间没有复发的患者，可以重新接受个体化评CD20单抗，与利妥昔单抗作用原理相似，病例报道估，权衡利弊，谨慎决定是否停止治疗。有效［36</a:t>
            </a:r>
          </a:p>
          <a:p/>
          <a:p>
            <a:r>
              <a:t>mogad-45 随访及影像监测边界：原文指出发作间歇期无症状脑部新病灶少见，不需要通过系列MRI扫描监测MOGAD疾病活动。固定门诊随访间隔及统一的视力/OCT复查频率，原文未明确。</a:t>
            </a:r>
          </a:p>
          <a:p>
            <a:r>
              <a:t>来源：2025 p708、715 / PDF5、12；类别：随访；推荐等级：原文未明确。</a:t>
            </a:r>
          </a:p>
          <a:p>
            <a:r>
              <a:t>原文锚点：，MOGAD漫性中脑、脑桥或延髓T2高信号病变（图5B~D），沿状的脑部新病灶较少见，因此并不需要通过系列脑干表面异常信号更为明显。单侧或双侧大的、界有一定的特征MRI扫描监测MOGAD疾病活动［47，54］。限不清的小脑中脚病变对MOGAD上通常呈现多灶性、边界不清、面积脑部MRI性（图5C）［56］。MOGAD累及极后区较AQP4+少见，相应的恶心、呕吐、呃逆等症状也不较大的T2高信号病变，常伴有中线结构或深部灰质NMOSD受累（图5A）。病灶可见</a:t>
            </a:r>
          </a:p>
          <a:p/>
          <a:p>
            <a:r>
              <a:t>mogad-46 特殊人群及随访缺项：儿童激素剂量及儿童/成人序贯启动条件有说明。妊娠、产后、哺乳的完整治疗与复发管理方案，固定随访间隔、统一视力/OCT复查频率，原文未明确；不从其他指南补编。</a:t>
            </a:r>
          </a:p>
          <a:p>
            <a:r>
              <a:t>来源：2025 p708、712、714–715 / PDF5、9、11–12；类别：特殊人群；推荐等级：原文未明确。</a:t>
            </a:r>
          </a:p>
          <a:p>
            <a:r>
              <a:t>原文锚点：明显下降（由1.75下降至0，P=0.001），且79%长期使用增加恶性肿瘤的风险，有一定致畸作用，的患者在托珠单抗治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49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OGAD诊断与治疗"/>
          <p:cNvSpPr txBox="1"/>
          <p:nvPr/>
        </p:nvSpPr>
        <p:spPr>
          <a:xfrm>
            <a:off x="226060" y="187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MOGAD诊断与治疗</a:t>
            </a:r>
          </a:p>
        </p:txBody>
      </p:sp>
      <p:sp>
        <p:nvSpPr>
          <p:cNvPr id="4" name="2025 · 正面"/>
          <p:cNvSpPr txBox="1"/>
          <p:nvPr/>
        </p:nvSpPr>
        <p:spPr>
          <a:xfrm>
            <a:off x="226060" y="403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 正面</a:t>
            </a:r>
          </a:p>
        </p:txBody>
      </p:sp>
      <p:sp>
        <p:nvSpPr>
          <p:cNvPr id="5" name="Rectangle 4"/>
          <p:cNvSpPr/>
          <p:nvPr/>
        </p:nvSpPr>
        <p:spPr>
          <a:xfrm>
            <a:off x="162560" y="721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识别与确诊框架"/>
          <p:cNvSpPr txBox="1"/>
          <p:nvPr/>
        </p:nvSpPr>
        <p:spPr>
          <a:xfrm>
            <a:off x="264160" y="759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识别与确诊框架</a:t>
            </a:r>
          </a:p>
        </p:txBody>
      </p:sp>
      <p:sp>
        <p:nvSpPr>
          <p:cNvPr id="7" name="急性痛性视力下降、双眼同时受累、视盘水肿时考虑MOG相关视神经炎。确诊须核心事件+符合MOG-IgG"/>
          <p:cNvSpPr txBox="1"/>
          <p:nvPr/>
        </p:nvSpPr>
        <p:spPr>
          <a:xfrm>
            <a:off x="264160" y="911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急性痛性视力下降、双眼同时受累、视盘水肿时考虑MOG相</a:t>
            </a:r>
          </a:p>
          <a:p>
            <a:pPr>
              <a:lnSpc>
                <a:spcPts val="1160"/>
              </a:lnSpc>
              <a:spcBef>
                <a:spcPts val="0"/>
              </a:spcBef>
              <a:spcAft>
                <a:spcPts val="0"/>
              </a:spcAft>
            </a:pPr>
            <a:r>
              <a:rPr sz="950" b="0" lang="zh-CN">
                <a:solidFill>
                  <a:srgbClr val="000000"/>
                </a:solidFill>
                <a:latin typeface="Microsoft YaHei"/>
                <a:ea typeface="Microsoft YaHei"/>
                <a:cs typeface="Microsoft YaHei"/>
              </a:rPr>
              <a:t>关视神经炎。确诊须核心事件+符合MOG-IgG条件+排除其他</a:t>
            </a:r>
          </a:p>
          <a:p>
            <a:pPr>
              <a:lnSpc>
                <a:spcPts val="1160"/>
              </a:lnSpc>
              <a:spcBef>
                <a:spcPts val="0"/>
              </a:spcBef>
              <a:spcAft>
                <a:spcPts val="0"/>
              </a:spcAft>
            </a:pPr>
            <a:r>
              <a:rPr sz="950" b="0" lang="zh-CN">
                <a:solidFill>
                  <a:srgbClr val="000000"/>
                </a:solidFill>
                <a:latin typeface="Microsoft YaHei"/>
                <a:ea typeface="Microsoft YaHei"/>
                <a:cs typeface="Microsoft YaHei"/>
              </a:rPr>
              <a:t>病；不能仅凭抗体阳性。</a:t>
            </a:r>
          </a:p>
        </p:txBody>
      </p:sp>
      <p:sp>
        <p:nvSpPr>
          <p:cNvPr id="8" name="2025 p705–706、711"/>
          <p:cNvSpPr txBox="1"/>
          <p:nvPr/>
        </p:nvSpPr>
        <p:spPr>
          <a:xfrm>
            <a:off x="264160" y="1379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p705–706、711</a:t>
            </a:r>
          </a:p>
        </p:txBody>
      </p:sp>
      <p:sp>
        <p:nvSpPr>
          <p:cNvPr id="9" name="Rectangle 8"/>
          <p:cNvSpPr/>
          <p:nvPr/>
        </p:nvSpPr>
        <p:spPr>
          <a:xfrm>
            <a:off x="162560" y="1623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抗体阈值与附加条件"/>
          <p:cNvSpPr txBox="1"/>
          <p:nvPr/>
        </p:nvSpPr>
        <p:spPr>
          <a:xfrm>
            <a:off x="264160" y="1661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抗体阈值与附加条件</a:t>
            </a:r>
          </a:p>
        </p:txBody>
      </p:sp>
      <p:sp>
        <p:nvSpPr>
          <p:cNvPr id="11" name="CBA≥1∶100为明确阳性；≥1∶10且&lt;1∶100为弱阳性。弱阳性、滴度未知或仅脑脊液阳性，另需"/>
          <p:cNvSpPr txBox="1"/>
          <p:nvPr/>
        </p:nvSpPr>
        <p:spPr>
          <a:xfrm>
            <a:off x="264160" y="1813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CBA≥1∶100为明确阳性；≥1∶10且&lt;1∶100为弱阳性。弱</a:t>
            </a:r>
          </a:p>
          <a:p>
            <a:pPr>
              <a:lnSpc>
                <a:spcPts val="1160"/>
              </a:lnSpc>
              <a:spcBef>
                <a:spcPts val="0"/>
              </a:spcBef>
              <a:spcAft>
                <a:spcPts val="0"/>
              </a:spcAft>
            </a:pPr>
            <a:r>
              <a:rPr sz="950" b="0" lang="zh-CN">
                <a:solidFill>
                  <a:srgbClr val="000000"/>
                </a:solidFill>
                <a:latin typeface="Microsoft YaHei"/>
                <a:ea typeface="Microsoft YaHei"/>
                <a:cs typeface="Microsoft YaHei"/>
              </a:rPr>
              <a:t>阳性、滴度未知或仅脑脊液阳性，另需AQP4阴性+≥1附加条</a:t>
            </a:r>
          </a:p>
          <a:p>
            <a:pPr>
              <a:lnSpc>
                <a:spcPts val="1160"/>
              </a:lnSpc>
              <a:spcBef>
                <a:spcPts val="0"/>
              </a:spcBef>
              <a:spcAft>
                <a:spcPts val="0"/>
              </a:spcAft>
            </a:pPr>
            <a:r>
              <a:rPr sz="950" b="0" lang="zh-CN">
                <a:solidFill>
                  <a:srgbClr val="000000"/>
                </a:solidFill>
                <a:latin typeface="Microsoft YaHei"/>
                <a:ea typeface="Microsoft YaHei"/>
                <a:cs typeface="Microsoft YaHei"/>
              </a:rPr>
              <a:t>件（完整标准见提取表）。</a:t>
            </a:r>
          </a:p>
        </p:txBody>
      </p:sp>
      <p:sp>
        <p:nvSpPr>
          <p:cNvPr id="12" name="2025 p710–711"/>
          <p:cNvSpPr txBox="1"/>
          <p:nvPr/>
        </p:nvSpPr>
        <p:spPr>
          <a:xfrm>
            <a:off x="264160" y="2280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p710–711</a:t>
            </a:r>
          </a:p>
        </p:txBody>
      </p:sp>
      <p:sp>
        <p:nvSpPr>
          <p:cNvPr id="13" name="Rectangle 12"/>
          <p:cNvSpPr/>
          <p:nvPr/>
        </p:nvSpPr>
        <p:spPr>
          <a:xfrm>
            <a:off x="162560" y="2524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视神经炎附加条件"/>
          <p:cNvSpPr txBox="1"/>
          <p:nvPr/>
        </p:nvSpPr>
        <p:spPr>
          <a:xfrm>
            <a:off x="264160" y="2562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视神经炎附加条件</a:t>
            </a:r>
          </a:p>
        </p:txBody>
      </p:sp>
      <p:sp>
        <p:nvSpPr>
          <p:cNvPr id="15" name="双侧同时受累、病灶&gt;50%视神经长度、视盘水肿、视神经周围强化，任一可作对应支持条件；仍须核心事件、"/>
          <p:cNvSpPr txBox="1"/>
          <p:nvPr/>
        </p:nvSpPr>
        <p:spPr>
          <a:xfrm>
            <a:off x="264160" y="2715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双侧同时受累、病灶&gt;50%视神经长度、视盘水肿、视神经周</a:t>
            </a:r>
          </a:p>
          <a:p>
            <a:pPr>
              <a:lnSpc>
                <a:spcPts val="1160"/>
              </a:lnSpc>
              <a:spcBef>
                <a:spcPts val="0"/>
              </a:spcBef>
              <a:spcAft>
                <a:spcPts val="0"/>
              </a:spcAft>
            </a:pPr>
            <a:r>
              <a:rPr sz="950" b="0" lang="zh-CN">
                <a:solidFill>
                  <a:srgbClr val="000000"/>
                </a:solidFill>
                <a:latin typeface="Microsoft YaHei"/>
                <a:ea typeface="Microsoft YaHei"/>
                <a:cs typeface="Microsoft YaHei"/>
              </a:rPr>
              <a:t>围强化，任一可作对应支持条件；仍须核心事件、抗体条件</a:t>
            </a:r>
          </a:p>
          <a:p>
            <a:pPr>
              <a:lnSpc>
                <a:spcPts val="1160"/>
              </a:lnSpc>
              <a:spcBef>
                <a:spcPts val="0"/>
              </a:spcBef>
              <a:spcAft>
                <a:spcPts val="0"/>
              </a:spcAft>
            </a:pPr>
            <a:r>
              <a:rPr sz="950" b="0" lang="zh-CN">
                <a:solidFill>
                  <a:srgbClr val="000000"/>
                </a:solidFill>
                <a:latin typeface="Microsoft YaHei"/>
                <a:ea typeface="Microsoft YaHei"/>
                <a:cs typeface="Microsoft YaHei"/>
              </a:rPr>
              <a:t>及排除其他病。</a:t>
            </a:r>
          </a:p>
        </p:txBody>
      </p:sp>
      <p:sp>
        <p:nvSpPr>
          <p:cNvPr id="16" name="2025 p711"/>
          <p:cNvSpPr txBox="1"/>
          <p:nvPr/>
        </p:nvSpPr>
        <p:spPr>
          <a:xfrm>
            <a:off x="264160" y="3182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p711</a:t>
            </a:r>
          </a:p>
        </p:txBody>
      </p:sp>
      <p:sp>
        <p:nvSpPr>
          <p:cNvPr id="17" name="Rectangle 16"/>
          <p:cNvSpPr/>
          <p:nvPr/>
        </p:nvSpPr>
        <p:spPr>
          <a:xfrm>
            <a:off x="162560" y="3426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送检与影像"/>
          <p:cNvSpPr txBox="1"/>
          <p:nvPr/>
        </p:nvSpPr>
        <p:spPr>
          <a:xfrm>
            <a:off x="264160" y="3464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送检与影像</a:t>
            </a:r>
          </a:p>
        </p:txBody>
      </p:sp>
      <p:sp>
        <p:nvSpPr>
          <p:cNvPr id="19" name="优先血清live-CBA，尽量治疗前取样；治疗后阴性者≥3个月后或复发时复测。眼眶MRI含T1/T2"/>
          <p:cNvSpPr txBox="1"/>
          <p:nvPr/>
        </p:nvSpPr>
        <p:spPr>
          <a:xfrm>
            <a:off x="264160" y="3616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优先血清live-CBA，尽量治疗前取样；治疗后阴性者≥3个月</a:t>
            </a:r>
          </a:p>
          <a:p>
            <a:pPr>
              <a:lnSpc>
                <a:spcPts val="1160"/>
              </a:lnSpc>
              <a:spcBef>
                <a:spcPts val="0"/>
              </a:spcBef>
              <a:spcAft>
                <a:spcPts val="0"/>
              </a:spcAft>
            </a:pPr>
            <a:r>
              <a:rPr sz="950" b="0" lang="zh-CN">
                <a:solidFill>
                  <a:srgbClr val="000000"/>
                </a:solidFill>
                <a:latin typeface="Microsoft YaHei"/>
                <a:ea typeface="Microsoft YaHei"/>
                <a:cs typeface="Microsoft YaHei"/>
              </a:rPr>
              <a:t>后或复发时复测。眼眶MRI含T1/T2、脂肪抑制及增强，层厚</a:t>
            </a:r>
          </a:p>
          <a:p>
            <a:pPr>
              <a:lnSpc>
                <a:spcPts val="1160"/>
              </a:lnSpc>
              <a:spcBef>
                <a:spcPts val="0"/>
              </a:spcBef>
              <a:spcAft>
                <a:spcPts val="0"/>
              </a:spcAft>
            </a:pPr>
            <a:r>
              <a:rPr sz="950" b="0" lang="zh-CN">
                <a:solidFill>
                  <a:srgbClr val="000000"/>
                </a:solidFill>
                <a:latin typeface="Microsoft YaHei"/>
                <a:ea typeface="Microsoft YaHei"/>
                <a:cs typeface="Microsoft YaHei"/>
              </a:rPr>
              <a:t>2~3 mm。</a:t>
            </a:r>
          </a:p>
        </p:txBody>
      </p:sp>
      <p:sp>
        <p:nvSpPr>
          <p:cNvPr id="20" name="2025 p706、710–711"/>
          <p:cNvSpPr txBox="1"/>
          <p:nvPr/>
        </p:nvSpPr>
        <p:spPr>
          <a:xfrm>
            <a:off x="264160" y="4084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p706、710–711</a:t>
            </a:r>
          </a:p>
        </p:txBody>
      </p:sp>
      <p:sp>
        <p:nvSpPr>
          <p:cNvPr id="21" name="临床要点摘要；完整条件与原文缺项见提取表。&#10;100%原尺寸 · 双面长边翻转"/>
          <p:cNvSpPr txBox="1"/>
          <p:nvPr/>
        </p:nvSpPr>
        <p:spPr>
          <a:xfrm>
            <a:off x="187960" y="4880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49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OGAD诊断与治疗"/>
          <p:cNvSpPr txBox="1"/>
          <p:nvPr/>
        </p:nvSpPr>
        <p:spPr>
          <a:xfrm>
            <a:off x="226060" y="187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MOGAD诊断与治疗</a:t>
            </a:r>
          </a:p>
        </p:txBody>
      </p:sp>
      <p:sp>
        <p:nvSpPr>
          <p:cNvPr id="4" name="2025 · 背面"/>
          <p:cNvSpPr txBox="1"/>
          <p:nvPr/>
        </p:nvSpPr>
        <p:spPr>
          <a:xfrm>
            <a:off x="226060" y="403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 背面</a:t>
            </a:r>
          </a:p>
        </p:txBody>
      </p:sp>
      <p:sp>
        <p:nvSpPr>
          <p:cNvPr id="5" name="Rectangle 4"/>
          <p:cNvSpPr/>
          <p:nvPr/>
        </p:nvSpPr>
        <p:spPr>
          <a:xfrm>
            <a:off x="162560" y="721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急性激素与缓减"/>
          <p:cNvSpPr txBox="1"/>
          <p:nvPr/>
        </p:nvSpPr>
        <p:spPr>
          <a:xfrm>
            <a:off x="264160" y="759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急性激素与缓减</a:t>
            </a:r>
          </a:p>
        </p:txBody>
      </p:sp>
      <p:sp>
        <p:nvSpPr>
          <p:cNvPr id="7" name="成人IVMP 1 000 mg/d×3~5 d；儿童20~30 mg·kg⁻¹·d⁻¹。之后递减、转"/>
          <p:cNvSpPr txBox="1"/>
          <p:nvPr/>
        </p:nvSpPr>
        <p:spPr>
          <a:xfrm>
            <a:off x="264160" y="911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成人IVMP 1 000 mg/d×3~5 d；儿童20~30 mg·kg</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¹·d</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a:t>
            </a:r>
          </a:p>
          <a:p>
            <a:pPr>
              <a:lnSpc>
                <a:spcPts val="1160"/>
              </a:lnSpc>
              <a:spcBef>
                <a:spcPts val="0"/>
              </a:spcBef>
              <a:spcAft>
                <a:spcPts val="0"/>
              </a:spcAft>
            </a:pPr>
            <a:r>
              <a:rPr sz="950" b="0" lang="zh-CN">
                <a:solidFill>
                  <a:srgbClr val="000000"/>
                </a:solidFill>
                <a:latin typeface="Microsoft YaHei"/>
                <a:ea typeface="Microsoft YaHei"/>
                <a:cs typeface="Microsoft YaHei"/>
              </a:rPr>
              <a:t>之后递减、转口服激素，口服减量过程≥6个月；完整递减阶</a:t>
            </a:r>
          </a:p>
          <a:p>
            <a:pPr>
              <a:lnSpc>
                <a:spcPts val="1160"/>
              </a:lnSpc>
              <a:spcBef>
                <a:spcPts val="0"/>
              </a:spcBef>
              <a:spcAft>
                <a:spcPts val="0"/>
              </a:spcAft>
            </a:pPr>
            <a:r>
              <a:rPr sz="950" b="0" lang="zh-CN">
                <a:solidFill>
                  <a:srgbClr val="000000"/>
                </a:solidFill>
                <a:latin typeface="Microsoft YaHei"/>
                <a:ea typeface="Microsoft YaHei"/>
                <a:cs typeface="Microsoft YaHei"/>
              </a:rPr>
              <a:t>梯见提取表。</a:t>
            </a:r>
          </a:p>
        </p:txBody>
      </p:sp>
      <p:sp>
        <p:nvSpPr>
          <p:cNvPr id="8" name="2025 p712"/>
          <p:cNvSpPr txBox="1"/>
          <p:nvPr/>
        </p:nvSpPr>
        <p:spPr>
          <a:xfrm>
            <a:off x="264160" y="1379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p712</a:t>
            </a:r>
          </a:p>
        </p:txBody>
      </p:sp>
      <p:sp>
        <p:nvSpPr>
          <p:cNvPr id="9" name="Rectangle 8"/>
          <p:cNvSpPr/>
          <p:nvPr/>
        </p:nvSpPr>
        <p:spPr>
          <a:xfrm>
            <a:off x="162560" y="1623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重症/激素反应差"/>
          <p:cNvSpPr txBox="1"/>
          <p:nvPr/>
        </p:nvSpPr>
        <p:spPr>
          <a:xfrm>
            <a:off x="264160" y="1661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重症/激素反应差</a:t>
            </a:r>
          </a:p>
        </p:txBody>
      </p:sp>
      <p:sp>
        <p:nvSpPr>
          <p:cNvPr id="11" name="可联合IVIG 0.4 g·kg⁻¹·d⁻¹×5 d；激素反应差可血浆置换5~7次，每次1.0~1."/>
          <p:cNvSpPr txBox="1"/>
          <p:nvPr/>
        </p:nvSpPr>
        <p:spPr>
          <a:xfrm>
            <a:off x="264160" y="1813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可联合IVIG 0.4 g·kg</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¹·d</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¹×5 d；激素反应差可血浆置换</a:t>
            </a:r>
          </a:p>
          <a:p>
            <a:pPr>
              <a:lnSpc>
                <a:spcPts val="1160"/>
              </a:lnSpc>
              <a:spcBef>
                <a:spcPts val="0"/>
              </a:spcBef>
              <a:spcAft>
                <a:spcPts val="0"/>
              </a:spcAft>
            </a:pPr>
            <a:r>
              <a:rPr sz="950" b="0" lang="zh-CN">
                <a:solidFill>
                  <a:srgbClr val="000000"/>
                </a:solidFill>
                <a:latin typeface="Microsoft YaHei"/>
                <a:ea typeface="Microsoft YaHei"/>
                <a:cs typeface="Microsoft YaHei"/>
              </a:rPr>
              <a:t>5~7次，每次1.0~1.5倍血浆容量。危重者可同步启动；避免</a:t>
            </a:r>
          </a:p>
          <a:p>
            <a:pPr>
              <a:lnSpc>
                <a:spcPts val="1160"/>
              </a:lnSpc>
              <a:spcBef>
                <a:spcPts val="0"/>
              </a:spcBef>
              <a:spcAft>
                <a:spcPts val="0"/>
              </a:spcAft>
            </a:pPr>
            <a:r>
              <a:rPr sz="950" b="0" lang="zh-CN">
                <a:solidFill>
                  <a:srgbClr val="000000"/>
                </a:solidFill>
                <a:latin typeface="Microsoft YaHei"/>
                <a:ea typeface="Microsoft YaHei"/>
                <a:cs typeface="Microsoft YaHei"/>
              </a:rPr>
              <a:t>IVIG后立即置换。</a:t>
            </a:r>
          </a:p>
        </p:txBody>
      </p:sp>
      <p:sp>
        <p:nvSpPr>
          <p:cNvPr id="12" name="2025 p712"/>
          <p:cNvSpPr txBox="1"/>
          <p:nvPr/>
        </p:nvSpPr>
        <p:spPr>
          <a:xfrm>
            <a:off x="264160" y="2280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p712</a:t>
            </a:r>
          </a:p>
        </p:txBody>
      </p:sp>
      <p:sp>
        <p:nvSpPr>
          <p:cNvPr id="13" name="Rectangle 12"/>
          <p:cNvSpPr/>
          <p:nvPr/>
        </p:nvSpPr>
        <p:spPr>
          <a:xfrm>
            <a:off x="162560" y="2524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何时启动序贯治疗"/>
          <p:cNvSpPr txBox="1"/>
          <p:nvPr/>
        </p:nvSpPr>
        <p:spPr>
          <a:xfrm>
            <a:off x="264160" y="2562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何时启动序贯治疗</a:t>
            </a:r>
          </a:p>
        </p:txBody>
      </p:sp>
      <p:sp>
        <p:nvSpPr>
          <p:cNvPr id="15" name="首次严重且恢复差（如EDSS仍≥2分、视力仍&lt;0.6），或发作≥2次，可考虑序贯治疗。可选硫唑嘌呤、"/>
          <p:cNvSpPr txBox="1"/>
          <p:nvPr/>
        </p:nvSpPr>
        <p:spPr>
          <a:xfrm>
            <a:off x="264160" y="2715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首次严重且恢复差（如EDSS仍≥2分、视力仍&lt;0.6），或发</a:t>
            </a:r>
          </a:p>
          <a:p>
            <a:pPr>
              <a:lnSpc>
                <a:spcPts val="1160"/>
              </a:lnSpc>
              <a:spcBef>
                <a:spcPts val="0"/>
              </a:spcBef>
              <a:spcAft>
                <a:spcPts val="0"/>
              </a:spcAft>
            </a:pPr>
            <a:r>
              <a:rPr sz="950" b="0" lang="zh-CN">
                <a:solidFill>
                  <a:srgbClr val="000000"/>
                </a:solidFill>
                <a:latin typeface="Microsoft YaHei"/>
                <a:ea typeface="Microsoft YaHei"/>
                <a:cs typeface="Microsoft YaHei"/>
              </a:rPr>
              <a:t>作≥2次，可考虑序贯治疗。可选硫唑嘌呤、MMF、RTX、托</a:t>
            </a:r>
          </a:p>
          <a:p>
            <a:pPr>
              <a:lnSpc>
                <a:spcPts val="1160"/>
              </a:lnSpc>
              <a:spcBef>
                <a:spcPts val="0"/>
              </a:spcBef>
              <a:spcAft>
                <a:spcPts val="0"/>
              </a:spcAft>
            </a:pPr>
            <a:r>
              <a:rPr sz="950" b="0" lang="zh-CN">
                <a:solidFill>
                  <a:srgbClr val="000000"/>
                </a:solidFill>
                <a:latin typeface="Microsoft YaHei"/>
                <a:ea typeface="Microsoft YaHei"/>
                <a:cs typeface="Microsoft YaHei"/>
              </a:rPr>
              <a:t>珠单抗或间歇IVIG；方案见提取表。</a:t>
            </a:r>
          </a:p>
        </p:txBody>
      </p:sp>
      <p:sp>
        <p:nvSpPr>
          <p:cNvPr id="16" name="2025 p714–715"/>
          <p:cNvSpPr txBox="1"/>
          <p:nvPr/>
        </p:nvSpPr>
        <p:spPr>
          <a:xfrm>
            <a:off x="264160" y="3182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p714–715</a:t>
            </a:r>
          </a:p>
        </p:txBody>
      </p:sp>
      <p:sp>
        <p:nvSpPr>
          <p:cNvPr id="17" name="Rectangle 16"/>
          <p:cNvSpPr/>
          <p:nvPr/>
        </p:nvSpPr>
        <p:spPr>
          <a:xfrm>
            <a:off x="162560" y="3426460"/>
            <a:ext cx="3454880" cy="998219"/>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监测、备孕与停药"/>
          <p:cNvSpPr txBox="1"/>
          <p:nvPr/>
        </p:nvSpPr>
        <p:spPr>
          <a:xfrm>
            <a:off x="264160" y="3464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监测、备孕与停药</a:t>
            </a:r>
          </a:p>
        </p:txBody>
      </p:sp>
      <p:sp>
        <p:nvSpPr>
          <p:cNvPr id="19" name="按药物筛查感染并监测血常规、肝/肾功能。MMF备孕前≥6周停药。一般认为持续治疗满5年且无复发，可个"/>
          <p:cNvSpPr txBox="1"/>
          <p:nvPr/>
        </p:nvSpPr>
        <p:spPr>
          <a:xfrm>
            <a:off x="264160" y="3616960"/>
            <a:ext cx="3251680" cy="65278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按药物筛查感染并监测血常规、肝/肾功能。MMF备孕前≥6</a:t>
            </a:r>
          </a:p>
          <a:p>
            <a:pPr>
              <a:lnSpc>
                <a:spcPts val="1160"/>
              </a:lnSpc>
              <a:spcBef>
                <a:spcPts val="0"/>
              </a:spcBef>
              <a:spcAft>
                <a:spcPts val="0"/>
              </a:spcAft>
            </a:pPr>
            <a:r>
              <a:rPr sz="950" b="0" lang="zh-CN">
                <a:solidFill>
                  <a:srgbClr val="000000"/>
                </a:solidFill>
                <a:latin typeface="Microsoft YaHei"/>
                <a:ea typeface="Microsoft YaHei"/>
                <a:cs typeface="Microsoft YaHei"/>
              </a:rPr>
              <a:t>周停药。一般认为持续治疗满5年且无复发，可个体评估是否</a:t>
            </a:r>
          </a:p>
          <a:p>
            <a:pPr>
              <a:lnSpc>
                <a:spcPts val="1160"/>
              </a:lnSpc>
              <a:spcBef>
                <a:spcPts val="0"/>
              </a:spcBef>
              <a:spcAft>
                <a:spcPts val="0"/>
              </a:spcAft>
            </a:pPr>
            <a:r>
              <a:rPr sz="950" b="0" lang="zh-CN">
                <a:solidFill>
                  <a:srgbClr val="000000"/>
                </a:solidFill>
                <a:latin typeface="Microsoft YaHei"/>
                <a:ea typeface="Microsoft YaHei"/>
                <a:cs typeface="Microsoft YaHei"/>
              </a:rPr>
              <a:t>停药，勿自动停药；固定随访间隔、孕产哺乳完整方案原文</a:t>
            </a:r>
          </a:p>
          <a:p>
            <a:pPr>
              <a:lnSpc>
                <a:spcPts val="1160"/>
              </a:lnSpc>
              <a:spcBef>
                <a:spcPts val="0"/>
              </a:spcBef>
              <a:spcAft>
                <a:spcPts val="0"/>
              </a:spcAft>
            </a:pPr>
            <a:r>
              <a:rPr sz="950" b="0" lang="zh-CN">
                <a:solidFill>
                  <a:srgbClr val="000000"/>
                </a:solidFill>
                <a:latin typeface="Microsoft YaHei"/>
                <a:ea typeface="Microsoft YaHei"/>
                <a:cs typeface="Microsoft YaHei"/>
              </a:rPr>
              <a:t>未明确。</a:t>
            </a:r>
          </a:p>
        </p:txBody>
      </p:sp>
      <p:sp>
        <p:nvSpPr>
          <p:cNvPr id="20" name="2025 p708、712、714–715"/>
          <p:cNvSpPr txBox="1"/>
          <p:nvPr/>
        </p:nvSpPr>
        <p:spPr>
          <a:xfrm>
            <a:off x="264160" y="423164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p708、712、714–715</a:t>
            </a:r>
          </a:p>
        </p:txBody>
      </p:sp>
      <p:sp>
        <p:nvSpPr>
          <p:cNvPr id="21" name="临床要点摘要；完整条件与原文缺项见提取表。&#10;100%原尺寸 · 双面长边翻转"/>
          <p:cNvSpPr txBox="1"/>
          <p:nvPr/>
        </p:nvSpPr>
        <p:spPr>
          <a:xfrm>
            <a:off x="187960" y="4880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MOGAD诊断与治疗 A6 bw</dc:title>
  <dc:subject>上传文献原文摘录；原生可编辑文字和图形</dc:subject>
  <dc:creator>临床指南速查资料整理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