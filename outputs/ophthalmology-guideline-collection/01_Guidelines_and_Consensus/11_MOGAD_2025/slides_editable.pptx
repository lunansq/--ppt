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mogad-01 适用人群与疾病定位：适用于有视神经炎、脊髓炎或脑部炎性脱髓鞘表现、临床怀疑MOGAD的儿童及成人。MOGAD是独立疾病，不应等同MS或AQP4抗体阳性NMOSD。</a:t>
            </a:r>
          </a:p>
          <a:p>
            <a:r>
              <a:t>来源：2025 p704–705 / PDF1–2；类别：适用人群；推荐等级：原文未明确。</a:t>
            </a:r>
          </a:p>
          <a:p>
            <a:r>
              <a:t>原文锚点：患者为复发型，反复发作后遗留神经功能残疾。MOGAD抗体阳性的视神经脊髓炎谱系疾病不同，是独立的疾病单元。自面与多发性硬化及水通道蛋白4领域取得了重大进展。为进一步提高2020年MOGAD诊断和治疗中国专家共识发表以来，MOGAD诊治指南为我国的MOGAD诊治水平，中华医学会神经病学分会神经免疫学组更新MOGAD2025年版。【关键词】髓鞘少突胶质细胞糖蛋白；诊断；治疗；指南Chineseguidelinesfordiagnosisandtreatm</a:t>
            </a:r>
          </a:p>
          <a:p/>
          <a:p>
            <a:r>
              <a:t>mogad-03 眼科识别：急性视神经炎：急性视力下降、视野缺损和色觉减退，常伴眼眶痛或同侧头痛、眼球转动痛；可见RAPD和视盘水肿。双侧同时发作、明显视盘水肿及激素依赖性复发提示MOG相关视神经炎。</a:t>
            </a:r>
          </a:p>
          <a:p>
            <a:r>
              <a:t>来源：2025 p705–706 / PDF2–3；类别：诊断；推荐等级：原文未明确。</a:t>
            </a:r>
          </a:p>
          <a:p>
            <a:r>
              <a:t>原文锚点：+NMOSD）不同，是一种独立的疾病单元。基导致急性、快速恶化的视力下降，严重的视野缺损和色觉减退。常伴眼眶疼痛或同侧头痛，在眼球转领域的重要进展，本指南采用英国牛津于MOGAD大学循证医学中心证据分级和推荐标准对MOGAD动时疼痛加重［23］。体格检查可发现相对性传入性的诊断和治疗作出推荐建议（表1）。瞳孔障碍（relativeafferentpupillarydefect，RAPD）［24］，急性期眼底镜检查通常可发现视盘水肿［21，人口学</a:t>
            </a:r>
          </a:p>
          <a:p/>
          <a:p>
            <a:r>
              <a:t>mogad-48 预后与复发损害：约50%~60%为复发病程；反复视神经炎可造成累计视网膜损害，发作越多，视力恢复潜能越小。该比例为人群描述，不是个体预后概率或统一分层切点。</a:t>
            </a:r>
          </a:p>
          <a:p>
            <a:r>
              <a:t>来源：2025 p704–706 / PDF1–3；类别：危险分层；推荐等级：原文未明确。</a:t>
            </a:r>
          </a:p>
          <a:p>
            <a:r>
              <a:t>原文锚点：发作次数越多，视网膜的累积损复发性炎性视神经病变（chronicrelapsing害越重，视力从复发中恢复的潜能也越小［22，35］。inflammatoryopticneuropathy，CRION）的临床表型。视觉诱发电位、视野和视网膜光学相干断层扫二、脊髓炎抗体相关的脊髓炎发作表现为急性起病描（opticcoherencetomography，OCT）可量化MOG的运动、感觉、括约肌功能障碍等症状［41⁃43］。括约MOG⁃视神经炎的视觉通路结构损伤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mogad-04 眼眶MRI检查参数：急性视神经炎建议行视神经/眼眶MRI：T1、T2、脂肪抑制及T1增强；覆盖眼球后部至颅内视束，层厚2~3 mm，层间距0~0.5 mm。关注长节段前部病变及视神经周围强化。</a:t>
            </a:r>
          </a:p>
          <a:p>
            <a:r>
              <a:t>来源：2025 p706 / PDF3；类别：检查；推荐等级：原文未明确。</a:t>
            </a:r>
          </a:p>
          <a:p>
            <a:r>
              <a:t>原文锚点：神经/眼眶MRI应包括T1、T2、脂肪抑制、T1增强。扫描范围：从眼球后部至颅内视束，扫描层厚为2~3mm，层间距0~0.5mm［37］。MOG⁃视神经炎的典型表现为纵向延伸的长节段视神MRI经异常信号，好累及视神经前段。尤其多见于眶内段（图3A、B），也可累及视神经管段和视交叉前段［3，8，15，38］，视交叉和视束受累相对较少［39］。视神经水肿增粗，强化。图1视神经鞘膜（图3C）和视神经周围1例髓鞘少突胶质细胞糖蛋白抗体相关视神经炎反</a:t>
            </a:r>
          </a:p>
          <a:p/>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mogad-34 MMF风险及备孕：MMF有致畸作用，应在备孕前至少6周停药；注意白细胞减少、胃肠道反应、感染和长期恶性肿瘤风险。用药前后定期监测全血细胞计数与肝功能；替代妊娠方案原文未明确。</a:t>
            </a:r>
          </a:p>
          <a:p>
            <a:r>
              <a:t>来源：2025 p715 / PDF12；类别：特殊人群；推荐等级：原文未明确。</a:t>
            </a:r>
          </a:p>
          <a:p>
            <a:r>
              <a:t>原文锚点：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a:t>
            </a:r>
          </a:p>
          <a:p/>
          <a:p>
            <a:r>
              <a:t>mogad-37 RTX筛查与风险：RTX用药前需筛查HBV及结核等。注意输液反应、胃肠道反应、血细胞减少、低丙种球蛋白血症和感染；不能将B细胞清除作为保证不复发的指标。</a:t>
            </a:r>
          </a:p>
          <a:p>
            <a:r>
              <a:t>来源：2025 p715 / PDF12；类别：检查；推荐等级：原文未明确。</a:t>
            </a:r>
          </a:p>
          <a:p>
            <a:r>
              <a:t>原文锚点：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mogad-46 特殊人群及随访缺项：儿童激素剂量及儿童/成人序贯启动条件有说明。妊娠、产后、哺乳的完整治疗与复发管理方案，固定随访间隔、统一视力/OCT复查频率，原文未明确；不从其他指南补编。</a:t>
            </a:r>
          </a:p>
          <a:p>
            <a:r>
              <a:t>来源：2025 p708、712、714–715 / PDF5、9、11–12；类别：特殊人群；推荐等级：原文未明确。</a:t>
            </a:r>
          </a:p>
          <a:p>
            <a:r>
              <a:t>原文锚点：明显下降（由1.75下降至0，P=0.001），且79%长期使用增加恶性肿瘤的风险，有一定致畸作用，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a:p/>
          <a:p>
            <a:r>
              <a:t>mogad-16 脊髓炎的三项附加条件：对应脊髓炎的附加条件为：纵向延伸的长节段脊髓炎、圆锥病灶、H征或脊髓中央病灶。需结合核心事件、抗体条件及排除诊断，不能单凭MRI征象确诊。</a:t>
            </a:r>
          </a:p>
          <a:p>
            <a:r>
              <a:t>来源：2025 p711 / PDF8；类别：诊断；推荐等级：原文未明确。</a:t>
            </a:r>
          </a:p>
          <a:p>
            <a:r>
              <a:t>原文锚点：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检测阴性a建议对所有怀疑MOGAD的患者进行血清检测。不建议常规同时检测血清和脑脊液。对于临床特征提示</a:t>
            </a:r>
          </a:p>
          <a:p/>
          <a:p>
            <a:r>
              <a:t>mogad-17 脑部综合征的四项附加条件：深部灰质受累；幕上或幕下多发边界不清的白质T2高信号；皮质病灶伴或不伴相应区域脑膜强化；脑桥、小脑中脚或延髓边界不清的T2高信号。</a:t>
            </a:r>
          </a:p>
          <a:p>
            <a:r>
              <a:t>来源：2025 p711 / PDF8；类别：诊断；推荐等级：原文未明确。</a:t>
            </a:r>
          </a:p>
          <a:p>
            <a:r>
              <a:t>原文锚点：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检测阴性a建议对所有怀疑MOGAD的患者进行血清检测。不建议常规同时检测血清和脑脊液。对于临床特征提示MOGAD的患者，脑脊液检测可能有价值；b需注意不同实验室检测的滴</a:t>
            </a:r>
          </a:p>
          <a:p/>
          <a:p>
            <a:r>
              <a:t>mogad-23 抗体滴度与复发风险：持续MOG-IgG阳性，尤其持续高滴度，与较高复发风险相关；但起病滴度预测价值有限，个体层面按滴度动态指导治疗缺乏足够证据，不能单凭滴度决定停药。</a:t>
            </a:r>
          </a:p>
          <a:p>
            <a:r>
              <a:t>来源：2025 p710、714 / PDF7、11；类别：危险分层；推荐等级：原文未明确。</a:t>
            </a:r>
          </a:p>
          <a:p>
            <a:r>
              <a:t>原文锚点：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推荐意见：可考虑使用硫唑嘌呤以减少MOGAD期神经功能残疾密切相关［22，92］。复发，在硫唑嘌呤完全起效（4~5个月）前联合使用口患推荐意见：</a:t>
            </a:r>
          </a:p>
          <a:p/>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mogad-50 禁忌证信息边界：指南要求排除禁忌证后尽早激素治疗，并列举各治疗风险；未提供统一的完整绝对/相对禁忌清单。不能把文中不良反应、慎用提示都改写为绝对禁忌。</a:t>
            </a:r>
          </a:p>
          <a:p>
            <a:r>
              <a:t>来源：2025 p712、714–715 / PDF9、11–12；类别：禁忌；推荐等级：原文未明确。</a:t>
            </a:r>
          </a:p>
          <a:p>
            <a:r>
              <a:t>原文锚点：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静脉注射免疫球蛋白（intravenous晰的侧脑室周围病灶，为典型MS表现；B：患者脑脊液</a:t>
            </a:r>
          </a:p>
          <a:p/>
          <a:p>
            <a:r>
              <a:t>流程连接：</a:t>
            </a:r>
          </a:p>
          <a:p>
            <a:r>
              <a:t>1 → 2：有核心事件，进入诊断评估</a:t>
            </a:r>
          </a:p>
          <a:p>
            <a:r>
              <a:t>2 → 3：三部分满足，且处于急性发作</a:t>
            </a:r>
          </a:p>
          <a:p>
            <a:r>
              <a:t>3 → 4：疗效不足或危重</a:t>
            </a:r>
          </a:p>
          <a:p>
            <a:r>
              <a:t>3 → 5：治疗改善后</a:t>
            </a:r>
          </a:p>
          <a:p>
            <a:r>
              <a:t>4 → 5：稳定后</a:t>
            </a:r>
          </a:p>
          <a:p>
            <a:r>
              <a:t>5 → 6：符合序贯启动条件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识别MOGAD：从视神经炎进入"/>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识别MOGAD：从视神经炎进入</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1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01 / 08</a:t>
            </a:r>
          </a:p>
        </p:txBody>
      </p:sp>
      <p:sp>
        <p:nvSpPr>
          <p:cNvPr id="5" name="Rectangle 4"/>
          <p:cNvSpPr/>
          <p:nvPr/>
        </p:nvSpPr>
        <p:spPr>
          <a:xfrm>
            <a:off x="457200" y="1206500"/>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用人群与疾病定位"/>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适用人群与疾病定位</a:t>
            </a:r>
          </a:p>
        </p:txBody>
      </p:sp>
      <p:sp>
        <p:nvSpPr>
          <p:cNvPr id="7" name="适用于有视神经炎、脊髓炎或脑部炎性脱髓鞘表现、临床怀疑MOGAD的儿童及成人。MOGAD是独立疾病，"/>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适用于有视神经炎、脊髓炎或脑部炎性脱髓鞘表现、临床怀疑MOGAD的儿童及成人。MOGAD是独立疾</a:t>
            </a:r>
          </a:p>
          <a:p>
            <a:pPr>
              <a:lnSpc>
                <a:spcPts val="2250"/>
              </a:lnSpc>
              <a:spcBef>
                <a:spcPts val="0"/>
              </a:spcBef>
              <a:spcAft>
                <a:spcPts val="0"/>
              </a:spcAft>
            </a:pPr>
            <a:r>
              <a:rPr sz="1800" b="0" lang="zh-CN">
                <a:solidFill>
                  <a:srgbClr val="1E2E3B"/>
                </a:solidFill>
                <a:latin typeface="Microsoft YaHei"/>
                <a:ea typeface="Microsoft YaHei"/>
                <a:cs typeface="Microsoft YaHei"/>
              </a:rPr>
              <a:t>病，不应等同MS或AQP4抗体阳性NMOSD。</a:t>
            </a:r>
          </a:p>
        </p:txBody>
      </p:sp>
      <p:sp>
        <p:nvSpPr>
          <p:cNvPr id="8" name="2025 p704–705 / PDF1–2"/>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p704–705 / PDF1–2</a:t>
            </a:r>
          </a:p>
        </p:txBody>
      </p:sp>
      <p:sp>
        <p:nvSpPr>
          <p:cNvPr id="9" name="Rectangle 8"/>
          <p:cNvSpPr/>
          <p:nvPr/>
        </p:nvSpPr>
        <p:spPr>
          <a:xfrm>
            <a:off x="457200" y="2963333"/>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科识别：急性视神经炎"/>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眼科识别：急性视神经炎</a:t>
            </a:r>
          </a:p>
        </p:txBody>
      </p:sp>
      <p:sp>
        <p:nvSpPr>
          <p:cNvPr id="11" name="急性视力下降、视野缺损和色觉减退，常伴眼眶痛或同侧头痛、眼球转动痛；可见RAPD和视盘水肿。双侧同时"/>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急性视力下降、视野缺损和色觉减退，常伴眼眶痛或同侧头痛、眼球转动痛；可见RAPD和视盘水肿。</a:t>
            </a:r>
          </a:p>
          <a:p>
            <a:pPr>
              <a:lnSpc>
                <a:spcPts val="2250"/>
              </a:lnSpc>
              <a:spcBef>
                <a:spcPts val="0"/>
              </a:spcBef>
              <a:spcAft>
                <a:spcPts val="0"/>
              </a:spcAft>
            </a:pPr>
            <a:r>
              <a:rPr sz="1800" b="0" lang="zh-CN">
                <a:solidFill>
                  <a:srgbClr val="1E2E3B"/>
                </a:solidFill>
                <a:latin typeface="Microsoft YaHei"/>
                <a:ea typeface="Microsoft YaHei"/>
                <a:cs typeface="Microsoft YaHei"/>
              </a:rPr>
              <a:t>双侧同时发作、明显视盘水肿及激素依赖性复发提示MOG相关视神经炎。</a:t>
            </a:r>
          </a:p>
        </p:txBody>
      </p:sp>
      <p:sp>
        <p:nvSpPr>
          <p:cNvPr id="12" name="2025 p705–706 / PDF2–3"/>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p705–706 / PDF2–3</a:t>
            </a:r>
          </a:p>
        </p:txBody>
      </p:sp>
      <p:sp>
        <p:nvSpPr>
          <p:cNvPr id="13" name="Rectangle 12"/>
          <p:cNvSpPr/>
          <p:nvPr/>
        </p:nvSpPr>
        <p:spPr>
          <a:xfrm>
            <a:off x="457200" y="4720166"/>
            <a:ext cx="11277600" cy="1629833"/>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预后与复发损害"/>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预后与复发损害</a:t>
            </a:r>
          </a:p>
        </p:txBody>
      </p:sp>
      <p:sp>
        <p:nvSpPr>
          <p:cNvPr id="15" name="约50%~60%为复发病程；反复视神经炎可造成累计视网膜损害，发作越多，视力恢复潜能越小。该比例为人"/>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约50%~60%为复发病程；反复视神经炎可造成累计视网膜损害，发作越多，视力恢复潜能越小。该比</a:t>
            </a:r>
          </a:p>
          <a:p>
            <a:pPr>
              <a:lnSpc>
                <a:spcPts val="2250"/>
              </a:lnSpc>
              <a:spcBef>
                <a:spcPts val="0"/>
              </a:spcBef>
              <a:spcAft>
                <a:spcPts val="0"/>
              </a:spcAft>
            </a:pPr>
            <a:r>
              <a:rPr sz="1800" b="0" lang="zh-CN">
                <a:solidFill>
                  <a:srgbClr val="1E2E3B"/>
                </a:solidFill>
                <a:latin typeface="Microsoft YaHei"/>
                <a:ea typeface="Microsoft YaHei"/>
                <a:cs typeface="Microsoft YaHei"/>
              </a:rPr>
              <a:t>例为人群描述，不是个体预后概率或统一分层切点。</a:t>
            </a:r>
          </a:p>
        </p:txBody>
      </p:sp>
      <p:sp>
        <p:nvSpPr>
          <p:cNvPr id="16" name="2025 p704–706 / PDF1–3"/>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p704–706 / PDF1–3</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诊断：三部分缺一不可"/>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诊断：三部分缺一不可</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2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02 / 08</a:t>
            </a:r>
          </a:p>
        </p:txBody>
      </p:sp>
      <p:sp>
        <p:nvSpPr>
          <p:cNvPr id="5" name="Rectangle 4"/>
          <p:cNvSpPr/>
          <p:nvPr/>
        </p:nvSpPr>
        <p:spPr>
          <a:xfrm>
            <a:off x="457200" y="1206500"/>
            <a:ext cx="5499100" cy="250825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确诊须同时满足三部分"/>
          <p:cNvSpPr txBox="1"/>
          <p:nvPr/>
        </p:nvSpPr>
        <p:spPr>
          <a:xfrm>
            <a:off x="622300" y="13335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确诊须同时满足三部分</a:t>
            </a:r>
          </a:p>
        </p:txBody>
      </p:sp>
      <p:sp>
        <p:nvSpPr>
          <p:cNvPr id="7" name="同时满足：①至少一种核心临床脱髓鞘事件；②符合CBA检测的MOG-IgG阳性条件；③排除其他可能疾病"/>
          <p:cNvSpPr txBox="1"/>
          <p:nvPr/>
        </p:nvSpPr>
        <p:spPr>
          <a:xfrm>
            <a:off x="622300" y="1701800"/>
            <a:ext cx="5168900" cy="149225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同时满足：①至少一种核心临床脱髓鞘事</a:t>
            </a:r>
          </a:p>
          <a:p>
            <a:pPr>
              <a:lnSpc>
                <a:spcPts val="2250"/>
              </a:lnSpc>
              <a:spcBef>
                <a:spcPts val="0"/>
              </a:spcBef>
              <a:spcAft>
                <a:spcPts val="0"/>
              </a:spcAft>
            </a:pPr>
            <a:r>
              <a:rPr sz="1800" b="0" lang="zh-CN">
                <a:solidFill>
                  <a:srgbClr val="1E2E3B"/>
                </a:solidFill>
                <a:latin typeface="Microsoft YaHei"/>
                <a:ea typeface="Microsoft YaHei"/>
                <a:cs typeface="Microsoft YaHei"/>
              </a:rPr>
              <a:t>件；②符合CBA检测的MOG-IgG阳性条件；</a:t>
            </a:r>
          </a:p>
          <a:p>
            <a:pPr>
              <a:lnSpc>
                <a:spcPts val="2250"/>
              </a:lnSpc>
              <a:spcBef>
                <a:spcPts val="0"/>
              </a:spcBef>
              <a:spcAft>
                <a:spcPts val="0"/>
              </a:spcAft>
            </a:pPr>
            <a:r>
              <a:rPr sz="1800" b="0" lang="zh-CN">
                <a:solidFill>
                  <a:srgbClr val="1E2E3B"/>
                </a:solidFill>
                <a:latin typeface="Microsoft YaHei"/>
                <a:ea typeface="Microsoft YaHei"/>
                <a:cs typeface="Microsoft YaHei"/>
              </a:rPr>
              <a:t>③排除其他可能疾病。明确阳性无需抗体条</a:t>
            </a:r>
          </a:p>
          <a:p>
            <a:pPr>
              <a:lnSpc>
                <a:spcPts val="2250"/>
              </a:lnSpc>
              <a:spcBef>
                <a:spcPts val="0"/>
              </a:spcBef>
              <a:spcAft>
                <a:spcPts val="0"/>
              </a:spcAft>
            </a:pPr>
            <a:r>
              <a:rPr sz="1800" b="0" lang="zh-CN">
                <a:solidFill>
                  <a:srgbClr val="1E2E3B"/>
                </a:solidFill>
                <a:latin typeface="Microsoft YaHei"/>
                <a:ea typeface="Microsoft YaHei"/>
                <a:cs typeface="Microsoft YaHei"/>
              </a:rPr>
              <a:t>目的附加条件，仍须满足核心事件与排除诊</a:t>
            </a:r>
          </a:p>
          <a:p>
            <a:pPr>
              <a:lnSpc>
                <a:spcPts val="2250"/>
              </a:lnSpc>
              <a:spcBef>
                <a:spcPts val="0"/>
              </a:spcBef>
              <a:spcAft>
                <a:spcPts val="0"/>
              </a:spcAft>
            </a:pPr>
            <a:r>
              <a:rPr sz="1800" b="0" lang="zh-CN">
                <a:solidFill>
                  <a:srgbClr val="1E2E3B"/>
                </a:solidFill>
                <a:latin typeface="Microsoft YaHei"/>
                <a:ea typeface="Microsoft YaHei"/>
                <a:cs typeface="Microsoft YaHei"/>
              </a:rPr>
              <a:t>断。</a:t>
            </a:r>
          </a:p>
        </p:txBody>
      </p:sp>
      <p:sp>
        <p:nvSpPr>
          <p:cNvPr id="8" name="2025 p711 / PDF8"/>
          <p:cNvSpPr txBox="1"/>
          <p:nvPr/>
        </p:nvSpPr>
        <p:spPr>
          <a:xfrm>
            <a:off x="622300" y="346710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p711 / PDF8</a:t>
            </a:r>
          </a:p>
        </p:txBody>
      </p:sp>
      <p:sp>
        <p:nvSpPr>
          <p:cNvPr id="9" name="Rectangle 8"/>
          <p:cNvSpPr/>
          <p:nvPr/>
        </p:nvSpPr>
        <p:spPr>
          <a:xfrm>
            <a:off x="6184900" y="1206500"/>
            <a:ext cx="5549900" cy="250825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明确阳性与弱阳性阈值"/>
          <p:cNvSpPr txBox="1"/>
          <p:nvPr/>
        </p:nvSpPr>
        <p:spPr>
          <a:xfrm>
            <a:off x="6350000" y="13335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明确阳性与弱阳性阈值</a:t>
            </a:r>
          </a:p>
        </p:txBody>
      </p:sp>
      <p:sp>
        <p:nvSpPr>
          <p:cNvPr id="11" name="fixed-CBA或live-CBA滴度≥1∶100为明确阳性；≥1∶10且&lt;1∶100为弱阳性。滴"/>
          <p:cNvSpPr txBox="1"/>
          <p:nvPr/>
        </p:nvSpPr>
        <p:spPr>
          <a:xfrm>
            <a:off x="6350000" y="17018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fixed-CBA或live-CBA滴度≥1∶100为明确阳</a:t>
            </a:r>
          </a:p>
          <a:p>
            <a:pPr>
              <a:lnSpc>
                <a:spcPts val="2250"/>
              </a:lnSpc>
              <a:spcBef>
                <a:spcPts val="0"/>
              </a:spcBef>
              <a:spcAft>
                <a:spcPts val="0"/>
              </a:spcAft>
            </a:pPr>
            <a:r>
              <a:rPr sz="1800" b="0" lang="zh-CN">
                <a:solidFill>
                  <a:srgbClr val="1E2E3B"/>
                </a:solidFill>
                <a:latin typeface="Microsoft YaHei"/>
                <a:ea typeface="Microsoft YaHei"/>
                <a:cs typeface="Microsoft YaHei"/>
              </a:rPr>
              <a:t>性；≥1∶10且&lt;1∶100为弱阳性。滴度必须</a:t>
            </a:r>
          </a:p>
          <a:p>
            <a:pPr>
              <a:lnSpc>
                <a:spcPts val="2250"/>
              </a:lnSpc>
              <a:spcBef>
                <a:spcPts val="0"/>
              </a:spcBef>
              <a:spcAft>
                <a:spcPts val="0"/>
              </a:spcAft>
            </a:pPr>
            <a:r>
              <a:rPr sz="1800" b="0" lang="zh-CN">
                <a:solidFill>
                  <a:srgbClr val="1E2E3B"/>
                </a:solidFill>
                <a:latin typeface="Microsoft YaHei"/>
                <a:ea typeface="Microsoft YaHei"/>
                <a:cs typeface="Microsoft YaHei"/>
              </a:rPr>
              <a:t>结合相应检测方法和临床解释，低滴度阳性本</a:t>
            </a:r>
          </a:p>
          <a:p>
            <a:pPr>
              <a:lnSpc>
                <a:spcPts val="2250"/>
              </a:lnSpc>
              <a:spcBef>
                <a:spcPts val="0"/>
              </a:spcBef>
              <a:spcAft>
                <a:spcPts val="0"/>
              </a:spcAft>
            </a:pPr>
            <a:r>
              <a:rPr sz="1800" b="0" lang="zh-CN">
                <a:solidFill>
                  <a:srgbClr val="1E2E3B"/>
                </a:solidFill>
                <a:latin typeface="Microsoft YaHei"/>
                <a:ea typeface="Microsoft YaHei"/>
                <a:cs typeface="Microsoft YaHei"/>
              </a:rPr>
              <a:t>身不能确诊。</a:t>
            </a:r>
          </a:p>
        </p:txBody>
      </p:sp>
      <p:sp>
        <p:nvSpPr>
          <p:cNvPr id="12" name="2025 p710–711 / PDF7–8"/>
          <p:cNvSpPr txBox="1"/>
          <p:nvPr/>
        </p:nvSpPr>
        <p:spPr>
          <a:xfrm>
            <a:off x="6350000" y="346710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p710–711 / PDF7–8</a:t>
            </a:r>
          </a:p>
        </p:txBody>
      </p:sp>
      <p:sp>
        <p:nvSpPr>
          <p:cNvPr id="13" name="Rectangle 12"/>
          <p:cNvSpPr/>
          <p:nvPr/>
        </p:nvSpPr>
        <p:spPr>
          <a:xfrm>
            <a:off x="457200" y="3937000"/>
            <a:ext cx="5499100" cy="241300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弱阳性等情况的附加门槛"/>
          <p:cNvSpPr txBox="1"/>
          <p:nvPr/>
        </p:nvSpPr>
        <p:spPr>
          <a:xfrm>
            <a:off x="622300" y="40640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弱阳性等情况的附加门槛</a:t>
            </a:r>
          </a:p>
        </p:txBody>
      </p:sp>
      <p:sp>
        <p:nvSpPr>
          <p:cNvPr id="15" name="血清弱阳性、阳性但滴度未知，或血清阴性而脑脊液阳性时，需同时满足血清AQP4-IgG阴性，且对应临床"/>
          <p:cNvSpPr txBox="1"/>
          <p:nvPr/>
        </p:nvSpPr>
        <p:spPr>
          <a:xfrm>
            <a:off x="622300" y="44323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血清弱阳性、阳性但滴度未知，或血清阴性</a:t>
            </a:r>
          </a:p>
          <a:p>
            <a:pPr>
              <a:lnSpc>
                <a:spcPts val="2250"/>
              </a:lnSpc>
              <a:spcBef>
                <a:spcPts val="0"/>
              </a:spcBef>
              <a:spcAft>
                <a:spcPts val="0"/>
              </a:spcAft>
            </a:pPr>
            <a:r>
              <a:rPr sz="1800" b="0" lang="zh-CN">
                <a:solidFill>
                  <a:srgbClr val="1E2E3B"/>
                </a:solidFill>
                <a:latin typeface="Microsoft YaHei"/>
                <a:ea typeface="Microsoft YaHei"/>
                <a:cs typeface="Microsoft YaHei"/>
              </a:rPr>
              <a:t>而脑脊液阳性时，需同时满足血清AQP4-IgG</a:t>
            </a:r>
          </a:p>
          <a:p>
            <a:pPr>
              <a:lnSpc>
                <a:spcPts val="2250"/>
              </a:lnSpc>
              <a:spcBef>
                <a:spcPts val="0"/>
              </a:spcBef>
              <a:spcAft>
                <a:spcPts val="0"/>
              </a:spcAft>
            </a:pPr>
            <a:r>
              <a:rPr sz="1800" b="0" lang="zh-CN">
                <a:solidFill>
                  <a:srgbClr val="1E2E3B"/>
                </a:solidFill>
                <a:latin typeface="Microsoft YaHei"/>
                <a:ea typeface="Microsoft YaHei"/>
                <a:cs typeface="Microsoft YaHei"/>
              </a:rPr>
              <a:t>阴性，且对应临床/MRI附加条件至少1条；另</a:t>
            </a:r>
          </a:p>
          <a:p>
            <a:pPr>
              <a:lnSpc>
                <a:spcPts val="2250"/>
              </a:lnSpc>
              <a:spcBef>
                <a:spcPts val="0"/>
              </a:spcBef>
              <a:spcAft>
                <a:spcPts val="0"/>
              </a:spcAft>
            </a:pPr>
            <a:r>
              <a:rPr sz="1800" b="0" lang="zh-CN">
                <a:solidFill>
                  <a:srgbClr val="1E2E3B"/>
                </a:solidFill>
                <a:latin typeface="Microsoft YaHei"/>
                <a:ea typeface="Microsoft YaHei"/>
                <a:cs typeface="Microsoft YaHei"/>
              </a:rPr>
              <a:t>仍须核心事件及排除其他病。</a:t>
            </a:r>
          </a:p>
        </p:txBody>
      </p:sp>
      <p:sp>
        <p:nvSpPr>
          <p:cNvPr id="16" name="2025 p711 / PDF8"/>
          <p:cNvSpPr txBox="1"/>
          <p:nvPr/>
        </p:nvSpPr>
        <p:spPr>
          <a:xfrm>
            <a:off x="622300" y="610235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p711 / PDF8</a:t>
            </a:r>
          </a:p>
        </p:txBody>
      </p:sp>
      <p:sp>
        <p:nvSpPr>
          <p:cNvPr id="17" name="Rectangle 16"/>
          <p:cNvSpPr/>
          <p:nvPr/>
        </p:nvSpPr>
        <p:spPr>
          <a:xfrm>
            <a:off x="6184900" y="3937000"/>
            <a:ext cx="5549900" cy="241300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视神经炎的四项附加条件"/>
          <p:cNvSpPr txBox="1"/>
          <p:nvPr/>
        </p:nvSpPr>
        <p:spPr>
          <a:xfrm>
            <a:off x="6350000" y="40640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视神经炎的四项附加条件</a:t>
            </a:r>
          </a:p>
        </p:txBody>
      </p:sp>
      <p:sp>
        <p:nvSpPr>
          <p:cNvPr id="19" name="对应视神经炎的附加条件为：双侧同时受累；长病灶（&gt;50%视神经长度）；视盘水肿；视神经周围组织强化。"/>
          <p:cNvSpPr txBox="1"/>
          <p:nvPr/>
        </p:nvSpPr>
        <p:spPr>
          <a:xfrm>
            <a:off x="6350000" y="44323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对应视神经炎的附加条件为：双侧同时受累；</a:t>
            </a:r>
          </a:p>
          <a:p>
            <a:pPr>
              <a:lnSpc>
                <a:spcPts val="2250"/>
              </a:lnSpc>
              <a:spcBef>
                <a:spcPts val="0"/>
              </a:spcBef>
              <a:spcAft>
                <a:spcPts val="0"/>
              </a:spcAft>
            </a:pPr>
            <a:r>
              <a:rPr sz="1800" b="0" lang="zh-CN">
                <a:solidFill>
                  <a:srgbClr val="1E2E3B"/>
                </a:solidFill>
                <a:latin typeface="Microsoft YaHei"/>
                <a:ea typeface="Microsoft YaHei"/>
                <a:cs typeface="Microsoft YaHei"/>
              </a:rPr>
              <a:t>长病灶（&gt;50%视神经长度）；视盘水肿；视</a:t>
            </a:r>
          </a:p>
          <a:p>
            <a:pPr>
              <a:lnSpc>
                <a:spcPts val="2250"/>
              </a:lnSpc>
              <a:spcBef>
                <a:spcPts val="0"/>
              </a:spcBef>
              <a:spcAft>
                <a:spcPts val="0"/>
              </a:spcAft>
            </a:pPr>
            <a:r>
              <a:rPr sz="1800" b="0" lang="zh-CN">
                <a:solidFill>
                  <a:srgbClr val="1E2E3B"/>
                </a:solidFill>
                <a:latin typeface="Microsoft YaHei"/>
                <a:ea typeface="Microsoft YaHei"/>
                <a:cs typeface="Microsoft YaHei"/>
              </a:rPr>
              <a:t>神经周围组织强化。此处阈值为诊断表原文的</a:t>
            </a:r>
          </a:p>
          <a:p>
            <a:pPr>
              <a:lnSpc>
                <a:spcPts val="2250"/>
              </a:lnSpc>
              <a:spcBef>
                <a:spcPts val="0"/>
              </a:spcBef>
              <a:spcAft>
                <a:spcPts val="0"/>
              </a:spcAft>
            </a:pPr>
            <a:r>
              <a:rPr sz="1800" b="0" lang="zh-CN">
                <a:solidFill>
                  <a:srgbClr val="1E2E3B"/>
                </a:solidFill>
                <a:latin typeface="Microsoft YaHei"/>
                <a:ea typeface="Microsoft YaHei"/>
                <a:cs typeface="Microsoft YaHei"/>
              </a:rPr>
              <a:t>“&gt;50%”。</a:t>
            </a:r>
          </a:p>
        </p:txBody>
      </p:sp>
      <p:sp>
        <p:nvSpPr>
          <p:cNvPr id="20" name="2025 p711 / PDF8"/>
          <p:cNvSpPr txBox="1"/>
          <p:nvPr/>
        </p:nvSpPr>
        <p:spPr>
          <a:xfrm>
            <a:off x="6350000" y="610235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p711 / PDF8</a:t>
            </a:r>
          </a:p>
        </p:txBody>
      </p:sp>
      <p:sp>
        <p:nvSpPr>
          <p:cNvPr id="21"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检查：MRI与抗体如何送检"/>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检查：MRI与抗体如何送检</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3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03 / 08</a:t>
            </a:r>
          </a:p>
        </p:txBody>
      </p:sp>
      <p:sp>
        <p:nvSpPr>
          <p:cNvPr id="5" name="Rectangle 4"/>
          <p:cNvSpPr/>
          <p:nvPr/>
        </p:nvSpPr>
        <p:spPr>
          <a:xfrm>
            <a:off x="457200" y="1206500"/>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眼眶MRI检查参数"/>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眼眶MRI检查参数</a:t>
            </a:r>
          </a:p>
        </p:txBody>
      </p:sp>
      <p:sp>
        <p:nvSpPr>
          <p:cNvPr id="7" name="急性视神经炎建议行视神经/眼眶MRI：T1、T2、脂肪抑制及T1增强；覆盖眼球后部至颅内视束，层厚2"/>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急性视神经炎建议行视神经/眼眶MRI：T1、T2、脂肪抑制及T1增强；覆盖眼球后部至颅内视束，层厚</a:t>
            </a:r>
          </a:p>
          <a:p>
            <a:pPr>
              <a:lnSpc>
                <a:spcPts val="2250"/>
              </a:lnSpc>
              <a:spcBef>
                <a:spcPts val="0"/>
              </a:spcBef>
              <a:spcAft>
                <a:spcPts val="0"/>
              </a:spcAft>
            </a:pPr>
            <a:r>
              <a:rPr sz="1800" b="0" lang="zh-CN">
                <a:solidFill>
                  <a:srgbClr val="1E2E3B"/>
                </a:solidFill>
                <a:latin typeface="Microsoft YaHei"/>
                <a:ea typeface="Microsoft YaHei"/>
                <a:cs typeface="Microsoft YaHei"/>
              </a:rPr>
              <a:t>2~3 mm，层间距0~0.5 mm。关注长节段前部病变及视神经周围强化。</a:t>
            </a:r>
          </a:p>
        </p:txBody>
      </p:sp>
      <p:sp>
        <p:nvSpPr>
          <p:cNvPr id="8" name="2025 p706 / PDF3"/>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p706 / PDF3</a:t>
            </a:r>
          </a:p>
        </p:txBody>
      </p:sp>
      <p:sp>
        <p:nvSpPr>
          <p:cNvPr id="9" name="Rectangle 8"/>
          <p:cNvSpPr/>
          <p:nvPr/>
        </p:nvSpPr>
        <p:spPr>
          <a:xfrm>
            <a:off x="457200" y="2963333"/>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体检测方法"/>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抗体检测方法</a:t>
            </a:r>
          </a:p>
        </p:txBody>
      </p:sp>
      <p:sp>
        <p:nvSpPr>
          <p:cNvPr id="11" name="采用转染人全长MOG基因的CBA法，优先live-CBA，不能实施时选fixed-CBA；不推荐EL"/>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采用转染人全长MOG基因的CBA法，优先live-CBA，不能实施时选fixed-CBA；不推荐ELISA。报告需</a:t>
            </a:r>
          </a:p>
          <a:p>
            <a:pPr>
              <a:lnSpc>
                <a:spcPts val="2250"/>
              </a:lnSpc>
              <a:spcBef>
                <a:spcPts val="0"/>
              </a:spcBef>
              <a:spcAft>
                <a:spcPts val="0"/>
              </a:spcAft>
            </a:pPr>
            <a:r>
              <a:rPr sz="1800" b="0" lang="zh-CN">
                <a:solidFill>
                  <a:srgbClr val="1E2E3B"/>
                </a:solidFill>
                <a:latin typeface="Microsoft YaHei"/>
                <a:ea typeface="Microsoft YaHei"/>
                <a:cs typeface="Microsoft YaHei"/>
              </a:rPr>
              <a:t>包含阴性/弱阳性/明确阳性及滴度，不同实验室滴度不能完全直接比较。</a:t>
            </a:r>
          </a:p>
        </p:txBody>
      </p:sp>
      <p:sp>
        <p:nvSpPr>
          <p:cNvPr id="12" name="2025 p710 / PDF7"/>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p710 / PDF7</a:t>
            </a:r>
          </a:p>
        </p:txBody>
      </p:sp>
      <p:sp>
        <p:nvSpPr>
          <p:cNvPr id="13" name="Rectangle 12"/>
          <p:cNvSpPr/>
          <p:nvPr/>
        </p:nvSpPr>
        <p:spPr>
          <a:xfrm>
            <a:off x="457200" y="4720166"/>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取样与复测时点"/>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取样与复测时点</a:t>
            </a:r>
          </a:p>
        </p:txBody>
      </p:sp>
      <p:sp>
        <p:nvSpPr>
          <p:cNvPr id="15" name="优先血清，尽量在免疫治疗前采样；治疗后阴性者建议至少3个月后或复发时复测。高度怀疑而血清阴性时可考虑"/>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优先血清，尽量在免疫治疗前采样；治疗后阴性者建议至少3个月后或复发时复测。高度怀疑而血清阴</a:t>
            </a:r>
          </a:p>
          <a:p>
            <a:pPr>
              <a:lnSpc>
                <a:spcPts val="2250"/>
              </a:lnSpc>
              <a:spcBef>
                <a:spcPts val="0"/>
              </a:spcBef>
              <a:spcAft>
                <a:spcPts val="0"/>
              </a:spcAft>
            </a:pPr>
            <a:r>
              <a:rPr sz="1800" b="0" lang="zh-CN">
                <a:solidFill>
                  <a:srgbClr val="1E2E3B"/>
                </a:solidFill>
                <a:latin typeface="Microsoft YaHei"/>
                <a:ea typeface="Microsoft YaHei"/>
                <a:cs typeface="Microsoft YaHei"/>
              </a:rPr>
              <a:t>性时可考虑脑脊液MOG-IgG，不建议常规同时检测血清与脑脊液。</a:t>
            </a:r>
          </a:p>
        </p:txBody>
      </p:sp>
      <p:sp>
        <p:nvSpPr>
          <p:cNvPr id="16" name="2025 p710–711 / PDF7–8"/>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p710–711 / PDF7–8</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急性治疗：激素冲击与缓减"/>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急性治疗：激素冲击与缓减</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4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04 / 08</a:t>
            </a:r>
          </a:p>
        </p:txBody>
      </p:sp>
      <p:sp>
        <p:nvSpPr>
          <p:cNvPr id="5" name="Rectangle 4"/>
          <p:cNvSpPr/>
          <p:nvPr/>
        </p:nvSpPr>
        <p:spPr>
          <a:xfrm>
            <a:off x="457200" y="1206500"/>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期成人激素冲击"/>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急性期成人激素冲击</a:t>
            </a:r>
          </a:p>
        </p:txBody>
      </p:sp>
      <p:sp>
        <p:nvSpPr>
          <p:cNvPr id="7" name="排除禁忌证后尽早启动IVMP。甲泼尼龙1 000 mg静脉输注，1次/d，连续3~5 d；视病情进入"/>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排除禁忌证后尽早启动IVMP。甲泼尼龙1 000 mg静脉输注，1次/d，连续3~5 d；视病情进入递减方</a:t>
            </a:r>
          </a:p>
          <a:p>
            <a:pPr>
              <a:lnSpc>
                <a:spcPts val="2250"/>
              </a:lnSpc>
              <a:spcBef>
                <a:spcPts val="0"/>
              </a:spcBef>
              <a:spcAft>
                <a:spcPts val="0"/>
              </a:spcAft>
            </a:pPr>
            <a:r>
              <a:rPr sz="1800" b="0" lang="zh-CN">
                <a:solidFill>
                  <a:srgbClr val="1E2E3B"/>
                </a:solidFill>
                <a:latin typeface="Microsoft YaHei"/>
                <a:ea typeface="Microsoft YaHei"/>
                <a:cs typeface="Microsoft YaHei"/>
              </a:rPr>
              <a:t>案。该推荐为证据水平2b、推荐级别B。</a:t>
            </a:r>
          </a:p>
        </p:txBody>
      </p:sp>
      <p:sp>
        <p:nvSpPr>
          <p:cNvPr id="8" name="2025 p712 / PDF9 · B（证据水平2b）"/>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p712 / PDF9 · B（证据水平2b）</a:t>
            </a:r>
          </a:p>
        </p:txBody>
      </p:sp>
      <p:sp>
        <p:nvSpPr>
          <p:cNvPr id="9" name="Rectangle 8"/>
          <p:cNvSpPr/>
          <p:nvPr/>
        </p:nvSpPr>
        <p:spPr>
          <a:xfrm>
            <a:off x="457200" y="2963333"/>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冲击后递减与口服衔接"/>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冲击后递减与口服衔接</a:t>
            </a:r>
          </a:p>
        </p:txBody>
      </p:sp>
      <p:sp>
        <p:nvSpPr>
          <p:cNvPr id="11" name="视病情减至甲泼尼龙500 mg、240 mg、120 mg，均1次/d、各3 d；再改泼尼松60 m"/>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视病情减至甲泼尼龙500 mg、240 mg、120 mg，均1次/d、各3 d；再改泼尼松60 mg或1 mg/kg口</a:t>
            </a:r>
          </a:p>
          <a:p>
            <a:pPr>
              <a:lnSpc>
                <a:spcPts val="2250"/>
              </a:lnSpc>
              <a:spcBef>
                <a:spcPts val="0"/>
              </a:spcBef>
              <a:spcAft>
                <a:spcPts val="0"/>
              </a:spcAft>
            </a:pPr>
            <a:r>
              <a:rPr sz="1800" b="0" lang="zh-CN">
                <a:solidFill>
                  <a:srgbClr val="1E2E3B"/>
                </a:solidFill>
                <a:latin typeface="Microsoft YaHei"/>
                <a:ea typeface="Microsoft YaHei"/>
                <a:cs typeface="Microsoft YaHei"/>
              </a:rPr>
              <a:t>服、1次/d。所有患者口服激素缓慢减量过程应≥6个月，避免减量过快相关复发。</a:t>
            </a:r>
          </a:p>
        </p:txBody>
      </p:sp>
      <p:sp>
        <p:nvSpPr>
          <p:cNvPr id="12" name="2025 p712 / PDF9"/>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p712 / PDF9</a:t>
            </a:r>
          </a:p>
        </p:txBody>
      </p:sp>
      <p:sp>
        <p:nvSpPr>
          <p:cNvPr id="13" name="Rectangle 12"/>
          <p:cNvSpPr/>
          <p:nvPr/>
        </p:nvSpPr>
        <p:spPr>
          <a:xfrm>
            <a:off x="457200" y="4720166"/>
            <a:ext cx="11277600" cy="1629833"/>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儿童急性期剂量"/>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儿童急性期剂量</a:t>
            </a:r>
          </a:p>
        </p:txBody>
      </p:sp>
      <p:sp>
        <p:nvSpPr>
          <p:cNvPr id="15" name="儿童甲泼尼龙静脉起始剂量20~30 mg·kg⁻¹·d⁻¹，参考成人方案递减。本文儿童该段未给出单日"/>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儿童甲泼尼龙静脉起始剂量20~30 mg·kg</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¹·d</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¹，参考成人方案递减。本文儿童该段未给出单日最大</a:t>
            </a:r>
          </a:p>
          <a:p>
            <a:pPr>
              <a:lnSpc>
                <a:spcPts val="2250"/>
              </a:lnSpc>
              <a:spcBef>
                <a:spcPts val="0"/>
              </a:spcBef>
              <a:spcAft>
                <a:spcPts val="0"/>
              </a:spcAft>
            </a:pPr>
            <a:r>
              <a:rPr sz="1800" b="0" lang="zh-CN">
                <a:solidFill>
                  <a:srgbClr val="1E2E3B"/>
                </a:solidFill>
                <a:latin typeface="Microsoft YaHei"/>
                <a:ea typeface="Microsoft YaHei"/>
                <a:cs typeface="Microsoft YaHei"/>
              </a:rPr>
              <a:t>剂量，不自行补入上限；口服激素减量过程仍应≥6个月。</a:t>
            </a:r>
          </a:p>
        </p:txBody>
      </p:sp>
      <p:sp>
        <p:nvSpPr>
          <p:cNvPr id="16" name="2025 p712 / PDF9"/>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p712 / PDF9</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疗效不足与复发：何时升级"/>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疗效不足与复发：何时升级</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5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05 / 08</a:t>
            </a:r>
          </a:p>
        </p:txBody>
      </p:sp>
      <p:sp>
        <p:nvSpPr>
          <p:cNvPr id="5" name="Rectangle 4"/>
          <p:cNvSpPr/>
          <p:nvPr/>
        </p:nvSpPr>
        <p:spPr>
          <a:xfrm>
            <a:off x="457200" y="1206500"/>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期IVIG联合救治"/>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急性期IVIG联合救治</a:t>
            </a:r>
          </a:p>
        </p:txBody>
      </p:sp>
      <p:sp>
        <p:nvSpPr>
          <p:cNvPr id="7" name="大剂量激素可联合IVIG，尤其严重发作或激素反应不佳者。IVIG 0.4 g·kg⁻¹·d⁻¹，连续"/>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大剂量激素可联合IVIG，尤其严重发作或激素反应不佳者。IVIG 0.4 g·kg</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¹·d</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¹，连续5 d为1疗程；</a:t>
            </a:r>
          </a:p>
          <a:p>
            <a:pPr>
              <a:lnSpc>
                <a:spcPts val="2250"/>
              </a:lnSpc>
              <a:spcBef>
                <a:spcPts val="0"/>
              </a:spcBef>
              <a:spcAft>
                <a:spcPts val="0"/>
              </a:spcAft>
            </a:pPr>
            <a:r>
              <a:rPr sz="1800" b="0" lang="zh-CN">
                <a:solidFill>
                  <a:srgbClr val="1E2E3B"/>
                </a:solidFill>
                <a:latin typeface="Microsoft YaHei"/>
                <a:ea typeface="Microsoft YaHei"/>
                <a:cs typeface="Microsoft YaHei"/>
              </a:rPr>
              <a:t>注意血栓、肾功能异常、头痛和无菌性脑膜炎。</a:t>
            </a:r>
          </a:p>
        </p:txBody>
      </p:sp>
      <p:sp>
        <p:nvSpPr>
          <p:cNvPr id="8" name="2025 p712 / PDF9 · B（证据水平2b）"/>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p712 / PDF9 · B（证据水平2b）</a:t>
            </a:r>
          </a:p>
        </p:txBody>
      </p:sp>
      <p:sp>
        <p:nvSpPr>
          <p:cNvPr id="9" name="Rectangle 8"/>
          <p:cNvSpPr/>
          <p:nvPr/>
        </p:nvSpPr>
        <p:spPr>
          <a:xfrm>
            <a:off x="457200" y="2963333"/>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血浆置换的条件与剂量"/>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血浆置换的条件与剂量</a:t>
            </a:r>
          </a:p>
        </p:txBody>
      </p:sp>
      <p:sp>
        <p:nvSpPr>
          <p:cNvPr id="11" name="激素反应差可考虑血浆置换；危重者可与激素同时启动。建议5~7次，单次为患者血浆容量的1.0~1.5倍"/>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激素反应差可考虑血浆置换；危重者可与激素同时启动。建议5~7次，单次为患者血浆容量的1.0~1.5</a:t>
            </a:r>
          </a:p>
          <a:p>
            <a:pPr>
              <a:lnSpc>
                <a:spcPts val="2250"/>
              </a:lnSpc>
              <a:spcBef>
                <a:spcPts val="0"/>
              </a:spcBef>
              <a:spcAft>
                <a:spcPts val="0"/>
              </a:spcAft>
            </a:pPr>
            <a:r>
              <a:rPr sz="1800" b="0" lang="zh-CN">
                <a:solidFill>
                  <a:srgbClr val="1E2E3B"/>
                </a:solidFill>
                <a:latin typeface="Microsoft YaHei"/>
                <a:ea typeface="Microsoft YaHei"/>
                <a:cs typeface="Microsoft YaHei"/>
              </a:rPr>
              <a:t>倍。避免IVIG后立即血浆置换。</a:t>
            </a:r>
          </a:p>
        </p:txBody>
      </p:sp>
      <p:sp>
        <p:nvSpPr>
          <p:cNvPr id="12" name="2025 p712 / PDF9 · B（证据水平2b）"/>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p712 / PDF9 · B（证据水平2b）</a:t>
            </a:r>
          </a:p>
        </p:txBody>
      </p:sp>
      <p:sp>
        <p:nvSpPr>
          <p:cNvPr id="13" name="Rectangle 12"/>
          <p:cNvSpPr/>
          <p:nvPr/>
        </p:nvSpPr>
        <p:spPr>
          <a:xfrm>
            <a:off x="457200" y="4720166"/>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何时考虑序贯预防复发"/>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何时考虑序贯预防复发</a:t>
            </a:r>
          </a:p>
        </p:txBody>
      </p:sp>
      <p:sp>
        <p:nvSpPr>
          <p:cNvPr id="15" name="儿童或成人满足任一项可考虑序贯治疗：①首次严重且恢复不佳，遗留明显功能残疾（如恢复后EDSS仍≥2分"/>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儿童或成人满足任一项可考虑序贯治疗：①首次严重且恢复不佳，遗留明显功能残疾（如恢复后EDSS</a:t>
            </a:r>
          </a:p>
          <a:p>
            <a:pPr>
              <a:lnSpc>
                <a:spcPts val="2250"/>
              </a:lnSpc>
              <a:spcBef>
                <a:spcPts val="0"/>
              </a:spcBef>
              <a:spcAft>
                <a:spcPts val="0"/>
              </a:spcAft>
            </a:pPr>
            <a:r>
              <a:rPr sz="1800" b="0" lang="zh-CN">
                <a:solidFill>
                  <a:srgbClr val="1E2E3B"/>
                </a:solidFill>
                <a:latin typeface="Microsoft YaHei"/>
                <a:ea typeface="Microsoft YaHei"/>
                <a:cs typeface="Microsoft YaHei"/>
              </a:rPr>
              <a:t>仍≥2分、视力仍&lt;0.6）；②发作2次或以上。不是所有首次发作者均自动长期免疫治疗。</a:t>
            </a:r>
          </a:p>
        </p:txBody>
      </p:sp>
      <p:sp>
        <p:nvSpPr>
          <p:cNvPr id="16" name="2025 p714 / PDF11 · B（证据水平2b）"/>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p714 / PDF11 · B（证据水平2b）</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序贯治疗：常用方案与剂量"/>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序贯治疗：常用方案与剂量</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6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06 / 08</a:t>
            </a:r>
          </a:p>
        </p:txBody>
      </p:sp>
      <p:sp>
        <p:nvSpPr>
          <p:cNvPr id="5" name="Rectangle 4"/>
          <p:cNvSpPr/>
          <p:nvPr/>
        </p:nvSpPr>
        <p:spPr>
          <a:xfrm>
            <a:off x="457200" y="1206500"/>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硫唑嘌呤方案"/>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硫唑嘌呤方案</a:t>
            </a:r>
          </a:p>
        </p:txBody>
      </p:sp>
      <p:sp>
        <p:nvSpPr>
          <p:cNvPr id="7" name="可考虑硫唑嘌呤减少复发。常用2~3 mg·kg⁻¹·d⁻¹，单次或分次口服；完全起效前（4~5个月）"/>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可考虑硫唑嘌呤减少复发。常用2~3 mg·kg</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¹·d</a:t>
            </a:r>
            <a:r>
              <a:rPr sz="1800" b="0" lang="zh-CN">
                <a:solidFill>
                  <a:srgbClr val="1E2E3B"/>
                </a:solidFill>
                <a:latin typeface="Arial"/>
                <a:ea typeface="Arial"/>
                <a:cs typeface="Arial"/>
              </a:rPr>
              <a:t>⁻</a:t>
            </a:r>
            <a:r>
              <a:rPr sz="1800" b="0" lang="zh-CN">
                <a:solidFill>
                  <a:srgbClr val="1E2E3B"/>
                </a:solidFill>
                <a:latin typeface="Microsoft YaHei"/>
                <a:ea typeface="Microsoft YaHei"/>
                <a:cs typeface="Microsoft YaHei"/>
              </a:rPr>
              <a:t>¹，单次或分次口服；完全起效前（4~5个月）联合</a:t>
            </a:r>
          </a:p>
          <a:p>
            <a:pPr>
              <a:lnSpc>
                <a:spcPts val="2250"/>
              </a:lnSpc>
              <a:spcBef>
                <a:spcPts val="0"/>
              </a:spcBef>
              <a:spcAft>
                <a:spcPts val="0"/>
              </a:spcAft>
            </a:pPr>
            <a:r>
              <a:rPr sz="1800" b="0" lang="zh-CN">
                <a:solidFill>
                  <a:srgbClr val="1E2E3B"/>
                </a:solidFill>
                <a:latin typeface="Microsoft YaHei"/>
                <a:ea typeface="Microsoft YaHei"/>
                <a:cs typeface="Microsoft YaHei"/>
              </a:rPr>
              <a:t>口服激素。推荐级别C、证据水平4。</a:t>
            </a:r>
          </a:p>
        </p:txBody>
      </p:sp>
      <p:sp>
        <p:nvSpPr>
          <p:cNvPr id="8" name="2025 p714 / PDF11 · C（证据水平4）"/>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p714 / PDF11 · C（证据水平4）</a:t>
            </a:r>
          </a:p>
        </p:txBody>
      </p:sp>
      <p:sp>
        <p:nvSpPr>
          <p:cNvPr id="9" name="Rectangle 8"/>
          <p:cNvSpPr/>
          <p:nvPr/>
        </p:nvSpPr>
        <p:spPr>
          <a:xfrm>
            <a:off x="457200" y="2963333"/>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吗替麦考酚酯成人方案"/>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吗替麦考酚酯成人方案</a:t>
            </a:r>
          </a:p>
        </p:txBody>
      </p:sp>
      <p:sp>
        <p:nvSpPr>
          <p:cNvPr id="11" name="可考虑MMF减少复发：500 mg/次、2次/d，持续2周；无不良反应增至750~1 000 mg/"/>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可考虑MMF减少复发：500 mg/次、2次/d，持续2周；无不良反应增至750~1 000 mg/次、2次/d。</a:t>
            </a:r>
          </a:p>
          <a:p>
            <a:pPr>
              <a:lnSpc>
                <a:spcPts val="2250"/>
              </a:lnSpc>
              <a:spcBef>
                <a:spcPts val="0"/>
              </a:spcBef>
              <a:spcAft>
                <a:spcPts val="0"/>
              </a:spcAft>
            </a:pPr>
            <a:r>
              <a:rPr sz="1800" b="0" lang="zh-CN">
                <a:solidFill>
                  <a:srgbClr val="1E2E3B"/>
                </a:solidFill>
                <a:latin typeface="Microsoft YaHei"/>
                <a:ea typeface="Microsoft YaHei"/>
                <a:cs typeface="Microsoft YaHei"/>
              </a:rPr>
              <a:t>MMF完全起效前联合口服糖皮质激素。</a:t>
            </a:r>
          </a:p>
        </p:txBody>
      </p:sp>
      <p:sp>
        <p:nvSpPr>
          <p:cNvPr id="12" name="2025 p714–715 / PDF11–12 · B（证据水平2b）"/>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p714–715 / PDF11–12 · B（证据水平2b）</a:t>
            </a:r>
          </a:p>
        </p:txBody>
      </p:sp>
      <p:sp>
        <p:nvSpPr>
          <p:cNvPr id="13" name="Rectangle 12"/>
          <p:cNvSpPr/>
          <p:nvPr/>
        </p:nvSpPr>
        <p:spPr>
          <a:xfrm>
            <a:off x="457200" y="4720166"/>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间歇性IVIG预防复发"/>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间歇性IVIG预防复发</a:t>
            </a:r>
          </a:p>
        </p:txBody>
      </p:sp>
      <p:sp>
        <p:nvSpPr>
          <p:cNvPr id="15" name="可考虑间歇IVIG：每4周输注1次、每次0.4~2.0 g/kg，建议至少持续1年以上。是儿童常用序"/>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可考虑间歇IVIG：每4周输注1次、每次0.4~2.0 g/kg，建议至少持续1年以上。是儿童常用序贯方案；</a:t>
            </a:r>
          </a:p>
          <a:p>
            <a:pPr>
              <a:lnSpc>
                <a:spcPts val="2250"/>
              </a:lnSpc>
              <a:spcBef>
                <a:spcPts val="0"/>
              </a:spcBef>
              <a:spcAft>
                <a:spcPts val="0"/>
              </a:spcAft>
            </a:pPr>
            <a:r>
              <a:rPr sz="1800" b="0" lang="zh-CN">
                <a:solidFill>
                  <a:srgbClr val="1E2E3B"/>
                </a:solidFill>
                <a:latin typeface="Microsoft YaHei"/>
                <a:ea typeface="Microsoft YaHei"/>
                <a:cs typeface="Microsoft YaHei"/>
              </a:rPr>
              <a:t>指南未用统一固定剂量替代此范围。</a:t>
            </a:r>
          </a:p>
        </p:txBody>
      </p:sp>
      <p:sp>
        <p:nvSpPr>
          <p:cNvPr id="16" name="2025 p715 / PDF12 · B（证据水平2b）"/>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p715 / PDF12 · B（证据水平2b）</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安全、特殊人群与随访"/>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安全、特殊人群与随访</a:t>
            </a:r>
          </a:p>
        </p:txBody>
      </p:sp>
      <p:sp>
        <p:nvSpPr>
          <p:cNvPr id="3" name="2025 · 指南 · MOGAD诊断与治疗"/>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2025 · 指南 · MOGAD诊断与治疗</a:t>
            </a:r>
          </a:p>
        </p:txBody>
      </p:sp>
      <p:sp>
        <p:nvSpPr>
          <p:cNvPr id="4" name="07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07 / 08</a:t>
            </a:r>
          </a:p>
        </p:txBody>
      </p:sp>
      <p:sp>
        <p:nvSpPr>
          <p:cNvPr id="5" name="Rectangle 4"/>
          <p:cNvSpPr/>
          <p:nvPr/>
        </p:nvSpPr>
        <p:spPr>
          <a:xfrm>
            <a:off x="457200" y="1206500"/>
            <a:ext cx="5499100" cy="250825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MMF风险及备孕"/>
          <p:cNvSpPr txBox="1"/>
          <p:nvPr/>
        </p:nvSpPr>
        <p:spPr>
          <a:xfrm>
            <a:off x="622300" y="13335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MMF风险及备孕</a:t>
            </a:r>
          </a:p>
        </p:txBody>
      </p:sp>
      <p:sp>
        <p:nvSpPr>
          <p:cNvPr id="7" name="MMF有致畸作用，应在备孕前至少6周停药；注意白细胞减少、胃肠道反应、感染和长期恶性肿瘤风险。用药前"/>
          <p:cNvSpPr txBox="1"/>
          <p:nvPr/>
        </p:nvSpPr>
        <p:spPr>
          <a:xfrm>
            <a:off x="622300" y="17018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MMF有致畸作用，应在备孕前至少6周停药；</a:t>
            </a:r>
          </a:p>
          <a:p>
            <a:pPr>
              <a:lnSpc>
                <a:spcPts val="2250"/>
              </a:lnSpc>
              <a:spcBef>
                <a:spcPts val="0"/>
              </a:spcBef>
              <a:spcAft>
                <a:spcPts val="0"/>
              </a:spcAft>
            </a:pPr>
            <a:r>
              <a:rPr sz="1800" b="0" lang="zh-CN">
                <a:solidFill>
                  <a:srgbClr val="1E2E3B"/>
                </a:solidFill>
                <a:latin typeface="Microsoft YaHei"/>
                <a:ea typeface="Microsoft YaHei"/>
                <a:cs typeface="Microsoft YaHei"/>
              </a:rPr>
              <a:t>注意白细胞减少、胃肠道反应、感染和长期</a:t>
            </a:r>
          </a:p>
          <a:p>
            <a:pPr>
              <a:lnSpc>
                <a:spcPts val="2250"/>
              </a:lnSpc>
              <a:spcBef>
                <a:spcPts val="0"/>
              </a:spcBef>
              <a:spcAft>
                <a:spcPts val="0"/>
              </a:spcAft>
            </a:pPr>
            <a:r>
              <a:rPr sz="1800" b="0" lang="zh-CN">
                <a:solidFill>
                  <a:srgbClr val="1E2E3B"/>
                </a:solidFill>
                <a:latin typeface="Microsoft YaHei"/>
                <a:ea typeface="Microsoft YaHei"/>
                <a:cs typeface="Microsoft YaHei"/>
              </a:rPr>
              <a:t>恶性肿瘤风险。用药前后定期监测全血细胞</a:t>
            </a:r>
          </a:p>
          <a:p>
            <a:pPr>
              <a:lnSpc>
                <a:spcPts val="2250"/>
              </a:lnSpc>
              <a:spcBef>
                <a:spcPts val="0"/>
              </a:spcBef>
              <a:spcAft>
                <a:spcPts val="0"/>
              </a:spcAft>
            </a:pPr>
            <a:r>
              <a:rPr sz="1800" b="0" lang="zh-CN">
                <a:solidFill>
                  <a:srgbClr val="1E2E3B"/>
                </a:solidFill>
                <a:latin typeface="Microsoft YaHei"/>
                <a:ea typeface="Microsoft YaHei"/>
                <a:cs typeface="Microsoft YaHei"/>
              </a:rPr>
              <a:t>计数与肝功能；替代妊娠方案原文未明确。</a:t>
            </a:r>
          </a:p>
        </p:txBody>
      </p:sp>
      <p:sp>
        <p:nvSpPr>
          <p:cNvPr id="8" name="2025 p715 / PDF12"/>
          <p:cNvSpPr txBox="1"/>
          <p:nvPr/>
        </p:nvSpPr>
        <p:spPr>
          <a:xfrm>
            <a:off x="622300" y="346710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p715 / PDF12</a:t>
            </a:r>
          </a:p>
        </p:txBody>
      </p:sp>
      <p:sp>
        <p:nvSpPr>
          <p:cNvPr id="9" name="Rectangle 8"/>
          <p:cNvSpPr/>
          <p:nvPr/>
        </p:nvSpPr>
        <p:spPr>
          <a:xfrm>
            <a:off x="6184900" y="1206500"/>
            <a:ext cx="5549900" cy="250825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TX筛查与风险"/>
          <p:cNvSpPr txBox="1"/>
          <p:nvPr/>
        </p:nvSpPr>
        <p:spPr>
          <a:xfrm>
            <a:off x="6350000" y="13335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RTX筛查与风险</a:t>
            </a:r>
          </a:p>
        </p:txBody>
      </p:sp>
      <p:sp>
        <p:nvSpPr>
          <p:cNvPr id="11" name="RTX用药前需筛查HBV及结核等。注意输液反应、胃肠道反应、血细胞减少、低丙种球蛋白血症和感染；不能"/>
          <p:cNvSpPr txBox="1"/>
          <p:nvPr/>
        </p:nvSpPr>
        <p:spPr>
          <a:xfrm>
            <a:off x="6350000" y="17018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RTX用药前需筛查HBV及结核等。注意输液反</a:t>
            </a:r>
          </a:p>
          <a:p>
            <a:pPr>
              <a:lnSpc>
                <a:spcPts val="2250"/>
              </a:lnSpc>
              <a:spcBef>
                <a:spcPts val="0"/>
              </a:spcBef>
              <a:spcAft>
                <a:spcPts val="0"/>
              </a:spcAft>
            </a:pPr>
            <a:r>
              <a:rPr sz="1800" b="0" lang="zh-CN">
                <a:solidFill>
                  <a:srgbClr val="1E2E3B"/>
                </a:solidFill>
                <a:latin typeface="Microsoft YaHei"/>
                <a:ea typeface="Microsoft YaHei"/>
                <a:cs typeface="Microsoft YaHei"/>
              </a:rPr>
              <a:t>应、胃肠道反应、血细胞减少、低丙种球蛋白</a:t>
            </a:r>
          </a:p>
          <a:p>
            <a:pPr>
              <a:lnSpc>
                <a:spcPts val="2250"/>
              </a:lnSpc>
              <a:spcBef>
                <a:spcPts val="0"/>
              </a:spcBef>
              <a:spcAft>
                <a:spcPts val="0"/>
              </a:spcAft>
            </a:pPr>
            <a:r>
              <a:rPr sz="1800" b="0" lang="zh-CN">
                <a:solidFill>
                  <a:srgbClr val="1E2E3B"/>
                </a:solidFill>
                <a:latin typeface="Microsoft YaHei"/>
                <a:ea typeface="Microsoft YaHei"/>
                <a:cs typeface="Microsoft YaHei"/>
              </a:rPr>
              <a:t>血症和感染；不能将B细胞清除作为保证不复</a:t>
            </a:r>
          </a:p>
          <a:p>
            <a:pPr>
              <a:lnSpc>
                <a:spcPts val="2250"/>
              </a:lnSpc>
              <a:spcBef>
                <a:spcPts val="0"/>
              </a:spcBef>
              <a:spcAft>
                <a:spcPts val="0"/>
              </a:spcAft>
            </a:pPr>
            <a:r>
              <a:rPr sz="1800" b="0" lang="zh-CN">
                <a:solidFill>
                  <a:srgbClr val="1E2E3B"/>
                </a:solidFill>
                <a:latin typeface="Microsoft YaHei"/>
                <a:ea typeface="Microsoft YaHei"/>
                <a:cs typeface="Microsoft YaHei"/>
              </a:rPr>
              <a:t>发的指标。</a:t>
            </a:r>
          </a:p>
        </p:txBody>
      </p:sp>
      <p:sp>
        <p:nvSpPr>
          <p:cNvPr id="12" name="2025 p715 / PDF12"/>
          <p:cNvSpPr txBox="1"/>
          <p:nvPr/>
        </p:nvSpPr>
        <p:spPr>
          <a:xfrm>
            <a:off x="6350000" y="346710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p715 / PDF12</a:t>
            </a:r>
          </a:p>
        </p:txBody>
      </p:sp>
      <p:sp>
        <p:nvSpPr>
          <p:cNvPr id="13" name="Rectangle 12"/>
          <p:cNvSpPr/>
          <p:nvPr/>
        </p:nvSpPr>
        <p:spPr>
          <a:xfrm>
            <a:off x="457200" y="3937000"/>
            <a:ext cx="5499100" cy="241300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序贯治疗多久及停药"/>
          <p:cNvSpPr txBox="1"/>
          <p:nvPr/>
        </p:nvSpPr>
        <p:spPr>
          <a:xfrm>
            <a:off x="622300" y="40640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序贯治疗多久及停药</a:t>
            </a:r>
          </a:p>
        </p:txBody>
      </p:sp>
      <p:sp>
        <p:nvSpPr>
          <p:cNvPr id="15" name="目前没有确切证据确定序贯治疗持续时长。一般认为持续治疗满5年、期间无复发者可重新个体化评估，权衡利弊"/>
          <p:cNvSpPr txBox="1"/>
          <p:nvPr/>
        </p:nvSpPr>
        <p:spPr>
          <a:xfrm>
            <a:off x="622300" y="44323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目前没有确切证据确定序贯治疗持续时长。</a:t>
            </a:r>
          </a:p>
          <a:p>
            <a:pPr>
              <a:lnSpc>
                <a:spcPts val="2250"/>
              </a:lnSpc>
              <a:spcBef>
                <a:spcPts val="0"/>
              </a:spcBef>
              <a:spcAft>
                <a:spcPts val="0"/>
              </a:spcAft>
            </a:pPr>
            <a:r>
              <a:rPr sz="1800" b="0" lang="zh-CN">
                <a:solidFill>
                  <a:srgbClr val="1E2E3B"/>
                </a:solidFill>
                <a:latin typeface="Microsoft YaHei"/>
                <a:ea typeface="Microsoft YaHei"/>
                <a:cs typeface="Microsoft YaHei"/>
              </a:rPr>
              <a:t>一般认为持续治疗满5年、期间无复发者可重</a:t>
            </a:r>
          </a:p>
          <a:p>
            <a:pPr>
              <a:lnSpc>
                <a:spcPts val="2250"/>
              </a:lnSpc>
              <a:spcBef>
                <a:spcPts val="0"/>
              </a:spcBef>
              <a:spcAft>
                <a:spcPts val="0"/>
              </a:spcAft>
            </a:pPr>
            <a:r>
              <a:rPr sz="1800" b="0" lang="zh-CN">
                <a:solidFill>
                  <a:srgbClr val="1E2E3B"/>
                </a:solidFill>
                <a:latin typeface="Microsoft YaHei"/>
                <a:ea typeface="Microsoft YaHei"/>
                <a:cs typeface="Microsoft YaHei"/>
              </a:rPr>
              <a:t>新个体化评估，权衡利弊后谨慎决定是否停</a:t>
            </a:r>
          </a:p>
          <a:p>
            <a:pPr>
              <a:lnSpc>
                <a:spcPts val="2250"/>
              </a:lnSpc>
              <a:spcBef>
                <a:spcPts val="0"/>
              </a:spcBef>
              <a:spcAft>
                <a:spcPts val="0"/>
              </a:spcAft>
            </a:pPr>
            <a:r>
              <a:rPr sz="1800" b="0" lang="zh-CN">
                <a:solidFill>
                  <a:srgbClr val="1E2E3B"/>
                </a:solidFill>
                <a:latin typeface="Microsoft YaHei"/>
                <a:ea typeface="Microsoft YaHei"/>
                <a:cs typeface="Microsoft YaHei"/>
              </a:rPr>
              <a:t>药；不能理解为满5年自动停药。</a:t>
            </a:r>
          </a:p>
        </p:txBody>
      </p:sp>
      <p:sp>
        <p:nvSpPr>
          <p:cNvPr id="16" name="2025 p715 / PDF12"/>
          <p:cNvSpPr txBox="1"/>
          <p:nvPr/>
        </p:nvSpPr>
        <p:spPr>
          <a:xfrm>
            <a:off x="622300" y="610235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p715 / PDF12</a:t>
            </a:r>
          </a:p>
        </p:txBody>
      </p:sp>
      <p:sp>
        <p:nvSpPr>
          <p:cNvPr id="17" name="Rectangle 16"/>
          <p:cNvSpPr/>
          <p:nvPr/>
        </p:nvSpPr>
        <p:spPr>
          <a:xfrm>
            <a:off x="6184900" y="3937000"/>
            <a:ext cx="5549900" cy="241300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人群及随访缺项"/>
          <p:cNvSpPr txBox="1"/>
          <p:nvPr/>
        </p:nvSpPr>
        <p:spPr>
          <a:xfrm>
            <a:off x="6350000" y="40640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特殊人群及随访缺项</a:t>
            </a:r>
          </a:p>
        </p:txBody>
      </p:sp>
      <p:sp>
        <p:nvSpPr>
          <p:cNvPr id="19" name="儿童激素剂量及儿童/成人序贯启动条件有说明。妊娠、产后、哺乳的完整治疗与复发管理方案，固定随访间隔、"/>
          <p:cNvSpPr txBox="1"/>
          <p:nvPr/>
        </p:nvSpPr>
        <p:spPr>
          <a:xfrm>
            <a:off x="6350000" y="44323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儿童激素剂量及儿童/成人序贯启动条件有说</a:t>
            </a:r>
          </a:p>
          <a:p>
            <a:pPr>
              <a:lnSpc>
                <a:spcPts val="2250"/>
              </a:lnSpc>
              <a:spcBef>
                <a:spcPts val="0"/>
              </a:spcBef>
              <a:spcAft>
                <a:spcPts val="0"/>
              </a:spcAft>
            </a:pPr>
            <a:r>
              <a:rPr sz="1800" b="0" lang="zh-CN">
                <a:solidFill>
                  <a:srgbClr val="1E2E3B"/>
                </a:solidFill>
                <a:latin typeface="Microsoft YaHei"/>
                <a:ea typeface="Microsoft YaHei"/>
                <a:cs typeface="Microsoft YaHei"/>
              </a:rPr>
              <a:t>明。妊娠、产后、哺乳的完整治疗与复发管理</a:t>
            </a:r>
          </a:p>
          <a:p>
            <a:pPr>
              <a:lnSpc>
                <a:spcPts val="2250"/>
              </a:lnSpc>
              <a:spcBef>
                <a:spcPts val="0"/>
              </a:spcBef>
              <a:spcAft>
                <a:spcPts val="0"/>
              </a:spcAft>
            </a:pPr>
            <a:r>
              <a:rPr sz="1800" b="0" lang="zh-CN">
                <a:solidFill>
                  <a:srgbClr val="1E2E3B"/>
                </a:solidFill>
                <a:latin typeface="Microsoft YaHei"/>
                <a:ea typeface="Microsoft YaHei"/>
                <a:cs typeface="Microsoft YaHei"/>
              </a:rPr>
              <a:t>方案，固定随访间隔、统一视力/OCT复查频</a:t>
            </a:r>
          </a:p>
          <a:p>
            <a:pPr>
              <a:lnSpc>
                <a:spcPts val="2250"/>
              </a:lnSpc>
              <a:spcBef>
                <a:spcPts val="0"/>
              </a:spcBef>
              <a:spcAft>
                <a:spcPts val="0"/>
              </a:spcAft>
            </a:pPr>
            <a:r>
              <a:rPr sz="1800" b="0" lang="zh-CN">
                <a:solidFill>
                  <a:srgbClr val="1E2E3B"/>
                </a:solidFill>
                <a:latin typeface="Microsoft YaHei"/>
                <a:ea typeface="Microsoft YaHei"/>
                <a:cs typeface="Microsoft YaHei"/>
              </a:rPr>
              <a:t>率，原文未明确；不从其他指南补编。</a:t>
            </a:r>
          </a:p>
        </p:txBody>
      </p:sp>
      <p:sp>
        <p:nvSpPr>
          <p:cNvPr id="20" name="2025 p708、712、714–715 / PDF5、9、11–12"/>
          <p:cNvSpPr txBox="1"/>
          <p:nvPr/>
        </p:nvSpPr>
        <p:spPr>
          <a:xfrm>
            <a:off x="6350000" y="610235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2025 p708、712、714–715 / PDF5、9、11–12</a:t>
            </a:r>
          </a:p>
        </p:txBody>
      </p:sp>
      <p:sp>
        <p:nvSpPr>
          <p:cNvPr id="21"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一页临床路径｜MOGAD诊断与治疗"/>
          <p:cNvSpPr txBox="1"/>
          <p:nvPr/>
        </p:nvSpPr>
        <p:spPr>
          <a:xfrm>
            <a:off x="419100" y="241300"/>
            <a:ext cx="11353800" cy="429259"/>
          </a:xfrm>
          <a:prstGeom prst="rect">
            <a:avLst/>
          </a:prstGeom>
          <a:noFill/>
        </p:spPr>
        <p:txBody>
          <a:bodyPr wrap="none" lIns="0" rIns="0" tIns="0" bIns="0" anchor="t">
            <a:noAutofit/>
          </a:bodyPr>
          <a:lstStyle/>
          <a:p>
            <a:pPr>
              <a:lnSpc>
                <a:spcPts val="2879"/>
              </a:lnSpc>
              <a:spcBef>
                <a:spcPts val="0"/>
              </a:spcBef>
              <a:spcAft>
                <a:spcPts val="0"/>
              </a:spcAft>
            </a:pPr>
            <a:r>
              <a:rPr sz="2400" b="1" lang="zh-CN">
                <a:solidFill>
                  <a:srgbClr val="1E2E3B"/>
                </a:solidFill>
                <a:latin typeface="Microsoft YaHei"/>
                <a:ea typeface="Microsoft YaHei"/>
                <a:cs typeface="Microsoft YaHei"/>
              </a:rPr>
              <a:t>一页临床路径｜MOGAD诊断与治疗</a:t>
            </a:r>
          </a:p>
        </p:txBody>
      </p:sp>
      <p:sp>
        <p:nvSpPr>
          <p:cNvPr id="3" name="2025 · 条件与下一步按原文整理；诊断细则和特殊分支见提取表"/>
          <p:cNvSpPr txBox="1"/>
          <p:nvPr/>
        </p:nvSpPr>
        <p:spPr>
          <a:xfrm>
            <a:off x="419100" y="736600"/>
            <a:ext cx="11353800" cy="228854"/>
          </a:xfrm>
          <a:prstGeom prst="rect">
            <a:avLst/>
          </a:prstGeom>
          <a:noFill/>
        </p:spPr>
        <p:txBody>
          <a:bodyPr wrap="none" lIns="0" rIns="0" tIns="0" bIns="0" anchor="t">
            <a:noAutofit/>
          </a:bodyPr>
          <a:lstStyle/>
          <a:p>
            <a:pPr>
              <a:lnSpc>
                <a:spcPts val="1302"/>
              </a:lnSpc>
              <a:spcBef>
                <a:spcPts val="0"/>
              </a:spcBef>
              <a:spcAft>
                <a:spcPts val="0"/>
              </a:spcAft>
            </a:pPr>
            <a:r>
              <a:rPr sz="1050" b="0" lang="zh-CN">
                <a:solidFill>
                  <a:srgbClr val="526578"/>
                </a:solidFill>
                <a:latin typeface="Microsoft YaHei"/>
                <a:ea typeface="Microsoft YaHei"/>
                <a:cs typeface="Microsoft YaHei"/>
              </a:rPr>
              <a:t>2025 · 条件与下一步按原文整理；诊断细则和特殊分支见提取表</a:t>
            </a:r>
          </a:p>
        </p:txBody>
      </p:sp>
      <p:cxnSp>
        <p:nvCxnSpPr>
          <p:cNvPr id="4" name="Connector 3"/>
          <p:cNvCxnSpPr/>
          <p:nvPr/>
        </p:nvCxnSpPr>
        <p:spPr>
          <a:xfrm>
            <a:off x="5676900" y="1871133"/>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702300" y="1678093"/>
            <a:ext cx="787400" cy="28702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有核心事件，进入诊断评估"/>
          <p:cNvSpPr txBox="1"/>
          <p:nvPr/>
        </p:nvSpPr>
        <p:spPr>
          <a:xfrm>
            <a:off x="5715000" y="1690793"/>
            <a:ext cx="762000" cy="29972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有核心事件，进</a:t>
            </a:r>
          </a:p>
          <a:p>
            <a:pPr>
              <a:lnSpc>
                <a:spcPts val="930"/>
              </a:lnSpc>
              <a:spcBef>
                <a:spcPts val="0"/>
              </a:spcBef>
              <a:spcAft>
                <a:spcPts val="0"/>
              </a:spcAft>
            </a:pPr>
            <a:r>
              <a:rPr sz="800" b="0" lang="zh-CN">
                <a:solidFill>
                  <a:srgbClr val="526578"/>
                </a:solidFill>
                <a:latin typeface="Microsoft YaHei"/>
                <a:ea typeface="Microsoft YaHei"/>
                <a:cs typeface="Microsoft YaHei"/>
              </a:rPr>
              <a:t>入诊断评估</a:t>
            </a:r>
          </a:p>
        </p:txBody>
      </p:sp>
      <p:cxnSp>
        <p:nvCxnSpPr>
          <p:cNvPr id="7" name="Connector 6"/>
          <p:cNvCxnSpPr/>
          <p:nvPr/>
        </p:nvCxnSpPr>
        <p:spPr>
          <a:xfrm>
            <a:off x="9144000" y="2586566"/>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670800" y="2688166"/>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三部分满足，且处于急性发作"/>
          <p:cNvSpPr txBox="1"/>
          <p:nvPr/>
        </p:nvSpPr>
        <p:spPr>
          <a:xfrm>
            <a:off x="7683500" y="2713566"/>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三部分满足，且处于急性发作</a:t>
            </a:r>
          </a:p>
        </p:txBody>
      </p:sp>
      <p:cxnSp>
        <p:nvCxnSpPr>
          <p:cNvPr id="10" name="Connector 9"/>
          <p:cNvCxnSpPr/>
          <p:nvPr/>
        </p:nvCxnSpPr>
        <p:spPr>
          <a:xfrm flipH="1">
            <a:off x="5676900" y="3670300"/>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702300" y="3535679"/>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疗效不足或危重"/>
          <p:cNvSpPr txBox="1"/>
          <p:nvPr/>
        </p:nvSpPr>
        <p:spPr>
          <a:xfrm>
            <a:off x="5715000" y="3548379"/>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疗效不足或危重</a:t>
            </a:r>
          </a:p>
        </p:txBody>
      </p:sp>
      <p:cxnSp>
        <p:nvCxnSpPr>
          <p:cNvPr id="13" name="Connector 12"/>
          <p:cNvCxnSpPr/>
          <p:nvPr/>
        </p:nvCxnSpPr>
        <p:spPr>
          <a:xfrm>
            <a:off x="9144000" y="4385733"/>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6000" y="4569883"/>
            <a:ext cx="3048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4569883"/>
            <a:ext cx="0" cy="899583"/>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676900" y="5469466"/>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48000" y="4385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574800" y="4487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稳定后"/>
          <p:cNvSpPr txBox="1"/>
          <p:nvPr/>
        </p:nvSpPr>
        <p:spPr>
          <a:xfrm>
            <a:off x="1587500" y="4512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稳定后</a:t>
            </a:r>
          </a:p>
        </p:txBody>
      </p:sp>
      <p:cxnSp>
        <p:nvCxnSpPr>
          <p:cNvPr id="20" name="Connector 19"/>
          <p:cNvCxnSpPr/>
          <p:nvPr/>
        </p:nvCxnSpPr>
        <p:spPr>
          <a:xfrm>
            <a:off x="5676900" y="5469466"/>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702300" y="5276426"/>
            <a:ext cx="787400" cy="28702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符合序贯启动条件"/>
          <p:cNvSpPr txBox="1"/>
          <p:nvPr/>
        </p:nvSpPr>
        <p:spPr>
          <a:xfrm>
            <a:off x="5715000" y="5289126"/>
            <a:ext cx="762000" cy="29972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符合序贯启动条</a:t>
            </a:r>
          </a:p>
          <a:p>
            <a:pPr>
              <a:lnSpc>
                <a:spcPts val="930"/>
              </a:lnSpc>
              <a:spcBef>
                <a:spcPts val="0"/>
              </a:spcBef>
              <a:spcAft>
                <a:spcPts val="0"/>
              </a:spcAft>
            </a:pPr>
            <a:r>
              <a:rPr sz="800" b="0" lang="zh-CN">
                <a:solidFill>
                  <a:srgbClr val="526578"/>
                </a:solidFill>
                <a:latin typeface="Microsoft YaHei"/>
                <a:ea typeface="Microsoft YaHei"/>
                <a:cs typeface="Microsoft YaHei"/>
              </a:rPr>
              <a:t>件</a:t>
            </a:r>
          </a:p>
        </p:txBody>
      </p:sp>
      <p:sp>
        <p:nvSpPr>
          <p:cNvPr id="23" name="Rectangle 22"/>
          <p:cNvSpPr/>
          <p:nvPr/>
        </p:nvSpPr>
        <p:spPr>
          <a:xfrm>
            <a:off x="419100" y="1155700"/>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1  核心事件：启动评估"/>
          <p:cNvSpPr txBox="1"/>
          <p:nvPr/>
        </p:nvSpPr>
        <p:spPr>
          <a:xfrm>
            <a:off x="558800" y="1244600"/>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1  核心事件：启动评估</a:t>
            </a:r>
          </a:p>
        </p:txBody>
      </p:sp>
      <p:sp>
        <p:nvSpPr>
          <p:cNvPr id="25" name="视神经炎、脊髓炎、ADEM或其他核心脑部综合征→临床/MRI评估、尽量免疫治疗前送血清MOG-IgG"/>
          <p:cNvSpPr txBox="1"/>
          <p:nvPr/>
        </p:nvSpPr>
        <p:spPr>
          <a:xfrm>
            <a:off x="558800" y="1536700"/>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视神经炎、脊髓炎、ADEM或其他核心脑部综合征→临床/</a:t>
            </a:r>
          </a:p>
          <a:p>
            <a:pPr>
              <a:lnSpc>
                <a:spcPts val="1680"/>
              </a:lnSpc>
              <a:spcBef>
                <a:spcPts val="0"/>
              </a:spcBef>
              <a:spcAft>
                <a:spcPts val="0"/>
              </a:spcAft>
            </a:pPr>
            <a:r>
              <a:rPr sz="1400" b="0" lang="zh-CN">
                <a:solidFill>
                  <a:srgbClr val="1E2E3B"/>
                </a:solidFill>
                <a:latin typeface="Microsoft YaHei"/>
                <a:ea typeface="Microsoft YaHei"/>
                <a:cs typeface="Microsoft YaHei"/>
              </a:rPr>
              <a:t>MRI评估、尽量免疫治疗前送血清MOG-IgG。无核心事件</a:t>
            </a:r>
          </a:p>
          <a:p>
            <a:pPr>
              <a:lnSpc>
                <a:spcPts val="1680"/>
              </a:lnSpc>
              <a:spcBef>
                <a:spcPts val="0"/>
              </a:spcBef>
              <a:spcAft>
                <a:spcPts val="0"/>
              </a:spcAft>
            </a:pPr>
            <a:r>
              <a:rPr sz="1400" b="0" lang="zh-CN">
                <a:solidFill>
                  <a:srgbClr val="1E2E3B"/>
                </a:solidFill>
                <a:latin typeface="Microsoft YaHei"/>
                <a:ea typeface="Microsoft YaHei"/>
                <a:cs typeface="Microsoft YaHei"/>
              </a:rPr>
              <a:t>者不能仅凭抗体确诊。</a:t>
            </a:r>
          </a:p>
        </p:txBody>
      </p:sp>
      <p:sp>
        <p:nvSpPr>
          <p:cNvPr id="26" name="2025 p710–711"/>
          <p:cNvSpPr txBox="1"/>
          <p:nvPr/>
        </p:nvSpPr>
        <p:spPr>
          <a:xfrm>
            <a:off x="558800" y="2380826"/>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p710–711</a:t>
            </a:r>
          </a:p>
        </p:txBody>
      </p:sp>
      <p:sp>
        <p:nvSpPr>
          <p:cNvPr id="27" name="Rectangle 26"/>
          <p:cNvSpPr/>
          <p:nvPr/>
        </p:nvSpPr>
        <p:spPr>
          <a:xfrm>
            <a:off x="6515100" y="1155700"/>
            <a:ext cx="5257800" cy="1430866"/>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2  抗体条件与排除诊断"/>
          <p:cNvSpPr txBox="1"/>
          <p:nvPr/>
        </p:nvSpPr>
        <p:spPr>
          <a:xfrm>
            <a:off x="6654800" y="1244600"/>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13438"/>
                </a:solidFill>
                <a:latin typeface="Microsoft YaHei"/>
                <a:ea typeface="Microsoft YaHei"/>
                <a:cs typeface="Microsoft YaHei"/>
              </a:rPr>
              <a:t>2  抗体条件与排除诊断</a:t>
            </a:r>
          </a:p>
        </p:txBody>
      </p:sp>
      <p:sp>
        <p:nvSpPr>
          <p:cNvPr id="29" name="CBA≥1∶100：明确阳性；≥1∶10且&lt;1∶100、滴度未知或仅脑脊液阳性：另需AQP4-IgG"/>
          <p:cNvSpPr txBox="1"/>
          <p:nvPr/>
        </p:nvSpPr>
        <p:spPr>
          <a:xfrm>
            <a:off x="6654800" y="1536700"/>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CBA≥1∶100：明确阳性；≥1∶10且&lt;1∶100、滴度未</a:t>
            </a:r>
          </a:p>
          <a:p>
            <a:pPr>
              <a:lnSpc>
                <a:spcPts val="1680"/>
              </a:lnSpc>
              <a:spcBef>
                <a:spcPts val="0"/>
              </a:spcBef>
              <a:spcAft>
                <a:spcPts val="0"/>
              </a:spcAft>
            </a:pPr>
            <a:r>
              <a:rPr sz="1400" b="0" lang="zh-CN">
                <a:solidFill>
                  <a:srgbClr val="1E2E3B"/>
                </a:solidFill>
                <a:latin typeface="Microsoft YaHei"/>
                <a:ea typeface="Microsoft YaHei"/>
                <a:cs typeface="Microsoft YaHei"/>
              </a:rPr>
              <a:t>知或仅脑脊液阳性：另需AQP4-IgG阴性+≥1附加条件。</a:t>
            </a:r>
          </a:p>
          <a:p>
            <a:pPr>
              <a:lnSpc>
                <a:spcPts val="1680"/>
              </a:lnSpc>
              <a:spcBef>
                <a:spcPts val="0"/>
              </a:spcBef>
              <a:spcAft>
                <a:spcPts val="0"/>
              </a:spcAft>
            </a:pPr>
            <a:r>
              <a:rPr sz="1400" b="0" lang="zh-CN">
                <a:solidFill>
                  <a:srgbClr val="1E2E3B"/>
                </a:solidFill>
                <a:latin typeface="Microsoft YaHei"/>
                <a:ea typeface="Microsoft YaHei"/>
                <a:cs typeface="Microsoft YaHei"/>
              </a:rPr>
              <a:t>均须排除其他病。</a:t>
            </a:r>
          </a:p>
        </p:txBody>
      </p:sp>
      <p:sp>
        <p:nvSpPr>
          <p:cNvPr id="30" name="2025 p710–711"/>
          <p:cNvSpPr txBox="1"/>
          <p:nvPr/>
        </p:nvSpPr>
        <p:spPr>
          <a:xfrm>
            <a:off x="6654800" y="2380826"/>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p710–711</a:t>
            </a:r>
          </a:p>
        </p:txBody>
      </p:sp>
      <p:sp>
        <p:nvSpPr>
          <p:cNvPr id="31" name="Rectangle 30"/>
          <p:cNvSpPr/>
          <p:nvPr/>
        </p:nvSpPr>
        <p:spPr>
          <a:xfrm>
            <a:off x="6515100" y="2954866"/>
            <a:ext cx="5257800" cy="1430866"/>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3  确诊急性发作：激素治疗"/>
          <p:cNvSpPr txBox="1"/>
          <p:nvPr/>
        </p:nvSpPr>
        <p:spPr>
          <a:xfrm>
            <a:off x="6654800" y="3043766"/>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95612"/>
                </a:solidFill>
                <a:latin typeface="Microsoft YaHei"/>
                <a:ea typeface="Microsoft YaHei"/>
                <a:cs typeface="Microsoft YaHei"/>
              </a:rPr>
              <a:t>3  确诊急性发作：激素治疗</a:t>
            </a:r>
          </a:p>
        </p:txBody>
      </p:sp>
      <p:sp>
        <p:nvSpPr>
          <p:cNvPr id="33" name="排除禁忌后尽早IVMP；成人1 000 mg/d×3~5 d。儿童20~30 mg·kg⁻¹·d⁻¹"/>
          <p:cNvSpPr txBox="1"/>
          <p:nvPr/>
        </p:nvSpPr>
        <p:spPr>
          <a:xfrm>
            <a:off x="6654800" y="3335866"/>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排除禁忌后尽早IVMP；成人1 000 mg/d×3~5 d。儿童</a:t>
            </a:r>
          </a:p>
          <a:p>
            <a:pPr>
              <a:lnSpc>
                <a:spcPts val="1680"/>
              </a:lnSpc>
              <a:spcBef>
                <a:spcPts val="0"/>
              </a:spcBef>
              <a:spcAft>
                <a:spcPts val="0"/>
              </a:spcAft>
            </a:pPr>
            <a:r>
              <a:rPr sz="1400" b="0" lang="zh-CN">
                <a:solidFill>
                  <a:srgbClr val="1E2E3B"/>
                </a:solidFill>
                <a:latin typeface="Microsoft YaHei"/>
                <a:ea typeface="Microsoft YaHei"/>
                <a:cs typeface="Microsoft YaHei"/>
              </a:rPr>
              <a:t>20~30 mg·kg</a:t>
            </a:r>
            <a:r>
              <a:rPr sz="1400" b="0" lang="zh-CN">
                <a:solidFill>
                  <a:srgbClr val="1E2E3B"/>
                </a:solidFill>
                <a:latin typeface="Arial"/>
                <a:ea typeface="Arial"/>
                <a:cs typeface="Arial"/>
              </a:rPr>
              <a:t>⁻</a:t>
            </a:r>
            <a:r>
              <a:rPr sz="1400" b="0" lang="zh-CN">
                <a:solidFill>
                  <a:srgbClr val="1E2E3B"/>
                </a:solidFill>
                <a:latin typeface="Microsoft YaHei"/>
                <a:ea typeface="Microsoft YaHei"/>
                <a:cs typeface="Microsoft YaHei"/>
              </a:rPr>
              <a:t>¹·d</a:t>
            </a:r>
            <a:r>
              <a:rPr sz="1400" b="0" lang="zh-CN">
                <a:solidFill>
                  <a:srgbClr val="1E2E3B"/>
                </a:solidFill>
                <a:latin typeface="Arial"/>
                <a:ea typeface="Arial"/>
                <a:cs typeface="Arial"/>
              </a:rPr>
              <a:t>⁻</a:t>
            </a:r>
            <a:r>
              <a:rPr sz="1400" b="0" lang="zh-CN">
                <a:solidFill>
                  <a:srgbClr val="1E2E3B"/>
                </a:solidFill>
                <a:latin typeface="Microsoft YaHei"/>
                <a:ea typeface="Microsoft YaHei"/>
                <a:cs typeface="Microsoft YaHei"/>
              </a:rPr>
              <a:t>¹。改善→5；反应差/危重→4。完整</a:t>
            </a:r>
          </a:p>
          <a:p>
            <a:pPr>
              <a:lnSpc>
                <a:spcPts val="1680"/>
              </a:lnSpc>
              <a:spcBef>
                <a:spcPts val="0"/>
              </a:spcBef>
              <a:spcAft>
                <a:spcPts val="0"/>
              </a:spcAft>
            </a:pPr>
            <a:r>
              <a:rPr sz="1400" b="0" lang="zh-CN">
                <a:solidFill>
                  <a:srgbClr val="1E2E3B"/>
                </a:solidFill>
                <a:latin typeface="Microsoft YaHei"/>
                <a:ea typeface="Microsoft YaHei"/>
                <a:cs typeface="Microsoft YaHei"/>
              </a:rPr>
              <a:t>递减方案见提取表。</a:t>
            </a:r>
          </a:p>
        </p:txBody>
      </p:sp>
      <p:sp>
        <p:nvSpPr>
          <p:cNvPr id="34" name="2025 p712、714–715"/>
          <p:cNvSpPr txBox="1"/>
          <p:nvPr/>
        </p:nvSpPr>
        <p:spPr>
          <a:xfrm>
            <a:off x="6654800" y="4179993"/>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p712、714–715</a:t>
            </a:r>
          </a:p>
        </p:txBody>
      </p:sp>
      <p:sp>
        <p:nvSpPr>
          <p:cNvPr id="35" name="Rectangle 34"/>
          <p:cNvSpPr/>
          <p:nvPr/>
        </p:nvSpPr>
        <p:spPr>
          <a:xfrm>
            <a:off x="419100" y="2954866"/>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4  救援：IVIG或血浆置换"/>
          <p:cNvSpPr txBox="1"/>
          <p:nvPr/>
        </p:nvSpPr>
        <p:spPr>
          <a:xfrm>
            <a:off x="558800" y="3043766"/>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4  救援：IVIG或血浆置换</a:t>
            </a:r>
          </a:p>
        </p:txBody>
      </p:sp>
      <p:sp>
        <p:nvSpPr>
          <p:cNvPr id="37" name="激素反应差可考虑血浆置换5~7次，每次1.0~1.5倍血浆容量；严重发作可联合IVIG。危重者可与激"/>
          <p:cNvSpPr txBox="1"/>
          <p:nvPr/>
        </p:nvSpPr>
        <p:spPr>
          <a:xfrm>
            <a:off x="558800" y="3335866"/>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激素反应差可考虑血浆置换5~7次，每次1.0~1.5倍血浆容</a:t>
            </a:r>
          </a:p>
          <a:p>
            <a:pPr>
              <a:lnSpc>
                <a:spcPts val="1680"/>
              </a:lnSpc>
              <a:spcBef>
                <a:spcPts val="0"/>
              </a:spcBef>
              <a:spcAft>
                <a:spcPts val="0"/>
              </a:spcAft>
            </a:pPr>
            <a:r>
              <a:rPr sz="1400" b="0" lang="zh-CN">
                <a:solidFill>
                  <a:srgbClr val="1E2E3B"/>
                </a:solidFill>
                <a:latin typeface="Microsoft YaHei"/>
                <a:ea typeface="Microsoft YaHei"/>
                <a:cs typeface="Microsoft YaHei"/>
              </a:rPr>
              <a:t>量；严重发作可联合IVIG。危重者可与激素同时启动置</a:t>
            </a:r>
          </a:p>
          <a:p>
            <a:pPr>
              <a:lnSpc>
                <a:spcPts val="1680"/>
              </a:lnSpc>
              <a:spcBef>
                <a:spcPts val="0"/>
              </a:spcBef>
              <a:spcAft>
                <a:spcPts val="0"/>
              </a:spcAft>
            </a:pPr>
            <a:r>
              <a:rPr sz="1400" b="0" lang="zh-CN">
                <a:solidFill>
                  <a:srgbClr val="1E2E3B"/>
                </a:solidFill>
                <a:latin typeface="Microsoft YaHei"/>
                <a:ea typeface="Microsoft YaHei"/>
                <a:cs typeface="Microsoft YaHei"/>
              </a:rPr>
              <a:t>换；避免IVIG后立即置换。</a:t>
            </a:r>
          </a:p>
        </p:txBody>
      </p:sp>
      <p:sp>
        <p:nvSpPr>
          <p:cNvPr id="38" name="2025 p712"/>
          <p:cNvSpPr txBox="1"/>
          <p:nvPr/>
        </p:nvSpPr>
        <p:spPr>
          <a:xfrm>
            <a:off x="558800" y="4179993"/>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p712</a:t>
            </a:r>
          </a:p>
        </p:txBody>
      </p:sp>
      <p:sp>
        <p:nvSpPr>
          <p:cNvPr id="39" name="Rectangle 38"/>
          <p:cNvSpPr/>
          <p:nvPr/>
        </p:nvSpPr>
        <p:spPr>
          <a:xfrm>
            <a:off x="419100" y="4754033"/>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5  口服激素缓减与复评"/>
          <p:cNvSpPr txBox="1"/>
          <p:nvPr/>
        </p:nvSpPr>
        <p:spPr>
          <a:xfrm>
            <a:off x="558800" y="4842933"/>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5  口服激素缓减与复评</a:t>
            </a:r>
          </a:p>
        </p:txBody>
      </p:sp>
      <p:sp>
        <p:nvSpPr>
          <p:cNvPr id="41" name="口服激素减量过程≥6个月。复评发作次数及残疾：稳定无复发→临床随访；首次严重且恢复差或发作≥2次→6"/>
          <p:cNvSpPr txBox="1"/>
          <p:nvPr/>
        </p:nvSpPr>
        <p:spPr>
          <a:xfrm>
            <a:off x="558800" y="5135033"/>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口服激素减量过程≥6个月。复评发作次数及残疾：稳定</a:t>
            </a:r>
          </a:p>
          <a:p>
            <a:pPr>
              <a:lnSpc>
                <a:spcPts val="1680"/>
              </a:lnSpc>
              <a:spcBef>
                <a:spcPts val="0"/>
              </a:spcBef>
              <a:spcAft>
                <a:spcPts val="0"/>
              </a:spcAft>
            </a:pPr>
            <a:r>
              <a:rPr sz="1400" b="0" lang="zh-CN">
                <a:solidFill>
                  <a:srgbClr val="1E2E3B"/>
                </a:solidFill>
                <a:latin typeface="Microsoft YaHei"/>
                <a:ea typeface="Microsoft YaHei"/>
                <a:cs typeface="Microsoft YaHei"/>
              </a:rPr>
              <a:t>无复发→临床随访；首次严重且恢复差或发作≥2次→6。</a:t>
            </a:r>
          </a:p>
          <a:p>
            <a:pPr>
              <a:lnSpc>
                <a:spcPts val="1680"/>
              </a:lnSpc>
              <a:spcBef>
                <a:spcPts val="0"/>
              </a:spcBef>
              <a:spcAft>
                <a:spcPts val="0"/>
              </a:spcAft>
            </a:pPr>
            <a:r>
              <a:rPr sz="1400" b="0" lang="zh-CN">
                <a:solidFill>
                  <a:srgbClr val="1E2E3B"/>
                </a:solidFill>
                <a:latin typeface="Microsoft YaHei"/>
                <a:ea typeface="Microsoft YaHei"/>
                <a:cs typeface="Microsoft YaHei"/>
              </a:rPr>
              <a:t>勿按抗体滴度单独停药。</a:t>
            </a:r>
          </a:p>
        </p:txBody>
      </p:sp>
      <p:sp>
        <p:nvSpPr>
          <p:cNvPr id="42" name="2025 p708、710、712、714–715"/>
          <p:cNvSpPr txBox="1"/>
          <p:nvPr/>
        </p:nvSpPr>
        <p:spPr>
          <a:xfrm>
            <a:off x="558800" y="5979160"/>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p708、710、712、714–715</a:t>
            </a:r>
          </a:p>
        </p:txBody>
      </p:sp>
      <p:sp>
        <p:nvSpPr>
          <p:cNvPr id="43" name="Rectangle 42"/>
          <p:cNvSpPr/>
          <p:nvPr/>
        </p:nvSpPr>
        <p:spPr>
          <a:xfrm>
            <a:off x="6515100" y="4754033"/>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6  符合条件：序贯预防复发"/>
          <p:cNvSpPr txBox="1"/>
          <p:nvPr/>
        </p:nvSpPr>
        <p:spPr>
          <a:xfrm>
            <a:off x="6654800" y="4842933"/>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6  符合条件：序贯预防复发</a:t>
            </a:r>
          </a:p>
        </p:txBody>
      </p:sp>
      <p:sp>
        <p:nvSpPr>
          <p:cNvPr id="45" name="首次严重、恢复差（如EDSS仍≥2分、视力仍&lt;0.6），或发作≥2次，可考虑序贯治疗。选择免疫抑制剂"/>
          <p:cNvSpPr txBox="1"/>
          <p:nvPr/>
        </p:nvSpPr>
        <p:spPr>
          <a:xfrm>
            <a:off x="6654800" y="5135033"/>
            <a:ext cx="4978400" cy="70358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首次严重、恢复差（如EDSS仍≥2分、视力仍&lt;0.6），或</a:t>
            </a:r>
          </a:p>
          <a:p>
            <a:pPr>
              <a:lnSpc>
                <a:spcPts val="1680"/>
              </a:lnSpc>
              <a:spcBef>
                <a:spcPts val="0"/>
              </a:spcBef>
              <a:spcAft>
                <a:spcPts val="0"/>
              </a:spcAft>
            </a:pPr>
            <a:r>
              <a:rPr sz="1400" b="0" lang="zh-CN">
                <a:solidFill>
                  <a:srgbClr val="1E2E3B"/>
                </a:solidFill>
                <a:latin typeface="Microsoft YaHei"/>
                <a:ea typeface="Microsoft YaHei"/>
                <a:cs typeface="Microsoft YaHei"/>
              </a:rPr>
              <a:t>发作≥2次，可考虑序贯治疗。选择免疫抑制剂/生物制剂/</a:t>
            </a:r>
          </a:p>
          <a:p>
            <a:pPr>
              <a:lnSpc>
                <a:spcPts val="1680"/>
              </a:lnSpc>
              <a:spcBef>
                <a:spcPts val="0"/>
              </a:spcBef>
              <a:spcAft>
                <a:spcPts val="0"/>
              </a:spcAft>
            </a:pPr>
            <a:r>
              <a:rPr sz="1400" b="0" lang="zh-CN">
                <a:solidFill>
                  <a:srgbClr val="1E2E3B"/>
                </a:solidFill>
                <a:latin typeface="Microsoft YaHei"/>
                <a:ea typeface="Microsoft YaHei"/>
                <a:cs typeface="Microsoft YaHei"/>
              </a:rPr>
              <a:t>间歇IVIG，落实筛查与监测。</a:t>
            </a:r>
          </a:p>
        </p:txBody>
      </p:sp>
      <p:sp>
        <p:nvSpPr>
          <p:cNvPr id="46" name="2025 p714–715"/>
          <p:cNvSpPr txBox="1"/>
          <p:nvPr/>
        </p:nvSpPr>
        <p:spPr>
          <a:xfrm>
            <a:off x="6654800" y="5979160"/>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2025 p714–715</a:t>
            </a:r>
          </a:p>
        </p:txBody>
      </p:sp>
      <p:sp>
        <p:nvSpPr>
          <p:cNvPr id="47" name="跨行分支：3→5 治疗改善后"/>
          <p:cNvSpPr txBox="1"/>
          <p:nvPr/>
        </p:nvSpPr>
        <p:spPr>
          <a:xfrm>
            <a:off x="419100" y="6299200"/>
            <a:ext cx="11353800" cy="190500"/>
          </a:xfrm>
          <a:prstGeom prst="rect">
            <a:avLst/>
          </a:prstGeom>
          <a:noFill/>
        </p:spPr>
        <p:txBody>
          <a:bodyPr wrap="none" lIns="0" rIns="0" tIns="0" bIns="0" anchor="t">
            <a:noAutofit/>
          </a:bodyPr>
          <a:lstStyle/>
          <a:p>
            <a:pPr>
              <a:lnSpc>
                <a:spcPts val="1000"/>
              </a:lnSpc>
              <a:spcBef>
                <a:spcPts val="0"/>
              </a:spcBef>
              <a:spcAft>
                <a:spcPts val="0"/>
              </a:spcAft>
            </a:pPr>
            <a:r>
              <a:rPr sz="850" b="0" lang="zh-CN">
                <a:solidFill>
                  <a:srgbClr val="526578"/>
                </a:solidFill>
                <a:latin typeface="Microsoft YaHei"/>
                <a:ea typeface="Microsoft YaHei"/>
                <a:cs typeface="Microsoft YaHei"/>
              </a:rPr>
              <a:t>跨行分支：3→5 治疗改善后</a:t>
            </a:r>
          </a:p>
        </p:txBody>
      </p:sp>
      <p:sp>
        <p:nvSpPr>
          <p:cNvPr id="48" name="节点内条件优先；未列阈值不补编。完整证据、禁忌与特殊人群见提取表。"/>
          <p:cNvSpPr txBox="1"/>
          <p:nvPr/>
        </p:nvSpPr>
        <p:spPr>
          <a:xfrm>
            <a:off x="419100" y="6667500"/>
            <a:ext cx="11353800" cy="192633"/>
          </a:xfrm>
          <a:prstGeom prst="rect">
            <a:avLst/>
          </a:prstGeom>
          <a:noFill/>
        </p:spPr>
        <p:txBody>
          <a:bodyPr wrap="none" lIns="0" rIns="0" tIns="0" bIns="0" anchor="t">
            <a:noAutofit/>
          </a:bodyPr>
          <a:lstStyle/>
          <a:p>
            <a:pPr>
              <a:lnSpc>
                <a:spcPts val="1016"/>
              </a:lnSpc>
              <a:spcBef>
                <a:spcPts val="0"/>
              </a:spcBef>
              <a:spcAft>
                <a:spcPts val="0"/>
              </a:spcAft>
            </a:pPr>
            <a:r>
              <a:rPr sz="819" b="0" lang="zh-CN">
                <a:solidFill>
                  <a:srgbClr val="526578"/>
                </a:solidFill>
                <a:latin typeface="Microsoft YaHei"/>
                <a:ea typeface="Microsoft YaHei"/>
                <a:cs typeface="Microsoft YaHei"/>
              </a:rPr>
              <a:t>节点内条件优先；未列阈值不补编。完整证据、禁忌与特殊人群见提取表。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