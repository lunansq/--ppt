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7" name="病史、远近视力、儿童睫状肌麻痹验光；眼位/运动及双眼视。先矫屈光、治弱视；急性内斜先排颅内病。"/>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1E2E3B"/>
                </a:solidFill>
                <a:latin typeface="Microsoft YaHei"/>
                <a:ea typeface="Microsoft YaHei"/>
                <a:cs typeface="Microsoft YaHei"/>
              </a:rPr>
              <a:t>视。先矫屈光、治弱视；急性内斜先排颅内病。</a:t>
            </a:r>
          </a:p>
        </p:txBody>
      </p:sp>
      <p:sp>
        <p:nvSpPr>
          <p:cNvPr id="8" name="2026 PDF1–4、7–8、19–20"/>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9" name="Rectangle 8"/>
          <p:cNvSpPr/>
          <p:nvPr/>
        </p:nvSpPr>
        <p:spPr>
          <a:xfrm>
            <a:off x="172720" y="1511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01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12" name="2026 PDF5–7"/>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13" name="Rectangle 12"/>
          <p:cNvSpPr/>
          <p:nvPr/>
        </p:nvSpPr>
        <p:spPr>
          <a:xfrm>
            <a:off x="172720" y="2425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16" name="2026 PDF4–5、9–1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17" name="Rectangle 16"/>
          <p:cNvSpPr/>
          <p:nvPr/>
        </p:nvSpPr>
        <p:spPr>
          <a:xfrm>
            <a:off x="172720" y="3192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20" name="2026 PDF9–10"/>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5" name="Rectangle 4"/>
          <p:cNvSpPr/>
          <p:nvPr/>
        </p:nvSpPr>
        <p:spPr>
          <a:xfrm>
            <a:off x="172720" y="744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9" name="Rectangle 8"/>
          <p:cNvSpPr/>
          <p:nvPr/>
        </p:nvSpPr>
        <p:spPr>
          <a:xfrm>
            <a:off x="172720" y="1511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12" name="2026 PDF19–2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13" name="Rectangle 12"/>
          <p:cNvSpPr/>
          <p:nvPr/>
        </p:nvSpPr>
        <p:spPr>
          <a:xfrm>
            <a:off x="172720" y="2278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5" name="术后1天、1周、1月、3月、6月；后每6～12个月，至视觉发育成熟。调节性内斜5岁前每6月验光，之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1E2E3B"/>
                </a:solidFill>
                <a:latin typeface="Microsoft YaHei"/>
                <a:ea typeface="Microsoft YaHei"/>
                <a:cs typeface="Microsoft YaHei"/>
              </a:rPr>
              <a:t>育成熟。调节性内斜5岁前每6月验光，之后每年。</a:t>
            </a:r>
          </a:p>
        </p:txBody>
      </p:sp>
      <p:sp>
        <p:nvSpPr>
          <p:cNvPr id="16" name="2026 PDF5–6、2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17" name="Rectangle 16"/>
          <p:cNvSpPr/>
          <p:nvPr/>
        </p:nvSpPr>
        <p:spPr>
          <a:xfrm>
            <a:off x="172720" y="3045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35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20" name="2026 PDF9–21"/>
          <p:cNvSpPr txBox="1"/>
          <p:nvPr/>
        </p:nvSpPr>
        <p:spPr>
          <a:xfrm>
            <a:off x="274320" y="3703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