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fungal-02 病原诊断：真菌培养、角膜涂片镜检或共焦激光显微镜任一项发现真菌菌丝或孢子，纳入真菌性角膜溃疡病例。</a:t>
            </a:r>
          </a:p>
          <a:p>
            <a:r>
              <a:t>来源：2026 刊p123 / PDF2；类别：检查；推荐等级：原文未明确。</a:t>
            </a:r>
          </a:p>
          <a:p>
            <a:r>
              <a:t>原文锚点：医眼耳鼻喉杂志2026年第16卷第2期JChinOphthalmolandOtorhi菌性角膜溃疡患者的临床疗效。1.2纳入标准及排除标准纳入标准:①行真菌培养、角膜涂片镜检或共焦激光激光显微镜检查,其中任一项发现真菌菌丝或孢子,诊断为真菌性角膜溃疡;②裂隙灯检查及前节OCT检查示病灶浸润深度≤1/2角膜厚度;③溃疡病灶位于角膜中央或旁中央;④入院后全身及局部常规抗真菌治疗3~7d未见明显好转者。排除标准:①非真菌性角膜感染;②角膜全层穿孔;③合并眼内炎;④各种出血性、凝血性疾病;⑤严重全身基础疾病,如高血压、糖尿</a:t>
            </a:r>
          </a:p>
          <a:p/>
          <a:p>
            <a:r>
              <a:t>fungal-03 入选条件：中央或旁中央病灶；裂隙灯及前节OCT示浸润深度≤1/2角膜厚度；全身及局部抗真菌治疗3~7 d未见明显好转。</a:t>
            </a:r>
          </a:p>
          <a:p>
            <a:r>
              <a:t>来源：2026 刊p123 / PDF2；类别：适用人群；推荐等级：原文未明确。</a:t>
            </a:r>
          </a:p>
          <a:p>
            <a:r>
              <a:t>原文锚点：涂片镜检或共焦激光激光显微镜检查,其中任一项发现真菌菌丝或孢子,诊断为真菌性角膜溃疡;②裂隙灯检查及前节OCT检查示病灶浸润深度≤1/2角膜厚度;③溃疡病灶位于角膜中央或旁中央;④入院后全身及局部常规抗真菌治疗3~7d未见明显好转者。排除标准:①非真菌性角膜感染;②角膜全层穿孔;③合并眼内炎;④各种出血性、凝血性疾病;⑤严重全身基础疾病,如高血压、糖尿病等控制不佳者。1.3方法1.3.1术前治疗①全身予以氟康唑注射液0.2g,静滴,一天一次。②局部予以5%那他霉素滴眼液,每氟康唑滴眼小时1次;灭菌注射用水配制的10</a:t>
            </a:r>
          </a:p>
          <a:p/>
          <a:p>
            <a:r>
              <a:t>fungal-04 排除条件：非真菌性角膜感染、全层穿孔、眼内炎、出血/凝血疾病，以及高血压、糖尿病等严重基础病控制不佳者被排除。</a:t>
            </a:r>
          </a:p>
          <a:p>
            <a:r>
              <a:t>来源：2026 刊p123 / PDF2；类别：禁忌；推荐等级：原文未明确。</a:t>
            </a:r>
          </a:p>
          <a:p>
            <a:r>
              <a:t>原文锚点：杂志2026年第16卷第2期JChinOphthalmolandOtorhi菌性角膜溃疡患者的临床疗效。1.2纳入标准及排除标准纳入标准:①行真菌培养、角膜涂片镜检或共焦激光激光显微镜检查,其中任一项发现真菌菌丝或孢子,诊断为真菌性角膜溃疡;②裂隙灯检查及前节OCT检查示病灶浸润深度≤1/2角膜厚度;③溃疡病灶位于角膜中央或旁中央;④入院后全身及局部常规抗真菌治疗3~7d未见明显好转者。排除标准:①非真菌性角膜感染;②角膜全层穿孔;③合并眼内炎;④各种出血性、凝血性疾病;⑤严重全身基础疾病,如高血压、糖尿病等控制不</a:t>
            </a:r>
          </a:p>
          <a:p/>
          <a:p>
            <a:r>
              <a:t>fungal-06 术前全身用药：本文方案：氟康唑注射液0.2 g静滴，一天一次。属于研究治疗记录，不是普适处方推荐。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出血性、凝血性疾病;⑤严重全身基础疾病,如高血压、糖尿病等控制不佳者。1.3方法1.3.1术前治疗①全身予以氟康唑注射液0.2g,静滴,一天一次。②局部予以5%那他霉素滴眼液,每氟康唑滴眼小时1次;灭菌注射用水配制的10g/L液,每小时1次;小牛血去蛋白提取物眼用凝胶,睡前一次。入院后药物治疗3~7d后病情无明显好转者,则行角膜病损切除术联合基质内注射伏立康唑。1.3.2手术方式①常规消毒铺巾;②术眼球后麻醉;③30G显微注射针头于患眼颞下方角膜缘内1mm图1角膜病损切除术联合基质A-C:角膜病损切除术的过程;D-</a:t>
            </a:r>
          </a:p>
          <a:p/>
          <a:p>
            <a:r>
              <a:t>fungal-07 术前局部用药：5%那他霉素滴眼液每小时1次；10 g/L氟康唑滴眼液每小时1次；小牛血去蛋白提取物眼用凝胶睡前一次。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如高血压、糖尿病等控制不佳者。1.3方法1.3.1术前治疗①全身予以氟康唑注射液0.2g,静滴,一天一次。②局部予以5%那他霉素滴眼液,每氟康唑滴眼小时1次;灭菌注射用水配制的10g/L液,每小时1次;小牛血去蛋白提取物眼用凝胶,睡前一次。入院后药物治疗3~7d后病情无明显好转者,则行角膜病损切除术联合基质内注射伏立康唑。1.3.2手术方式①常规消毒铺巾;②术眼球后麻醉;③30G显微注射针头于患眼颞下方角膜缘内1mm图1角膜病损切除术联合基质A-C:角膜病损切除术的过程;D-F:基质内注射伏立康唑的过程2结果2.1</a:t>
            </a:r>
          </a:p>
          <a:p/>
          <a:p>
            <a:r>
              <a:t>fungal-08 病损切除范围：标记直径略大于溃疡边缘0.5 mm；切除深度不超过角膜基质层厚度1/2，以透明无浸润为准；修剪范围超过边缘0.5 mm。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,Vol.16,No.2123处,平行角膜缘缓慢穿刺,放出少量房水,在放液过程中观察前房深度;④用一次性刀片沿溃疡边缘做浅切口标记,直径略大于溃疡边缘0.5mm;⑤显微有齿镊轻拉溃疡边缘,从溃疡边缘向中心逐步剥切病变角膜组织,深度不超过角膜基质层厚度的1/2,以角膜透明无浸润为准;⑥修剪边缘残留病变组织,范围超过溃疡边缘0.5mm,同时确保边缘于正常角膜平缓过渡;⑦无菌生理盐水冲洗创面,清除残留坏死组织及分泌物;显微注射针头以⑧配制10g/L伏立康唑注射液,30G较水平的角度,于角膜溃疡切除区域的基质内进针,缓慢推</a:t>
            </a:r>
          </a:p>
          <a:p/>
          <a:p>
            <a:r>
              <a:t>fungal-09 基质注射记录：原文记录10 g/L伏立康唑注射液，30G针，多点基质内缓慢推注，留针10秒，覆盖病变区域。单点体积、总量、配制细节：原文未明确。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以⑧配制10g/L伏立康唑注射液,30G较水平的角度,于角膜溃疡切除区域的基质内进针,缓慢推注药物,形成局部药物浸润灶,留针10秒后退出针头;采取多点注射的方式,直至药物注射范围覆盖病变区域;⑨结膜囊内涂抗生素眼膏,包扎患眼(图1)。1.3.3术后治疗术后抗真菌药物开放点眼治疗,用药同术前,局部用药频次降至每日4~6次。每日裂隙灯观察角膜创面处上皮愈合情况及是否再次出现浸润。对于再次出现角膜基质浸润者,进行结膜下注射伏立康唑注射液。出院后定期随访,复查最佳矫正视力、共焦激光显微镜检查、角膜愈合情况等。内注射伏立康唑</a:t>
            </a:r>
          </a:p>
          <a:p/>
          <a:p>
            <a:r>
              <a:t>fungal-10 术后治疗：术后用药同术前，局部频次降至每日4~6次；每日裂隙灯观察上皮愈合和再浸润。再浸润者采用结膜下注射伏立康唑，剂量原文未明确。</a:t>
            </a:r>
          </a:p>
          <a:p>
            <a:r>
              <a:t>来源：2026 刊p123 / PDF2；类别：随访；推荐等级：原文未明确。</a:t>
            </a:r>
          </a:p>
          <a:p>
            <a:r>
              <a:t>原文锚点：10秒后退出针头;采取多点注射的方式,直至药物注射范围覆盖病变区域;⑨结膜囊内涂抗生素眼膏,包扎患眼(图1)。1.3.3术后治疗术后抗真菌药物开放点眼治疗,用药同术前,局部用药频次降至每日4~6次。每日裂隙灯观察角膜创面处上皮愈合情况及是否再次出现浸润。对于再次出现角膜基质浸润者,进行结膜下注射伏立康唑注射液。出院后定期随访,复查最佳矫正视力、共焦激光显微镜检查、角膜愈合情况等。内注射伏立康唑治疗的手术过程光显微镜检查发现真菌菌丝。2.2术后治疗效果经治疗后,21例(91.3%)病情得到有效控制,溃疡愈合时间5~1</a:t>
            </a:r>
          </a:p>
          <a:p/>
          <a:p>
            <a:r>
              <a:t>fungal-13 随访项目：出院后复查最佳矫正视力、共焦激光显微镜与角膜愈合情况；统一复诊间隔、停药标准、特殊人群剂量：原文未明确。</a:t>
            </a:r>
          </a:p>
          <a:p>
            <a:r>
              <a:t>来源：2026 刊p123 / PDF2；类别：随访；推荐等级：原文未明确。</a:t>
            </a:r>
          </a:p>
          <a:p>
            <a:r>
              <a:t>原文锚点：6次。每日裂隙灯观察角膜创面处上皮愈合情况及是否再次出现浸润。对于再次出现角膜基质浸润者,进行结膜下注射伏立康唑注射液。出院后定期随访,复查最佳矫正视力、共焦激光显微镜检查、角膜愈合情况等。内注射伏立康唑治疗的手术过程光显微镜检查发现真菌菌丝。2.2术后治疗效果经治疗后,21例(91.3%)病情得到有效控制,溃疡愈合时间5~17d。2例(8.7%)术后再次出现角膜溃疡浸润灶,予以结膜下注射伏立康唑注射液后,浸润减轻,溃疡未向深层发展。所有病例均未因感染加重而需接受角膜移植术(表1)。出院后随诊,所有患者角膜溃疡完全</a:t>
            </a:r>
          </a:p>
          <a:p/>
          <a:p>
            <a:r>
              <a:t>fungal-14 研究局限：样本小、随访较短、无对照；不能证明优于药物或移植，也不能据此推广至深层浸润、穿孔或眼内炎患者。</a:t>
            </a:r>
          </a:p>
          <a:p>
            <a:r>
              <a:t>来源：2026 刊p123、125 / PDF2、4；类别：研究局限；推荐等级：原文未明确。</a:t>
            </a:r>
          </a:p>
          <a:p>
            <a:r>
              <a:t>原文锚点：待角膜供体的患者争取缓冲时间。这种治疗方式极大程度上减轻了患者的身心痛苦与经济负担,可进行临床推广。但是本文仍然存在一定局限性。首先本研究样本量较小、随访时间较短,结论普适性有效。其次,本研究中有2例患者术后再次出现浸润灶,建议后续治疗中规范眼部护理,加强健康宣讲,提升患者依从性,减少不良后果发生。另外,随访时1例患者确诊并发性白内障,这与前房炎症侵袭、药物干扰相关,因此应尽早控制炎症,同时术中严格把控注射药量,减少对晶状体的隐匿损伤。最后,随访发现2例患者出现远视漂移,建议术前与患者充分沟通,告知远视漂移风险,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382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一页流程｜真菌性角膜溃疡：病损切除联合伏立康唑"/>
          <p:cNvSpPr txBox="1"/>
          <p:nvPr/>
        </p:nvSpPr>
        <p:spPr>
          <a:xfrm>
            <a:off x="368300" y="203200"/>
            <a:ext cx="9955400" cy="4257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852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一页流程</a:t>
            </a:r>
            <a:r>
              <a:rPr sz="2300" b="1" lang="zh-CN">
                <a:solidFill>
                  <a:srgbClr val="FFFFFF"/>
                </a:solidFill>
                <a:latin typeface="Arial"/>
                <a:ea typeface="Arial"/>
                <a:cs typeface="Arial"/>
              </a:rPr>
              <a:t>｜</a:t>
            </a:r>
            <a:r>
              <a:rPr sz="23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</a:t>
            </a:r>
          </a:p>
        </p:txBody>
      </p:sp>
      <p:sp>
        <p:nvSpPr>
          <p:cNvPr id="4" name="研究解读路径 · 不等同指南推荐 · 2026"/>
          <p:cNvSpPr txBox="1"/>
          <p:nvPr/>
        </p:nvSpPr>
        <p:spPr>
          <a:xfrm>
            <a:off x="368300" y="965200"/>
            <a:ext cx="9955400" cy="2367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研究解读路径 · 不等同指南推荐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8300" y="1384300"/>
            <a:ext cx="4787200" cy="1762233"/>
          </a:xfrm>
          <a:prstGeom prst="rect">
            <a:avLst/>
          </a:prstGeom>
          <a:solidFill>
            <a:srgbClr val="EDF4FB"/>
          </a:solidFill>
          <a:ln w="7620">
            <a:solidFill>
              <a:srgbClr val="2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1  病原确认"/>
          <p:cNvSpPr txBox="1"/>
          <p:nvPr/>
        </p:nvSpPr>
        <p:spPr>
          <a:xfrm>
            <a:off x="520700" y="1473200"/>
            <a:ext cx="448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1  病原确认</a:t>
            </a:r>
          </a:p>
        </p:txBody>
      </p:sp>
      <p:sp>
        <p:nvSpPr>
          <p:cNvPr id="7" name="培养/涂片/共焦任一见菌丝或孢子 → 核对研究入选条件。"/>
          <p:cNvSpPr txBox="1"/>
          <p:nvPr/>
        </p:nvSpPr>
        <p:spPr>
          <a:xfrm>
            <a:off x="520700" y="1778000"/>
            <a:ext cx="4482400" cy="477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培养/涂片/共焦任一见菌丝或孢子 → 核对研究入选条</a:t>
            </a:r>
          </a:p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件。</a:t>
            </a:r>
          </a:p>
        </p:txBody>
      </p:sp>
      <p:sp>
        <p:nvSpPr>
          <p:cNvPr id="8" name="2026 刊p123 / PDF2"/>
          <p:cNvSpPr txBox="1"/>
          <p:nvPr/>
        </p:nvSpPr>
        <p:spPr>
          <a:xfrm>
            <a:off x="520700" y="2930633"/>
            <a:ext cx="448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 / PDF2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80900" y="2265416"/>
            <a:ext cx="330200" cy="0"/>
          </a:xfrm>
          <a:prstGeom prst="line">
            <a:avLst/>
          </a:prstGeom>
          <a:ln w="1778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536500" y="1384300"/>
            <a:ext cx="4787200" cy="1762233"/>
          </a:xfrm>
          <a:prstGeom prst="rect">
            <a:avLst/>
          </a:prstGeom>
          <a:solidFill>
            <a:srgbClr val="EBF7F5"/>
          </a:solidFill>
          <a:ln w="7620">
            <a:solidFill>
              <a:srgbClr val="147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2  是否符合研究范围？"/>
          <p:cNvSpPr txBox="1"/>
          <p:nvPr/>
        </p:nvSpPr>
        <p:spPr>
          <a:xfrm>
            <a:off x="5688900" y="1473200"/>
            <a:ext cx="448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2  是否符合研究范围？</a:t>
            </a:r>
          </a:p>
        </p:txBody>
      </p:sp>
      <p:sp>
        <p:nvSpPr>
          <p:cNvPr id="12" name="中央/旁中央且浸润≤1/2角膜厚度？否 → 不适用本文路径；是 → 核对排除条件。"/>
          <p:cNvSpPr txBox="1"/>
          <p:nvPr/>
        </p:nvSpPr>
        <p:spPr>
          <a:xfrm>
            <a:off x="5688900" y="1778000"/>
            <a:ext cx="4482400" cy="477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中央/旁中央且浸润≤1/2角膜厚度？否 → 不适用本文路</a:t>
            </a:r>
          </a:p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径；是 → 核对排除条件。</a:t>
            </a:r>
          </a:p>
        </p:txBody>
      </p:sp>
      <p:sp>
        <p:nvSpPr>
          <p:cNvPr id="13" name="2026 刊p123 / PDF2"/>
          <p:cNvSpPr txBox="1"/>
          <p:nvPr/>
        </p:nvSpPr>
        <p:spPr>
          <a:xfrm>
            <a:off x="5688900" y="2930633"/>
            <a:ext cx="448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 / PDF2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30100" y="3171933"/>
            <a:ext cx="0" cy="190500"/>
          </a:xfrm>
          <a:prstGeom prst="line">
            <a:avLst/>
          </a:prstGeom>
          <a:ln w="1778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536500" y="3387833"/>
            <a:ext cx="4787200" cy="1762233"/>
          </a:xfrm>
          <a:prstGeom prst="rect">
            <a:avLst/>
          </a:prstGeom>
          <a:solidFill>
            <a:srgbClr val="FFF4E8"/>
          </a:solidFill>
          <a:ln w="7620">
            <a:solidFill>
              <a:srgbClr val="A95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3  初始抗真菌治疗"/>
          <p:cNvSpPr txBox="1"/>
          <p:nvPr/>
        </p:nvSpPr>
        <p:spPr>
          <a:xfrm>
            <a:off x="5688900" y="3476733"/>
            <a:ext cx="448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3  初始抗真菌治疗</a:t>
            </a:r>
          </a:p>
        </p:txBody>
      </p:sp>
      <p:sp>
        <p:nvSpPr>
          <p:cNvPr id="17" name="按本文术前方案记录治疗；3~7 d无明显好转 → 研究中进入手术评估。"/>
          <p:cNvSpPr txBox="1"/>
          <p:nvPr/>
        </p:nvSpPr>
        <p:spPr>
          <a:xfrm>
            <a:off x="5688900" y="3781533"/>
            <a:ext cx="4482400" cy="477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按本文术前方案记录治疗；3~7 d无明显好转 → 研究中</a:t>
            </a:r>
          </a:p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进入手术评估。</a:t>
            </a:r>
          </a:p>
        </p:txBody>
      </p:sp>
      <p:sp>
        <p:nvSpPr>
          <p:cNvPr id="18" name="2026 刊p123 / PDF2"/>
          <p:cNvSpPr txBox="1"/>
          <p:nvPr/>
        </p:nvSpPr>
        <p:spPr>
          <a:xfrm>
            <a:off x="5688900" y="4934166"/>
            <a:ext cx="448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 / PDF2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5180900" y="4268950"/>
            <a:ext cx="330200" cy="0"/>
          </a:xfrm>
          <a:prstGeom prst="line">
            <a:avLst/>
          </a:prstGeom>
          <a:ln w="1778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68300" y="3387833"/>
            <a:ext cx="4787200" cy="1762233"/>
          </a:xfrm>
          <a:prstGeom prst="rect">
            <a:avLst/>
          </a:prstGeom>
          <a:solidFill>
            <a:srgbClr val="F3EFF8"/>
          </a:solidFill>
          <a:ln w="7620">
            <a:solidFill>
              <a:srgbClr val="695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4  研究手术方案"/>
          <p:cNvSpPr txBox="1"/>
          <p:nvPr/>
        </p:nvSpPr>
        <p:spPr>
          <a:xfrm>
            <a:off x="520700" y="3476733"/>
            <a:ext cx="448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4  研究手术方案</a:t>
            </a:r>
          </a:p>
        </p:txBody>
      </p:sp>
      <p:sp>
        <p:nvSpPr>
          <p:cNvPr id="22" name="病损切除联合多点基质伏立康唑；总注射体积原文未明确，不补造。"/>
          <p:cNvSpPr txBox="1"/>
          <p:nvPr/>
        </p:nvSpPr>
        <p:spPr>
          <a:xfrm>
            <a:off x="520700" y="3781533"/>
            <a:ext cx="4482400" cy="477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病损切除联合多点基质伏立康唑；总注射体积原文未明</a:t>
            </a:r>
          </a:p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确，不补造。</a:t>
            </a:r>
          </a:p>
        </p:txBody>
      </p:sp>
      <p:sp>
        <p:nvSpPr>
          <p:cNvPr id="23" name="2026 刊p123 / PDF2"/>
          <p:cNvSpPr txBox="1"/>
          <p:nvPr/>
        </p:nvSpPr>
        <p:spPr>
          <a:xfrm>
            <a:off x="520700" y="4934166"/>
            <a:ext cx="448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 / PDF2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61900" y="5175466"/>
            <a:ext cx="0" cy="190500"/>
          </a:xfrm>
          <a:prstGeom prst="line">
            <a:avLst/>
          </a:prstGeom>
          <a:ln w="1778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68300" y="5391366"/>
            <a:ext cx="4787200" cy="1762233"/>
          </a:xfrm>
          <a:prstGeom prst="rect">
            <a:avLst/>
          </a:prstGeom>
          <a:solidFill>
            <a:srgbClr val="FCEFF0"/>
          </a:solidFill>
          <a:ln w="7620">
            <a:solidFill>
              <a:srgbClr val="A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5  术后是否再浸润？"/>
          <p:cNvSpPr txBox="1"/>
          <p:nvPr/>
        </p:nvSpPr>
        <p:spPr>
          <a:xfrm>
            <a:off x="520700" y="5480266"/>
            <a:ext cx="448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5  术后是否再浸润？</a:t>
            </a:r>
          </a:p>
        </p:txBody>
      </p:sp>
      <p:sp>
        <p:nvSpPr>
          <p:cNvPr id="27" name="每日裂隙灯；再浸润 → 原文追加结膜下注射（剂量未明确）；无 → 继续观察愈合。"/>
          <p:cNvSpPr txBox="1"/>
          <p:nvPr/>
        </p:nvSpPr>
        <p:spPr>
          <a:xfrm>
            <a:off x="520700" y="5785066"/>
            <a:ext cx="4482400" cy="477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每日裂隙灯；再浸润 → 原文追加结膜下注射（剂量未明</a:t>
            </a:r>
          </a:p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确）；无 → 继续观察愈合。</a:t>
            </a:r>
          </a:p>
        </p:txBody>
      </p:sp>
      <p:sp>
        <p:nvSpPr>
          <p:cNvPr id="28" name="2026 刊p123 / PDF2"/>
          <p:cNvSpPr txBox="1"/>
          <p:nvPr/>
        </p:nvSpPr>
        <p:spPr>
          <a:xfrm>
            <a:off x="520700" y="6937700"/>
            <a:ext cx="448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 / PDF2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180900" y="6272483"/>
            <a:ext cx="330200" cy="0"/>
          </a:xfrm>
          <a:prstGeom prst="line">
            <a:avLst/>
          </a:prstGeom>
          <a:ln w="1778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536500" y="5391366"/>
            <a:ext cx="4787200" cy="1762233"/>
          </a:xfrm>
          <a:prstGeom prst="rect">
            <a:avLst/>
          </a:prstGeom>
          <a:solidFill>
            <a:srgbClr val="F3EFF8"/>
          </a:solidFill>
          <a:ln w="7620">
            <a:solidFill>
              <a:srgbClr val="695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6  随访与研究边界"/>
          <p:cNvSpPr txBox="1"/>
          <p:nvPr/>
        </p:nvSpPr>
        <p:spPr>
          <a:xfrm>
            <a:off x="5688900" y="5480266"/>
            <a:ext cx="448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6  随访与研究边界</a:t>
            </a:r>
          </a:p>
        </p:txBody>
      </p:sp>
      <p:sp>
        <p:nvSpPr>
          <p:cNvPr id="32" name="复查视力/共焦/愈合；统一停药与复诊阈值未明确。此为研究路径，不是指南推荐。"/>
          <p:cNvSpPr txBox="1"/>
          <p:nvPr/>
        </p:nvSpPr>
        <p:spPr>
          <a:xfrm>
            <a:off x="5688900" y="5785066"/>
            <a:ext cx="4482400" cy="477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复查视力/共焦/愈合；统一停药与复诊阈值未明确。此</a:t>
            </a:r>
          </a:p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为研究路径，不是指南推荐。</a:t>
            </a:r>
          </a:p>
        </p:txBody>
      </p:sp>
      <p:sp>
        <p:nvSpPr>
          <p:cNvPr id="33" name="2026 刊p123、125 / PDF2、4"/>
          <p:cNvSpPr txBox="1"/>
          <p:nvPr/>
        </p:nvSpPr>
        <p:spPr>
          <a:xfrm>
            <a:off x="5688900" y="6937700"/>
            <a:ext cx="448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刊p123、125 / PDF2、4</a:t>
            </a:r>
          </a:p>
        </p:txBody>
      </p:sp>
      <p:sp>
        <p:nvSpPr>
          <p:cNvPr id="34" name="流程为整理表达；原文未明确的切点、剂量或等级不补编。完整证据与特殊分支见提取表。"/>
          <p:cNvSpPr txBox="1"/>
          <p:nvPr/>
        </p:nvSpPr>
        <p:spPr>
          <a:xfrm>
            <a:off x="368300" y="7306000"/>
            <a:ext cx="9955400" cy="2020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91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流程为整理表达；原文未明确的切点、剂量或等级不补编。完整证据与特殊分支见提取表。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真菌性角膜溃疡：病损切除联合伏立康唑 一页流程</dc:title>
  <dc:subject>上传文献原文摘录；原生可编辑文字和图形</dc:subject>
  <dc:creator>眼科临床速查资料整理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