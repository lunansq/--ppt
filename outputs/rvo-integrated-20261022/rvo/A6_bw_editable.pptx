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3780000" cy="532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rvo-03 解剖分型：中国解读主要采用CRVO（中央静脉阻塞）与BRVO（分支静脉阻塞）；西意见另列HRVO（半侧视网膜静脉阻塞），其病程、预后和管理更接近CRVO。</a:t>
            </a:r>
          </a:p>
          <a:p>
            <a:r>
              <a:t>来源：中①2024 p187（PDF2）；西2025 PDF2；类别：诊断；推荐等级：原文未明确。</a:t>
            </a:r>
          </a:p>
          <a:p>
            <a:r>
              <a:t>原文锚点：中① PDF2：定义、阶段性及其与自然病程的关系为使诊疗路径更具可操作性,本共识按静脉阻塞发生的位置将RVO分为视网膜中央静脉阻塞(CRVO)和视网膜分支静脉阻塞(BRVO)两种类型[1]。按荧光素眼底血管造影(FFA)所示视网膜毛细血管无灌注区(NP)面积,每种类型又可进一步分为缺血型和非缺血型[4]。缺血型CRVO指基线时NP面积“足够大”(标准7视野FFA中NP&gt;10个视盘面积、超广角FFA中NP&gt;75个视盘面积和缺血指数≥35%)且随访中更容易发生眼前后节新生血管事件的RVO[5-7],其判断通</a:t>
            </a:r>
          </a:p>
          <a:p>
            <a:r>
              <a:t>西 PDF2：ulation(Fig.1).3Hemiretinalveinocclusion(HRVO):anintermediatevari-antbetweenBRVOandCRVO,althoughitsclinicalcourse,prognosis,andmanagementareclosertothatofCRVO.Theocclusionoccursinthecentralretinalveintrunk,onlyaffectingthesuperiororinferiorhalfof</a:t>
            </a:r>
          </a:p>
          <a:p/>
          <a:p>
            <a:r>
              <a:t>rvo-05 眼病与全身危险因素同步管理：寻找并控制高血压、糖尿病、血脂异常、吸烟等心血管危险因素，评估青光眼等局部因素。病因筛查与眼部治疗同步进行，不能因等待病因结果延误并发症治疗。</a:t>
            </a:r>
          </a:p>
          <a:p>
            <a:r>
              <a:t>来源：中①2024 p187（PDF2）；西2025 PDF2–4、6；类别：病因；推荐等级：原文未明确。</a:t>
            </a:r>
          </a:p>
          <a:p>
            <a:r>
              <a:t>原文锚点：中① PDF2：RVO患者的长期预后非常重要。但不应过分强调寻找病因而因此延误眼部治疗。病因/危险因素的筛查过程应与眼部并发症的诊疗过程同步进行[16]。黄斑水肿、NP和眼前后节新生血管形成,以及晚期玻璃体积血、视网膜脱离甚至NVG发生,既是RVO眼部主要并发症,也是RVO危害视功能的主要方式[16],因此也成为基线时应重点评估的眼科内容。强调OCT、超广角FFA和超广角OCTA在基线时对评估患眼是否需要治疗、需要何种治疗及治疗紧迫性的作用[9]。对病程超过2个月的患眼,无论眼前节是否存在新生血管,还应</a:t>
            </a:r>
          </a:p>
          <a:p>
            <a:r>
              <a:t>西 PDF2：ARTICLE+ModelRCENG-502307;No.ofPages9J.PagánEscribano,L.CastillaGuPALABRASCLAVEOclusión;Vena;Retina;Riesgovascular;EnfermedadvenosatromboembólicaDocumentodeposicionamResumenLaoclusiónvenoscostalescomohipertensióndelasrecomendacion</a:t>
            </a:r>
          </a:p>
          <a:p/>
          <a:p>
            <a:r>
              <a:t>rvo-07 首诊需要回答三个问题：同步评估：病因/危险因素、眼部严重程度、需密切关注或立即处理的并发症。重点寻找黄斑水肿（ME）、无灌注区（NP）、眼前后节新生血管及NVG。</a:t>
            </a:r>
          </a:p>
          <a:p>
            <a:r>
              <a:t>来源：中①2024 p187（PDF2）；类别：首诊评估；推荐等级：原文未明确。</a:t>
            </a:r>
          </a:p>
          <a:p>
            <a:r>
              <a:t>原文锚点：中① PDF2：O患者初诊时全面病情评估的重要性初诊RVO患者的评估内容包括寻找病因和危险因素、判断眼部病情严重程度和寻找需要密切关注/立即处置的并发症三个方面。RVO的发病机制大致可分为并发于低灌注压的RVO、并发于系统性或眼局部炎性疾病的RVO、并发于系统性或眼局部非炎性疾病的RVO,以及原发性RVO四大类[12-14]。除原发性RVO外,其余三种RVO的发生皆与系统性疾病或眼局部血管性/非血管性因素有关。初诊时,临床医生需根据诱因和发病过程等病史,结合眼部体征和眼外症状/体征寻找潜在的危险因素或病</a:t>
            </a:r>
          </a:p>
          <a:p/>
          <a:p>
            <a:r>
              <a:t>rvo-11 病程超过2个月：重视房角镜：中①：病程超过2个月，无论是否已见眼前节新生血管，都强调房角镜检查，以发现常规裂隙灯下不可见的房角新生血管。此为该解读的具体时间条件。</a:t>
            </a:r>
          </a:p>
          <a:p>
            <a:r>
              <a:t>来源：中①2024 p187（PDF2）；类别：检查；推荐等级：原文未明确。</a:t>
            </a:r>
          </a:p>
          <a:p>
            <a:r>
              <a:t>原文锚点：中① PDF2：种治疗及治疗紧迫性的作用[9]。对病程超过2个月的患眼,无论眼前节是否存在新生血管,还应强调房角镜检查,以发现常规裂隙灯显微镜检查不可见的房角新生血管。已存在眼前后节新生血管的患眼需要更为迫切的治疗和密切的随访,以避免晚期并发症的发生。3规范、合理、综合地应用现有治疗手段玻璃体腔注射抗VEGF药物、糖皮质激素缓释剂治疗和视网膜激光光凝是现有的针对RVO眼部并发症的主要干预手段[6,11,17-32]。对存在病因/危险因素的RVO患者,应强调原发因素的综合管理和控制,以改善RVO的自然病程</a:t>
            </a:r>
          </a:p>
          <a:p/>
          <a:p>
            <a:r>
              <a:t>rvo-12 中①：按影像方法保留缺血参考值：中①列示CRVO：标准7视野FFA的NP&gt;10个视盘面积；超广角FFA的NP&gt;75个视盘面积及缺血指数≥35%。须结合视力、瞳孔反射及影像等判断，不把不同方法拼成一个统一必需条件。</a:t>
            </a:r>
          </a:p>
          <a:p>
            <a:r>
              <a:t>来源：中①2024 p187（PDF2）；类别：缺血分层；推荐等级：原文未明确。</a:t>
            </a:r>
          </a:p>
          <a:p>
            <a:r>
              <a:t>原文锚点：中① PDF2：一步分为缺血型和非缺血型[4]。缺血型CRVO指基线时NP面积“足够大”(标准7视野FFA中NP&gt;10个视盘面积、超广角FFA中NP&gt;75个视盘面积和缺血指数≥35%)且随访中更容易发生眼前后节新生血管事件的RVO[5-7],其判断通常需要综合视力、瞳孔反射、眼底表现和FFA/光相干断层扫描(OCT)血管成像(OCTA)/视网膜电图等辅助检查综合完成[7-10]。缺血型BRVO的定义尚有争议,因其较少发生NVG,所以界定不像缺血型CRVO那般紧迫[11]。RVO的NP面积可随起病后时间延</a:t>
            </a:r>
          </a:p>
          <a:p/>
          <a:p>
            <a:r>
              <a:t>rvo-13 中②：不能只凭10 DA贴标签：中②强调缺血型CRVO界定有争议，不支持只凭10 DA；另引述无灌注可视范围&gt;55°与风险的关系。角度、面积、视野范围不得自行换算或混用。</a:t>
            </a:r>
          </a:p>
          <a:p>
            <a:r>
              <a:t>来源：中②2024 p266（PDF3）；类别：来源差异；推荐等级：原文未明确。</a:t>
            </a:r>
          </a:p>
          <a:p>
            <a:r>
              <a:t>原文锚点：中② PDF3：据此分为缺血型和非缺血型两种,而缺血型的确立标准存有争议[18]。尽管大部分眼科教材沿用的观点认为,一旦视网膜毛细血管无灌注区达到10个视盘面积(DA)即视为缺血型[17]。而美国CRVO研究组(CVOS)进行的一项多中心研究提出,在荧光素眼底血管造影下无灌注区大于55°(1DA约为10°~12°)的可视面积,则提示较高的新生血管发生风险[19]。因此,CVOS并不支持单纯以10DA作为界定缺血型CRVO的标准[19]。为了精确判断缺血与非缺血状态,现今推荐使用广角OCT血管成像或广角荧</a:t>
            </a:r>
          </a:p>
          <a:p/>
          <a:p>
            <a:r>
              <a:t>rvo-16 新生血管/NVG需要优先处理：病程短的CRVO需警惕“百日青光眼”，关注虹膜及房角新生血管。已见眼前后节新生血管者需更迫切治疗和密切随访，不等待常规ME观察期。</a:t>
            </a:r>
          </a:p>
          <a:p>
            <a:r>
              <a:t>来源：中①2024 p187（PDF2）；中②2024 p265（PDF2）；类别：并发症；推荐等级：原文未明确。</a:t>
            </a:r>
          </a:p>
          <a:p>
            <a:r>
              <a:t>原文锚点：中① PDF2：显微镜检查不可见的房角新生血管。已存在眼前后节新生血管的患眼需要更为迫切的治疗和密切的随访,以避免晚期并发症的发生。3规范、合理、综合地应用现有治疗手段玻璃体腔注射抗VEGF药物、糖皮质激素缓释剂治疗和视网膜激光光凝是现有的针对RVO眼部并发症的主要干预手段[6,11,17-32]。对存在病因/危险因素的RVO患者,应强调原发因素的综合管理和控制,以改善RVO的自然病程和长期预后[16]。规范的“3+按需治疗”模式的抗VEGF药物治疗,即首诊开始每个月注射1次,连续注射3次,可下调眼内V</a:t>
            </a:r>
          </a:p>
          <a:p>
            <a:r>
              <a:t>中② PDF2：光眼(NVG)及黄斑水肿[3]。对于病程较短的CRVO,应高度警惕百日青光眼,其发生时即可见眼前节新生血管(前房角和虹膜新生血管),最终发展为NVG。面对这样的病情演变,采取中华眼底病杂志2024年4月第40卷第4期ChinJOculFundusDis,Ap积极的治疗措施至关重要,包括使用抗血管内皮生长因子(VEGF)药物以抑制新生血管生成,适时进行激光光凝以封闭新生血管,并结合降眼压治疗手段,以期稳定病情、减轻视功能损害,并尽可能恢复视觉质量[6-7]。在RVO的管理策略中,黄斑水肿的</a:t>
            </a:r>
          </a:p>
          <a:p/>
          <a:p>
            <a:r>
              <a:t>rvo-17 新生血管并发症：联合眼内与激光治疗：中②：对新生血管/NVG采取抗VEGF、适时激光光凝及降眼压治疗。中①将PRP用于已发生眼前后节新生血管或NVG的情境；抗VEGF不能代替相应激光处理。</a:t>
            </a:r>
          </a:p>
          <a:p>
            <a:r>
              <a:t>来源：中①2024 p188（PDF3）；中②2024 p265–266（PDF2–3）；类别：治疗；推荐等级：原文未明确。</a:t>
            </a:r>
          </a:p>
          <a:p>
            <a:r>
              <a:t>原文锚点：中② PDF2：OculFundusDis,Ap积极的治疗措施至关重要,包括使用抗血管内皮生长因子(VEGF)药物以抑制新生血管生成,适时进行激光光凝以封闭新生血管,并结合降眼压治疗手段,以期稳定病情、减轻视功能损害,并尽可能恢复视觉质量[6-7]。在RVO的管理策略中,黄斑水肿的处理占据着至关重要的地位,因为它的发展及其严重程度直接关系到视力的维持与恢复[8]。相较于糖尿病黄斑水肿和新生血管性年龄相关性黄斑变性这两种慢性眼部疾病,RVO并非持续进展性疾病。一项历时4年的临床研究揭示,抗VEGF药物能促</a:t>
            </a:r>
          </a:p>
          <a:p>
            <a:r>
              <a:t>中① PDF3：时可在远周边NP内行播散光凝,而PRP则仅在眼前后节新生血管形成/NVG发生后方考虑使用[38]。对CRVO,除非患者不具备规律复诊条件,否则不推荐在仅存NP而无眼前节新生血管时即给予预防性PRP[16,31];强调因黄斑区格栅样激光光凝无助于改善CRVO患眼的视功能,而不推荐此种光凝方式[6]。对BRVO,黄斑部局部光凝仅在病程晚期,用于因黄斑部侧支循环渗漏伴黄斑水肿、顽固黄斑水肿合并中心凹附近毛细血管扩张患眼的挽救性治疗,病程早期的黄斑水肿仍以抗VEGF药物和(或)糖皮质激素为一线治</a:t>
            </a:r>
          </a:p>
          <a:p/>
          <a:p>
            <a:r>
              <a:t>rvo-18 没有统一的治疗视力切点：中②明确：启动抗VEGF或眼内激素的统一视力阈值尚未规定；文中0.5是相关试验激光对照的适应证，不应变成所有RVO开始注药的硬切点。</a:t>
            </a:r>
          </a:p>
          <a:p>
            <a:r>
              <a:t>来源：中②2024 p265（PDF2）；类别：治疗阈值；推荐等级：原文未明确。</a:t>
            </a:r>
          </a:p>
          <a:p>
            <a:r>
              <a:t>原文锚点：中② PDF2：条件的特定患者群体[3,11]。关于启动抗VEGF药物或眼内糖皮质激素缓释剂治疗的具体视力阈值,当前的医疗实践中尚缺乏统一的明确规定[12-13]。在针对RVO开展的抗VEGF药物治疗III期临床试验中,传统激光光凝治疗被作为对照组,光凝治疗在这些临床试验的适应证是视力降至0.5[14-15]。值得注意的是,在这些临床试验中,有一部分非缺血型CRVO和BRVO的患者在未经治疗的情况下(即对照组),其视力在6个月内表现出自然改善的趋势[16]。基于此,共识认为,对于视力相对较好的RVO患者</a:t>
            </a:r>
          </a:p>
          <a:p/>
          <a:p>
            <a:r>
              <a:t>rvo-19 视功能尚好者可考虑观察：中②认为视力相对较好者可适度观察，出现明显视功能损伤时及时干预。没有给出通用“好视力”数值、统一观察时长或仅凭CMT启动注药的阈值。</a:t>
            </a:r>
          </a:p>
          <a:p>
            <a:r>
              <a:t>来源：中②2024 p265–266（PDF2–3）；类别：治疗；推荐等级：原文未明确。</a:t>
            </a:r>
          </a:p>
          <a:p>
            <a:r>
              <a:t>原文锚点：中② PDF2：趋势[16]。基于此,共识认为,对于视力相对较好的RVO患者而言,适度地观察等待病情发展是可以考虑的选择,但当患者出现明显的视功能损伤时,及时采取干预措施至关重要[17]。此外,在实际的临床决策过程中,光相干断层扫描(OCT)所测定的中央黄斑厚度因其设备差异而仅具备相对参考价值,理想的对照基准通常是患者的自pril2024,Vol.40,No.4•265•</a:t>
            </a:r>
          </a:p>
          <a:p/>
          <a:p>
            <a:r>
              <a:t>rvo-21 抗VEGF：中①给出3+按需模式：中①推荐规范“3+按需”：首诊开始每个月注射1次，连续3次，之后按需治疗。两篇中国解读均把抗VEGF作为RVO相关ME的重要一线选择；后续按病情复评。</a:t>
            </a:r>
          </a:p>
          <a:p>
            <a:r>
              <a:t>来源：中①2024 p187–188（PDF2–3）；中②2024 p265（PDF2）；类别：治疗；推荐等级：原文未明确。</a:t>
            </a:r>
          </a:p>
          <a:p>
            <a:r>
              <a:t>原文锚点：中① PDF2：O的自然病程和长期预后[16]。规范的“3+按需治疗”模式的抗VEGF药物治疗,即首诊开始每个月注射1次,连续注射3次,可下调眼内VEGF水平,暂时性减轻/消除黄斑水肿并改善视力。单克隆抗体类和融合蛋白类抗VEGF药物在安全性和有arch2024,Vol.40,No.3•187•</a:t>
            </a:r>
          </a:p>
          <a:p>
            <a:r>
              <a:t>中② PDF2：国视网膜静脉阻塞临床诊疗路径专家共识》经过业界权威专家多轮研讨后正式发表,标志着我国在RVO的诊治工作步入了新的阶段。1RVO病因学诊断的重要性和其他常见眼底病不同,RVO的诊疗应尤为注重对病因的探寻与及时的病因学导向治疗。共识将RVO病因寻找置于诊疗流程的核心位置[3]。1.1视网膜中央静脉阻塞(CRVO)常见病因并发于低灌注压的CRVO:颈动脉、眼动脉狭窄至血液流速下降,原称为“不完全或部分CRVO”“视网膜静脉淤滞”等[3]。并发于系统性或眼局部炎性</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rvo-23 反应欠佳且无禁忌：考虑眼内激素：中①：抗VEGF反应不佳、且没有眼内糖皮质激素使用禁忌时，可考虑玻璃体腔激素缓释剂作为二线选择。不能只因水肿未完全消退就跳过病因、依从性及并发症复评。</a:t>
            </a:r>
          </a:p>
          <a:p>
            <a:r>
              <a:t>来源：中①2024 p188（PDF3）；类别：治疗；推荐等级：原文未明确。</a:t>
            </a:r>
          </a:p>
          <a:p>
            <a:r>
              <a:t>原文锚点：中① PDF3：发症的RVO患眼的一线治疗选择。当患眼对抗VEGF药物治疗反应不佳,且无眼内糖皮质激素使用禁忌时可考虑使用玻璃体腔注射糖皮质激素缓释剂作为二线治疗选择[17,24-26]。当患者存在抗VEGF药物治疗的绝对/相对禁忌证(易发心脑血管事件、妊娠等),无眼内糖皮质激素使用绝对禁忌,以及并发于系统性/眼局部炎性疾病的RVO,和(或)因各种因素需要降低玻璃体腔注射频率等极特殊的情况下,方可考虑糖皮质激素缓释剂作为RVO患眼的一线治疗选择,且应警惕用药后糖皮质激素相关的眼部不良事件[36]。虽然视</a:t>
            </a:r>
          </a:p>
          <a:p/>
          <a:p>
            <a:r>
              <a:t>rvo-25 眼内激素安全性：两篇中国解读及西意见均提示眼压升高/青光眼和白内障风险。选择眼内激素前核对青光眼与眼压情况，并随访相关不良反应；上传文章没有统一眼压复查日程。</a:t>
            </a:r>
          </a:p>
          <a:p>
            <a:r>
              <a:t>来源：中①2024 p188（PDF3）；中②2024 p265（PDF2）；西2025 PDF6；类别：禁忌与风险；推荐等级：原文未明确。</a:t>
            </a:r>
          </a:p>
          <a:p>
            <a:r>
              <a:t>原文锚点：中① PDF3：效性方面并无显著差异[33-35],均可作为存在眼局部并发症的RVO患眼的一线治疗选择。当患眼对抗VEGF药物治疗反应不佳,且无眼内糖皮质激素使用禁忌时可考虑使用玻璃体腔注射糖皮质激素缓释剂作为二线治疗选择[17,24-26]。当患者存在抗VEGF药物治疗的绝对/相对禁忌证(易发心脑血管事件、妊娠等),无眼内糖皮质激素使用绝对禁忌,以及并发于系统性/眼局部炎性疾病的RVO,和(或)因各种因素需要降低玻璃体腔注射频率等极特殊的情况下,方可考虑糖皮质激素缓释剂</a:t>
            </a:r>
          </a:p>
          <a:p>
            <a:r>
              <a:t>中② PDF2：较好的疗效,但此类治疗手段可能会增加高眼压性青光眼和加速白内障发展的风险。因此,在实践中,一般原则是将眼内糖皮质激素缓释剂治疗作为二线方案,作为一线方案使用时主要针对那些对抗VEGF药物反应欠佳、具有心血管疾病史、已经植入人工晶状体、妊娠期妇女、需要双目同步治疗时选择单眼治疗,或是不具备青光眼病史及就医不便条件的特定患者群体[3,11]。关于启动抗VEGF药物或眼内糖皮质激素缓释剂治疗的具体视力阈值,当前的医疗实践中尚缺乏统一的明确规定[12-13]。在针对RVO开展的抗VEGF药物治疗</a:t>
            </a:r>
          </a:p>
          <a:p>
            <a:r>
              <a:t>西 PDF6：ARTICLE+ModelRCENG-502307;No.ofPages9J.PagánEscribano,L.CastillaGuInregardtosystemictreatmentofRVO,unlikelocalther-apy,theevidenceremainslimited.LocaltreatmentofRVO(OphthalmologyDepartment)Localtreatmentisprovidedbytheophthalmolog</a:t>
            </a:r>
          </a:p>
          <a:p/>
          <a:p>
            <a:r>
              <a:t>rvo-29 不常规预防性PRP：中①/中②均不支持仅因缺血或NP而常规预防性PRP。中①同时强调PRP不能改善视功能，也不能预防非缺血向缺血型转化；应密切随访新生血管。</a:t>
            </a:r>
          </a:p>
          <a:p>
            <a:r>
              <a:t>来源：中①2024 p188（PDF3）；中②2024 p266（PDF3）；类别：不推荐；推荐等级：原文未明确。</a:t>
            </a:r>
          </a:p>
          <a:p>
            <a:r>
              <a:t>原文锚点：中① PDF3：。强调全视网膜激光光凝(PRP)因无助于改善视功能,也无助于预防非缺血型RVO向缺血型RVO转化[6,28],因而当患眼周边部视网膜存在大面积NP时可在远周边NP内行播散光凝,而PRP则仅在眼前后节新生血管形成/NVG发生后方考虑使用[38]。对CRVO,除非患者不具备规律复诊条件,否则不推荐在仅存NP而无眼前节新生血管时即给予预防性PRP[16,31];强调因黄斑区格栅样激光光凝无助于改善CRVO患眼的视功能,而不推荐此种光凝方式[6]。对BRVO,黄斑部局部光凝仅在病程晚期,用于因黄</a:t>
            </a:r>
          </a:p>
          <a:p>
            <a:r>
              <a:t>中② PDF3：合并症的标准治疗,但同时也强调了预防性光凝并无额外益处[13]。追溯至1995年,美国COVS专门探讨了在RVO患者中,针对视网膜无灌注区超过10DA且尚未出现视网膜新生血管的情况是否应当实施预防性光凝治疗,抑或是仅在出现新生血管后再采取补救性光凝[19]。研究结果显示,对于缺血型CRVO,预防性光凝并不能有效防止视网膜/眼前节新生血管的发生;尽管试验数据显示预防性光凝组新生血管发生的数量略低于未行光凝组,但这种差异并无统计学意义[19]。值得关注的是,新生血管的消退现象更多出现在未接受</a:t>
            </a:r>
          </a:p>
          <a:p/>
          <a:p>
            <a:r>
              <a:t>rvo-32 CRVO不推荐黄斑格栅激光：中①指出黄斑格栅样光凝不能改善CRVO视功能，故不推荐。西意见亦强调眼内注射的解剖及功能获益优于格栅激光，后者使用减少。</a:t>
            </a:r>
          </a:p>
          <a:p>
            <a:r>
              <a:t>来源：中①2024 p188（PDF3）；西2025 PDF6；类别：不推荐；推荐等级：原文未明确。</a:t>
            </a:r>
          </a:p>
          <a:p>
            <a:r>
              <a:t>原文锚点：中① PDF3：防性PRP[16,31];强调因黄斑区格栅样激光光凝无助于改善CRVO患眼的视功能,而不推荐此种光凝方式[6]。对BRVO,黄斑部局部光凝仅在病程晚期,用于因黄斑部侧支循环渗漏伴黄斑水肿、顽固黄斑水肿合并中心凹附近毛细血管扩张患眼的挽救性治疗,病程早期的黄斑水肿仍以抗VEGF药物和(或)糖皮质激素为一线治疗选择[16,28,32]。4全病程管理的重要性RVO在起病后的至少2年内均可缓慢自行进展,表现为视网膜NP的进行性扩大甚至非缺血型向缺血型RVO的转化[2]。因此每位RVO患者均应接受</a:t>
            </a:r>
          </a:p>
          <a:p>
            <a:r>
              <a:t>西 PDF6：ARTICLE+ModelRCENG-502307;No.ofPages9J.PagánEscribano,L.CastillaGuInregardtosystemictreatmentofRVO,unlikelocalther-apy,theevidenceremainslimited.LocaltreatmentofRVO(OphthalmologyDepartment)Localtreatmentisprovidedbytheophthalmolog</a:t>
            </a:r>
          </a:p>
          <a:p/>
          <a:p>
            <a:r>
              <a:t>rvo-34 随访至少至首诊后2年：中①指出病后至少2年仍可缓慢进展，建议每位患者定期规律随访直至首诊后至少2年。每次重评ME、新生血管、NVG与缺血转化，而非仅追踪视力或OCT水肿。</a:t>
            </a:r>
          </a:p>
          <a:p>
            <a:r>
              <a:t>来源：中①2024 p188（PDF3）；类别：随访；推荐等级：原文未明确。</a:t>
            </a:r>
          </a:p>
          <a:p>
            <a:r>
              <a:t>原文锚点：中① PDF3：向缺血型RVO的转化[2]。因此每位RVO患者均应接受定期规律随访直至首诊后至少2年[16]。患者每次复诊时,眼科检查的内容和关注点均与首诊时相同,全面评估RVO的三大并发症(黄斑水肿、眼前后节新生血管和NVG)是否存在/新发,重点寻找非缺血型RVO向缺血型RVO转化的相关证据,并据此给予患眼恰当、规范的治疗。对存在病因/危险因素的RVO患者,若随访中发现视网膜缺血加重的相关证据,或对连续抗VEGF药物/糖皮质激素缓释剂治疗反应不佳的黄斑水肿患者,还应强调重新评估病因/危险因素的重要性[</a:t>
            </a:r>
          </a:p>
          <a:p/>
          <a:p>
            <a:r>
              <a:t>rvo-35 西意见的CRVO分型随访间隔：西意见：缺血性CRVO每月随访，非缺血性每2–6个月。整合说明：活动性ME正接受每月注射时，应同时遵循治疗复评安排，不以非缺血分型间隔替代月度治疗计划。</a:t>
            </a:r>
          </a:p>
          <a:p>
            <a:r>
              <a:t>来源：中①2024 p187（PDF2）；西2025 PDF6；类别：随访；推荐等级：原文未明确。</a:t>
            </a:r>
          </a:p>
          <a:p>
            <a:r>
              <a:t>原文锚点：西 PDF6：eofischemicCRVO,monthlyfollow-upshouldbeperformedduetothehighriskofneovasculariza-tion.Inthecaseofnon-ischemicdisease,follow-upshouldbeperformedevery2---6months,asthesearethecaseswithworsevisualacuity.Treatmentcurrentlyfocusesonintravitrealinject</a:t>
            </a:r>
          </a:p>
          <a:p>
            <a:r>
              <a:t>中① PDF2：的抗VEGF药物治疗,即首诊开始每个月注射1次,连续注射3次,可下调眼内VEGF水平,暂时性减轻/消除黄斑水肿并改善视力。单克隆抗体类和融合蛋白类抗VEGF药物在安全性和有arch2024,Vol.40,No.3•187•</a:t>
            </a:r>
          </a:p>
          <a:p/>
          <a:p>
            <a:r>
              <a:t>rvo-36 缺血加重或ME反应差：回查病因：中①：发现缺血加重或连续抗VEGF/激素治疗反应不佳，应重新评估原发病因和危险因素，确认已充分发现和控制，而不是只增加眼内注射或激光。</a:t>
            </a:r>
          </a:p>
          <a:p>
            <a:r>
              <a:t>来源：中①2024 p188（PDF3）；类别：疗效复评；推荐等级：原文未明确。</a:t>
            </a:r>
          </a:p>
          <a:p>
            <a:r>
              <a:t>原文锚点：中① PDF3：存在病因/危险因素的RVO患者,若随访中发现视网膜缺血加重的相关证据,或对连续抗VEGF药物/糖皮质激素缓释剂治疗反应不佳的黄斑水肿患者,还应强调重新评估病因/危险因素的重要性[16],确保相关因素已被充分发掘并已得到充分恰当的管理和控制,进而从根本上改善此类患者的长期视功能预后。•188•中华眼底病杂志2024年5小结《中国视网膜静脉阻塞临床诊疗路径专家共识》从首诊评估、开展诊疗至长期随访等RVO临床诊疗的全过程均提供了全面和详实的推荐建议,有助于基层眼科医师和眼科全科医师对RVO患者</a:t>
            </a:r>
          </a:p>
          <a:p/>
          <a:p>
            <a:r>
              <a:t>rvo-38 西意见：年轻或双眼者扩大检查：西PDF5建议&lt;50岁和/或双眼受累者检查同型半胱氨酸、抗磷脂抗体谱，并列出遗传性血栓倾向项目。结合病史和专科评估，不将其复制成所有RVO的固定全套检查。</a:t>
            </a:r>
          </a:p>
          <a:p>
            <a:r>
              <a:t>来源：西2025 PDF5；类别：特殊人群；推荐等级：原文未明确。</a:t>
            </a:r>
          </a:p>
          <a:p>
            <a:r>
              <a:t>原文锚点：西 PDF5：ntforevaluation.Inpatientsunder50yearsofageand/orincaseswithbilateralinvolvement,itisrecommendedtorequest:plasmahomocysteine,antiphospholipidantibodyprofile(lupusanticoagulant,anticardiolipinantibodies,andanti-_x0002_2-glycoprotein-1),andahereditarythr</a:t>
            </a:r>
          </a:p>
          <a:p/>
          <a:p>
            <a:r>
              <a:t>rvo-41 全身抗栓证据有限，不能仅凭RVO常规开启：西意见强调全身治疗证据有限，抗栓在部分近期起病、无局部血栓危险因素或伴抗磷脂综合征等患者中可考虑；不是所有RVO、BRVO或所有眼内出血者的通用抗凝方案。</a:t>
            </a:r>
          </a:p>
          <a:p>
            <a:r>
              <a:t>来源：西2025 PDF6–7；类别：全身治疗；推荐等级：原文未明确。</a:t>
            </a:r>
          </a:p>
          <a:p>
            <a:r>
              <a:t>原文锚点：西 PDF7：atientswithCRVO,antithrombotictherapymaybeconsideredinselectpatients,suchasthosewithrecentonsetofsymptomsandnolocalriskfactorsforthrombosis(e.g.glaucoma)orinpatientswithassociatedprothromboticriskfactors,suchasantiphospholipidsyndrome(APS)(TableS</a:t>
            </a:r>
          </a:p>
          <a:p/>
          <a:p>
            <a:r>
              <a:t>rvo-42 西意见特有：新发CRVO的LMWH疗程：西PDF8结论：病程&lt;30天CRVO，在诊断后最初10天使用抗凝剂量LMWH，随后预防剂量，完成总3个月治疗。该意见书同时承认证据有限、缺乏明确共识；应结合其筛选情境与内科评估。</a:t>
            </a:r>
          </a:p>
          <a:p>
            <a:r>
              <a:t>来源：西2025 PDF7–8；类别：来源特定建议；推荐等级：原文未明确。</a:t>
            </a:r>
          </a:p>
          <a:p>
            <a:r>
              <a:t>原文锚点：西 PDF7：aybeconsideredinselectpatients,suchasthosewithrecentonsetofsymptomsandnolocalriskfactorsforthrombosis(e.g.glaucoma)orinpatientswithassociatedprothromboticriskfactors,suchasantiphospholipidsyndrome(APS)(TableS3oftheSupple-mentarymaterial).14Theadm</a:t>
            </a:r>
          </a:p>
          <a:p/>
          <a:p>
            <a:r>
              <a:t>rvo-43 LMWH具体制剂与mg剂量缺项：上传西意见正文未提供可直接选药的LMWH制剂、体重/肾功能对应mg或IU剂量；“抗凝剂量/预防剂量”不能自行换算。补充表S3未随上传提供；两篇中国解读未列同一疗程。</a:t>
            </a:r>
          </a:p>
          <a:p>
            <a:r>
              <a:t>来源：中①2024 p187–188（PDF2–3）；中②2024 p265–266（PDF2–3）；西2025 PDF7–8；类别：原文缺项；推荐等级：原文未明确。</a:t>
            </a:r>
          </a:p>
          <a:p>
            <a:r>
              <a:t>原文锚点：西 PDF7：ARTICLE+ModelRCENG-502307;No.ofPages9RevistaClínicaEspañoAlthoughthereisnohigh-qualityevidencetosupporttheroutineuseofantithromboticdrugsinpatientswithCRVO,antithrombotictherapymaybeconsideredinselectpatients,suchasthosewithrecent</a:t>
            </a:r>
          </a:p>
          <a:p>
            <a:r>
              <a:t>中① PDF2：视网膜静脉阻塞(RVO)是我国常见的视网膜血管性疾病之一,也是继糖尿病视网膜病变之后导致视力下降甚至丧失的第二大眼底疾病[1]。近年来,随着抗血管内皮生长因子(VEGF)类药物和眼内糖皮质激素缓释剂等药物的出现和广泛使用,RVO患者的视功能预后得到了显著的改善。但与此同时,不充分/不规范的药物应用和过度/不足的视网膜激光光凝治疗等问题也在眼全科医师和各地区基层眼科医师中普遍存在。此外,因对RVO的原发病因管理/处置和自然病程的认识不够充分,很多RVO患者没</a:t>
            </a:r>
          </a:p>
          <a:p>
            <a:r>
              <a:t>中② PDF2：国视网膜静脉阻塞临床诊疗路径专家共识》经过业界权威专家多轮研讨后正式发表,标志着我国在RVO的诊治工作步入了新的阶段。1RVO病因学诊断的重要性和其他常见眼底病不同,RVO的诊疗应尤为注重对病因的探寻与及时的病因学导向治疗。共识将RVO病因寻找置于诊疗流程的核心位置[3]。1.1视网膜中央静脉阻塞(CRVO)常见病因并发于低灌注压的CRVO:颈动脉、眼动脉狭窄至血液流速下降,原称为“不完全或部分CRVO”“视网膜静脉淤滞”等[3]。并发于系统性或眼局部炎性</a:t>
            </a:r>
          </a:p>
          <a:p/>
          <a:p>
            <a:r>
              <a:t>rvo-44 阿司匹林：需有其他独立适应证：西意见不支持仅因RVO启动ASA用于心血管一级预防；只有存在其他预防适应证时才考虑，并个体权衡风险。既有其他适应证的用药不能据这句话直接停用。</a:t>
            </a:r>
          </a:p>
          <a:p>
            <a:r>
              <a:t>来源：西2025 PDF7–8；类别：全身治疗；推荐等级：原文未明确。</a:t>
            </a:r>
          </a:p>
          <a:p>
            <a:r>
              <a:t>原文锚点：西 PDF7：-denceavailable.TheuseofASAisnotrecommendedforprimarypre-ventionofcardiovascularevents.IfASAisusedinprimaryprevention,therisk-benefitbalancemustbeweighedonanindividualbasis,particularlythepatient’scardiovascularriskprofile.18Asthereisinsufficient</a:t>
            </a:r>
          </a:p>
          <a:p/>
          <a:p>
            <a:r>
              <a:t>rvo-53 特殊人群与危险分层缺项：三份附件未给统一危险分层评分、儿科用药表、所有眼内药物的孕哺安全分级，以及全身抗凝肝肾功能/体重调量细则。未明确内容保留缺项，不由本整合推断补全。</a:t>
            </a:r>
          </a:p>
          <a:p>
            <a:r>
              <a:t>来源：中①2024 p187–188（PDF2–3）；中②2024 p265–266（PDF2–3）；西2025 PDF5–8；类别：特殊人群；推荐等级：原文未明确。</a:t>
            </a:r>
          </a:p>
          <a:p>
            <a:r>
              <a:t>原文锚点：中① PDF2：视网膜静脉阻塞(RVO)是我国常见的视网膜血管性疾病之一,也是继糖尿病视网膜病变之后导致视力下降甚至丧失的第二大眼底疾病[1]。近年来,随着抗血管内皮生长因子(VEGF)类药物和眼内糖皮质激素缓释剂等药物的出现和广泛使用,RVO患者的视功能预后得到了显著的改善。但与此同时,不充分/不规范的药物应用和过度/不足的视网膜激光光凝治疗等问题也在眼全科医师和各地区基层眼科医师中普遍存在。此外,因对RVO的原发病因管理/处置和自然病程的认识不够充分,很多RVO患者没</a:t>
            </a:r>
          </a:p>
          <a:p>
            <a:r>
              <a:t>中② PDF2：国视网膜静脉阻塞临床诊疗路径专家共识》经过业界权威专家多轮研讨后正式发表,标志着我国在RVO的诊治工作步入了新的阶段。1RVO病因学诊断的重要性和其他常见眼底病不同,RVO的诊疗应尤为注重对病因的探寻与及时的病因学导向治疗。共识将RVO病因寻找置于诊疗流程的核心位置[3]。1.1视网膜中央静脉阻塞(CRVO)常见病因并发于低灌注压的CRVO:颈动脉、眼动脉狭窄至血液流速下降,原称为“不完全或部分CRVO”“视网膜静脉淤滞”等[3]。并发于系统性或眼局部炎性</a:t>
            </a:r>
          </a:p>
          <a:p>
            <a:r>
              <a:t>西 PDF5：ARTICLE+ModelRCENG-502307;No.ofPages9RevistaClínicaEspañoFigure3FluoresceinangiographyofCRVOwithextensiveareasofischemia.themedium-andlong-termvisionprognosis.Thelocalorophthalmologictreatmentofchoicewillalsodependtoalargeextenton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49860" y="149860"/>
            <a:ext cx="3480280" cy="5207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视网膜静脉阻塞｜三源整合"/>
          <p:cNvSpPr txBox="1"/>
          <p:nvPr/>
        </p:nvSpPr>
        <p:spPr>
          <a:xfrm>
            <a:off x="226060" y="187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视网膜静脉阻塞｜三源整合</a:t>
            </a:r>
          </a:p>
        </p:txBody>
      </p:sp>
      <p:sp>
        <p:nvSpPr>
          <p:cNvPr id="4" name="中国共识解读2024｜SEMI/SERV意见2025 · 正面"/>
          <p:cNvSpPr txBox="1"/>
          <p:nvPr/>
        </p:nvSpPr>
        <p:spPr>
          <a:xfrm>
            <a:off x="226060" y="403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中国共识解读2024｜SEMI/SERV意见2025 · 正面</a:t>
            </a:r>
          </a:p>
        </p:txBody>
      </p:sp>
      <p:sp>
        <p:nvSpPr>
          <p:cNvPr id="5" name="Rectangle 4"/>
          <p:cNvSpPr/>
          <p:nvPr/>
        </p:nvSpPr>
        <p:spPr>
          <a:xfrm>
            <a:off x="162560" y="7213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① 首诊＋全身同步评估"/>
          <p:cNvSpPr txBox="1"/>
          <p:nvPr/>
        </p:nvSpPr>
        <p:spPr>
          <a:xfrm>
            <a:off x="264160" y="759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① 首诊＋全身同步评估</a:t>
            </a:r>
          </a:p>
        </p:txBody>
      </p:sp>
      <p:sp>
        <p:nvSpPr>
          <p:cNvPr id="7" name="分CRVO/BRVO；HRVO另注。看视力、眼前后节、OCT及灌注；同步筛查和控制血压、血糖、血脂等"/>
          <p:cNvSpPr txBox="1"/>
          <p:nvPr/>
        </p:nvSpPr>
        <p:spPr>
          <a:xfrm>
            <a:off x="264160" y="911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分CRVO/BRVO；HRVO另注。看视力、眼前后节、OCT及灌</a:t>
            </a:r>
          </a:p>
          <a:p>
            <a:pPr>
              <a:lnSpc>
                <a:spcPts val="1160"/>
              </a:lnSpc>
              <a:spcBef>
                <a:spcPts val="0"/>
              </a:spcBef>
              <a:spcAft>
                <a:spcPts val="0"/>
              </a:spcAft>
            </a:pPr>
            <a:r>
              <a:rPr sz="950" b="0" lang="zh-CN">
                <a:solidFill>
                  <a:srgbClr val="000000"/>
                </a:solidFill>
                <a:latin typeface="Microsoft YaHei"/>
                <a:ea typeface="Microsoft YaHei"/>
                <a:cs typeface="Microsoft YaHei"/>
              </a:rPr>
              <a:t>注；同步筛查和控制血压、血糖、血脂等，勿因等病因结果</a:t>
            </a:r>
          </a:p>
          <a:p>
            <a:pPr>
              <a:lnSpc>
                <a:spcPts val="1160"/>
              </a:lnSpc>
              <a:spcBef>
                <a:spcPts val="0"/>
              </a:spcBef>
              <a:spcAft>
                <a:spcPts val="0"/>
              </a:spcAft>
            </a:pPr>
            <a:r>
              <a:rPr sz="950" b="0" lang="zh-CN">
                <a:solidFill>
                  <a:srgbClr val="000000"/>
                </a:solidFill>
                <a:latin typeface="Microsoft YaHei"/>
                <a:ea typeface="Microsoft YaHei"/>
                <a:cs typeface="Microsoft YaHei"/>
              </a:rPr>
              <a:t>延误眼部治疗。</a:t>
            </a:r>
          </a:p>
        </p:txBody>
      </p:sp>
      <p:sp>
        <p:nvSpPr>
          <p:cNvPr id="8" name="中①2024 p187；西2025 PDF2–4、6"/>
          <p:cNvSpPr txBox="1"/>
          <p:nvPr/>
        </p:nvSpPr>
        <p:spPr>
          <a:xfrm>
            <a:off x="264160" y="1379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p187；西2025 PDF2–4、6</a:t>
            </a:r>
          </a:p>
        </p:txBody>
      </p:sp>
      <p:sp>
        <p:nvSpPr>
          <p:cNvPr id="9" name="Rectangle 8"/>
          <p:cNvSpPr/>
          <p:nvPr/>
        </p:nvSpPr>
        <p:spPr>
          <a:xfrm>
            <a:off x="162560" y="16230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② 缺血：别混影像阈值"/>
          <p:cNvSpPr txBox="1"/>
          <p:nvPr/>
        </p:nvSpPr>
        <p:spPr>
          <a:xfrm>
            <a:off x="264160" y="1661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② 缺血：别混影像阈值</a:t>
            </a:r>
          </a:p>
        </p:txBody>
      </p:sp>
      <p:sp>
        <p:nvSpPr>
          <p:cNvPr id="11" name="中①参考：7视野FFA NP&gt;10 DA；超广角&gt;75 DA、缺血指数≥35%。中②不支持仅凭10 "/>
          <p:cNvSpPr txBox="1"/>
          <p:nvPr/>
        </p:nvSpPr>
        <p:spPr>
          <a:xfrm>
            <a:off x="264160" y="1813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中①参考：7视野FFA NP&gt;10 DA；超广角&gt;75 DA、缺血指数</a:t>
            </a:r>
          </a:p>
          <a:p>
            <a:pPr>
              <a:lnSpc>
                <a:spcPts val="1160"/>
              </a:lnSpc>
              <a:spcBef>
                <a:spcPts val="0"/>
              </a:spcBef>
              <a:spcAft>
                <a:spcPts val="0"/>
              </a:spcAft>
            </a:pPr>
            <a:r>
              <a:rPr sz="950" b="0" lang="zh-CN">
                <a:solidFill>
                  <a:srgbClr val="000000"/>
                </a:solidFill>
                <a:latin typeface="Microsoft YaHei"/>
                <a:ea typeface="Microsoft YaHei"/>
                <a:cs typeface="Microsoft YaHei"/>
              </a:rPr>
              <a:t>≥35%。中②不支持仅凭10 DA。结合临床及检查方法，不作</a:t>
            </a:r>
          </a:p>
          <a:p>
            <a:pPr>
              <a:lnSpc>
                <a:spcPts val="1160"/>
              </a:lnSpc>
              <a:spcBef>
                <a:spcPts val="0"/>
              </a:spcBef>
              <a:spcAft>
                <a:spcPts val="0"/>
              </a:spcAft>
            </a:pPr>
            <a:r>
              <a:rPr sz="950" b="0" lang="zh-CN">
                <a:solidFill>
                  <a:srgbClr val="000000"/>
                </a:solidFill>
                <a:latin typeface="Microsoft YaHei"/>
                <a:ea typeface="Microsoft YaHei"/>
                <a:cs typeface="Microsoft YaHei"/>
              </a:rPr>
              <a:t>统一公式。</a:t>
            </a:r>
          </a:p>
        </p:txBody>
      </p:sp>
      <p:sp>
        <p:nvSpPr>
          <p:cNvPr id="12" name="中①2024 p187；中②2024 p266"/>
          <p:cNvSpPr txBox="1"/>
          <p:nvPr/>
        </p:nvSpPr>
        <p:spPr>
          <a:xfrm>
            <a:off x="264160" y="2280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p187；中②2024 p266</a:t>
            </a:r>
          </a:p>
        </p:txBody>
      </p:sp>
      <p:sp>
        <p:nvSpPr>
          <p:cNvPr id="13" name="Rectangle 12"/>
          <p:cNvSpPr/>
          <p:nvPr/>
        </p:nvSpPr>
        <p:spPr>
          <a:xfrm>
            <a:off x="162560" y="25247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③ 新生血管/NVG优先"/>
          <p:cNvSpPr txBox="1"/>
          <p:nvPr/>
        </p:nvSpPr>
        <p:spPr>
          <a:xfrm>
            <a:off x="264160" y="2562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③ 新生血管/NVG优先</a:t>
            </a:r>
          </a:p>
        </p:txBody>
      </p:sp>
      <p:sp>
        <p:nvSpPr>
          <p:cNvPr id="15" name="关注虹膜、房角与眼底新生血管。中①病程&gt;2个月强调房角镜。发生新生血管/NVG：按情境抗VEGF＋相"/>
          <p:cNvSpPr txBox="1"/>
          <p:nvPr/>
        </p:nvSpPr>
        <p:spPr>
          <a:xfrm>
            <a:off x="264160" y="2715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关注虹膜、房角与眼底新生血管。中①病程&gt;2个月强调房角</a:t>
            </a:r>
          </a:p>
          <a:p>
            <a:pPr>
              <a:lnSpc>
                <a:spcPts val="1160"/>
              </a:lnSpc>
              <a:spcBef>
                <a:spcPts val="0"/>
              </a:spcBef>
              <a:spcAft>
                <a:spcPts val="0"/>
              </a:spcAft>
            </a:pPr>
            <a:r>
              <a:rPr sz="950" b="0" lang="zh-CN">
                <a:solidFill>
                  <a:srgbClr val="000000"/>
                </a:solidFill>
                <a:latin typeface="Microsoft YaHei"/>
                <a:ea typeface="Microsoft YaHei"/>
                <a:cs typeface="Microsoft YaHei"/>
              </a:rPr>
              <a:t>镜。发生新生血管/NVG：按情境抗VEGF＋相应激光/PRP＋</a:t>
            </a:r>
          </a:p>
          <a:p>
            <a:pPr>
              <a:lnSpc>
                <a:spcPts val="1160"/>
              </a:lnSpc>
              <a:spcBef>
                <a:spcPts val="0"/>
              </a:spcBef>
              <a:spcAft>
                <a:spcPts val="0"/>
              </a:spcAft>
            </a:pPr>
            <a:r>
              <a:rPr sz="950" b="0" lang="zh-CN">
                <a:solidFill>
                  <a:srgbClr val="000000"/>
                </a:solidFill>
                <a:latin typeface="Microsoft YaHei"/>
                <a:ea typeface="Microsoft YaHei"/>
                <a:cs typeface="Microsoft YaHei"/>
              </a:rPr>
              <a:t>降眼压。</a:t>
            </a:r>
          </a:p>
        </p:txBody>
      </p:sp>
      <p:sp>
        <p:nvSpPr>
          <p:cNvPr id="16" name="中①2024 p187–188；中②2024 p265–266"/>
          <p:cNvSpPr txBox="1"/>
          <p:nvPr/>
        </p:nvSpPr>
        <p:spPr>
          <a:xfrm>
            <a:off x="264160" y="3182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p187–188；中②2024 p265–266</a:t>
            </a:r>
          </a:p>
        </p:txBody>
      </p:sp>
      <p:sp>
        <p:nvSpPr>
          <p:cNvPr id="17" name="Rectangle 16"/>
          <p:cNvSpPr/>
          <p:nvPr/>
        </p:nvSpPr>
        <p:spPr>
          <a:xfrm>
            <a:off x="162560" y="34264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④ ME：观察还是注药"/>
          <p:cNvSpPr txBox="1"/>
          <p:nvPr/>
        </p:nvSpPr>
        <p:spPr>
          <a:xfrm>
            <a:off x="264160" y="3464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④ ME：观察还是注药</a:t>
            </a:r>
          </a:p>
        </p:txBody>
      </p:sp>
      <p:sp>
        <p:nvSpPr>
          <p:cNvPr id="19" name="明显视功能损伤及时干预；视功能尚好可个体观察。没有统一视力/CMT切点，0.5不是通用注药阈值。中①"/>
          <p:cNvSpPr txBox="1"/>
          <p:nvPr/>
        </p:nvSpPr>
        <p:spPr>
          <a:xfrm>
            <a:off x="264160" y="36169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明显视功能损伤及时干预；视功能尚好可个体观察。没有统</a:t>
            </a:r>
          </a:p>
          <a:p>
            <a:pPr>
              <a:lnSpc>
                <a:spcPts val="1160"/>
              </a:lnSpc>
              <a:spcBef>
                <a:spcPts val="0"/>
              </a:spcBef>
              <a:spcAft>
                <a:spcPts val="0"/>
              </a:spcAft>
            </a:pPr>
            <a:r>
              <a:rPr sz="950" b="0" lang="zh-CN">
                <a:solidFill>
                  <a:srgbClr val="000000"/>
                </a:solidFill>
                <a:latin typeface="Microsoft YaHei"/>
                <a:ea typeface="Microsoft YaHei"/>
                <a:cs typeface="Microsoft YaHei"/>
              </a:rPr>
              <a:t>一视力/CMT切点，0.5不是通用注药阈值。中①：每月1次×3</a:t>
            </a:r>
          </a:p>
          <a:p>
            <a:pPr>
              <a:lnSpc>
                <a:spcPts val="1160"/>
              </a:lnSpc>
              <a:spcBef>
                <a:spcPts val="0"/>
              </a:spcBef>
              <a:spcAft>
                <a:spcPts val="0"/>
              </a:spcAft>
            </a:pPr>
            <a:r>
              <a:rPr sz="950" b="0" lang="zh-CN">
                <a:solidFill>
                  <a:srgbClr val="000000"/>
                </a:solidFill>
                <a:latin typeface="Microsoft YaHei"/>
                <a:ea typeface="Microsoft YaHei"/>
                <a:cs typeface="Microsoft YaHei"/>
              </a:rPr>
              <a:t>次后按需。</a:t>
            </a:r>
          </a:p>
        </p:txBody>
      </p:sp>
      <p:sp>
        <p:nvSpPr>
          <p:cNvPr id="20" name="中①2024 p187–188；中②2024 p265–266"/>
          <p:cNvSpPr txBox="1"/>
          <p:nvPr/>
        </p:nvSpPr>
        <p:spPr>
          <a:xfrm>
            <a:off x="264160" y="40843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p187–188；中②2024 p265–266</a:t>
            </a:r>
          </a:p>
        </p:txBody>
      </p:sp>
      <p:sp>
        <p:nvSpPr>
          <p:cNvPr id="21" name="临床要点摘要；完整条件与原文缺项见提取表。&#10;100%原尺寸 · 双面长边翻转"/>
          <p:cNvSpPr txBox="1"/>
          <p:nvPr/>
        </p:nvSpPr>
        <p:spPr>
          <a:xfrm>
            <a:off x="187960" y="4880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303030"/>
                </a:solidFill>
                <a:latin typeface="Microsoft YaHei"/>
                <a:ea typeface="Microsoft YaHei"/>
                <a:cs typeface="Microsoft YaHei"/>
              </a:rPr>
              <a:t>100%原尺寸 · 双面长边翻转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49860" y="149860"/>
            <a:ext cx="3480280" cy="5207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视网膜静脉阻塞｜三源整合"/>
          <p:cNvSpPr txBox="1"/>
          <p:nvPr/>
        </p:nvSpPr>
        <p:spPr>
          <a:xfrm>
            <a:off x="226060" y="187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视网膜静脉阻塞｜三源整合</a:t>
            </a:r>
          </a:p>
        </p:txBody>
      </p:sp>
      <p:sp>
        <p:nvSpPr>
          <p:cNvPr id="4" name="中国共识解读2024｜SEMI/SERV意见2025 · 背面"/>
          <p:cNvSpPr txBox="1"/>
          <p:nvPr/>
        </p:nvSpPr>
        <p:spPr>
          <a:xfrm>
            <a:off x="226060" y="403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中国共识解读2024｜SEMI/SERV意见2025 · 背面</a:t>
            </a:r>
          </a:p>
        </p:txBody>
      </p:sp>
      <p:sp>
        <p:nvSpPr>
          <p:cNvPr id="5" name="Rectangle 4"/>
          <p:cNvSpPr/>
          <p:nvPr/>
        </p:nvSpPr>
        <p:spPr>
          <a:xfrm>
            <a:off x="162560" y="7213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⑤ 激素与激光边界"/>
          <p:cNvSpPr txBox="1"/>
          <p:nvPr/>
        </p:nvSpPr>
        <p:spPr>
          <a:xfrm>
            <a:off x="264160" y="759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⑤ 激素与激光边界</a:t>
            </a:r>
          </a:p>
        </p:txBody>
      </p:sp>
      <p:sp>
        <p:nvSpPr>
          <p:cNvPr id="7" name="抗VEGF反应差且无激素禁忌可考虑激素二线，关注眼压和白内障。无新生血管不常规预防PRP；CRVO不"/>
          <p:cNvSpPr txBox="1"/>
          <p:nvPr/>
        </p:nvSpPr>
        <p:spPr>
          <a:xfrm>
            <a:off x="264160" y="911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抗VEGF反应差且无激素禁忌可考虑激素二线，关注眼压和白</a:t>
            </a:r>
          </a:p>
          <a:p>
            <a:pPr>
              <a:lnSpc>
                <a:spcPts val="1160"/>
              </a:lnSpc>
              <a:spcBef>
                <a:spcPts val="0"/>
              </a:spcBef>
              <a:spcAft>
                <a:spcPts val="0"/>
              </a:spcAft>
            </a:pPr>
            <a:r>
              <a:rPr sz="950" b="0" lang="zh-CN">
                <a:solidFill>
                  <a:srgbClr val="000000"/>
                </a:solidFill>
                <a:latin typeface="Microsoft YaHei"/>
                <a:ea typeface="Microsoft YaHei"/>
                <a:cs typeface="Microsoft YaHei"/>
              </a:rPr>
              <a:t>内障。无新生血管不常规预防PRP；CRVO不推荐黄斑格栅激</a:t>
            </a:r>
          </a:p>
          <a:p>
            <a:pPr>
              <a:lnSpc>
                <a:spcPts val="1160"/>
              </a:lnSpc>
              <a:spcBef>
                <a:spcPts val="0"/>
              </a:spcBef>
              <a:spcAft>
                <a:spcPts val="0"/>
              </a:spcAft>
            </a:pPr>
            <a:r>
              <a:rPr sz="950" b="0" lang="zh-CN">
                <a:solidFill>
                  <a:srgbClr val="000000"/>
                </a:solidFill>
                <a:latin typeface="Microsoft YaHei"/>
                <a:ea typeface="Microsoft YaHei"/>
                <a:cs typeface="Microsoft YaHei"/>
              </a:rPr>
              <a:t>光。</a:t>
            </a:r>
          </a:p>
        </p:txBody>
      </p:sp>
      <p:sp>
        <p:nvSpPr>
          <p:cNvPr id="8" name="中①2024 p188；中②2024 p265–266；西2025 PDF6"/>
          <p:cNvSpPr txBox="1"/>
          <p:nvPr/>
        </p:nvSpPr>
        <p:spPr>
          <a:xfrm>
            <a:off x="264160" y="1379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p188；中②2024 p265–266；西2025 PDF6</a:t>
            </a:r>
          </a:p>
        </p:txBody>
      </p:sp>
      <p:sp>
        <p:nvSpPr>
          <p:cNvPr id="9" name="Rectangle 8"/>
          <p:cNvSpPr/>
          <p:nvPr/>
        </p:nvSpPr>
        <p:spPr>
          <a:xfrm>
            <a:off x="162560" y="16230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⑥ 西意见特定抗凝方案"/>
          <p:cNvSpPr txBox="1"/>
          <p:nvPr/>
        </p:nvSpPr>
        <p:spPr>
          <a:xfrm>
            <a:off x="264160" y="1661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⑥ 西意见特定抗凝方案</a:t>
            </a:r>
          </a:p>
        </p:txBody>
      </p:sp>
      <p:sp>
        <p:nvSpPr>
          <p:cNvPr id="11" name="仅特定新发CRVO、病程&lt;30天：西意见提出LMWH抗凝剂量10天后改预防剂量，总3个月。证据有限，"/>
          <p:cNvSpPr txBox="1"/>
          <p:nvPr/>
        </p:nvSpPr>
        <p:spPr>
          <a:xfrm>
            <a:off x="264160" y="1813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仅特定新发CRVO、病程&lt;30天：西意见提出LMWH抗凝剂量</a:t>
            </a:r>
          </a:p>
          <a:p>
            <a:pPr>
              <a:lnSpc>
                <a:spcPts val="1160"/>
              </a:lnSpc>
              <a:spcBef>
                <a:spcPts val="0"/>
              </a:spcBef>
              <a:spcAft>
                <a:spcPts val="0"/>
              </a:spcAft>
            </a:pPr>
            <a:r>
              <a:rPr sz="950" b="0" lang="zh-CN">
                <a:solidFill>
                  <a:srgbClr val="000000"/>
                </a:solidFill>
                <a:latin typeface="Microsoft YaHei"/>
                <a:ea typeface="Microsoft YaHei"/>
                <a:cs typeface="Microsoft YaHei"/>
              </a:rPr>
              <a:t>10天后改预防剂量，总3个月。证据有限，mg/IU剂量未明</a:t>
            </a:r>
          </a:p>
          <a:p>
            <a:pPr>
              <a:lnSpc>
                <a:spcPts val="1160"/>
              </a:lnSpc>
              <a:spcBef>
                <a:spcPts val="0"/>
              </a:spcBef>
              <a:spcAft>
                <a:spcPts val="0"/>
              </a:spcAft>
            </a:pPr>
            <a:r>
              <a:rPr sz="950" b="0" lang="zh-CN">
                <a:solidFill>
                  <a:srgbClr val="000000"/>
                </a:solidFill>
                <a:latin typeface="Microsoft YaHei"/>
                <a:ea typeface="Microsoft YaHei"/>
                <a:cs typeface="Microsoft YaHei"/>
              </a:rPr>
              <a:t>确，需内科评估。</a:t>
            </a:r>
          </a:p>
        </p:txBody>
      </p:sp>
      <p:sp>
        <p:nvSpPr>
          <p:cNvPr id="12" name="中①2024 p187–188；中②2024 p265–266；西2025 PDF6–8"/>
          <p:cNvSpPr txBox="1"/>
          <p:nvPr/>
        </p:nvSpPr>
        <p:spPr>
          <a:xfrm>
            <a:off x="264160" y="2280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p187–188；中②2024 p265–266；西2025 PDF6–8</a:t>
            </a:r>
          </a:p>
        </p:txBody>
      </p:sp>
      <p:sp>
        <p:nvSpPr>
          <p:cNvPr id="13" name="Rectangle 12"/>
          <p:cNvSpPr/>
          <p:nvPr/>
        </p:nvSpPr>
        <p:spPr>
          <a:xfrm>
            <a:off x="162560" y="25247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⑦ 病因、ASA与特殊人群"/>
          <p:cNvSpPr txBox="1"/>
          <p:nvPr/>
        </p:nvSpPr>
        <p:spPr>
          <a:xfrm>
            <a:off x="264160" y="2562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⑦ 病因、ASA与特殊人群</a:t>
            </a:r>
          </a:p>
        </p:txBody>
      </p:sp>
      <p:sp>
        <p:nvSpPr>
          <p:cNvPr id="15" name="西：&lt;50岁和/或双眼者可扩查。ASA须另有独立适应证，勿只因RVO新启。妊娠等需个体选药，未给统一"/>
          <p:cNvSpPr txBox="1"/>
          <p:nvPr/>
        </p:nvSpPr>
        <p:spPr>
          <a:xfrm>
            <a:off x="264160" y="2715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西：&lt;50岁和/或双眼者可扩查。ASA须另有独立适应证，勿只</a:t>
            </a:r>
          </a:p>
          <a:p>
            <a:pPr>
              <a:lnSpc>
                <a:spcPts val="1160"/>
              </a:lnSpc>
              <a:spcBef>
                <a:spcPts val="0"/>
              </a:spcBef>
              <a:spcAft>
                <a:spcPts val="0"/>
              </a:spcAft>
            </a:pPr>
            <a:r>
              <a:rPr sz="950" b="0" lang="zh-CN">
                <a:solidFill>
                  <a:srgbClr val="000000"/>
                </a:solidFill>
                <a:latin typeface="Microsoft YaHei"/>
                <a:ea typeface="Microsoft YaHei"/>
                <a:cs typeface="Microsoft YaHei"/>
              </a:rPr>
              <a:t>因RVO新启。妊娠等需个体选药，未给统一孕哺/儿科剂量方</a:t>
            </a:r>
          </a:p>
          <a:p>
            <a:pPr>
              <a:lnSpc>
                <a:spcPts val="1160"/>
              </a:lnSpc>
              <a:spcBef>
                <a:spcPts val="0"/>
              </a:spcBef>
              <a:spcAft>
                <a:spcPts val="0"/>
              </a:spcAft>
            </a:pPr>
            <a:r>
              <a:rPr sz="950" b="0" lang="zh-CN">
                <a:solidFill>
                  <a:srgbClr val="000000"/>
                </a:solidFill>
                <a:latin typeface="Microsoft YaHei"/>
                <a:ea typeface="Microsoft YaHei"/>
                <a:cs typeface="Microsoft YaHei"/>
              </a:rPr>
              <a:t>案。</a:t>
            </a:r>
          </a:p>
        </p:txBody>
      </p:sp>
      <p:sp>
        <p:nvSpPr>
          <p:cNvPr id="16" name="中①2024 p187–188；中②2024 p265–266；西2025 PDF5–8"/>
          <p:cNvSpPr txBox="1"/>
          <p:nvPr/>
        </p:nvSpPr>
        <p:spPr>
          <a:xfrm>
            <a:off x="264160" y="3182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p187–188；中②2024 p265–266；西2025 PDF5–8</a:t>
            </a:r>
          </a:p>
        </p:txBody>
      </p:sp>
      <p:sp>
        <p:nvSpPr>
          <p:cNvPr id="17" name="Rectangle 16"/>
          <p:cNvSpPr/>
          <p:nvPr/>
        </p:nvSpPr>
        <p:spPr>
          <a:xfrm>
            <a:off x="162560" y="34264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⑧ 随访与治疗失败复评"/>
          <p:cNvSpPr txBox="1"/>
          <p:nvPr/>
        </p:nvSpPr>
        <p:spPr>
          <a:xfrm>
            <a:off x="264160" y="3464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⑧ 随访与治疗失败复评</a:t>
            </a:r>
          </a:p>
        </p:txBody>
      </p:sp>
      <p:sp>
        <p:nvSpPr>
          <p:cNvPr id="19" name="中①随访至少2年；西：缺血CRVO每月、非缺血每2–6个月；活动性ME仍按治疗计划复评。缺血加重/反"/>
          <p:cNvSpPr txBox="1"/>
          <p:nvPr/>
        </p:nvSpPr>
        <p:spPr>
          <a:xfrm>
            <a:off x="264160" y="36169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中①随访至少2年；西：缺血CRVO每月、非缺血每2–6个月；</a:t>
            </a:r>
          </a:p>
          <a:p>
            <a:pPr>
              <a:lnSpc>
                <a:spcPts val="1160"/>
              </a:lnSpc>
              <a:spcBef>
                <a:spcPts val="0"/>
              </a:spcBef>
              <a:spcAft>
                <a:spcPts val="0"/>
              </a:spcAft>
            </a:pPr>
            <a:r>
              <a:rPr sz="950" b="0" lang="zh-CN">
                <a:solidFill>
                  <a:srgbClr val="000000"/>
                </a:solidFill>
                <a:latin typeface="Microsoft YaHei"/>
                <a:ea typeface="Microsoft YaHei"/>
                <a:cs typeface="Microsoft YaHei"/>
              </a:rPr>
              <a:t>活动性ME仍按治疗计划复评。缺血加重/反应差重新查病因和</a:t>
            </a:r>
          </a:p>
          <a:p>
            <a:pPr>
              <a:lnSpc>
                <a:spcPts val="1160"/>
              </a:lnSpc>
              <a:spcBef>
                <a:spcPts val="0"/>
              </a:spcBef>
              <a:spcAft>
                <a:spcPts val="0"/>
              </a:spcAft>
            </a:pPr>
            <a:r>
              <a:rPr sz="950" b="0" lang="zh-CN">
                <a:solidFill>
                  <a:srgbClr val="000000"/>
                </a:solidFill>
                <a:latin typeface="Microsoft YaHei"/>
                <a:ea typeface="Microsoft YaHei"/>
                <a:cs typeface="Microsoft YaHei"/>
              </a:rPr>
              <a:t>危险因素。</a:t>
            </a:r>
          </a:p>
        </p:txBody>
      </p:sp>
      <p:sp>
        <p:nvSpPr>
          <p:cNvPr id="20" name="中①2024 p187–188；西2025 PDF6"/>
          <p:cNvSpPr txBox="1"/>
          <p:nvPr/>
        </p:nvSpPr>
        <p:spPr>
          <a:xfrm>
            <a:off x="264160" y="40843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p187–188；西2025 PDF6</a:t>
            </a:r>
          </a:p>
        </p:txBody>
      </p:sp>
      <p:sp>
        <p:nvSpPr>
          <p:cNvPr id="21" name="临床要点摘要；完整条件与原文缺项见提取表。&#10;100%原尺寸 · 双面长边翻转"/>
          <p:cNvSpPr txBox="1"/>
          <p:nvPr/>
        </p:nvSpPr>
        <p:spPr>
          <a:xfrm>
            <a:off x="187960" y="4880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303030"/>
                </a:solidFill>
                <a:latin typeface="Microsoft YaHei"/>
                <a:ea typeface="Microsoft YaHei"/>
                <a:cs typeface="Microsoft YaHei"/>
              </a:rPr>
              <a:t>100%原尺寸 · 双面长边翻转</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视网膜静脉阻塞｜三源整合 A6 bw</dc:title>
  <dc:subject>上传文献原文摘录；原生可编辑文字和图形</dc:subject>
  <dc:creator>临床指南速查资料整理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