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SC；上标⁹使用Noto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SC；上标⁹使用Noto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文字 00 | 病毒性角膜内皮炎"/>
          <p:cNvSpPr txBox="1"/>
          <p:nvPr/>
        </p:nvSpPr>
        <p:spPr>
          <a:xfrm>
            <a:off x="198000" y="198000"/>
            <a:ext cx="3384000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病毒性角膜内皮炎</a:t>
            </a:r>
          </a:p>
        </p:txBody>
      </p:sp>
      <p:sp>
        <p:nvSpPr>
          <p:cNvPr id="3" name="可编辑文字 01 | 2023共识 · 眼科临床速查"/>
          <p:cNvSpPr txBox="1"/>
          <p:nvPr/>
        </p:nvSpPr>
        <p:spPr>
          <a:xfrm>
            <a:off x="198000" y="416439"/>
            <a:ext cx="3384000" cy="184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2023共识 · 眼科临床速查</a:t>
            </a:r>
          </a:p>
        </p:txBody>
      </p:sp>
      <p:sp>
        <p:nvSpPr>
          <p:cNvPr id="4" name="可编辑文字 02 | 正面 · 诊断与处置"/>
          <p:cNvSpPr txBox="1"/>
          <p:nvPr/>
        </p:nvSpPr>
        <p:spPr>
          <a:xfrm>
            <a:off x="198000" y="606940"/>
            <a:ext cx="3384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正面 · 诊断与处置</a:t>
            </a:r>
          </a:p>
        </p:txBody>
      </p:sp>
      <p:cxnSp>
        <p:nvCxnSpPr>
          <p:cNvPr id="5" name="卡片分隔线 03"/>
          <p:cNvCxnSpPr/>
          <p:nvPr/>
        </p:nvCxnSpPr>
        <p:spPr>
          <a:xfrm>
            <a:off x="198000" y="784740"/>
            <a:ext cx="338400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可编辑文字 04 | 诊断与病原检查〔2023 p14–15〕"/>
          <p:cNvSpPr txBox="1"/>
          <p:nvPr/>
        </p:nvSpPr>
        <p:spPr>
          <a:xfrm>
            <a:off x="198000" y="8609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诊断与病原检查〔2023 p14–15〕</a:t>
            </a:r>
          </a:p>
        </p:txBody>
      </p:sp>
      <p:sp>
        <p:nvSpPr>
          <p:cNvPr id="7" name="可编辑文字 05 | 临床：依据1（急性起病；感染史/免疫下降诱因可有）＋3（"/>
          <p:cNvSpPr txBox="1"/>
          <p:nvPr/>
        </p:nvSpPr>
        <p:spPr>
          <a:xfrm>
            <a:off x="198000" y="103874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PCR阴性不能排除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，必要时补充房水特异抗体/G-W。</a:t>
            </a:r>
          </a:p>
        </p:txBody>
      </p:sp>
      <p:sp>
        <p:nvSpPr>
          <p:cNvPr id="8" name="可编辑文字 06 | 重点风险与鉴别〔2023 p15–16〕"/>
          <p:cNvSpPr txBox="1"/>
          <p:nvPr/>
        </p:nvSpPr>
        <p:spPr>
          <a:xfrm>
            <a:off x="198000" y="18134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重点风险与鉴别〔2023 p15–16〕</a:t>
            </a:r>
          </a:p>
        </p:txBody>
      </p:sp>
      <p:sp>
        <p:nvSpPr>
          <p:cNvPr id="9" name="可编辑文字 07 | 线状型内皮丢失最快、易失代偿；关注眼压和内皮变化。鉴别前"/>
          <p:cNvSpPr txBox="1"/>
          <p:nvPr/>
        </p:nvSpPr>
        <p:spPr>
          <a:xfrm>
            <a:off x="198000" y="1991240"/>
            <a:ext cx="3155400" cy="607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线状型内皮丢失最快、易失代偿；关注眼压和内皮变化。鉴别前葡萄膜炎、基质炎、Fuchs/Chandler、移植排斥及急闭。正式危险分层、PCR和眼压处置阈值：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0" name="可编辑文字 08 | 病原与局部抗病毒〔2023 p16–17〕"/>
          <p:cNvSpPr txBox="1"/>
          <p:nvPr/>
        </p:nvSpPr>
        <p:spPr>
          <a:xfrm>
            <a:off x="198000" y="262369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病原与局部抗病毒〔2023 p16–17〕</a:t>
            </a:r>
          </a:p>
        </p:txBody>
      </p:sp>
      <p:sp>
        <p:nvSpPr>
          <p:cNvPr id="11" name="可编辑文字 09 | HSV：阿昔洛韦或更昔洛韦；CMV：首选更昔洛韦，阿昔洛"/>
          <p:cNvSpPr txBox="1"/>
          <p:nvPr/>
        </p:nvSpPr>
        <p:spPr>
          <a:xfrm>
            <a:off x="198000" y="2801499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HSV：阿昔洛韦或更昔洛韦；CMV：首选更昔洛韦，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阿昔洛韦无效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；VZV：全身更昔洛韦/泛昔洛韦或更高剂量阿昔洛韦（确切量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），局部更昔洛韦。0.15%凝胶或0.1%更昔洛韦滴眼液4~6次/d；痊愈后2次/d，2~4周。</a:t>
            </a:r>
          </a:p>
        </p:txBody>
      </p:sp>
      <p:sp>
        <p:nvSpPr>
          <p:cNvPr id="12" name="可编辑文字 10 | 激素、眼压、手术〔2023 p17〕"/>
          <p:cNvSpPr txBox="1"/>
          <p:nvPr/>
        </p:nvSpPr>
        <p:spPr>
          <a:xfrm>
            <a:off x="198000" y="357619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激素、眼压、手术〔2023 p17〕</a:t>
            </a:r>
          </a:p>
        </p:txBody>
      </p:sp>
      <p:sp>
        <p:nvSpPr>
          <p:cNvPr id="13" name="可编辑文字 11 | 在有效抗病毒基础上联合：1%醋酸泼尼松龙或妥布霉素地塞米"/>
          <p:cNvSpPr txBox="1"/>
          <p:nvPr/>
        </p:nvSpPr>
        <p:spPr>
          <a:xfrm>
            <a:off x="198000" y="3753999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在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有效抗病毒基础上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联合：1%醋酸泼尼松龙或妥布霉素地塞米松滴眼液4次/d。羊脂/尘状KP消退后，每周减1次，至1次/d后按炎症调整。关注眼压；升高需降压，正常后减停，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慎用前列腺素类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。严重失代偿评估移植；术前后充分抗病毒，术后全身用药通常3~6个月。</a:t>
            </a:r>
          </a:p>
        </p:txBody>
      </p:sp>
      <p:cxnSp>
        <p:nvCxnSpPr>
          <p:cNvPr id="14" name="卡片分隔线 12"/>
          <p:cNvCxnSpPr/>
          <p:nvPr/>
        </p:nvCxnSpPr>
        <p:spPr>
          <a:xfrm>
            <a:off x="198000" y="4642320"/>
            <a:ext cx="338400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可编辑文字 13 | p为期刊页码（PDF页码=p−12）。剂量为2023原文"/>
          <p:cNvSpPr txBox="1"/>
          <p:nvPr/>
        </p:nvSpPr>
        <p:spPr>
          <a:xfrm>
            <a:off x="198000" y="469312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p为期刊页码（PDF页码=p−12）。剂量为2023原文摘录，开药前核</a:t>
            </a:r>
          </a:p>
        </p:txBody>
      </p:sp>
      <p:sp>
        <p:nvSpPr>
          <p:cNvPr id="16" name="可编辑文字 14 | 对。完整证据与研究区别见提取表。"/>
          <p:cNvSpPr txBox="1"/>
          <p:nvPr/>
        </p:nvSpPr>
        <p:spPr>
          <a:xfrm>
            <a:off x="198000" y="483028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对。完整证据与研究区别见提取表。</a:t>
            </a:r>
          </a:p>
        </p:txBody>
      </p:sp>
      <p:sp>
        <p:nvSpPr>
          <p:cNvPr id="17" name="可编辑文字 15 | 打印：100% 原尺寸 · 双面长边翻转"/>
          <p:cNvSpPr txBox="1"/>
          <p:nvPr/>
        </p:nvSpPr>
        <p:spPr>
          <a:xfrm>
            <a:off x="198000" y="496744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打印：100% 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可编辑文字 00 | 病毒性角膜内皮炎"/>
          <p:cNvSpPr txBox="1"/>
          <p:nvPr/>
        </p:nvSpPr>
        <p:spPr>
          <a:xfrm>
            <a:off x="198000" y="198000"/>
            <a:ext cx="3384000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病毒性角膜内皮炎</a:t>
            </a:r>
          </a:p>
        </p:txBody>
      </p:sp>
      <p:sp>
        <p:nvSpPr>
          <p:cNvPr id="3" name="可编辑文字 01 | 2023共识 · 眼科临床速查"/>
          <p:cNvSpPr txBox="1"/>
          <p:nvPr/>
        </p:nvSpPr>
        <p:spPr>
          <a:xfrm>
            <a:off x="198000" y="416439"/>
            <a:ext cx="3384000" cy="184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2023共识 · 眼科临床速查</a:t>
            </a:r>
          </a:p>
        </p:txBody>
      </p:sp>
      <p:sp>
        <p:nvSpPr>
          <p:cNvPr id="4" name="可编辑文字 02 | 背面 · 用药与随访"/>
          <p:cNvSpPr txBox="1"/>
          <p:nvPr/>
        </p:nvSpPr>
        <p:spPr>
          <a:xfrm>
            <a:off x="198000" y="606940"/>
            <a:ext cx="3384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背面 · 用药与随访</a:t>
            </a:r>
          </a:p>
        </p:txBody>
      </p:sp>
      <p:cxnSp>
        <p:nvCxnSpPr>
          <p:cNvPr id="5" name="卡片分隔线 03"/>
          <p:cNvCxnSpPr/>
          <p:nvPr/>
        </p:nvCxnSpPr>
        <p:spPr>
          <a:xfrm>
            <a:off x="198000" y="784740"/>
            <a:ext cx="338400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可编辑文字 04 | 成人全身剂量摘录〔2023 p16〕"/>
          <p:cNvSpPr txBox="1"/>
          <p:nvPr/>
        </p:nvSpPr>
        <p:spPr>
          <a:xfrm>
            <a:off x="198000" y="8609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成人全身剂量摘录〔2023 p16〕</a:t>
            </a:r>
          </a:p>
        </p:txBody>
      </p:sp>
      <p:sp>
        <p:nvSpPr>
          <p:cNvPr id="7" name="可编辑文字 05 | 阿昔洛韦200 mg/次，5次/d，7 d；缓解后400"/>
          <p:cNvSpPr txBox="1"/>
          <p:nvPr/>
        </p:nvSpPr>
        <p:spPr>
          <a:xfrm>
            <a:off x="198000" y="1038740"/>
            <a:ext cx="3155400" cy="8915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</a:r>
          </a:p>
        </p:txBody>
      </p:sp>
      <p:sp>
        <p:nvSpPr>
          <p:cNvPr id="8" name="可编辑文字 06 | 更昔洛韦监测与停药〔2023 p16〕"/>
          <p:cNvSpPr txBox="1"/>
          <p:nvPr/>
        </p:nvSpPr>
        <p:spPr>
          <a:xfrm>
            <a:off x="198000" y="195567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更昔洛韦监测与停药〔2023 p16〕</a:t>
            </a:r>
          </a:p>
        </p:txBody>
      </p:sp>
      <p:sp>
        <p:nvSpPr>
          <p:cNvPr id="9" name="可编辑文字 07 | 用前血常规/肝肾。诱导：血常规每3 d、肝肾每周；维持："/>
          <p:cNvSpPr txBox="1"/>
          <p:nvPr/>
        </p:nvSpPr>
        <p:spPr>
          <a:xfrm>
            <a:off x="198000" y="213348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用前血常规/肝肾。诱导：血常规每3 d、肝肾每周；维持：血常规每周、肝肾每2~4周。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停药：肝肾恶化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；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血小板≤25×10</a:t>
            </a:r>
            <a:r>
              <a:rPr sz="950" b="1" lang="zh-CN" spc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⁹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/L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；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粒细胞≤0.5×10</a:t>
            </a:r>
            <a:r>
              <a:rPr sz="950" b="1" lang="zh-CN" spc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⁹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/L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或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降至用前50%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。3周无效考虑耐药，改膦甲酸钠（二线、肾毒性，剂量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）。</a:t>
            </a:r>
          </a:p>
        </p:txBody>
      </p:sp>
      <p:sp>
        <p:nvSpPr>
          <p:cNvPr id="10" name="可编辑文字 08 | 特殊人群与慎用〔2023 p16〕"/>
          <p:cNvSpPr txBox="1"/>
          <p:nvPr/>
        </p:nvSpPr>
        <p:spPr>
          <a:xfrm>
            <a:off x="198000" y="290818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特殊人群与慎用〔2023 p16〕</a:t>
            </a:r>
          </a:p>
        </p:txBody>
      </p:sp>
      <p:sp>
        <p:nvSpPr>
          <p:cNvPr id="11" name="可编辑文字 09 | 儿童：阿昔洛韦10~15 mg/(kg·d)，分3~5次"/>
          <p:cNvSpPr txBox="1"/>
          <p:nvPr/>
        </p:nvSpPr>
        <p:spPr>
          <a:xfrm>
            <a:off x="198000" y="308598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儿童：阿昔洛韦10~15 mg/(kg·d)，分3~5次、7 d；更昔洛韦5 mg/(kg·次)，诱导2次/d、14 d，维持1次/d、2个月；儿童途径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。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肾损伤避免阿昔洛韦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；泛昔洛韦按肾功能调整（分档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）；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骨髓移植慎用更昔洛韦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2" name="可编辑文字 10 | 随访缺项〔2023 p14、17〕"/>
          <p:cNvSpPr txBox="1"/>
          <p:nvPr/>
        </p:nvSpPr>
        <p:spPr>
          <a:xfrm>
            <a:off x="198000" y="386067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随访缺项〔2023 p14、17〕</a:t>
            </a:r>
          </a:p>
        </p:txBody>
      </p:sp>
      <p:sp>
        <p:nvSpPr>
          <p:cNvPr id="13" name="可编辑文字 11 | 关注KP/炎症、眼压、内皮细胞变化及药物化验。统一复诊间"/>
          <p:cNvSpPr txBox="1"/>
          <p:nvPr/>
        </p:nvSpPr>
        <p:spPr>
          <a:xfrm>
            <a:off x="198000" y="4038479"/>
            <a:ext cx="3155400" cy="607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关注KP/炎症、眼压、内皮细胞变化及药物化验。统一复诊间隔、妊娠/哺乳方案、正式推荐等级：</a:t>
            </a:r>
            <a:r>
              <a:rPr sz="950" b="1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原文未明确</a:t>
            </a:r>
            <a:r>
              <a:rPr sz="9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。CMV易复发者适当延长治疗；避免劳累、感冒，加强锻炼。</a:t>
            </a:r>
          </a:p>
        </p:txBody>
      </p:sp>
      <p:cxnSp>
        <p:nvCxnSpPr>
          <p:cNvPr id="14" name="卡片分隔线 12"/>
          <p:cNvCxnSpPr/>
          <p:nvPr/>
        </p:nvCxnSpPr>
        <p:spPr>
          <a:xfrm>
            <a:off x="198000" y="4642320"/>
            <a:ext cx="338400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可编辑文字 13 | p为期刊页码（PDF页码=p−12）。剂量为2023原文"/>
          <p:cNvSpPr txBox="1"/>
          <p:nvPr/>
        </p:nvSpPr>
        <p:spPr>
          <a:xfrm>
            <a:off x="198000" y="469312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p为期刊页码（PDF页码=p−12）。剂量为2023原文摘录，开药前核</a:t>
            </a:r>
          </a:p>
        </p:txBody>
      </p:sp>
      <p:sp>
        <p:nvSpPr>
          <p:cNvPr id="16" name="可编辑文字 14 | 对。完整证据与研究区别见提取表。"/>
          <p:cNvSpPr txBox="1"/>
          <p:nvPr/>
        </p:nvSpPr>
        <p:spPr>
          <a:xfrm>
            <a:off x="198000" y="483028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对。完整证据与研究区别见提取表。</a:t>
            </a:r>
          </a:p>
        </p:txBody>
      </p:sp>
      <p:sp>
        <p:nvSpPr>
          <p:cNvPr id="17" name="可编辑文字 15 | 打印：100% 原尺寸 · 双面长边翻转"/>
          <p:cNvSpPr txBox="1"/>
          <p:nvPr/>
        </p:nvSpPr>
        <p:spPr>
          <a:xfrm>
            <a:off x="198000" y="496744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打印：100% 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病毒性角膜内皮炎｜A6双面速查卡（可编辑）</dc:title>
  <dc:subject>2023共识原文摘录；原生可编辑文本和线条</dc:subject>
  <dc:creator>临床资料整理</dc:creator>
  <cp:keywords/>
  <dc:description>字体：Noto Sans CJK SC / Noto Sans。原尺寸打印100%，双面长边翻转。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