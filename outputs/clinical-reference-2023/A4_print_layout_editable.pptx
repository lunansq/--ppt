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SC；上标⁹使用Noto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SC；上标⁹使用Noto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4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5" name="可编辑文字 02 | 正面 · 诊断与处置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正面 · 诊断与处置</a:t>
              </a:r>
            </a:p>
          </p:txBody>
        </p:sp>
        <p:cxnSp>
          <p:nvCxnSpPr>
            <p:cNvPr id="6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可编辑文字 04 | 诊断与病原检查〔2023 p14–15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诊断与病原检查〔2023 p14–15〕</a:t>
              </a:r>
            </a:p>
          </p:txBody>
        </p:sp>
        <p:sp>
          <p:nvSpPr>
            <p:cNvPr id="8" name="可编辑文字 05 | 临床：依据1（急性起病；感染史/免疫下降诱因可有）＋3（"/>
            <p:cNvSpPr txBox="1"/>
            <p:nvPr/>
          </p:nvSpPr>
          <p:spPr>
            <a:xfrm>
              <a:off x="19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，必要时补充房水特异抗体/G-W。</a:t>
              </a:r>
            </a:p>
          </p:txBody>
        </p:sp>
        <p:sp>
          <p:nvSpPr>
            <p:cNvPr id="9" name="可编辑文字 06 | 重点风险与鉴别〔2023 p15–16〕"/>
            <p:cNvSpPr txBox="1"/>
            <p:nvPr/>
          </p:nvSpPr>
          <p:spPr>
            <a:xfrm>
              <a:off x="19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重点风险与鉴别〔2023 p15–16〕</a:t>
              </a:r>
            </a:p>
          </p:txBody>
        </p:sp>
        <p:sp>
          <p:nvSpPr>
            <p:cNvPr id="10" name="可编辑文字 07 | 线状型内皮丢失最快、易失代偿；关注眼压和内皮变化。鉴别前"/>
            <p:cNvSpPr txBox="1"/>
            <p:nvPr/>
          </p:nvSpPr>
          <p:spPr>
            <a:xfrm>
              <a:off x="19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11" name="可编辑文字 08 | 病原与局部抗病毒〔2023 p16–17〕"/>
            <p:cNvSpPr txBox="1"/>
            <p:nvPr/>
          </p:nvSpPr>
          <p:spPr>
            <a:xfrm>
              <a:off x="19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病原与局部抗病毒〔2023 p16–17〕</a:t>
              </a:r>
            </a:p>
          </p:txBody>
        </p:sp>
        <p:sp>
          <p:nvSpPr>
            <p:cNvPr id="12" name="可编辑文字 09 | HSV：阿昔洛韦或更昔洛韦；CMV：首选更昔洛韦，阿昔洛"/>
            <p:cNvSpPr txBox="1"/>
            <p:nvPr/>
          </p:nvSpPr>
          <p:spPr>
            <a:xfrm>
              <a:off x="19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13" name="可编辑文字 10 | 激素、眼压、手术〔2023 p17〕"/>
            <p:cNvSpPr txBox="1"/>
            <p:nvPr/>
          </p:nvSpPr>
          <p:spPr>
            <a:xfrm>
              <a:off x="19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激素、眼压、手术〔2023 p17〕</a:t>
              </a:r>
            </a:p>
          </p:txBody>
        </p:sp>
        <p:sp>
          <p:nvSpPr>
            <p:cNvPr id="14" name="可编辑文字 11 | 在有效抗病毒基础上联合：1%醋酸泼尼松龙或妥布霉素地塞米"/>
            <p:cNvSpPr txBox="1"/>
            <p:nvPr/>
          </p:nvSpPr>
          <p:spPr>
            <a:xfrm>
              <a:off x="19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15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17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18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19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20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21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22" name="可编辑文字 02 | 正面 · 诊断与处置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正面 · 诊断与处置</a:t>
              </a:r>
            </a:p>
          </p:txBody>
        </p:sp>
        <p:cxnSp>
          <p:nvCxnSpPr>
            <p:cNvPr id="23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可编辑文字 04 | 诊断与病原检查〔2023 p14–15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诊断与病原检查〔2023 p14–15〕</a:t>
              </a:r>
            </a:p>
          </p:txBody>
        </p:sp>
        <p:sp>
          <p:nvSpPr>
            <p:cNvPr id="25" name="可编辑文字 05 | 临床：依据1（急性起病；感染史/免疫下降诱因可有）＋3（"/>
            <p:cNvSpPr txBox="1"/>
            <p:nvPr/>
          </p:nvSpPr>
          <p:spPr>
            <a:xfrm>
              <a:off x="397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，必要时补充房水特异抗体/G-W。</a:t>
              </a:r>
            </a:p>
          </p:txBody>
        </p:sp>
        <p:sp>
          <p:nvSpPr>
            <p:cNvPr id="26" name="可编辑文字 06 | 重点风险与鉴别〔2023 p15–16〕"/>
            <p:cNvSpPr txBox="1"/>
            <p:nvPr/>
          </p:nvSpPr>
          <p:spPr>
            <a:xfrm>
              <a:off x="397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重点风险与鉴别〔2023 p15–16〕</a:t>
              </a:r>
            </a:p>
          </p:txBody>
        </p:sp>
        <p:sp>
          <p:nvSpPr>
            <p:cNvPr id="27" name="可编辑文字 07 | 线状型内皮丢失最快、易失代偿；关注眼压和内皮变化。鉴别前"/>
            <p:cNvSpPr txBox="1"/>
            <p:nvPr/>
          </p:nvSpPr>
          <p:spPr>
            <a:xfrm>
              <a:off x="397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28" name="可编辑文字 08 | 病原与局部抗病毒〔2023 p16–17〕"/>
            <p:cNvSpPr txBox="1"/>
            <p:nvPr/>
          </p:nvSpPr>
          <p:spPr>
            <a:xfrm>
              <a:off x="397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病原与局部抗病毒〔2023 p16–17〕</a:t>
              </a:r>
            </a:p>
          </p:txBody>
        </p:sp>
        <p:sp>
          <p:nvSpPr>
            <p:cNvPr id="29" name="可编辑文字 09 | HSV：阿昔洛韦或更昔洛韦；CMV：首选更昔洛韦，阿昔洛"/>
            <p:cNvSpPr txBox="1"/>
            <p:nvPr/>
          </p:nvSpPr>
          <p:spPr>
            <a:xfrm>
              <a:off x="397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30" name="可编辑文字 10 | 激素、眼压、手术〔2023 p17〕"/>
            <p:cNvSpPr txBox="1"/>
            <p:nvPr/>
          </p:nvSpPr>
          <p:spPr>
            <a:xfrm>
              <a:off x="397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激素、眼压、手术〔2023 p17〕</a:t>
              </a:r>
            </a:p>
          </p:txBody>
        </p:sp>
        <p:sp>
          <p:nvSpPr>
            <p:cNvPr id="31" name="可编辑文字 11 | 在有效抗病毒基础上联合：1%醋酸泼尼松龙或妥布霉素地塞米"/>
            <p:cNvSpPr txBox="1"/>
            <p:nvPr/>
          </p:nvSpPr>
          <p:spPr>
            <a:xfrm>
              <a:off x="397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32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34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35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36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37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38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39" name="可编辑文字 02 | 正面 · 诊断与处置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正面 · 诊断与处置</a:t>
              </a:r>
            </a:p>
          </p:txBody>
        </p:sp>
        <p:cxnSp>
          <p:nvCxnSpPr>
            <p:cNvPr id="40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可编辑文字 04 | 诊断与病原检查〔2023 p14–15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诊断与病原检查〔2023 p14–15〕</a:t>
              </a:r>
            </a:p>
          </p:txBody>
        </p:sp>
        <p:sp>
          <p:nvSpPr>
            <p:cNvPr id="42" name="可编辑文字 05 | 临床：依据1（急性起病；感染史/免疫下降诱因可有）＋3（"/>
            <p:cNvSpPr txBox="1"/>
            <p:nvPr/>
          </p:nvSpPr>
          <p:spPr>
            <a:xfrm>
              <a:off x="19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，必要时补充房水特异抗体/G-W。</a:t>
              </a:r>
            </a:p>
          </p:txBody>
        </p:sp>
        <p:sp>
          <p:nvSpPr>
            <p:cNvPr id="43" name="可编辑文字 06 | 重点风险与鉴别〔2023 p15–16〕"/>
            <p:cNvSpPr txBox="1"/>
            <p:nvPr/>
          </p:nvSpPr>
          <p:spPr>
            <a:xfrm>
              <a:off x="19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重点风险与鉴别〔2023 p15–16〕</a:t>
              </a:r>
            </a:p>
          </p:txBody>
        </p:sp>
        <p:sp>
          <p:nvSpPr>
            <p:cNvPr id="44" name="可编辑文字 07 | 线状型内皮丢失最快、易失代偿；关注眼压和内皮变化。鉴别前"/>
            <p:cNvSpPr txBox="1"/>
            <p:nvPr/>
          </p:nvSpPr>
          <p:spPr>
            <a:xfrm>
              <a:off x="19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45" name="可编辑文字 08 | 病原与局部抗病毒〔2023 p16–17〕"/>
            <p:cNvSpPr txBox="1"/>
            <p:nvPr/>
          </p:nvSpPr>
          <p:spPr>
            <a:xfrm>
              <a:off x="19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病原与局部抗病毒〔2023 p16–17〕</a:t>
              </a:r>
            </a:p>
          </p:txBody>
        </p:sp>
        <p:sp>
          <p:nvSpPr>
            <p:cNvPr id="46" name="可编辑文字 09 | HSV：阿昔洛韦或更昔洛韦；CMV：首选更昔洛韦，阿昔洛"/>
            <p:cNvSpPr txBox="1"/>
            <p:nvPr/>
          </p:nvSpPr>
          <p:spPr>
            <a:xfrm>
              <a:off x="19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47" name="可编辑文字 10 | 激素、眼压、手术〔2023 p17〕"/>
            <p:cNvSpPr txBox="1"/>
            <p:nvPr/>
          </p:nvSpPr>
          <p:spPr>
            <a:xfrm>
              <a:off x="19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激素、眼压、手术〔2023 p17〕</a:t>
              </a:r>
            </a:p>
          </p:txBody>
        </p:sp>
        <p:sp>
          <p:nvSpPr>
            <p:cNvPr id="48" name="可编辑文字 11 | 在有效抗病毒基础上联合：1%醋酸泼尼松龙或妥布霉素地塞米"/>
            <p:cNvSpPr txBox="1"/>
            <p:nvPr/>
          </p:nvSpPr>
          <p:spPr>
            <a:xfrm>
              <a:off x="19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49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51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52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53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54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55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56" name="可编辑文字 02 | 正面 · 诊断与处置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正面 · 诊断与处置</a:t>
              </a:r>
            </a:p>
          </p:txBody>
        </p:sp>
        <p:cxnSp>
          <p:nvCxnSpPr>
            <p:cNvPr id="57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可编辑文字 04 | 诊断与病原检查〔2023 p14–15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诊断与病原检查〔2023 p14–15〕</a:t>
              </a:r>
            </a:p>
          </p:txBody>
        </p:sp>
        <p:sp>
          <p:nvSpPr>
            <p:cNvPr id="59" name="可编辑文字 05 | 临床：依据1（急性起病；感染史/免疫下降诱因可有）＋3（"/>
            <p:cNvSpPr txBox="1"/>
            <p:nvPr/>
          </p:nvSpPr>
          <p:spPr>
            <a:xfrm>
              <a:off x="397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，必要时补充房水特异抗体/G-W。</a:t>
              </a:r>
            </a:p>
          </p:txBody>
        </p:sp>
        <p:sp>
          <p:nvSpPr>
            <p:cNvPr id="60" name="可编辑文字 06 | 重点风险与鉴别〔2023 p15–16〕"/>
            <p:cNvSpPr txBox="1"/>
            <p:nvPr/>
          </p:nvSpPr>
          <p:spPr>
            <a:xfrm>
              <a:off x="397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重点风险与鉴别〔2023 p15–16〕</a:t>
              </a:r>
            </a:p>
          </p:txBody>
        </p:sp>
        <p:sp>
          <p:nvSpPr>
            <p:cNvPr id="61" name="可编辑文字 07 | 线状型内皮丢失最快、易失代偿；关注眼压和内皮变化。鉴别前"/>
            <p:cNvSpPr txBox="1"/>
            <p:nvPr/>
          </p:nvSpPr>
          <p:spPr>
            <a:xfrm>
              <a:off x="397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62" name="可编辑文字 08 | 病原与局部抗病毒〔2023 p16–17〕"/>
            <p:cNvSpPr txBox="1"/>
            <p:nvPr/>
          </p:nvSpPr>
          <p:spPr>
            <a:xfrm>
              <a:off x="397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病原与局部抗病毒〔2023 p16–17〕</a:t>
              </a:r>
            </a:p>
          </p:txBody>
        </p:sp>
        <p:sp>
          <p:nvSpPr>
            <p:cNvPr id="63" name="可编辑文字 09 | HSV：阿昔洛韦或更昔洛韦；CMV：首选更昔洛韦，阿昔洛"/>
            <p:cNvSpPr txBox="1"/>
            <p:nvPr/>
          </p:nvSpPr>
          <p:spPr>
            <a:xfrm>
              <a:off x="397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64" name="可编辑文字 10 | 激素、眼压、手术〔2023 p17〕"/>
            <p:cNvSpPr txBox="1"/>
            <p:nvPr/>
          </p:nvSpPr>
          <p:spPr>
            <a:xfrm>
              <a:off x="397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激素、眼压、手术〔2023 p17〕</a:t>
              </a:r>
            </a:p>
          </p:txBody>
        </p:sp>
        <p:sp>
          <p:nvSpPr>
            <p:cNvPr id="65" name="可编辑文字 11 | 在有效抗病毒基础上联合：1%醋酸泼尼松龙或妥布霉素地塞米"/>
            <p:cNvSpPr txBox="1"/>
            <p:nvPr/>
          </p:nvSpPr>
          <p:spPr>
            <a:xfrm>
              <a:off x="397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66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68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69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cxnSp>
        <p:nvCxnSpPr>
          <p:cNvPr id="70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4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5" name="可编辑文字 02 | 背面 · 用药与随访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背面 · 用药与随访</a:t>
              </a:r>
            </a:p>
          </p:txBody>
        </p:sp>
        <p:cxnSp>
          <p:nvCxnSpPr>
            <p:cNvPr id="6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可编辑文字 04 | 成人全身剂量摘录〔2023 p16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成人全身剂量摘录〔2023 p16〕</a:t>
              </a:r>
            </a:p>
          </p:txBody>
        </p:sp>
        <p:sp>
          <p:nvSpPr>
            <p:cNvPr id="8" name="可编辑文字 05 | 阿昔洛韦200 mg/次，5次/d，7 d；缓解后400"/>
            <p:cNvSpPr txBox="1"/>
            <p:nvPr/>
          </p:nvSpPr>
          <p:spPr>
            <a:xfrm>
              <a:off x="19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9" name="可编辑文字 06 | 更昔洛韦监测与停药〔2023 p16〕"/>
            <p:cNvSpPr txBox="1"/>
            <p:nvPr/>
          </p:nvSpPr>
          <p:spPr>
            <a:xfrm>
              <a:off x="19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更昔洛韦监测与停药〔2023 p16〕</a:t>
              </a:r>
            </a:p>
          </p:txBody>
        </p:sp>
        <p:sp>
          <p:nvSpPr>
            <p:cNvPr id="10" name="可编辑文字 07 | 用前血常规/肝肾。诱导：血常规每3 d、肝肾每周；维持："/>
            <p:cNvSpPr txBox="1"/>
            <p:nvPr/>
          </p:nvSpPr>
          <p:spPr>
            <a:xfrm>
              <a:off x="19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）。</a:t>
              </a:r>
            </a:p>
          </p:txBody>
        </p:sp>
        <p:sp>
          <p:nvSpPr>
            <p:cNvPr id="11" name="可编辑文字 08 | 特殊人群与慎用〔2023 p16〕"/>
            <p:cNvSpPr txBox="1"/>
            <p:nvPr/>
          </p:nvSpPr>
          <p:spPr>
            <a:xfrm>
              <a:off x="19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特殊人群与慎用〔2023 p16〕</a:t>
              </a:r>
            </a:p>
          </p:txBody>
        </p:sp>
        <p:sp>
          <p:nvSpPr>
            <p:cNvPr id="12" name="可编辑文字 09 | 儿童：阿昔洛韦10~15 mg/(kg·d)，分3~5次"/>
            <p:cNvSpPr txBox="1"/>
            <p:nvPr/>
          </p:nvSpPr>
          <p:spPr>
            <a:xfrm>
              <a:off x="19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13" name="可编辑文字 10 | 随访缺项〔2023 p14、17〕"/>
            <p:cNvSpPr txBox="1"/>
            <p:nvPr/>
          </p:nvSpPr>
          <p:spPr>
            <a:xfrm>
              <a:off x="19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随访缺项〔2023 p14、17〕</a:t>
              </a:r>
            </a:p>
          </p:txBody>
        </p:sp>
        <p:sp>
          <p:nvSpPr>
            <p:cNvPr id="14" name="可编辑文字 11 | 关注KP/炎症、眼压、内皮细胞变化及药物化验。统一复诊间"/>
            <p:cNvSpPr txBox="1"/>
            <p:nvPr/>
          </p:nvSpPr>
          <p:spPr>
            <a:xfrm>
              <a:off x="19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15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17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18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19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20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21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22" name="可编辑文字 02 | 背面 · 用药与随访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背面 · 用药与随访</a:t>
              </a:r>
            </a:p>
          </p:txBody>
        </p:sp>
        <p:cxnSp>
          <p:nvCxnSpPr>
            <p:cNvPr id="23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可编辑文字 04 | 成人全身剂量摘录〔2023 p16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成人全身剂量摘录〔2023 p16〕</a:t>
              </a:r>
            </a:p>
          </p:txBody>
        </p:sp>
        <p:sp>
          <p:nvSpPr>
            <p:cNvPr id="25" name="可编辑文字 05 | 阿昔洛韦200 mg/次，5次/d，7 d；缓解后400"/>
            <p:cNvSpPr txBox="1"/>
            <p:nvPr/>
          </p:nvSpPr>
          <p:spPr>
            <a:xfrm>
              <a:off x="397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26" name="可编辑文字 06 | 更昔洛韦监测与停药〔2023 p16〕"/>
            <p:cNvSpPr txBox="1"/>
            <p:nvPr/>
          </p:nvSpPr>
          <p:spPr>
            <a:xfrm>
              <a:off x="397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更昔洛韦监测与停药〔2023 p16〕</a:t>
              </a:r>
            </a:p>
          </p:txBody>
        </p:sp>
        <p:sp>
          <p:nvSpPr>
            <p:cNvPr id="27" name="可编辑文字 07 | 用前血常规/肝肾。诱导：血常规每3 d、肝肾每周；维持："/>
            <p:cNvSpPr txBox="1"/>
            <p:nvPr/>
          </p:nvSpPr>
          <p:spPr>
            <a:xfrm>
              <a:off x="397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）。</a:t>
              </a:r>
            </a:p>
          </p:txBody>
        </p:sp>
        <p:sp>
          <p:nvSpPr>
            <p:cNvPr id="28" name="可编辑文字 08 | 特殊人群与慎用〔2023 p16〕"/>
            <p:cNvSpPr txBox="1"/>
            <p:nvPr/>
          </p:nvSpPr>
          <p:spPr>
            <a:xfrm>
              <a:off x="397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特殊人群与慎用〔2023 p16〕</a:t>
              </a:r>
            </a:p>
          </p:txBody>
        </p:sp>
        <p:sp>
          <p:nvSpPr>
            <p:cNvPr id="29" name="可编辑文字 09 | 儿童：阿昔洛韦10~15 mg/(kg·d)，分3~5次"/>
            <p:cNvSpPr txBox="1"/>
            <p:nvPr/>
          </p:nvSpPr>
          <p:spPr>
            <a:xfrm>
              <a:off x="397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30" name="可编辑文字 10 | 随访缺项〔2023 p14、17〕"/>
            <p:cNvSpPr txBox="1"/>
            <p:nvPr/>
          </p:nvSpPr>
          <p:spPr>
            <a:xfrm>
              <a:off x="397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随访缺项〔2023 p14、17〕</a:t>
              </a:r>
            </a:p>
          </p:txBody>
        </p:sp>
        <p:sp>
          <p:nvSpPr>
            <p:cNvPr id="31" name="可编辑文字 11 | 关注KP/炎症、眼压、内皮细胞变化及药物化验。统一复诊间"/>
            <p:cNvSpPr txBox="1"/>
            <p:nvPr/>
          </p:nvSpPr>
          <p:spPr>
            <a:xfrm>
              <a:off x="397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32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34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35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36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37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38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39" name="可编辑文字 02 | 背面 · 用药与随访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背面 · 用药与随访</a:t>
              </a:r>
            </a:p>
          </p:txBody>
        </p:sp>
        <p:cxnSp>
          <p:nvCxnSpPr>
            <p:cNvPr id="40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可编辑文字 04 | 成人全身剂量摘录〔2023 p16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成人全身剂量摘录〔2023 p16〕</a:t>
              </a:r>
            </a:p>
          </p:txBody>
        </p:sp>
        <p:sp>
          <p:nvSpPr>
            <p:cNvPr id="42" name="可编辑文字 05 | 阿昔洛韦200 mg/次，5次/d，7 d；缓解后400"/>
            <p:cNvSpPr txBox="1"/>
            <p:nvPr/>
          </p:nvSpPr>
          <p:spPr>
            <a:xfrm>
              <a:off x="19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43" name="可编辑文字 06 | 更昔洛韦监测与停药〔2023 p16〕"/>
            <p:cNvSpPr txBox="1"/>
            <p:nvPr/>
          </p:nvSpPr>
          <p:spPr>
            <a:xfrm>
              <a:off x="19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更昔洛韦监测与停药〔2023 p16〕</a:t>
              </a:r>
            </a:p>
          </p:txBody>
        </p:sp>
        <p:sp>
          <p:nvSpPr>
            <p:cNvPr id="44" name="可编辑文字 07 | 用前血常规/肝肾。诱导：血常规每3 d、肝肾每周；维持："/>
            <p:cNvSpPr txBox="1"/>
            <p:nvPr/>
          </p:nvSpPr>
          <p:spPr>
            <a:xfrm>
              <a:off x="19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）。</a:t>
              </a:r>
            </a:p>
          </p:txBody>
        </p:sp>
        <p:sp>
          <p:nvSpPr>
            <p:cNvPr id="45" name="可编辑文字 08 | 特殊人群与慎用〔2023 p16〕"/>
            <p:cNvSpPr txBox="1"/>
            <p:nvPr/>
          </p:nvSpPr>
          <p:spPr>
            <a:xfrm>
              <a:off x="19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特殊人群与慎用〔2023 p16〕</a:t>
              </a:r>
            </a:p>
          </p:txBody>
        </p:sp>
        <p:sp>
          <p:nvSpPr>
            <p:cNvPr id="46" name="可编辑文字 09 | 儿童：阿昔洛韦10~15 mg/(kg·d)，分3~5次"/>
            <p:cNvSpPr txBox="1"/>
            <p:nvPr/>
          </p:nvSpPr>
          <p:spPr>
            <a:xfrm>
              <a:off x="19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47" name="可编辑文字 10 | 随访缺项〔2023 p14、17〕"/>
            <p:cNvSpPr txBox="1"/>
            <p:nvPr/>
          </p:nvSpPr>
          <p:spPr>
            <a:xfrm>
              <a:off x="19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随访缺项〔2023 p14、17〕</a:t>
              </a:r>
            </a:p>
          </p:txBody>
        </p:sp>
        <p:sp>
          <p:nvSpPr>
            <p:cNvPr id="48" name="可编辑文字 11 | 关注KP/炎症、眼压、内皮细胞变化及药物化验。统一复诊间"/>
            <p:cNvSpPr txBox="1"/>
            <p:nvPr/>
          </p:nvSpPr>
          <p:spPr>
            <a:xfrm>
              <a:off x="19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49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51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52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grpSp>
        <p:nvGrpSpPr>
          <p:cNvPr id="53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54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病毒性角膜内皮炎</a:t>
              </a:r>
            </a:p>
          </p:txBody>
        </p:sp>
        <p:sp>
          <p:nvSpPr>
            <p:cNvPr id="55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2023共识 · 眼科临床速查</a:t>
              </a:r>
            </a:p>
          </p:txBody>
        </p:sp>
        <p:sp>
          <p:nvSpPr>
            <p:cNvPr id="56" name="可编辑文字 02 | 背面 · 用药与随访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背面 · 用药与随访</a:t>
              </a:r>
            </a:p>
          </p:txBody>
        </p:sp>
        <p:cxnSp>
          <p:nvCxnSpPr>
            <p:cNvPr id="57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可编辑文字 04 | 成人全身剂量摘录〔2023 p16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成人全身剂量摘录〔2023 p16〕</a:t>
              </a:r>
            </a:p>
          </p:txBody>
        </p:sp>
        <p:sp>
          <p:nvSpPr>
            <p:cNvPr id="59" name="可编辑文字 05 | 阿昔洛韦200 mg/次，5次/d，7 d；缓解后400"/>
            <p:cNvSpPr txBox="1"/>
            <p:nvPr/>
          </p:nvSpPr>
          <p:spPr>
            <a:xfrm>
              <a:off x="397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60" name="可编辑文字 06 | 更昔洛韦监测与停药〔2023 p16〕"/>
            <p:cNvSpPr txBox="1"/>
            <p:nvPr/>
          </p:nvSpPr>
          <p:spPr>
            <a:xfrm>
              <a:off x="397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更昔洛韦监测与停药〔2023 p16〕</a:t>
              </a:r>
            </a:p>
          </p:txBody>
        </p:sp>
        <p:sp>
          <p:nvSpPr>
            <p:cNvPr id="61" name="可编辑文字 07 | 用前血常规/肝肾。诱导：血常规每3 d、肝肾每周；维持："/>
            <p:cNvSpPr txBox="1"/>
            <p:nvPr/>
          </p:nvSpPr>
          <p:spPr>
            <a:xfrm>
              <a:off x="397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）。</a:t>
              </a:r>
            </a:p>
          </p:txBody>
        </p:sp>
        <p:sp>
          <p:nvSpPr>
            <p:cNvPr id="62" name="可编辑文字 08 | 特殊人群与慎用〔2023 p16〕"/>
            <p:cNvSpPr txBox="1"/>
            <p:nvPr/>
          </p:nvSpPr>
          <p:spPr>
            <a:xfrm>
              <a:off x="397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特殊人群与慎用〔2023 p16〕</a:t>
              </a:r>
            </a:p>
          </p:txBody>
        </p:sp>
        <p:sp>
          <p:nvSpPr>
            <p:cNvPr id="63" name="可编辑文字 09 | 儿童：阿昔洛韦10~15 mg/(kg·d)，分3~5次"/>
            <p:cNvSpPr txBox="1"/>
            <p:nvPr/>
          </p:nvSpPr>
          <p:spPr>
            <a:xfrm>
              <a:off x="397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64" name="可编辑文字 10 | 随访缺项〔2023 p14、17〕"/>
            <p:cNvSpPr txBox="1"/>
            <p:nvPr/>
          </p:nvSpPr>
          <p:spPr>
            <a:xfrm>
              <a:off x="397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随访缺项〔2023 p14、17〕</a:t>
              </a:r>
            </a:p>
          </p:txBody>
        </p:sp>
        <p:sp>
          <p:nvSpPr>
            <p:cNvPr id="65" name="可编辑文字 11 | 关注KP/炎症、眼压、内皮细胞变化及药物化验。统一复诊间"/>
            <p:cNvSpPr txBox="1"/>
            <p:nvPr/>
          </p:nvSpPr>
          <p:spPr>
            <a:xfrm>
              <a:off x="397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66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p为期刊页码（PDF页码=p−12）。剂量为2023原文摘录，开药前核</a:t>
              </a:r>
            </a:p>
          </p:txBody>
        </p:sp>
        <p:sp>
          <p:nvSpPr>
            <p:cNvPr id="68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对。完整证据与研究区别见提取表。</a:t>
              </a:r>
            </a:p>
          </p:txBody>
        </p:sp>
        <p:sp>
          <p:nvSpPr>
            <p:cNvPr id="69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Noto Sans CJK SC"/>
                  <a:ea typeface="Noto Sans CJK SC"/>
                  <a:cs typeface="Noto Sans CJK SC"/>
                </a:rPr>
                <a:t>打印：100% 原尺寸 · 双面长边翻转</a:t>
              </a:r>
            </a:p>
          </p:txBody>
        </p:sp>
      </p:grpSp>
      <p:cxnSp>
        <p:nvCxnSpPr>
          <p:cNvPr id="70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病毒性角膜内皮炎｜A4四卡拼版（可编辑）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