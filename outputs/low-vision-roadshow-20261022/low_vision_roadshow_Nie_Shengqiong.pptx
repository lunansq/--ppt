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第1页｜建议12秒</a:t>
            </a:r>
          </a:p>
          <a:p>
            <a:r>
              <a:t>各位评委好！我是宜昌市中心人民医院眼科的聂圣琼，汇报低视力康复数字化服务项目，目标是把专业康复送到县域。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第2页｜建议22秒</a:t>
            </a:r>
          </a:p>
          <a:p>
            <a:r>
              <a:t>县域患者的困难落在四个环节：发现晚，缺少便捷筛查；适配难，缺少精细评估；训练少，居家缺少指导；随访断，回家后缺少持续跟进。患者需要的是早发现、能适配、会训练、有随访。我们的方案就从这四项需求出发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[06] EYE·科普丨助视器——低视力者的“水晶球”和“魔法眼镜”｜https://mp.weixin.qq.com/s/iGbtfIhat8kIfSJ5kJP6gA</a:t>
            </a:r>
          </a:p>
          <a:p>
            <a:r>
              <a:t>[07] 我们该如何帮助低视力患者，让他们获得更好的生活质量，建议看看这篇｜https://mp.weixin.qq.com/s/28SQoeTnZdtQx2jzU4IS6w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第3页｜建议28秒</a:t>
            </a:r>
          </a:p>
          <a:p>
            <a:r>
              <a:t>项目以筛查建档为起点，用多模态眼部影像结合人工智能分析，提示眼病及相关全身疾病风险，再由医生评估、会诊或转诊。随后，根据视功能情况制定干预和康复方案，并把训练与随访纳入动态档案。每次复评都用于调整下一步服务，让一次筛查成为持续康复的入口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[01] 感官功能预警阿尔茨海默病——山东省立医院杜怡峰/张清华团队MIND-China队列感官标志物研究进展｜https://mp.weixin.qq.com/s/XsQVJoiQ8shDhU7Mbv2OPg</a:t>
            </a:r>
          </a:p>
          <a:p>
            <a:r>
              <a:t>[02] 给大脑装个“视觉引擎”！这个门诊专治“看不清”难题｜https://mp.weixin.qq.com/s/f9hdLs2ldjHgr4LEbnPN-g</a:t>
            </a:r>
          </a:p>
          <a:p>
            <a:r>
              <a:t>[06] EYE·科普丨助视器——低视力者的“水晶球”和“魔法眼镜”｜https://mp.weixin.qq.com/s/iGbtfIhat8kIfSJ5kJP6gA</a:t>
            </a:r>
          </a:p>
          <a:p>
            <a:r>
              <a:t>[07] 我们该如何帮助低视力患者，让他们获得更好的生活质量，建议看看这篇｜https://mp.weixin.qq.com/s/28SQoeTnZdtQx2jzU4IS6w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第4页｜建议23秒</a:t>
            </a:r>
          </a:p>
          <a:p>
            <a:r>
              <a:t>分层先看需求，再选工具和去向：高风险人群以影像和人工智能辅助分析提示风险，由医生决定转诊；视野缺损者评估视野及双眼视觉，考虑棱镜等助视适配；中心视力受损者用微视野评估，衔接生物反馈和视知觉训练。下面展开两项技术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[03] 同向偏盲的棱镜应用｜https://mp.weixin.qq.com/s/ha5JLUxbzacx3OAx8dBomA</a:t>
            </a:r>
          </a:p>
          <a:p>
            <a:r>
              <a:t>[06] EYE·科普丨助视器——低视力者的“水晶球”和“魔法眼镜”｜https://mp.weixin.qq.com/s/iGbtfIhat8kIfSJ5kJP6gA</a:t>
            </a:r>
          </a:p>
          <a:p>
            <a:r>
              <a:t>[08] 『微视野MP-3』—— 量化黄斑功能，从诊到治｜https://mp.weixin.qq.com/s/nnqV8ECJIYENdZu0O4FYDg</a:t>
            </a:r>
          </a:p>
          <a:p>
            <a:r>
              <a:t>[10] 黄斑病变低视力患者优选视网膜区域PRL训练操作步骤｜https://mp.weixin.qq.com/s/uu01kImoPlm2NuaCT9gODg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第5页｜建议31秒</a:t>
            </a:r>
          </a:p>
          <a:p>
            <a:r>
              <a:t>对部分同向偏盲患者，可评估周边局部压贴棱镜。布局示意保留中央观看区，借助光路偏移提示缺损侧的部分信息。适配需要试戴，按需裁剪、定位，结合眼头扫描、障碍回避等适应训练，再复评使用表现与舒适度。它提供视觉补偿，不修复缺损。下面看中心视力受损的另一条路径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[03] 同向偏盲的棱镜应用｜https://mp.weixin.qq.com/s/ha5JLUxbzacx3OAx8dBomA</a:t>
            </a:r>
          </a:p>
          <a:p>
            <a:r>
              <a:t>[04] 【身边的事】棱镜点亮“缺失的视野”：一场针对偏盲青年的视觉重建之旅｜https://mp.weixin.qq.com/s/7TtFZUrayLLNq3q9mYo5zQ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第6页｜建议34秒</a:t>
            </a:r>
          </a:p>
          <a:p>
            <a:r>
              <a:t>偏心注视训练先评估原发病状态、残余功能和注视稳定性。原有注视位点合适时，可保留位置、强化稳定性；需要调整时，再个体化选择训练位点。院内通过微视野评估及生物反馈指导训练，居家按方案延续视知觉和日常任务练习。居家端不能替代设备级评估，后续仍需复评调整。目标是更好利用残余功能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[08] 『微视野MP-3』—— 量化黄斑功能，从诊到治｜https://mp.weixin.qq.com/s/nnqV8ECJIYENdZu0O4FYDg</a:t>
            </a:r>
          </a:p>
          <a:p>
            <a:r>
              <a:t>[10] 黄斑病变低视力患者优选视网膜区域PRL训练操作步骤｜https://mp.weixin.qq.com/s/uu01kImoPlm2NuaCT9gODg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第7页｜建议20秒</a:t>
            </a:r>
          </a:p>
          <a:p>
            <a:r>
              <a:t>数字化把三端连起来：市级中心精细评估、制定方案和复评；基层筛查、转诊和随访；家庭按方案训练并反馈。动态档案贯穿检查、方案、训练记录，支持接续服务与复评调整。接下来，看已有进展。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[02] 给大脑装个“视觉引擎”！这个门诊专治“看不清”难题｜https://mp.weixin.qq.com/s/f9hdLs2ldjHgr4LEbnPN-g</a:t>
            </a:r>
          </a:p>
          <a:p>
            <a:r>
              <a:t>[06] EYE·科普丨助视器——低视力者的“水晶球”和“魔法眼镜”｜https://mp.weixin.qq.com/s/iGbtfIhat8kIfSJ5kJP6gA</a:t>
            </a:r>
          </a:p>
          <a:p>
            <a:r>
              <a:t>[07] 我们该如何帮助低视力患者，让他们获得更好的生活质量，建议看看这篇｜https://mp.weixin.qq.com/s/28SQoeTnZdtQx2jzU4IS6w</a:t>
            </a:r>
          </a:p>
          <a:p>
            <a:r>
              <a:t>[10] 黄斑病变低视力患者优选视网膜区域PRL训练操作步骤｜https://mp.weixin.qq.com/s/uu01kImoPlm2NuaCT9gODg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第8页｜建议23秒</a:t>
            </a:r>
          </a:p>
          <a:p>
            <a:r>
              <a:t>申报材料列示的进展，包括形成标准化路径、联动市县点位试点。更好利用残余视功能、改善日常活动是预期获益，尚缺量化数据验证。后续计划结合注视稳定性、阅读任务和日常活动进行评价。下面用一条服务路径说明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[09] 最新眼底文献速递 | 视力没变不等于治疗无效？微视野+AI预测模型，打破临床评估局限｜https://mp.weixin.qq.com/s/PtFYuOxikFMKxPro-ZNYiw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第9页｜建议22秒</a:t>
            </a:r>
          </a:p>
          <a:p>
            <a:r>
              <a:t>这一页是中心视力受损人群的服务路径示意，非真实患者疗效案例。基层发现需求后转至专科，评估后形成档案、个体方案和训练指导；居家按方案练习，复评后再调整。各环节交付明确，具体方案由医生个体化制定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[10] 黄斑病变低视力患者优选视网膜区域PRL训练操作步骤｜https://mp.weixin.qq.com/s/uu01kImoPlm2NuaCT9gODg</a:t>
            </a:r>
          </a:p>
          <a:p>
            <a:r>
              <a:t>[11] 关于低视力康复训练的疑问，一次帮您解答！｜https://mp.weixin.qq.com/s/GF-hW2j51aboOHMEwrx2cw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第10页｜建议20秒</a:t>
            </a:r>
          </a:p>
          <a:p>
            <a:r>
              <a:t>牵头医院具备多模态检查设备、人工智能分析和专科诊疗基础。联合三峡职业技术学院附属医院的社区筛查与棱镜验配经验，依托医联体开展双向转诊。市级与基层各有分工，支撑连续服务。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第11页｜建议25秒</a:t>
            </a:r>
          </a:p>
          <a:p>
            <a:r>
              <a:t>推广分三步：先在示范点明确职责与流程，验证服务衔接；再统一规范、基层培训与质量控制；最后根据验证结果和当地能力，逐步扩展县域。后续将关注转诊、助视器使用、训练完成、视功能及日常活动变化，用真实数据评估服务质量和实际获益。</a:t>
            </a:r>
          </a:p>
          <a:p/>
          <a:p>
            <a:r>
              <a:t>资料参考（技术机制与流程；项目进展仍据申报书）：</a:t>
            </a:r>
          </a:p>
          <a:p>
            <a:r>
              <a:t>[11] 关于低视力康复训练的疑问，一次帮您解答！｜https://mp.weixin.qq.com/s/GF-hW2j51aboOHMEwrx2cw</a:t>
            </a:r>
          </a:p>
          <a:p>
            <a:r>
              <a:t>[12] 黄斑病变低视力患者康复训练｜https://mp.weixin.qq.com/s/a_kix1Bqzpgm4OEm45bPbA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第12页｜建议15秒</a:t>
            </a:r>
          </a:p>
          <a:p>
            <a:r>
              <a:t>让患者更早被发现，让康复方案适合个人，让居家训练有指导、有跟进。我们期待用临床技术和数字化协作，让康复离县域低视力患者更近。谢谢各位评委！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答辩备用页，不计入5分钟主讲。说明AI、PRL和试点成效的证据边界，不补充未经核实的数据。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答辩备用页，不计入5分钟主讲。详细参考回答见配套讲稿文档。数据安全和成本核算为待落实方案，不表述成已完成事项。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资料出处备用页，不计入主讲。11篇文章已读；视频型[05]和限额[13]未纳入证据。第10、12篇所引用2023年专家共识为二次转述，尚未独立核对原始全文。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资料出处备用页，不计入主讲。11篇文章已读；视频型[05]和限额[13]未纳入证据。第10、12篇所引用2023年专家共识为二次转述，尚未独立核对原始全文。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p.weixin.qq.com/s/XsQVJoiQ8shDhU7Mbv2OPg" TargetMode="External"/><Relationship Id="rId3" Type="http://schemas.openxmlformats.org/officeDocument/2006/relationships/hyperlink" Target="https://mp.weixin.qq.com/s/f9hdLs2ldjHgr4LEbnPN-g" TargetMode="External"/><Relationship Id="rId4" Type="http://schemas.openxmlformats.org/officeDocument/2006/relationships/hyperlink" Target="https://mp.weixin.qq.com/s/ha5JLUxbzacx3OAx8dBomA" TargetMode="External"/><Relationship Id="rId5" Type="http://schemas.openxmlformats.org/officeDocument/2006/relationships/hyperlink" Target="https://mp.weixin.qq.com/s/7TtFZUrayLLNq3q9mYo5zQ" TargetMode="External"/><Relationship Id="rId6" Type="http://schemas.openxmlformats.org/officeDocument/2006/relationships/hyperlink" Target="https://mp.weixin.qq.com/s/iGbtfIhat8kIfSJ5kJP6gA" TargetMode="External"/><Relationship Id="rId7" Type="http://schemas.openxmlformats.org/officeDocument/2006/relationships/hyperlink" Target="https://mp.weixin.qq.com/s/28SQoeTnZdtQx2jzU4IS6w" TargetMode="Externa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p.weixin.qq.com/s/nnqV8ECJIYENdZu0O4FYDg" TargetMode="External"/><Relationship Id="rId3" Type="http://schemas.openxmlformats.org/officeDocument/2006/relationships/hyperlink" Target="https://mp.weixin.qq.com/s/PtFYuOxikFMKxPro-ZNYiw" TargetMode="External"/><Relationship Id="rId4" Type="http://schemas.openxmlformats.org/officeDocument/2006/relationships/hyperlink" Target="https://mp.weixin.qq.com/s/uu01kImoPlm2NuaCT9gODg" TargetMode="External"/><Relationship Id="rId5" Type="http://schemas.openxmlformats.org/officeDocument/2006/relationships/hyperlink" Target="https://mp.weixin.qq.com/s/GF-hW2j51aboOHMEwrx2cw" TargetMode="External"/><Relationship Id="rId6" Type="http://schemas.openxmlformats.org/officeDocument/2006/relationships/hyperlink" Target="https://mp.weixin.qq.com/s/a_kix1Bqzpgm4OEm45bPbA" TargetMode="Externa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85216"/>
            <a:ext cx="82296" cy="256032"/>
          </a:xfrm>
          <a:prstGeom prst="rect">
            <a:avLst/>
          </a:prstGeom>
          <a:solidFill>
            <a:srgbClr val="DBA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5E5E8"/>
                </a:solidFill>
                <a:latin typeface="Noto Sans CJK SC"/>
              </a:defRPr>
            </a:pPr>
            <a:r>
              <a:t>湖北省助残科技创新应用大赛  ·  科技助残康复赋能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435608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Noto Sans CJK SC"/>
              </a:defRPr>
            </a:pPr>
            <a:r>
              <a:t>低视力康复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Noto Sans CJK SC"/>
              </a:defRPr>
            </a:pPr>
            <a:r>
              <a:t>数字化服务项目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3611880"/>
            <a:ext cx="66751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BAB52"/>
                </a:solidFill>
                <a:latin typeface="Noto Sans CJK SC"/>
              </a:defRPr>
            </a:pPr>
            <a:r>
              <a:t>让康复离患者更近一步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416552"/>
            <a:ext cx="64008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5E5E8"/>
                </a:solidFill>
                <a:latin typeface="Noto Sans CJK SC"/>
              </a:defRPr>
            </a:pPr>
            <a:r>
              <a:t>市级专科牵引  ·  县域服务下沉  ·  居家持续康复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5193792"/>
            <a:ext cx="6400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5E5E8"/>
                </a:solidFill>
                <a:latin typeface="Noto Sans CJK SC"/>
              </a:defRPr>
            </a:pPr>
            <a:r>
              <a:t>项目背景  /  技术方案  /  助残成效  /  应用案例  /  推广计划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9808" y="5669280"/>
            <a:ext cx="6473952" cy="0"/>
          </a:xfrm>
          <a:prstGeom prst="line">
            <a:avLst/>
          </a:prstGeom>
          <a:ln w="12700">
            <a:solidFill>
              <a:srgbClr val="52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583387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宜昌市中心人民医院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281928"/>
            <a:ext cx="6400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5E5E8"/>
                </a:solidFill>
                <a:latin typeface="Noto Sans CJK SC"/>
              </a:defRPr>
            </a:pPr>
            <a:r>
              <a:t>路演人员：聂圣琼</a:t>
            </a:r>
          </a:p>
        </p:txBody>
      </p:sp>
      <p:sp>
        <p:nvSpPr>
          <p:cNvPr id="11" name="Arc 10"/>
          <p:cNvSpPr/>
          <p:nvPr/>
        </p:nvSpPr>
        <p:spPr>
          <a:xfrm>
            <a:off x="7851038" y="2042403"/>
            <a:ext cx="3500323" cy="1675912"/>
          </a:xfrm>
          <a:prstGeom prst="arc">
            <a:avLst/>
          </a:prstGeom>
          <a:noFill/>
          <a:ln w="25400">
            <a:solidFill>
              <a:srgbClr val="D5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 rot="10800000">
            <a:off x="7851038" y="2042403"/>
            <a:ext cx="3500323" cy="1675912"/>
          </a:xfrm>
          <a:prstGeom prst="arc">
            <a:avLst/>
          </a:prstGeom>
          <a:noFill/>
          <a:ln w="25400">
            <a:solidFill>
              <a:srgbClr val="D5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26886" y="2106046"/>
            <a:ext cx="1548627" cy="1548627"/>
          </a:xfrm>
          <a:prstGeom prst="ellipse">
            <a:avLst/>
          </a:prstGeom>
          <a:noFill/>
          <a:ln w="25400">
            <a:solidFill>
              <a:srgbClr val="D5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5097" y="2424257"/>
            <a:ext cx="912205" cy="912205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89059" y="2668219"/>
            <a:ext cx="424281" cy="424281"/>
          </a:xfrm>
          <a:prstGeom prst="ellipse">
            <a:avLst/>
          </a:prstGeom>
          <a:solidFill>
            <a:srgbClr val="DBA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75449" y="2562148"/>
            <a:ext cx="169712" cy="1697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85632" y="1143000"/>
            <a:ext cx="566928" cy="566928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271016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筛查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0" y="4681728"/>
            <a:ext cx="566928" cy="566928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4809744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适配</a:t>
            </a:r>
          </a:p>
        </p:txBody>
      </p:sp>
      <p:sp>
        <p:nvSpPr>
          <p:cNvPr id="21" name="Oval 20"/>
          <p:cNvSpPr/>
          <p:nvPr/>
        </p:nvSpPr>
        <p:spPr>
          <a:xfrm>
            <a:off x="7918704" y="5102352"/>
            <a:ext cx="566928" cy="566928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523036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训练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200" y="3749039"/>
            <a:ext cx="914400" cy="932689"/>
          </a:xfrm>
          <a:prstGeom prst="line">
            <a:avLst/>
          </a:prstGeom>
          <a:ln w="19050">
            <a:solidFill>
              <a:srgbClr val="52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211312" y="3703320"/>
            <a:ext cx="1069848" cy="1399032"/>
          </a:xfrm>
          <a:prstGeom prst="line">
            <a:avLst/>
          </a:prstGeom>
          <a:ln w="19050">
            <a:solidFill>
              <a:srgbClr val="52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8778240" y="1719072"/>
            <a:ext cx="548640" cy="320040"/>
          </a:xfrm>
          <a:prstGeom prst="line">
            <a:avLst/>
          </a:prstGeom>
          <a:ln w="19050">
            <a:solidFill>
              <a:srgbClr val="52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436608" y="626364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5E5E8"/>
                </a:solidFill>
                <a:latin typeface="Noto Sans CJK SC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项目背景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县域低视力康复，卡在四个环节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患者需要连续的服务：早发现、专业适配、规范训练、长期随访。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2688336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334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F78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2783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364B"/>
                </a:solidFill>
                <a:latin typeface="Noto Sans CJK SC"/>
              </a:defRPr>
            </a:pPr>
            <a:r>
              <a:t>发现晚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977639"/>
            <a:ext cx="2286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风险不易察觉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便捷筛查不足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4681728"/>
            <a:ext cx="2286000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6954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78"/>
                </a:solidFill>
                <a:latin typeface="Noto Sans CJK SC"/>
              </a:defRPr>
            </a:pPr>
            <a:r>
              <a:t>早发现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2423160"/>
            <a:ext cx="2688336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334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F7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2783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364B"/>
                </a:solidFill>
                <a:latin typeface="Noto Sans CJK SC"/>
              </a:defRPr>
            </a:pPr>
            <a:r>
              <a:t>适配难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77639"/>
            <a:ext cx="2286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基层评估能力有限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个体助视方案不足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681728"/>
            <a:ext cx="2286000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6954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78"/>
                </a:solidFill>
                <a:latin typeface="Noto Sans CJK SC"/>
              </a:defRPr>
            </a:pPr>
            <a:r>
              <a:t>能适配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2423160"/>
            <a:ext cx="2688336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6334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F7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22783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364B"/>
                </a:solidFill>
                <a:latin typeface="Noto Sans CJK SC"/>
              </a:defRPr>
            </a:pPr>
            <a:r>
              <a:t>训练断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977639"/>
            <a:ext cx="2286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离院后缺少指导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居家训练不够规范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4681728"/>
            <a:ext cx="2286000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6954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78"/>
                </a:solidFill>
                <a:latin typeface="Noto Sans CJK SC"/>
              </a:defRPr>
            </a:pPr>
            <a:r>
              <a:t>会训练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0576" y="2423160"/>
            <a:ext cx="2688336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26334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F78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322783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364B"/>
                </a:solidFill>
                <a:latin typeface="Noto Sans CJK SC"/>
              </a:defRPr>
            </a:pPr>
            <a:r>
              <a:t>随访弱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977639"/>
            <a:ext cx="2286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康复后跟进脱节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过程变化难以追踪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81744" y="4681728"/>
            <a:ext cx="2286000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81744" y="46954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78"/>
                </a:solidFill>
                <a:latin typeface="Noto Sans CJK SC"/>
              </a:defRPr>
            </a:pPr>
            <a:r>
              <a:t>有随访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394960"/>
            <a:ext cx="11000232" cy="612648"/>
          </a:xfrm>
          <a:prstGeom prst="rect">
            <a:avLst/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50408"/>
            <a:ext cx="10424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78"/>
                </a:solidFill>
                <a:latin typeface="Noto Sans CJK SC"/>
              </a:defRPr>
            </a:pPr>
            <a:r>
              <a:t>项目切入点：把筛查结果转化为可执行、可持续的康复服务。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技术方案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把一次筛查，连接为持续康复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从发现风险到随访调整，建立低视力数字化康复闭环。</a:t>
            </a:r>
          </a:p>
        </p:txBody>
      </p:sp>
      <p:sp>
        <p:nvSpPr>
          <p:cNvPr id="10" name="Oval 9"/>
          <p:cNvSpPr/>
          <p:nvPr/>
        </p:nvSpPr>
        <p:spPr>
          <a:xfrm>
            <a:off x="1124712" y="2404872"/>
            <a:ext cx="640080" cy="640080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27355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筛查建档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22191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多模态眼影像</a:t>
            </a:r>
          </a:p>
        </p:txBody>
      </p:sp>
      <p:sp>
        <p:nvSpPr>
          <p:cNvPr id="14" name="Chevron 13"/>
          <p:cNvSpPr/>
          <p:nvPr/>
        </p:nvSpPr>
        <p:spPr>
          <a:xfrm>
            <a:off x="2157984" y="2633472"/>
            <a:ext cx="347472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6664" y="2404872"/>
            <a:ext cx="640080" cy="640080"/>
          </a:xfrm>
          <a:prstGeom prst="ellipse">
            <a:avLst/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2542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7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7355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风险预警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822191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AI 辅助分析</a:t>
            </a:r>
          </a:p>
        </p:txBody>
      </p:sp>
      <p:sp>
        <p:nvSpPr>
          <p:cNvPr id="19" name="Chevron 18"/>
          <p:cNvSpPr/>
          <p:nvPr/>
        </p:nvSpPr>
        <p:spPr>
          <a:xfrm>
            <a:off x="4059935" y="2633472"/>
            <a:ext cx="347472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28616" y="2404872"/>
            <a:ext cx="640080" cy="640080"/>
          </a:xfrm>
          <a:prstGeom prst="ellipse">
            <a:avLst/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6" y="2542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7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27355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分层干预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3822191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明确功能需求</a:t>
            </a:r>
          </a:p>
        </p:txBody>
      </p:sp>
      <p:sp>
        <p:nvSpPr>
          <p:cNvPr id="24" name="Chevron 23"/>
          <p:cNvSpPr/>
          <p:nvPr/>
        </p:nvSpPr>
        <p:spPr>
          <a:xfrm>
            <a:off x="5961888" y="2633472"/>
            <a:ext cx="347472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30568" y="2404872"/>
            <a:ext cx="640080" cy="640080"/>
          </a:xfrm>
          <a:prstGeom prst="ellipse">
            <a:avLst/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2542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78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27355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治疗转诊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3822191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医生决策与会诊</a:t>
            </a:r>
          </a:p>
        </p:txBody>
      </p:sp>
      <p:sp>
        <p:nvSpPr>
          <p:cNvPr id="29" name="Chevron 28"/>
          <p:cNvSpPr/>
          <p:nvPr/>
        </p:nvSpPr>
        <p:spPr>
          <a:xfrm>
            <a:off x="7863840" y="2633472"/>
            <a:ext cx="347472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2520" y="2404872"/>
            <a:ext cx="640080" cy="640080"/>
          </a:xfrm>
          <a:prstGeom prst="ellipse">
            <a:avLst/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2542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78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327355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康复训练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3822191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适配与个体训练</a:t>
            </a:r>
          </a:p>
        </p:txBody>
      </p:sp>
      <p:sp>
        <p:nvSpPr>
          <p:cNvPr id="34" name="Chevron 33"/>
          <p:cNvSpPr/>
          <p:nvPr/>
        </p:nvSpPr>
        <p:spPr>
          <a:xfrm>
            <a:off x="9765792" y="2633472"/>
            <a:ext cx="347472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34472" y="2404872"/>
            <a:ext cx="640080" cy="640080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34472" y="2542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327355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持续随访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6688" y="3822191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观察变化与调整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63040" y="4718304"/>
            <a:ext cx="9372600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63040" y="4370832"/>
            <a:ext cx="0" cy="347472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835640" y="4370832"/>
            <a:ext cx="0" cy="347472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959352" y="4562856"/>
            <a:ext cx="4251960" cy="329184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457657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随访反馈，支持方案调整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" y="5276088"/>
            <a:ext cx="1097280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" y="5458968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一份动态康复档案，贯穿筛查、评估、方案、训练与随访。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技术方案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同样是低视力，康复路径因人而异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先明确功能需求，再选择评估工具和后续服务；并非所有人都适合相同干预。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978"/>
                </a:solidFill>
                <a:latin typeface="Noto Sans CJK SC"/>
              </a:defRPr>
            </a:pPr>
            <a:r>
              <a:t>服务对象 / 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978"/>
                </a:solidFill>
                <a:latin typeface="Noto Sans CJK SC"/>
              </a:defRPr>
            </a:pPr>
            <a:r>
              <a:t>评估工具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945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978"/>
                </a:solidFill>
                <a:latin typeface="Noto Sans CJK SC"/>
              </a:defRPr>
            </a:pPr>
            <a:r>
              <a:t>服务去向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651760"/>
            <a:ext cx="10981944" cy="8138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651760"/>
            <a:ext cx="54864" cy="81381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807208"/>
            <a:ext cx="402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78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6148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高风险人群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14553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早识别、早转诊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70632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多模态眼部影像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45536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AI 辅助风险提示</a:t>
            </a:r>
          </a:p>
        </p:txBody>
      </p:sp>
      <p:sp>
        <p:nvSpPr>
          <p:cNvPr id="20" name="Chevron 19"/>
          <p:cNvSpPr/>
          <p:nvPr/>
        </p:nvSpPr>
        <p:spPr>
          <a:xfrm>
            <a:off x="6885432" y="2953512"/>
            <a:ext cx="274320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916936"/>
            <a:ext cx="39044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78"/>
                </a:solidFill>
                <a:latin typeface="Noto Sans CJK SC"/>
              </a:defRPr>
            </a:pPr>
            <a:r>
              <a:t>医生评估 / 会诊 / 转诊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593591"/>
            <a:ext cx="10981944" cy="8138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" y="3593591"/>
            <a:ext cx="54864" cy="81381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3749039"/>
            <a:ext cx="402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7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703320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视野缺损人群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08736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发现、利用周边信息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12463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视野与视功能评估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087368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结合双眼视觉情况</a:t>
            </a:r>
          </a:p>
        </p:txBody>
      </p:sp>
      <p:sp>
        <p:nvSpPr>
          <p:cNvPr id="29" name="Chevron 28"/>
          <p:cNvSpPr/>
          <p:nvPr/>
        </p:nvSpPr>
        <p:spPr>
          <a:xfrm>
            <a:off x="6885432" y="3895344"/>
            <a:ext cx="274320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858768"/>
            <a:ext cx="39044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78"/>
                </a:solidFill>
                <a:latin typeface="Noto Sans CJK SC"/>
              </a:defRPr>
            </a:pPr>
            <a:r>
              <a:t>棱镜 / 助视器适配与训练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4535424"/>
            <a:ext cx="10981944" cy="8138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" y="4535424"/>
            <a:ext cx="54864" cy="81381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4690872"/>
            <a:ext cx="4023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7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464515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中心视力受损人群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" y="502920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练习有效注视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654296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微视野评估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02920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残余功能与注视状态</a:t>
            </a:r>
          </a:p>
        </p:txBody>
      </p:sp>
      <p:sp>
        <p:nvSpPr>
          <p:cNvPr id="38" name="Chevron 37"/>
          <p:cNvSpPr/>
          <p:nvPr/>
        </p:nvSpPr>
        <p:spPr>
          <a:xfrm>
            <a:off x="6885432" y="4837176"/>
            <a:ext cx="274320" cy="182880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800600"/>
            <a:ext cx="39044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78"/>
                </a:solidFill>
                <a:latin typeface="Noto Sans CJK SC"/>
              </a:defRPr>
            </a:pPr>
            <a:r>
              <a:t>生物反馈 / 偏心注视训练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751576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86130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78"/>
                </a:solidFill>
                <a:latin typeface="Noto Sans CJK SC"/>
              </a:defRPr>
            </a:pPr>
            <a:r>
              <a:t>专业人员制定个体化方案；居家端按方案延续训练，定期复评后调整。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ism_readg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556248"/>
            <a:ext cx="539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l_readg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556248"/>
            <a:ext cx="539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技术方案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数字化如何连接院内外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以动态康复档案贯穿服务，让专业方案能够下沉，训练和随访能够反馈。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40864"/>
            <a:ext cx="6931152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" y="2340864"/>
            <a:ext cx="1591056" cy="804672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58775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市级专科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06040"/>
            <a:ext cx="4873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精细评估  /  个体方案  /  专业复评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43800" y="2743200"/>
            <a:ext cx="685800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71231" y="240487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300984"/>
            <a:ext cx="6931152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" y="3300984"/>
            <a:ext cx="1591056" cy="804672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54787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基层协作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566160"/>
            <a:ext cx="4873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筛查初评  /  转诊衔接  /  随访管理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43800" y="3703320"/>
            <a:ext cx="685800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71231" y="336499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261104"/>
            <a:ext cx="6931152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4261104"/>
            <a:ext cx="1591056" cy="804672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50799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患者家庭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526280"/>
            <a:ext cx="48737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364B"/>
                </a:solidFill>
                <a:latin typeface="Noto Sans CJK SC"/>
              </a:defRPr>
            </a:pPr>
            <a:r>
              <a:t>按方案训练  /  记录使用  /  反馈困难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43800" y="4663440"/>
            <a:ext cx="685800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71231" y="43251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反馈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47888" y="2340864"/>
            <a:ext cx="3337560" cy="2724912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 w="12700">
            <a:solidFill>
              <a:srgbClr val="00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54896" y="2624328"/>
            <a:ext cx="758952" cy="758952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54896" y="2816352"/>
            <a:ext cx="758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档案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61188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78"/>
                </a:solidFill>
                <a:latin typeface="Noto Sans CJK SC"/>
              </a:defRPr>
            </a:pPr>
            <a:r>
              <a:t>动态康复档案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4251960"/>
            <a:ext cx="27614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4364B"/>
                </a:solidFill>
                <a:latin typeface="Noto Sans CJK SC"/>
              </a:defRPr>
            </a:pPr>
            <a:r>
              <a:t>评估 · 方案 · 训练 · 随访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5486400"/>
            <a:ext cx="10972800" cy="557784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" y="5632704"/>
            <a:ext cx="105156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随访发现问题 → 返回专业评估 → 调整方案 → 延续训练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6135624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服务结构示意，依据申报方案整理；不代表现有软件界面或已核验的平台功能截图。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助残成效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助残成效：服务进展与预期获益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区分已完成的服务进展、预期助残价值和后续验证指标。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31720"/>
            <a:ext cx="3511296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624328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78"/>
                </a:solidFill>
                <a:latin typeface="Noto Sans CJK SC"/>
              </a:defRPr>
            </a:pPr>
            <a:r>
              <a:t>已有服务进展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" y="3255264"/>
            <a:ext cx="2048256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268980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依据申报材料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877056"/>
            <a:ext cx="30723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分层康复标准化路径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市县点位联动试点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居家训练与随访流程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31720"/>
            <a:ext cx="3511296" cy="325526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624328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78"/>
                </a:solidFill>
                <a:latin typeface="Noto Sans CJK SC"/>
              </a:defRPr>
            </a:pPr>
            <a:r>
              <a:t>预期助残获益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0288" y="3255264"/>
            <a:ext cx="2048256" cy="329184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3268980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尚待随访验证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77056"/>
            <a:ext cx="30723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更便捷地获得康复指导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更好利用残余视功能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离院后继续获得支持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2331720"/>
            <a:ext cx="3511296" cy="3255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624328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78"/>
                </a:solidFill>
                <a:latin typeface="Noto Sans CJK SC"/>
              </a:defRPr>
            </a:pPr>
            <a:r>
              <a:t>后续验证指标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3255264"/>
            <a:ext cx="2048256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268980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按试点方案评价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3877056"/>
            <a:ext cx="30723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转诊与随访完成情况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助视器使用与训练情况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364B"/>
                </a:solidFill>
                <a:latin typeface="Noto Sans CJK SC"/>
              </a:defRPr>
            </a:pPr>
            <a:r>
              <a:t>注视、阅读及生活质量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材料未提供样本量或量化改善数据；预期获益需通过试点与随访验证。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应用案例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应用案例：中心视力受损人群服务路径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应用路径示意｜基于申报方案，不对应任何真实患者。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487168"/>
            <a:ext cx="2487168" cy="2670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2697480"/>
            <a:ext cx="493776" cy="49377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98064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410712"/>
            <a:ext cx="208483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基层初评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041648"/>
            <a:ext cx="208483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识别功能困难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明确日常任务需求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36592"/>
            <a:ext cx="2157984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50307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交付：康复档案</a:t>
            </a:r>
          </a:p>
        </p:txBody>
      </p:sp>
      <p:sp>
        <p:nvSpPr>
          <p:cNvPr id="17" name="Chevron 16"/>
          <p:cNvSpPr/>
          <p:nvPr/>
        </p:nvSpPr>
        <p:spPr>
          <a:xfrm>
            <a:off x="3172968" y="3538728"/>
            <a:ext cx="210312" cy="201168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47288" y="2487168"/>
            <a:ext cx="2487168" cy="2670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48456" y="2697480"/>
            <a:ext cx="493776" cy="49377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2798064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3410712"/>
            <a:ext cx="208483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市级精细评估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4041648"/>
            <a:ext cx="208483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残余功能与注视评估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制定个体化方案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36592"/>
            <a:ext cx="2157984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4750307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交付：个体方案</a:t>
            </a:r>
          </a:p>
        </p:txBody>
      </p:sp>
      <p:sp>
        <p:nvSpPr>
          <p:cNvPr id="25" name="Chevron 24"/>
          <p:cNvSpPr/>
          <p:nvPr/>
        </p:nvSpPr>
        <p:spPr>
          <a:xfrm>
            <a:off x="6007608" y="3538728"/>
            <a:ext cx="210312" cy="201168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81928" y="2487168"/>
            <a:ext cx="2487168" cy="2670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3096" y="2697480"/>
            <a:ext cx="493776" cy="49377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2798064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410712"/>
            <a:ext cx="208483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院内康复指导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4041648"/>
            <a:ext cx="208483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保留或优化注视位点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院内生物反馈训练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736592"/>
            <a:ext cx="2157984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750307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交付：训练指导</a:t>
            </a:r>
          </a:p>
        </p:txBody>
      </p:sp>
      <p:sp>
        <p:nvSpPr>
          <p:cNvPr id="33" name="Chevron 32"/>
          <p:cNvSpPr/>
          <p:nvPr/>
        </p:nvSpPr>
        <p:spPr>
          <a:xfrm>
            <a:off x="8842248" y="3538728"/>
            <a:ext cx="210312" cy="201168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16568" y="2487168"/>
            <a:ext cx="2487168" cy="2670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17736" y="2697480"/>
            <a:ext cx="493776" cy="49377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2798064"/>
            <a:ext cx="4937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3410712"/>
            <a:ext cx="208483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居家训练随访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4041648"/>
            <a:ext cx="208483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按方案延续任务练习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定期复评后调整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81160" y="4736592"/>
            <a:ext cx="2157984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4750307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交付：复评建议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" y="5413248"/>
            <a:ext cx="10972800" cy="475488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522976"/>
            <a:ext cx="105156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78"/>
                </a:solidFill>
                <a:latin typeface="Noto Sans CJK SC"/>
              </a:defRPr>
            </a:pPr>
            <a:r>
              <a:t>围绕患者的日常活动需求，设置个体目标，持续观察和调整。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605332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978"/>
                </a:solidFill>
                <a:latin typeface="Noto Sans CJK SC"/>
              </a:defRPr>
            </a:pPr>
            <a:r>
              <a:t>说明：此页为服务路径示意，非真实患者病例，未展示实际疗效。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应用案例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以现有临床能力，支撑市县联动试点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依托医院现有设备、医联体与基层协作基础，推进应用落地。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31720"/>
            <a:ext cx="5340096" cy="2249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596896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78"/>
                </a:solidFill>
                <a:latin typeface="Noto Sans CJK SC"/>
              </a:defRPr>
            </a:pPr>
            <a:r>
              <a:t>临床技术与资源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3264408"/>
            <a:ext cx="82296" cy="8229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364B"/>
                </a:solidFill>
                <a:latin typeface="Noto Sans CJK SC"/>
              </a:defRPr>
            </a:pPr>
            <a:r>
              <a:t>多模态眼影像设备与 AI 分析系统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3666744"/>
            <a:ext cx="82296" cy="8229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38728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364B"/>
                </a:solidFill>
                <a:latin typeface="Noto Sans CJK SC"/>
              </a:defRPr>
            </a:pPr>
            <a:r>
              <a:t>医联体网络与双向转诊基础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" y="4069080"/>
            <a:ext cx="82296" cy="8229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41064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364B"/>
                </a:solidFill>
                <a:latin typeface="Noto Sans CJK SC"/>
              </a:defRPr>
            </a:pPr>
            <a:r>
              <a:t>专业评估、助视适配与康复指导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331720"/>
            <a:ext cx="5340096" cy="224942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596896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78"/>
                </a:solidFill>
                <a:latin typeface="Noto Sans CJK SC"/>
              </a:defRPr>
            </a:pPr>
            <a:r>
              <a:t>协作单位与实施进展</a:t>
            </a:r>
          </a:p>
        </p:txBody>
      </p:sp>
      <p:sp>
        <p:nvSpPr>
          <p:cNvPr id="20" name="Oval 19"/>
          <p:cNvSpPr/>
          <p:nvPr/>
        </p:nvSpPr>
        <p:spPr>
          <a:xfrm>
            <a:off x="6519672" y="3264408"/>
            <a:ext cx="82296" cy="8229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3136392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364B"/>
                </a:solidFill>
                <a:latin typeface="Noto Sans CJK SC"/>
              </a:defRPr>
            </a:pPr>
            <a:r>
              <a:t>宜昌市中心人民医院眼科牵头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3666744"/>
            <a:ext cx="82296" cy="8229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3538728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364B"/>
                </a:solidFill>
                <a:latin typeface="Noto Sans CJK SC"/>
              </a:defRPr>
            </a:pPr>
            <a:r>
              <a:t>联合三峡职业技术学院附属医院</a:t>
            </a:r>
          </a:p>
        </p:txBody>
      </p:sp>
      <p:sp>
        <p:nvSpPr>
          <p:cNvPr id="24" name="Oval 23"/>
          <p:cNvSpPr/>
          <p:nvPr/>
        </p:nvSpPr>
        <p:spPr>
          <a:xfrm>
            <a:off x="6519672" y="4069080"/>
            <a:ext cx="82296" cy="82296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3941064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364B"/>
                </a:solidFill>
                <a:latin typeface="Noto Sans CJK SC"/>
              </a:defRPr>
            </a:pPr>
            <a:r>
              <a:t>申报材料列示市县点位联动试点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084064"/>
            <a:ext cx="3511296" cy="795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78"/>
                </a:solidFill>
                <a:latin typeface="Noto Sans CJK SC"/>
              </a:defRPr>
            </a:pPr>
            <a:r>
              <a:t>市级专科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68696"/>
            <a:ext cx="3182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978"/>
                </a:solidFill>
                <a:latin typeface="Noto Sans CJK SC"/>
              </a:defRPr>
            </a:pPr>
            <a:r>
              <a:t>专业评估与方案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5084064"/>
            <a:ext cx="3511296" cy="795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5212080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78"/>
                </a:solidFill>
                <a:latin typeface="Noto Sans CJK SC"/>
              </a:defRPr>
            </a:pPr>
            <a:r>
              <a:t>基层协作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5568696"/>
            <a:ext cx="3182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978"/>
                </a:solidFill>
                <a:latin typeface="Noto Sans CJK SC"/>
              </a:defRPr>
            </a:pPr>
            <a:r>
              <a:t>筛查、转诊与随访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9016" y="5084064"/>
            <a:ext cx="3511296" cy="795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5212080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78"/>
                </a:solidFill>
                <a:latin typeface="Noto Sans CJK SC"/>
              </a:defRPr>
            </a:pPr>
            <a:r>
              <a:t>患者家庭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5568696"/>
            <a:ext cx="3182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978"/>
                </a:solidFill>
                <a:latin typeface="Noto Sans CJK SC"/>
              </a:defRPr>
            </a:pPr>
            <a:r>
              <a:t>按方案延续训练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6108192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以上依据申报材料整理；不以流程建立替代患者疗效验证。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推广计划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用可评估的路径，推进县域复制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下一步：先验证示范流程，再形成可复制的服务规范。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50008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6372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30428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4364B"/>
                </a:solidFill>
                <a:latin typeface="Noto Sans CJK SC"/>
              </a:defRPr>
            </a:pPr>
            <a:r>
              <a:t>示范点打磨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07792"/>
            <a:ext cx="35112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明确对象、分工与转诊标准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346704"/>
            <a:ext cx="3511296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360420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8"/>
                </a:solidFill>
                <a:latin typeface="Noto Sans CJK SC"/>
              </a:defRPr>
            </a:pPr>
            <a:r>
              <a:t>拟形成：岗位分工与服务流程</a:t>
            </a:r>
          </a:p>
        </p:txBody>
      </p:sp>
      <p:sp>
        <p:nvSpPr>
          <p:cNvPr id="16" name="Chevron 15"/>
          <p:cNvSpPr/>
          <p:nvPr/>
        </p:nvSpPr>
        <p:spPr>
          <a:xfrm>
            <a:off x="3941064" y="2432304"/>
            <a:ext cx="265176" cy="164592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0832" y="2350008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236372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30428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4364B"/>
                </a:solidFill>
                <a:latin typeface="Noto Sans CJK SC"/>
              </a:defRPr>
            </a:pPr>
            <a:r>
              <a:t>流程标准化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907792"/>
            <a:ext cx="35112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完善培训、质控与记录规范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346704"/>
            <a:ext cx="3511296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2" y="3360420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8"/>
                </a:solidFill>
                <a:latin typeface="Noto Sans CJK SC"/>
              </a:defRPr>
            </a:pPr>
            <a:r>
              <a:t>拟形成：培训包与记录规范</a:t>
            </a:r>
          </a:p>
        </p:txBody>
      </p:sp>
      <p:sp>
        <p:nvSpPr>
          <p:cNvPr id="23" name="Chevron 22"/>
          <p:cNvSpPr/>
          <p:nvPr/>
        </p:nvSpPr>
        <p:spPr>
          <a:xfrm>
            <a:off x="7699248" y="2432304"/>
            <a:ext cx="265176" cy="164592"/>
          </a:xfrm>
          <a:prstGeom prst="chevron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6" y="2350008"/>
            <a:ext cx="594360" cy="329184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236372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230428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4364B"/>
                </a:solidFill>
                <a:latin typeface="Noto Sans CJK SC"/>
              </a:defRPr>
            </a:pPr>
            <a:r>
              <a:t>逐步县域复制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2907792"/>
            <a:ext cx="35112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8"/>
                </a:solidFill>
                <a:latin typeface="Noto Sans CJK SC"/>
              </a:defRPr>
            </a:pPr>
            <a:r>
              <a:t>按服务能力和验证结果扩展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346704"/>
            <a:ext cx="3511296" cy="329184"/>
          </a:xfrm>
          <a:prstGeom prst="roundRect">
            <a:avLst>
              <a:gd name="adj" fmla="val 12000"/>
            </a:avLst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6" y="3360420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8"/>
                </a:solidFill>
                <a:latin typeface="Noto Sans CJK SC"/>
              </a:defRPr>
            </a:pPr>
            <a:r>
              <a:t>扩展条件：人员能力与质控达标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" y="3657600"/>
            <a:ext cx="10963656" cy="0"/>
          </a:xfrm>
          <a:prstGeom prst="line">
            <a:avLst/>
          </a:prstGeom>
          <a:ln w="1270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7512" y="392277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78"/>
                </a:solidFill>
                <a:latin typeface="Noto Sans CJK SC"/>
              </a:defRPr>
            </a:pPr>
            <a:r>
              <a:t>后续试点评估，关注三类结果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4535424"/>
            <a:ext cx="351129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681728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服务可及性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166360"/>
            <a:ext cx="312724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筛查、转诊与随访完成情况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4535424"/>
            <a:ext cx="351129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681728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康复过程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2856" y="5166360"/>
            <a:ext cx="312724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适配情况与训练依从性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9016" y="4535424"/>
            <a:ext cx="351129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681728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364B"/>
                </a:solidFill>
                <a:latin typeface="Noto Sans CJK SC"/>
              </a:defRPr>
            </a:pPr>
            <a:r>
              <a:t>患者获益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166360"/>
            <a:ext cx="312724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978"/>
                </a:solidFill>
                <a:latin typeface="Noto Sans CJK SC"/>
              </a:defRPr>
            </a:pPr>
            <a:r>
              <a:t>注视稳定性、阅读与日常活动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5961888"/>
            <a:ext cx="10698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978"/>
                </a:solidFill>
                <a:latin typeface="Noto Sans CJK SC"/>
              </a:defRPr>
            </a:pPr>
            <a:r>
              <a:t>以上为后续验证与推广计划，具体指标、样本量和周期由试点方案确定。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4088" y="722376"/>
            <a:ext cx="82296" cy="265176"/>
          </a:xfrm>
          <a:prstGeom prst="rect">
            <a:avLst/>
          </a:prstGeom>
          <a:solidFill>
            <a:srgbClr val="DBA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722376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5E5E8"/>
                </a:solidFill>
                <a:latin typeface="Noto Sans CJK SC"/>
              </a:defRPr>
            </a:pPr>
            <a:r>
              <a:t>低视力康复数字化服务项目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Noto Sans CJK SC"/>
              </a:defRPr>
            </a:pPr>
            <a:r>
              <a:t>让康复离患者更近一步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136392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DBAB52"/>
                </a:solidFill>
                <a:latin typeface="Noto Sans CJK SC"/>
              </a:defRPr>
            </a:pPr>
            <a:r>
              <a:t>早发现   ·   精准适配   ·   持续康复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4315968"/>
            <a:ext cx="10433304" cy="0"/>
          </a:xfrm>
          <a:prstGeom prst="line">
            <a:avLst/>
          </a:prstGeom>
          <a:ln w="12700">
            <a:solidFill>
              <a:srgbClr val="52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5528" y="4791456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5E5E8"/>
                </a:solidFill>
                <a:latin typeface="Noto Sans CJK SC"/>
              </a:defRPr>
            </a:pPr>
            <a:r>
              <a:t>市级专科牵引，让县域和家庭接续专业康复服务。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843016"/>
            <a:ext cx="82296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t>宜昌市中心人民医院  |  谢谢各位评委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254496"/>
            <a:ext cx="8961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5E5E8"/>
                </a:solidFill>
                <a:latin typeface="Noto Sans CJK SC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答辩备用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A1 /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备用｜技术作用与证据边界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项目进展据申报材料；公开文章补充技术机制，不代替本项目临床验证。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31720"/>
            <a:ext cx="3511296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606040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78"/>
                </a:solidFill>
                <a:latin typeface="Noto Sans CJK SC"/>
              </a:defRPr>
            </a:pPr>
            <a:r>
              <a:t>AI 辅助筛查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328416"/>
            <a:ext cx="307238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4364B"/>
                </a:solidFill>
                <a:latin typeface="Noto Sans CJK SC"/>
              </a:defRPr>
            </a:pPr>
            <a:r>
              <a:t>多模态眼影像分析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4364B"/>
                </a:solidFill>
                <a:latin typeface="Noto Sans CJK SC"/>
              </a:defRPr>
            </a:pPr>
            <a:r>
              <a:t>提示眼病及相关全身病风险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" y="4361688"/>
            <a:ext cx="3072384" cy="0"/>
          </a:xfrm>
          <a:prstGeom prst="line">
            <a:avLst/>
          </a:prstGeom>
          <a:ln w="1270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2104" y="4608576"/>
            <a:ext cx="307238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978"/>
                </a:solidFill>
                <a:latin typeface="Noto Sans CJK SC"/>
              </a:defRPr>
            </a:pPr>
            <a:r>
              <a:t>辅助评估与转诊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978"/>
                </a:solidFill>
                <a:latin typeface="Noto Sans CJK SC"/>
              </a:defRPr>
            </a:pPr>
            <a:r>
              <a:t>不替代医生确诊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31720"/>
            <a:ext cx="3511296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78"/>
                </a:solidFill>
                <a:latin typeface="Noto Sans CJK SC"/>
              </a:defRPr>
            </a:pPr>
            <a:r>
              <a:t>PRL 与助视适配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328416"/>
            <a:ext cx="307238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4364B"/>
                </a:solidFill>
                <a:latin typeface="Noto Sans CJK SC"/>
              </a:defRPr>
            </a:pPr>
            <a:r>
              <a:t>评估残余视网膜功能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4364B"/>
                </a:solidFill>
                <a:latin typeface="Noto Sans CJK SC"/>
              </a:defRPr>
            </a:pPr>
            <a:r>
              <a:t>训练偏心注视与视觉利用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90288" y="4361688"/>
            <a:ext cx="3072384" cy="0"/>
          </a:xfrm>
          <a:prstGeom prst="line">
            <a:avLst/>
          </a:prstGeom>
          <a:ln w="1270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90288" y="4608576"/>
            <a:ext cx="307238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978"/>
                </a:solidFill>
                <a:latin typeface="Noto Sans CJK SC"/>
              </a:defRPr>
            </a:pPr>
            <a:r>
              <a:t>根据适应证个体化选择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978"/>
                </a:solidFill>
                <a:latin typeface="Noto Sans CJK SC"/>
              </a:defRPr>
            </a:pPr>
            <a:r>
              <a:t>不承诺修复病灶或恢复正常视力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2331720"/>
            <a:ext cx="3511296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606040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78"/>
                </a:solidFill>
                <a:latin typeface="Noto Sans CJK SC"/>
              </a:defRPr>
            </a:pPr>
            <a:r>
              <a:t>项目进展与成效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328416"/>
            <a:ext cx="307238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4364B"/>
                </a:solidFill>
                <a:latin typeface="Noto Sans CJK SC"/>
              </a:defRPr>
            </a:pPr>
            <a:r>
              <a:t>申报材料列示标准化流程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4364B"/>
                </a:solidFill>
                <a:latin typeface="Noto Sans CJK SC"/>
              </a:defRPr>
            </a:pPr>
            <a:r>
              <a:t>及市县联动试点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8472" y="4361688"/>
            <a:ext cx="3072384" cy="0"/>
          </a:xfrm>
          <a:prstGeom prst="line">
            <a:avLst/>
          </a:prstGeom>
          <a:ln w="1270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48472" y="4608576"/>
            <a:ext cx="307238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978"/>
                </a:solidFill>
                <a:latin typeface="Noto Sans CJK SC"/>
              </a:defRPr>
            </a:pPr>
            <a:r>
              <a:t>未提供样本量、准确率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978"/>
                </a:solidFill>
                <a:latin typeface="Noto Sans CJK SC"/>
              </a:defRPr>
            </a:pPr>
            <a:r>
              <a:t>改善率或成本验证数据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998464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978"/>
                </a:solidFill>
                <a:latin typeface="Noto Sans CJK SC"/>
              </a:defRPr>
            </a:pPr>
            <a:r>
              <a:t>PRL位置合适时可保留并训练稳定性；图为原创机制示意，非患者影像或疗效对比。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答辩备用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A2 /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备用｜评审问答速览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详细回答附于逐页讲稿文档；现场可按评委问题选择展开。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31720"/>
            <a:ext cx="534009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51176"/>
            <a:ext cx="487375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8"/>
                </a:solidFill>
                <a:latin typeface="Noto Sans CJK SC"/>
              </a:defRPr>
            </a:pPr>
            <a:r>
              <a:t>目前走到哪一步？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36391"/>
            <a:ext cx="48737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已形成标准化流程并开展市县联动试点。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量化成效需依据经核实的试点与随访数据。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331720"/>
            <a:ext cx="534009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551176"/>
            <a:ext cx="487375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8"/>
                </a:solidFill>
                <a:latin typeface="Noto Sans CJK SC"/>
              </a:defRPr>
            </a:pPr>
            <a:r>
              <a:t>基层如何复制？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3136391"/>
            <a:ext cx="48737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市级负责专业评估和方案；基层筛查随访。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以转诊标准、培训与质控支撑复制。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087368"/>
            <a:ext cx="534009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306824"/>
            <a:ext cx="487375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8"/>
                </a:solidFill>
                <a:latin typeface="Noto Sans CJK SC"/>
              </a:defRPr>
            </a:pPr>
            <a:r>
              <a:t>如何判断康复价值？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92040"/>
            <a:ext cx="48737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观察服务完成、训练依从性、视功能变化，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并结合患者日常活动能力进行评价。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4087368"/>
            <a:ext cx="534009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4306824"/>
            <a:ext cx="487375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8"/>
                </a:solidFill>
                <a:latin typeface="Noto Sans CJK SC"/>
              </a:defRPr>
            </a:pPr>
            <a:r>
              <a:t>安全与成本如何落实？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892040"/>
            <a:ext cx="48737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后续完善授权、权限、留痕与数据保护方案；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364B"/>
                </a:solidFill>
                <a:latin typeface="Noto Sans CJK SC"/>
              </a:defRPr>
            </a:pPr>
            <a:r>
              <a:t>按设备、适配、培训和随访核算实际成本。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资料出处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A3 /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参考资料｜已读取的公众号文章（1/2）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正文已核对；点击标题可打开原文。公开科普、外院报道与项目业绩分别表述。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221992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2"/>
              </a:rPr>
              <a:t>[01] 感官功能预警阿尔茨海默病——山东省立医院杜怡峰/张清华团队MIND-China队列感官标志物研究进展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神经时讯  ·  2026-06-23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221992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340864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3"/>
              </a:rPr>
              <a:t>[02] 给大脑装个“视觉引擎”！这个门诊专治“看不清”难题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71800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温医大眼视光  ·  2026-04-09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474720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93592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4"/>
              </a:rPr>
              <a:t>[03] 同向偏盲的棱镜应用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眼视光随笔  ·  2025-11-21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474720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5"/>
              </a:rPr>
              <a:t>[04] 【身边的事】棱镜点亮“缺失的视野”：一场针对偏盲青年的视觉重建之旅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24528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天津市眼科医院视光中心  ·  2025-11-19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727448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6"/>
              </a:rPr>
              <a:t>[06] EYE·科普丨助视器——低视力者的“水晶球”和“魔法眼镜”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77256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温医大眼视光  ·  2021-02-25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4727448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846320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7"/>
              </a:rPr>
              <a:t>[07] 我们该如何帮助低视力患者，让他们获得更好的生活质量，建议看看这篇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477256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湖北辅具服务  ·  2017-12-22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93192"/>
            <a:ext cx="68580" cy="23774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9319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978"/>
                </a:solidFill>
                <a:latin typeface="Noto Sans CJK SC"/>
              </a:defRPr>
            </a:pPr>
            <a:r>
              <a:t>湖北省助残科技创新应用大赛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931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78"/>
                </a:solidFill>
                <a:latin typeface="Noto Sans CJK SC"/>
              </a:defRPr>
            </a:pPr>
            <a:r>
              <a:t>资料出处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CCD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653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宜昌市中心人民医院  /  低视力康复数字化服务项目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978"/>
                </a:solidFill>
                <a:latin typeface="Noto Sans CJK SC"/>
              </a:defRPr>
            </a:pPr>
            <a:r>
              <a:t>A4 /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05256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4364B"/>
                </a:solidFill>
                <a:latin typeface="Noto Sans CJK SC"/>
              </a:defRPr>
            </a:pPr>
            <a:r>
              <a:t>参考资料｜已读取的公众号文章（2/2）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18488"/>
            <a:ext cx="10927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978"/>
                </a:solidFill>
                <a:latin typeface="Noto Sans CJK SC"/>
              </a:defRPr>
            </a:pPr>
            <a:r>
              <a:t>正文已核对；点击标题可打开原文。公开科普、外院报道与项目业绩分别表述。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221992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2"/>
              </a:rPr>
              <a:t>[08] 『微视野MP-3』—— 量化黄斑功能，从诊到治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展鑫优视  ·  2024-03-22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221992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340864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3"/>
              </a:rPr>
              <a:t>[09] 最新眼底文献速递 | 视力没变不等于治疗无效？微视野+AI预测模型，打破临床评估局限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71800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朗视界沐光明  ·  2026-07-27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474720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93592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4"/>
              </a:rPr>
              <a:t>[10] 黄斑病变低视力患者优选视网膜区域PRL训练操作步骤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康复服务区  ·  2024-09-03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474720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5"/>
              </a:rPr>
              <a:t>[11] 关于低视力康复训练的疑问，一次帮您解答！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24528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上海臻视眼科  ·  2025-04-17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727448"/>
            <a:ext cx="5340096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50109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4364B"/>
                </a:solidFill>
                <a:latin typeface="Noto Sans CJK SC"/>
              </a:defRPr>
            </a:pPr>
            <a:r>
              <a:rPr>
                <a:hlinkClick r:id="rId6"/>
              </a:rPr>
              <a:t>[12] 黄斑病变低视力患者康复训练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77256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7F78"/>
                </a:solidFill>
                <a:latin typeface="Noto Sans CJK SC"/>
              </a:defRPr>
            </a:pPr>
            <a:r>
              <a:t>康复服务区  ·  2024-04-05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071616"/>
            <a:ext cx="10652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978"/>
                </a:solidFill>
                <a:latin typeface="Noto Sans CJK SC"/>
              </a:defRPr>
            </a:pPr>
            <a:r>
              <a:t>[05] 视频型正文未提取；[13] 匿名额度限制。未纳入引用；[10][12]所引共识原文未独立核对。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低视力康复数字化服务项目</dc:title>
  <dc:subject>湖北省助残科技创新应用大赛｜5分钟现场路演</dc:subject>
  <dc:creator>宜昌市中心人民医院</dc:creator>
  <cp:keywords>低视力, 康复, 数字化服务, 县域, 科技助残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