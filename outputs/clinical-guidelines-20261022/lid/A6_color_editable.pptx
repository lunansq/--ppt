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lid-16 热敷与按摩安全：热敷时勿压迫眼球。热敷后可用指腹沿垂直睑缘方向轻柔按摩促进排出，注意力度；青光眼患者谨慎操作。观察症状、腺口、睑酯分泌、腺体缺失及脂质层厚度。</a:t>
            </a:r>
          </a:p>
          <a:p>
            <a:r>
              <a:t>来源：2025版/2026刊 p108 / PDF4；类别：禁忌；推荐等级：原文未明确。</a:t>
            </a:r>
          </a:p>
          <a:p>
            <a:r>
              <a:t>原文锚点：热敷时注意不要压迫眼球。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lid-30 药物：感染或难治/全身病变：睑缘细菌感染局部用敏感抗生素，如氧氟沙星眼膏、加替沙星凝胶；难治性或合并全身病可考虑口服阿奇霉素、多西环素、四环素，密切观察不良反应。具体剂量疗程未明确。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原文锚点：对于睑缘细菌感染患者，应局部使用敏感的抗生素滴眼液或眼膏，如氧氟沙星眼膏、加替沙星凝胶等。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lid-34 特殊人群与禁忌缺项：青光眼患者热敷后按摩需谨慎。儿童、孕哺期专门方案，各口服抗生素的禁忌、相互作用及完整IPL禁忌证清单：原文未明确，不据本共识补编。</a:t>
            </a:r>
          </a:p>
          <a:p>
            <a:r>
              <a:t>来源：2025版/2026刊 p108–109 / PDF4–5；类别：特殊人群；推荐等级：原文未明确。</a:t>
            </a:r>
          </a:p>
          <a:p>
            <a:r>
              <a:t>原文锚点：青光眼患者需谨慎操作。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正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① 评估与分型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8" name="2025版/2026刊 p106–107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② 居家清洁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1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1813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12" name="2025版/2026刊 p108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③ 热敷与冷敷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15" name="MGD热敷40~45 ℃，每次10 min以上，每日至少1次、建议2周以上。重炎症冷敷约10 ℃、5"/>
          <p:cNvSpPr txBox="1"/>
          <p:nvPr/>
        </p:nvSpPr>
        <p:spPr>
          <a:xfrm>
            <a:off x="264160" y="2567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16" name="2025版/2026刊 p108"/>
          <p:cNvSpPr txBox="1"/>
          <p:nvPr/>
        </p:nvSpPr>
        <p:spPr>
          <a:xfrm>
            <a:off x="264160" y="2887979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131820"/>
            <a:ext cx="3454880" cy="85090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④ 螨虫性睑缘炎"/>
          <p:cNvSpPr txBox="1"/>
          <p:nvPr/>
        </p:nvSpPr>
        <p:spPr>
          <a:xfrm>
            <a:off x="264160" y="3169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1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3322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20" name="2025版/2026刊 p108"/>
          <p:cNvSpPr txBox="1"/>
          <p:nvPr/>
        </p:nvSpPr>
        <p:spPr>
          <a:xfrm>
            <a:off x="264160" y="3789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背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⑤ 何时加院内治疗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8" name="2025版/2026刊 p107–109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7035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⑥ 联合顺序与安全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1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1813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12" name="2025版/2026刊 p108–109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85090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⑦ 药物与结构异常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1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2567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16" name="2025版/2026刊 p109"/>
          <p:cNvSpPr txBox="1"/>
          <p:nvPr/>
        </p:nvSpPr>
        <p:spPr>
          <a:xfrm>
            <a:off x="264160" y="3035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79140"/>
            <a:ext cx="3454880" cy="7035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⑧ 复评与特殊人群"/>
          <p:cNvSpPr txBox="1"/>
          <p:nvPr/>
        </p:nvSpPr>
        <p:spPr>
          <a:xfrm>
            <a:off x="264160" y="3317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1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3469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20" name="2025版/2026刊 p108–109"/>
          <p:cNvSpPr txBox="1"/>
          <p:nvPr/>
        </p:nvSpPr>
        <p:spPr>
          <a:xfrm>
            <a:off x="264160" y="3789679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 A6 color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