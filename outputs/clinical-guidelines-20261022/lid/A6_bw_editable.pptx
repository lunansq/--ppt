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3780000" cy="53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lid-02 所有干眼患者均评估睑缘：对所有已诊断为干眼的患者均应完善睑缘评估和相关疾病诊断。睑缘炎、MGD、闭合不全等可诱发或加重干眼；管理是长期、持续性过程。</a:t>
            </a:r>
          </a:p>
          <a:p>
            <a:r>
              <a:t>来源：2025版/2026刊 p106 / PDF2；类别：适用人群；推荐等级：原文未明确。</a:t>
            </a:r>
          </a:p>
          <a:p>
            <a:r>
              <a:t>原文锚点：对所有诊断为干眼的患者均应完善睑缘评估及睑缘相关疾病诊断。</a:t>
            </a:r>
          </a:p>
          <a:p/>
          <a:p>
            <a:r>
              <a:t>lid-03 评估顺序与可并存分型：先评估睑缘结构异常，再看急性睑板腺炎、睑板腺囊肿等后部疾病，最后评估前部睑缘。分类依次考虑脂溢性、蠕形螨、葡萄球菌性睑缘炎及MGD；可合并2种及以上。</a:t>
            </a:r>
          </a:p>
          <a:p>
            <a:r>
              <a:t>来源：2025版/2026刊 p106–107 / PDF2–3；类别：诊断；推荐等级：原文未明确。</a:t>
            </a:r>
          </a:p>
          <a:p>
            <a:r>
              <a:t>原文锚点：值得注意的是，同一患者可能合并2种及以上类型的睑缘疾病（图2）。</a:t>
            </a:r>
          </a:p>
          <a:p/>
          <a:p>
            <a:r>
              <a:t>lid-06 辅助检查优先级：优先完善眼前节照相和睑板腺红外显影，记录睑缘、结角膜及腺体萎缩。条件允许再做分泌物刮片/培养、蠕形螨检测及激光扫描共聚焦显微镜检查。</a:t>
            </a:r>
          </a:p>
          <a:p>
            <a:r>
              <a:t>来源：2025版/2026刊 p107 / PDF3；类别：检查；推荐等级：原文未明确。</a:t>
            </a:r>
          </a:p>
          <a:p>
            <a:r>
              <a:t>原文锚点：建议优先完善眼前节照相及睑板腺红外显影检查，条件允许时，再进一步进行微生物学检测及激光扫描共聚焦显微镜检查。</a:t>
            </a:r>
          </a:p>
          <a:p/>
          <a:p>
            <a:r>
              <a:t>lid-10 睑缘清洁：溶液、频次及疗程：推荐0.01%次氯酸、睑缘清洁液/湿巾。葡萄球菌性者推荐0.01%次氯酸；脂溢性和MGD者推荐清洁液/湿巾去油脂。每日早晚各1次，持续1个月以上。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原文锚点：推荐使用0.01%次氯酸、睑缘清洁液/湿巾等进行清洁。</a:t>
            </a:r>
          </a:p>
          <a:p/>
          <a:p>
            <a:r>
              <a:t>lid-12 除螨：成分、频次及疗程：建议含茶树油、4-松油醇或秋葵精油等眼部湿巾擦拭睑缘，每日2次（早晚各1次），一般2~3个月，以减少复发。具体成分浓度：原文未明确。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原文锚点：建议使用含茶树油、4-松油醇或秋葵精油等眼部湿巾擦拭睑缘，每日2次（早晚各1次），治疗疗程一般为2~3个月</a:t>
            </a:r>
          </a:p>
          <a:p/>
          <a:p>
            <a:r>
              <a:t>lid-13 除螨疗效不可只看虫数：综合螨虫数量、症状、袖套状分泌物/倒睫/乱睫等睫毛异常、睑缘炎症及睑板腺异常；不应仅以螨虫减少作为唯一疗效及治疗终点指标。</a:t>
            </a:r>
          </a:p>
          <a:p>
            <a:r>
              <a:t>来源：2025版/2026刊 p108 / PDF4；类别：随访；推荐等级：原文未明确。</a:t>
            </a:r>
          </a:p>
          <a:p>
            <a:r>
              <a:t>原文锚点：不应仅以螨虫数量减少作为唯一疗效评判指标及治疗终点指标。</a:t>
            </a:r>
          </a:p>
          <a:p/>
          <a:p>
            <a:r>
              <a:t>lid-15 MGD热敷参数：热毛巾或一次性湿热治疗贴，温度40~45 ℃，每次10 min以上，每日至少1次，建议坚持2周以上；之后可根据自身情况调整时长和频率。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原文锚点：温度控制在40~45 ℃，每次10 min以上，每日至少1次，建议坚持2周以上</a:t>
            </a:r>
          </a:p>
          <a:p/>
          <a:p>
            <a:r>
              <a:t>lid-17 重炎症冷敷参数：冷敷适于睑缘炎症较重者：包冰毛巾或冷敷贴，约10 ℃，持续5~10 min。炎症控制后可改为热敷，或冷热敷交替。冷敷每日次数：原文未明确。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原文锚点：温度在10 ℃左右，持续5~10 min。睑缘炎症控制后可改为热敷或者冷热敷交替进行。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lid-09 按病因治疗，居家与院内配合：急性睑板腺炎和葡萄球菌性睑缘炎积极抗细菌治疗；螨虫性者除螨。轻中度睑缘炎首选居家治疗；居家效果不佳、依从性差或中重度者可配合院内治疗。</a:t>
            </a:r>
          </a:p>
          <a:p>
            <a:r>
              <a:t>来源：2025版/2026刊 p107–108 / PDF3–4；类别：治疗；推荐等级：原文未明确。</a:t>
            </a:r>
          </a:p>
          <a:p>
            <a:r>
              <a:t>原文锚点：对于居家治疗效果不佳、居家治疗依从性差或中重度睑缘炎患者可配合院内治疗</a:t>
            </a:r>
          </a:p>
          <a:p/>
          <a:p>
            <a:r>
              <a:t>lid-16 热敷与按摩安全：热敷时勿压迫眼球。热敷后可用指腹沿垂直睑缘方向轻柔按摩促进排出，注意力度；青光眼患者谨慎操作。观察症状、腺口、睑酯分泌、腺体缺失及脂质层厚度。</a:t>
            </a:r>
          </a:p>
          <a:p>
            <a:r>
              <a:t>来源：2025版/2026刊 p108 / PDF4；类别：禁忌；推荐等级：原文未明确。</a:t>
            </a:r>
          </a:p>
          <a:p>
            <a:r>
              <a:t>原文锚点：热敷时注意不要压迫眼球。</a:t>
            </a:r>
          </a:p>
          <a:p/>
          <a:p>
            <a:r>
              <a:t>lid-19 院内睑板腺按摩：不建议患者居家进行器械性睑板腺按摩。完成热敷或IPL后，表面麻醉剂1~2滴；用玻璃棒或按摩镊轻柔挤出睑酯，避免腺体损伤；建议每周1次，持续1个月以上，再个体化调整。</a:t>
            </a:r>
          </a:p>
          <a:p>
            <a:r>
              <a:t>来源：2025版/2026刊 p108 / PDF4；类别：治疗；推荐等级：原文未明确。</a:t>
            </a:r>
          </a:p>
          <a:p>
            <a:r>
              <a:t>原文锚点：建议每周按摩1次，持续1个月以上，之后可根据患者情况调整治疗频率和次数。</a:t>
            </a:r>
          </a:p>
          <a:p/>
          <a:p>
            <a:r>
              <a:t>lid-20 院内深度清洁：表麻1~2滴；电解水润湿刷头，从低转速起、与患者沟通；鼻侧到颞侧匀速移动，重复2~4次。建议每1~2周1次，直至分泌物明显减少。</a:t>
            </a:r>
          </a:p>
          <a:p>
            <a:r>
              <a:t>来源：2025版/2026刊 p108–109 / PDF4–5；类别：治疗；推荐等级：原文未明确。</a:t>
            </a:r>
          </a:p>
          <a:p>
            <a:r>
              <a:t>原文锚点：建议每1~2周深度清洁1次，直至睑缘分泌物明显减少。</a:t>
            </a:r>
          </a:p>
          <a:p/>
          <a:p>
            <a:r>
              <a:t>lid-27 联合治疗与长期居家维持：病情复杂或单一治疗效果不佳者推荐联合治疗；接受院内物理治疗者，常规维持热敷、清洁等居家物理治疗，加强宣教并融入日常生活。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原文锚点：对于病情复杂或单一治疗方式效果不佳的患者，推荐进行联合治疗。</a:t>
            </a:r>
          </a:p>
          <a:p/>
          <a:p>
            <a:r>
              <a:t>lid-28 IPL联合按摩的顺序：推荐先完成IPL，再行睑板腺按摩；睑板腺囊肿患者按摩时避开囊肿区域，以免挤压损伤。</a:t>
            </a:r>
          </a:p>
          <a:p>
            <a:r>
              <a:t>来源：2025版/2026刊 p109 / PDF5；类别：禁忌；推荐等级：原文未明确。</a:t>
            </a:r>
          </a:p>
          <a:p>
            <a:r>
              <a:t>原文锚点：推荐先完成IPL治疗，后行睑板腺按摩，针对睑板腺囊肿患者按摩时可避开囊肿区域以免造成挤压损伤。</a:t>
            </a:r>
          </a:p>
          <a:p/>
          <a:p>
            <a:r>
              <a:t>lid-29 中重度可联合IPL与热/液脉动：中重度干眼或睑缘炎可考虑两者联合：先IPL，完成后以热脉动/液脉动替代常规按摩；治疗间隔根据疗效个体化。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原文锚点：建议先行IPL治疗，治疗完成后以热脉动/液脉动取代常规的睑板腺按摩。</a:t>
            </a:r>
          </a:p>
          <a:p/>
          <a:p>
            <a:r>
              <a:t>lid-30 药物：感染或难治/全身病变：睑缘细菌感染局部用敏感抗生素，如氧氟沙星眼膏、加替沙星凝胶；难治性或合并全身病可考虑口服阿奇霉素、多西环素、四环素，密切观察不良反应。具体剂量疗程未明确。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原文锚点：对于睑缘细菌感染患者，应局部使用敏感的抗生素滴眼液或眼膏，如氧氟沙星眼膏、加替沙星凝胶等。</a:t>
            </a:r>
          </a:p>
          <a:p/>
          <a:p>
            <a:r>
              <a:t>lid-31 手术适应情形：物理治疗效果不佳的MGD可考虑睑板腺探通；眼睑缺损积极修补以恢复形态；闭合不全必要时考虑睑缘缝合或融合手术。</a:t>
            </a:r>
          </a:p>
          <a:p>
            <a:r>
              <a:t>来源：2025版/2026刊 p109 / PDF5；类别：治疗；推荐等级：原文未明确。</a:t>
            </a:r>
          </a:p>
          <a:p>
            <a:r>
              <a:t>原文锚点：对于物理治疗效果不佳的MGD患者可考虑行睑板腺探通手术。</a:t>
            </a:r>
          </a:p>
          <a:p/>
          <a:p>
            <a:r>
              <a:t>lid-33 疗效复评及随访缺项：复评症状、睑缘、腺口、分泌物及除螨表现，依疗效调整。统一复诊间隔、量化停治阈值及正式风险分层：原文未明确。</a:t>
            </a:r>
          </a:p>
          <a:p>
            <a:r>
              <a:t>来源：2025版/2026刊 p108–109 / PDF4–5；类别：随访；推荐等级：原文未明确。</a:t>
            </a:r>
          </a:p>
          <a:p>
            <a:r>
              <a:t>原文锚点：之后可根据患者情况调整治疗频率和次数。</a:t>
            </a:r>
          </a:p>
          <a:p/>
          <a:p>
            <a:r>
              <a:t>lid-34 特殊人群与禁忌缺项：青光眼患者热敷后按摩需谨慎。儿童、孕哺期专门方案，各口服抗生素的禁忌、相互作用及完整IPL禁忌证清单：原文未明确，不据本共识补编。</a:t>
            </a:r>
          </a:p>
          <a:p>
            <a:r>
              <a:t>来源：2025版/2026刊 p108–109 / PDF4–5；类别：特殊人群；推荐等级：原文未明确。</a:t>
            </a:r>
          </a:p>
          <a:p>
            <a:r>
              <a:t>原文锚点：青光眼患者需谨慎操作。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9860" y="149860"/>
            <a:ext cx="348028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干眼患者睑缘管理"/>
          <p:cNvSpPr txBox="1"/>
          <p:nvPr/>
        </p:nvSpPr>
        <p:spPr>
          <a:xfrm>
            <a:off x="226060" y="187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干眼患者睑缘管理</a:t>
            </a:r>
          </a:p>
        </p:txBody>
      </p:sp>
      <p:sp>
        <p:nvSpPr>
          <p:cNvPr id="4" name="2025版／2026刊载 · 正面"/>
          <p:cNvSpPr txBox="1"/>
          <p:nvPr/>
        </p:nvSpPr>
        <p:spPr>
          <a:xfrm>
            <a:off x="226060" y="403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2025版／2026刊载 · 正面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560" y="7213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① 评估与分型"/>
          <p:cNvSpPr txBox="1"/>
          <p:nvPr/>
        </p:nvSpPr>
        <p:spPr>
          <a:xfrm>
            <a:off x="264160" y="759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① 评估与分型</a:t>
            </a:r>
          </a:p>
        </p:txBody>
      </p:sp>
      <p:sp>
        <p:nvSpPr>
          <p:cNvPr id="7" name="所有干眼均评估睑缘：先结构异常，再后部疾病，最后前部睑缘；脂溢性/螨虫性/葡萄球菌性/MGD可并存。"/>
          <p:cNvSpPr txBox="1"/>
          <p:nvPr/>
        </p:nvSpPr>
        <p:spPr>
          <a:xfrm>
            <a:off x="264160" y="911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所有干眼均评估睑缘：先结构异常，再后部疾病，最后前部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睑缘；脂溢性/螨虫性/葡萄球菌性/MGD可并存。优先照相与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腺体红外显影。</a:t>
            </a:r>
          </a:p>
        </p:txBody>
      </p:sp>
      <p:sp>
        <p:nvSpPr>
          <p:cNvPr id="8" name="2025版/2026刊 p106–107"/>
          <p:cNvSpPr txBox="1"/>
          <p:nvPr/>
        </p:nvSpPr>
        <p:spPr>
          <a:xfrm>
            <a:off x="264160" y="1379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p106–107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560" y="162306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② 居家清洁"/>
          <p:cNvSpPr txBox="1"/>
          <p:nvPr/>
        </p:nvSpPr>
        <p:spPr>
          <a:xfrm>
            <a:off x="264160" y="1661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② 居家清洁</a:t>
            </a:r>
          </a:p>
        </p:txBody>
      </p:sp>
      <p:sp>
        <p:nvSpPr>
          <p:cNvPr id="11" name="推荐0.01%次氯酸或清洁液/湿巾；葡萄球菌性用前者，脂溢性/MGD去油脂。早晚各1次，持续1个月以"/>
          <p:cNvSpPr txBox="1"/>
          <p:nvPr/>
        </p:nvSpPr>
        <p:spPr>
          <a:xfrm>
            <a:off x="264160" y="18135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推荐0.01%次氯酸或清洁液/湿巾；葡萄球菌性用前者，脂溢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性/MGD去油脂。早晚各1次，持续1个月以上。</a:t>
            </a:r>
          </a:p>
        </p:txBody>
      </p:sp>
      <p:sp>
        <p:nvSpPr>
          <p:cNvPr id="12" name="2025版/2026刊 p108"/>
          <p:cNvSpPr txBox="1"/>
          <p:nvPr/>
        </p:nvSpPr>
        <p:spPr>
          <a:xfrm>
            <a:off x="264160" y="2133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560" y="237744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③ 热敷与冷敷"/>
          <p:cNvSpPr txBox="1"/>
          <p:nvPr/>
        </p:nvSpPr>
        <p:spPr>
          <a:xfrm>
            <a:off x="264160" y="2415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③ 热敷与冷敷</a:t>
            </a:r>
          </a:p>
        </p:txBody>
      </p:sp>
      <p:sp>
        <p:nvSpPr>
          <p:cNvPr id="15" name="MGD热敷40~45 ℃，每次10 min以上，每日至少1次、建议2周以上。重炎症冷敷约10 ℃、5"/>
          <p:cNvSpPr txBox="1"/>
          <p:nvPr/>
        </p:nvSpPr>
        <p:spPr>
          <a:xfrm>
            <a:off x="264160" y="256794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MGD热敷40~45 ℃，每次10 min以上，每日至少1次、建议2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周以上。重炎症冷敷约10 ℃、5~10 min，控制后可改热敷。</a:t>
            </a:r>
          </a:p>
        </p:txBody>
      </p:sp>
      <p:sp>
        <p:nvSpPr>
          <p:cNvPr id="16" name="2025版/2026刊 p108"/>
          <p:cNvSpPr txBox="1"/>
          <p:nvPr/>
        </p:nvSpPr>
        <p:spPr>
          <a:xfrm>
            <a:off x="264160" y="2887979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560" y="313182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④ 螨虫性睑缘炎"/>
          <p:cNvSpPr txBox="1"/>
          <p:nvPr/>
        </p:nvSpPr>
        <p:spPr>
          <a:xfrm>
            <a:off x="264160" y="316992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④ 螨虫性睑缘炎</a:t>
            </a:r>
          </a:p>
        </p:txBody>
      </p:sp>
      <p:sp>
        <p:nvSpPr>
          <p:cNvPr id="19" name="含茶树油/4-松油醇等眼部湿巾，每日2次，一般2~3个月。兼看症状、体征、虫数；不得仅以虫数减少作为"/>
          <p:cNvSpPr txBox="1"/>
          <p:nvPr/>
        </p:nvSpPr>
        <p:spPr>
          <a:xfrm>
            <a:off x="264160" y="332232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含茶树油/4-松油醇等眼部湿巾，每日2次，一般2~3个月。兼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看症状、体征、虫数；不得仅以虫数减少作为疗效或停治指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标。</a:t>
            </a:r>
          </a:p>
        </p:txBody>
      </p:sp>
      <p:sp>
        <p:nvSpPr>
          <p:cNvPr id="20" name="2025版/2026刊 p108"/>
          <p:cNvSpPr txBox="1"/>
          <p:nvPr/>
        </p:nvSpPr>
        <p:spPr>
          <a:xfrm>
            <a:off x="264160" y="378968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</a:t>
            </a:r>
          </a:p>
        </p:txBody>
      </p:sp>
      <p:sp>
        <p:nvSpPr>
          <p:cNvPr id="21" name="临床要点摘要；完整条件与原文缺项见提取表。&#10;100%原尺寸 · 双面长边翻转"/>
          <p:cNvSpPr txBox="1"/>
          <p:nvPr/>
        </p:nvSpPr>
        <p:spPr>
          <a:xfrm>
            <a:off x="187960" y="4880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9860" y="149860"/>
            <a:ext cx="348028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干眼患者睑缘管理"/>
          <p:cNvSpPr txBox="1"/>
          <p:nvPr/>
        </p:nvSpPr>
        <p:spPr>
          <a:xfrm>
            <a:off x="226060" y="187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干眼患者睑缘管理</a:t>
            </a:r>
          </a:p>
        </p:txBody>
      </p:sp>
      <p:sp>
        <p:nvSpPr>
          <p:cNvPr id="4" name="2025版／2026刊载 · 背面"/>
          <p:cNvSpPr txBox="1"/>
          <p:nvPr/>
        </p:nvSpPr>
        <p:spPr>
          <a:xfrm>
            <a:off x="226060" y="403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2025版／2026刊载 · 背面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560" y="7213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⑤ 何时加院内治疗"/>
          <p:cNvSpPr txBox="1"/>
          <p:nvPr/>
        </p:nvSpPr>
        <p:spPr>
          <a:xfrm>
            <a:off x="264160" y="759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⑤ 何时加院内治疗</a:t>
            </a:r>
          </a:p>
        </p:txBody>
      </p:sp>
      <p:sp>
        <p:nvSpPr>
          <p:cNvPr id="7" name="居家效果不佳、依从性差或中重度：个体化加院内。按摩每周1次、1个月以上；深度清洁每1~2周1次，至分"/>
          <p:cNvSpPr txBox="1"/>
          <p:nvPr/>
        </p:nvSpPr>
        <p:spPr>
          <a:xfrm>
            <a:off x="264160" y="911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居家效果不佳、依从性差或中重度：个体化加院内。按摩每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周1次、1个月以上；深度清洁每1~2周1次，至分泌物明显减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少。</a:t>
            </a:r>
          </a:p>
        </p:txBody>
      </p:sp>
      <p:sp>
        <p:nvSpPr>
          <p:cNvPr id="8" name="2025版/2026刊 p107–109"/>
          <p:cNvSpPr txBox="1"/>
          <p:nvPr/>
        </p:nvSpPr>
        <p:spPr>
          <a:xfrm>
            <a:off x="264160" y="1379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p107–109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560" y="162306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⑥ 联合顺序与安全"/>
          <p:cNvSpPr txBox="1"/>
          <p:nvPr/>
        </p:nvSpPr>
        <p:spPr>
          <a:xfrm>
            <a:off x="264160" y="1661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⑥ 联合顺序与安全</a:t>
            </a:r>
          </a:p>
        </p:txBody>
      </p:sp>
      <p:sp>
        <p:nvSpPr>
          <p:cNvPr id="11" name="先IPL后按摩/热液脉动，继续居家。囊肿按摩避开病灶；勿压眼球，青光眼谨慎。器械按摩不建议自行居家操"/>
          <p:cNvSpPr txBox="1"/>
          <p:nvPr/>
        </p:nvSpPr>
        <p:spPr>
          <a:xfrm>
            <a:off x="264160" y="18135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先IPL后按摩/热液脉动，继续居家。囊肿按摩避开病灶；勿压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眼球，青光眼谨慎。器械按摩不建议自行居家操作。</a:t>
            </a:r>
          </a:p>
        </p:txBody>
      </p:sp>
      <p:sp>
        <p:nvSpPr>
          <p:cNvPr id="12" name="2025版/2026刊 p108–109"/>
          <p:cNvSpPr txBox="1"/>
          <p:nvPr/>
        </p:nvSpPr>
        <p:spPr>
          <a:xfrm>
            <a:off x="264160" y="2133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560" y="237744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⑦ 药物与结构异常"/>
          <p:cNvSpPr txBox="1"/>
          <p:nvPr/>
        </p:nvSpPr>
        <p:spPr>
          <a:xfrm>
            <a:off x="264160" y="2415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⑦ 药物与结构异常</a:t>
            </a:r>
          </a:p>
        </p:txBody>
      </p:sp>
      <p:sp>
        <p:nvSpPr>
          <p:cNvPr id="15" name="细菌感染局部敏感抗生素；难治或全身病可考虑口服抗生素，剂量疗程未明确。无效MGD考虑探通；缺损修补、"/>
          <p:cNvSpPr txBox="1"/>
          <p:nvPr/>
        </p:nvSpPr>
        <p:spPr>
          <a:xfrm>
            <a:off x="264160" y="25679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细菌感染局部敏感抗生素；难治或全身病可考虑口服抗生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素，剂量疗程未明确。无效MGD考虑探通；缺损修补、闭合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不全必要时手术。</a:t>
            </a:r>
          </a:p>
        </p:txBody>
      </p:sp>
      <p:sp>
        <p:nvSpPr>
          <p:cNvPr id="16" name="2025版/2026刊 p109"/>
          <p:cNvSpPr txBox="1"/>
          <p:nvPr/>
        </p:nvSpPr>
        <p:spPr>
          <a:xfrm>
            <a:off x="264160" y="30353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560" y="327914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⑧ 复评与特殊人群"/>
          <p:cNvSpPr txBox="1"/>
          <p:nvPr/>
        </p:nvSpPr>
        <p:spPr>
          <a:xfrm>
            <a:off x="264160" y="33172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⑧ 复评与特殊人群</a:t>
            </a:r>
          </a:p>
        </p:txBody>
      </p:sp>
      <p:sp>
        <p:nvSpPr>
          <p:cNvPr id="19" name="复评症状、睑缘、腺口和睑酯。统一复诊间隔/停治阈值，儿童及孕哺期专门方案、完整禁忌清单：原文未明确。"/>
          <p:cNvSpPr txBox="1"/>
          <p:nvPr/>
        </p:nvSpPr>
        <p:spPr>
          <a:xfrm>
            <a:off x="264160" y="346964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复评症状、睑缘、腺口和睑酯。统一复诊间隔/停治阈值，儿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童及孕哺期专门方案、完整禁忌清单：原文未明确。</a:t>
            </a:r>
          </a:p>
        </p:txBody>
      </p:sp>
      <p:sp>
        <p:nvSpPr>
          <p:cNvPr id="20" name="2025版/2026刊 p108–109"/>
          <p:cNvSpPr txBox="1"/>
          <p:nvPr/>
        </p:nvSpPr>
        <p:spPr>
          <a:xfrm>
            <a:off x="264160" y="3789679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2025版/2026刊 p108–109</a:t>
            </a:r>
          </a:p>
        </p:txBody>
      </p:sp>
      <p:sp>
        <p:nvSpPr>
          <p:cNvPr id="21" name="临床要点摘要；完整条件与原文缺项见提取表。&#10;100%原尺寸 · 双面长边翻转"/>
          <p:cNvSpPr txBox="1"/>
          <p:nvPr/>
        </p:nvSpPr>
        <p:spPr>
          <a:xfrm>
            <a:off x="187960" y="4880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干眼患者睑缘管理 A6 bw</dc:title>
  <dc:subject>上传文献原文摘录；原生可编辑文字和图形</dc:subject>
  <dc:creator>临床指南速查资料整理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