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a:p/>
          <a:p>
            <a:r>
              <a:t>mogad-16 脊髓炎的三项附加条件：对应脊髓炎的附加条件为：纵向延伸的长节段脊髓炎、圆锥病灶、H征或脊髓中央病灶。需结合核心事件、抗体条件及排除诊断，不能单凭MRI征象确诊。</a:t>
            </a:r>
          </a:p>
          <a:p>
            <a:r>
              <a:t>来源：2025 p711 / PDF8；类别：诊断；推荐等级：原文未明确。</a:t>
            </a:r>
          </a:p>
          <a:p>
            <a:r>
              <a:t>原文锚点：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检测阴性a建议对所有怀疑MOGAD的患者进行血清检测。不建议常规同时检测血清和脑脊液。对于临床特征提示</a:t>
            </a:r>
          </a:p>
          <a:p/>
          <a:p>
            <a:r>
              <a:t>mogad-17 脑部综合征的四项附加条件：深部灰质受累；幕上或幕下多发边界不清的白质T2高信号；皮质病灶伴或不伴相应区域脑膜强化；脑桥、小脑中脚或延髓边界不清的T2高信号。</a:t>
            </a:r>
          </a:p>
          <a:p>
            <a:r>
              <a:t>来源：2025 p711 / PDF8；类别：诊断；推荐等级：原文未明确。</a:t>
            </a:r>
          </a:p>
          <a:p>
            <a:r>
              <a:t>原文锚点：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检测阴性a建议对所有怀疑MOGAD的患者进行血清检测。不建议常规同时检测血清和脑脊液。对于临床特征提示MOGAD的患者，脑脊液检测可能有价值；b需注意不同实验室检测的滴</a:t>
            </a:r>
          </a:p>
          <a:p/>
          <a:p>
            <a:r>
              <a:t>mogad-23 抗体滴度与复发风险：持续MOG-IgG阳性，尤其持续高滴度，与较高复发风险相关；但起病滴度预测价值有限，个体层面按滴度动态指导治疗缺乏足够证据，不能单凭滴度决定停药。</a:t>
            </a:r>
          </a:p>
          <a:p>
            <a:r>
              <a:t>来源：2025 p710、714 / PDF7、11；类别：危险分层；推荐等级：原文未明确。</a:t>
            </a:r>
          </a:p>
          <a:p>
            <a:r>
              <a:t>原文锚点：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推荐意见：可考虑使用硫唑嘌呤以减少MOGAD期神经功能残疾密切相关［22，92］。复发，在硫唑嘌呤完全起效（4~5个月）前联合使用口患推荐意见：</a:t>
            </a:r>
          </a:p>
          <a:p/>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mogad-50 禁忌证信息边界：指南要求排除禁忌证后尽早激素治疗，并列举各治疗风险；未提供统一的完整绝对/相对禁忌清单。不能把文中不良反应、慎用提示都改写为绝对禁忌。</a:t>
            </a:r>
          </a:p>
          <a:p>
            <a:r>
              <a:t>来源：2025 p712、714–715 / PDF9、11–12；类别：禁忌；推荐等级：原文未明确。</a:t>
            </a:r>
          </a:p>
          <a:p>
            <a:r>
              <a:t>原文锚点：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静脉注射免疫球蛋白（intravenous晰的侧脑室周围病灶，为典型MS表现；B：患者脑脊液</a:t>
            </a:r>
          </a:p>
          <a:p/>
          <a:p>
            <a:r>
              <a:t>流程连接：</a:t>
            </a:r>
          </a:p>
          <a:p>
            <a:r>
              <a:t>1 → 2：有核心事件，进入诊断评估</a:t>
            </a:r>
          </a:p>
          <a:p>
            <a:r>
              <a:t>2 → 3：三部分满足，且处于急性发作</a:t>
            </a:r>
          </a:p>
          <a:p>
            <a:r>
              <a:t>3 → 4：疗效不足或危重</a:t>
            </a:r>
          </a:p>
          <a:p>
            <a:r>
              <a:t>3 → 5：治疗改善后</a:t>
            </a:r>
          </a:p>
          <a:p>
            <a:r>
              <a:t>4 → 5：稳定后</a:t>
            </a:r>
          </a:p>
          <a:p>
            <a:r>
              <a:t>5 → 6：符合序贯启动条件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一页临床路径｜MOGAD诊断与治疗"/>
          <p:cNvSpPr txBox="1"/>
          <p:nvPr/>
        </p:nvSpPr>
        <p:spPr>
          <a:xfrm>
            <a:off x="419100" y="241300"/>
            <a:ext cx="9853800" cy="429259"/>
          </a:xfrm>
          <a:prstGeom prst="rect">
            <a:avLst/>
          </a:prstGeom>
          <a:noFill/>
        </p:spPr>
        <p:txBody>
          <a:bodyPr wrap="none" lIns="0" rIns="0" tIns="0" bIns="0" anchor="t">
            <a:noAutofit/>
          </a:bodyPr>
          <a:lstStyle/>
          <a:p>
            <a:pPr>
              <a:lnSpc>
                <a:spcPts val="2879"/>
              </a:lnSpc>
              <a:spcBef>
                <a:spcPts val="0"/>
              </a:spcBef>
              <a:spcAft>
                <a:spcPts val="0"/>
              </a:spcAft>
            </a:pPr>
            <a:r>
              <a:rPr sz="2400" b="1" lang="zh-CN">
                <a:solidFill>
                  <a:srgbClr val="1E2E3B"/>
                </a:solidFill>
                <a:latin typeface="Microsoft YaHei"/>
                <a:ea typeface="Microsoft YaHei"/>
                <a:cs typeface="Microsoft YaHei"/>
              </a:rPr>
              <a:t>一页临床路径｜MOGAD诊断与治疗</a:t>
            </a:r>
          </a:p>
        </p:txBody>
      </p:sp>
      <p:sp>
        <p:nvSpPr>
          <p:cNvPr id="3" name="2025 · 条件与下一步按原文整理；诊断细则和特殊分支见提取表"/>
          <p:cNvSpPr txBox="1"/>
          <p:nvPr/>
        </p:nvSpPr>
        <p:spPr>
          <a:xfrm>
            <a:off x="419100" y="736600"/>
            <a:ext cx="9853800" cy="228854"/>
          </a:xfrm>
          <a:prstGeom prst="rect">
            <a:avLst/>
          </a:prstGeom>
          <a:noFill/>
        </p:spPr>
        <p:txBody>
          <a:bodyPr wrap="none" lIns="0" rIns="0" tIns="0" bIns="0" anchor="t">
            <a:noAutofit/>
          </a:bodyPr>
          <a:lstStyle/>
          <a:p>
            <a:pPr>
              <a:lnSpc>
                <a:spcPts val="1302"/>
              </a:lnSpc>
              <a:spcBef>
                <a:spcPts val="0"/>
              </a:spcBef>
              <a:spcAft>
                <a:spcPts val="0"/>
              </a:spcAft>
            </a:pPr>
            <a:r>
              <a:rPr sz="1050" b="0" lang="zh-CN">
                <a:solidFill>
                  <a:srgbClr val="526578"/>
                </a:solidFill>
                <a:latin typeface="Microsoft YaHei"/>
                <a:ea typeface="Microsoft YaHei"/>
                <a:cs typeface="Microsoft YaHei"/>
              </a:rPr>
              <a:t>2025 · 条件与下一步按原文整理；诊断细则和特殊分支见提取表</a:t>
            </a:r>
          </a:p>
        </p:txBody>
      </p:sp>
      <p:cxnSp>
        <p:nvCxnSpPr>
          <p:cNvPr id="4" name="Connector 3"/>
          <p:cNvCxnSpPr/>
          <p:nvPr/>
        </p:nvCxnSpPr>
        <p:spPr>
          <a:xfrm>
            <a:off x="4926900" y="1988133"/>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952300" y="1795093"/>
            <a:ext cx="787400" cy="28702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有核心事件，进入诊断评估"/>
          <p:cNvSpPr txBox="1"/>
          <p:nvPr/>
        </p:nvSpPr>
        <p:spPr>
          <a:xfrm>
            <a:off x="4965000" y="1807793"/>
            <a:ext cx="762000" cy="29972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有核心事件，进</a:t>
            </a:r>
          </a:p>
          <a:p>
            <a:pPr>
              <a:lnSpc>
                <a:spcPts val="930"/>
              </a:lnSpc>
              <a:spcBef>
                <a:spcPts val="0"/>
              </a:spcBef>
              <a:spcAft>
                <a:spcPts val="0"/>
              </a:spcAft>
            </a:pPr>
            <a:r>
              <a:rPr sz="800" b="0" lang="zh-CN">
                <a:solidFill>
                  <a:srgbClr val="526578"/>
                </a:solidFill>
                <a:latin typeface="Microsoft YaHei"/>
                <a:ea typeface="Microsoft YaHei"/>
                <a:cs typeface="Microsoft YaHei"/>
              </a:rPr>
              <a:t>入诊断评估</a:t>
            </a:r>
          </a:p>
        </p:txBody>
      </p:sp>
      <p:cxnSp>
        <p:nvCxnSpPr>
          <p:cNvPr id="7" name="Connector 6"/>
          <p:cNvCxnSpPr/>
          <p:nvPr/>
        </p:nvCxnSpPr>
        <p:spPr>
          <a:xfrm>
            <a:off x="8019000" y="2820566"/>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45800" y="2922166"/>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三部分满足，且处于急性发作"/>
          <p:cNvSpPr txBox="1"/>
          <p:nvPr/>
        </p:nvSpPr>
        <p:spPr>
          <a:xfrm>
            <a:off x="6558500" y="2947566"/>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三部分满足，且处于急性发作</a:t>
            </a:r>
          </a:p>
        </p:txBody>
      </p:sp>
      <p:cxnSp>
        <p:nvCxnSpPr>
          <p:cNvPr id="10" name="Connector 9"/>
          <p:cNvCxnSpPr/>
          <p:nvPr/>
        </p:nvCxnSpPr>
        <p:spPr>
          <a:xfrm flipH="1">
            <a:off x="4926900" y="4021300"/>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952300" y="3886680"/>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疗效不足或危重"/>
          <p:cNvSpPr txBox="1"/>
          <p:nvPr/>
        </p:nvSpPr>
        <p:spPr>
          <a:xfrm>
            <a:off x="4965000" y="3899380"/>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疗效不足或危重</a:t>
            </a:r>
          </a:p>
        </p:txBody>
      </p:sp>
      <p:cxnSp>
        <p:nvCxnSpPr>
          <p:cNvPr id="13" name="Connector 12"/>
          <p:cNvCxnSpPr/>
          <p:nvPr/>
        </p:nvCxnSpPr>
        <p:spPr>
          <a:xfrm>
            <a:off x="8019000" y="4853733"/>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346000" y="5037883"/>
            <a:ext cx="2673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6000" y="5037883"/>
            <a:ext cx="0" cy="1016583"/>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926900" y="6054466"/>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673000" y="4853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199800" y="4955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稳定后"/>
          <p:cNvSpPr txBox="1"/>
          <p:nvPr/>
        </p:nvSpPr>
        <p:spPr>
          <a:xfrm>
            <a:off x="1212500" y="4980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稳定后</a:t>
            </a:r>
          </a:p>
        </p:txBody>
      </p:sp>
      <p:cxnSp>
        <p:nvCxnSpPr>
          <p:cNvPr id="20" name="Connector 19"/>
          <p:cNvCxnSpPr/>
          <p:nvPr/>
        </p:nvCxnSpPr>
        <p:spPr>
          <a:xfrm>
            <a:off x="4926900" y="6054466"/>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952300" y="5861426"/>
            <a:ext cx="787400" cy="28702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符合序贯启动条件"/>
          <p:cNvSpPr txBox="1"/>
          <p:nvPr/>
        </p:nvSpPr>
        <p:spPr>
          <a:xfrm>
            <a:off x="4965000" y="5874126"/>
            <a:ext cx="762000" cy="29972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符合序贯启动条</a:t>
            </a:r>
          </a:p>
          <a:p>
            <a:pPr>
              <a:lnSpc>
                <a:spcPts val="930"/>
              </a:lnSpc>
              <a:spcBef>
                <a:spcPts val="0"/>
              </a:spcBef>
              <a:spcAft>
                <a:spcPts val="0"/>
              </a:spcAft>
            </a:pPr>
            <a:r>
              <a:rPr sz="800" b="0" lang="zh-CN">
                <a:solidFill>
                  <a:srgbClr val="526578"/>
                </a:solidFill>
                <a:latin typeface="Microsoft YaHei"/>
                <a:ea typeface="Microsoft YaHei"/>
                <a:cs typeface="Microsoft YaHei"/>
              </a:rPr>
              <a:t>件</a:t>
            </a:r>
          </a:p>
        </p:txBody>
      </p:sp>
      <p:sp>
        <p:nvSpPr>
          <p:cNvPr id="23" name="Rectangle 22"/>
          <p:cNvSpPr/>
          <p:nvPr/>
        </p:nvSpPr>
        <p:spPr>
          <a:xfrm>
            <a:off x="419100" y="1155700"/>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1  核心事件：启动评估"/>
          <p:cNvSpPr txBox="1"/>
          <p:nvPr/>
        </p:nvSpPr>
        <p:spPr>
          <a:xfrm>
            <a:off x="558800" y="1244600"/>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1  核心事件：启动评估</a:t>
            </a:r>
          </a:p>
        </p:txBody>
      </p:sp>
      <p:sp>
        <p:nvSpPr>
          <p:cNvPr id="25" name="视神经炎、脊髓炎、ADEM或其他核心脑部综合征→临床/MRI评估、尽量免疫治疗前送血清MOG-IgG"/>
          <p:cNvSpPr txBox="1"/>
          <p:nvPr/>
        </p:nvSpPr>
        <p:spPr>
          <a:xfrm>
            <a:off x="558800" y="1536700"/>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视神经炎、脊髓炎、ADEM或其他核心脑部综合</a:t>
            </a:r>
          </a:p>
          <a:p>
            <a:pPr>
              <a:lnSpc>
                <a:spcPts val="1680"/>
              </a:lnSpc>
              <a:spcBef>
                <a:spcPts val="0"/>
              </a:spcBef>
              <a:spcAft>
                <a:spcPts val="0"/>
              </a:spcAft>
            </a:pPr>
            <a:r>
              <a:rPr sz="1400" b="0" lang="zh-CN">
                <a:solidFill>
                  <a:srgbClr val="1E2E3B"/>
                </a:solidFill>
                <a:latin typeface="Microsoft YaHei"/>
                <a:ea typeface="Microsoft YaHei"/>
                <a:cs typeface="Microsoft YaHei"/>
              </a:rPr>
              <a:t>征→临床/MRI评估、尽量免疫治疗前送血清</a:t>
            </a:r>
          </a:p>
          <a:p>
            <a:pPr>
              <a:lnSpc>
                <a:spcPts val="1680"/>
              </a:lnSpc>
              <a:spcBef>
                <a:spcPts val="0"/>
              </a:spcBef>
              <a:spcAft>
                <a:spcPts val="0"/>
              </a:spcAft>
            </a:pPr>
            <a:r>
              <a:rPr sz="1400" b="0" lang="zh-CN">
                <a:solidFill>
                  <a:srgbClr val="1E2E3B"/>
                </a:solidFill>
                <a:latin typeface="Microsoft YaHei"/>
                <a:ea typeface="Microsoft YaHei"/>
                <a:cs typeface="Microsoft YaHei"/>
              </a:rPr>
              <a:t>MOG-IgG。无核心事件者不能仅凭抗体确诊。</a:t>
            </a:r>
          </a:p>
        </p:txBody>
      </p:sp>
      <p:sp>
        <p:nvSpPr>
          <p:cNvPr id="26" name="2025 p710–711"/>
          <p:cNvSpPr txBox="1"/>
          <p:nvPr/>
        </p:nvSpPr>
        <p:spPr>
          <a:xfrm>
            <a:off x="558800" y="2614826"/>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p710–711</a:t>
            </a:r>
          </a:p>
        </p:txBody>
      </p:sp>
      <p:sp>
        <p:nvSpPr>
          <p:cNvPr id="27" name="Rectangle 26"/>
          <p:cNvSpPr/>
          <p:nvPr/>
        </p:nvSpPr>
        <p:spPr>
          <a:xfrm>
            <a:off x="5765100" y="1155700"/>
            <a:ext cx="4507800" cy="1664866"/>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2  抗体条件与排除诊断"/>
          <p:cNvSpPr txBox="1"/>
          <p:nvPr/>
        </p:nvSpPr>
        <p:spPr>
          <a:xfrm>
            <a:off x="5904800" y="1244600"/>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13438"/>
                </a:solidFill>
                <a:latin typeface="Microsoft YaHei"/>
                <a:ea typeface="Microsoft YaHei"/>
                <a:cs typeface="Microsoft YaHei"/>
              </a:rPr>
              <a:t>2  抗体条件与排除诊断</a:t>
            </a:r>
          </a:p>
        </p:txBody>
      </p:sp>
      <p:sp>
        <p:nvSpPr>
          <p:cNvPr id="29" name="CBA≥1∶100：明确阳性；≥1∶10且&lt;1∶100、滴度未知或仅脑脊液阳性：另需AQP4-IgG"/>
          <p:cNvSpPr txBox="1"/>
          <p:nvPr/>
        </p:nvSpPr>
        <p:spPr>
          <a:xfrm>
            <a:off x="5904800" y="1536700"/>
            <a:ext cx="4228400" cy="91694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CBA≥1∶100：明确阳性；≥1∶10且</a:t>
            </a:r>
          </a:p>
          <a:p>
            <a:pPr>
              <a:lnSpc>
                <a:spcPts val="1680"/>
              </a:lnSpc>
              <a:spcBef>
                <a:spcPts val="0"/>
              </a:spcBef>
              <a:spcAft>
                <a:spcPts val="0"/>
              </a:spcAft>
            </a:pPr>
            <a:r>
              <a:rPr sz="1400" b="0" lang="zh-CN">
                <a:solidFill>
                  <a:srgbClr val="1E2E3B"/>
                </a:solidFill>
                <a:latin typeface="Microsoft YaHei"/>
                <a:ea typeface="Microsoft YaHei"/>
                <a:cs typeface="Microsoft YaHei"/>
              </a:rPr>
              <a:t>&lt;1∶100、滴度未知或仅脑脊液阳性：另需</a:t>
            </a:r>
          </a:p>
          <a:p>
            <a:pPr>
              <a:lnSpc>
                <a:spcPts val="1680"/>
              </a:lnSpc>
              <a:spcBef>
                <a:spcPts val="0"/>
              </a:spcBef>
              <a:spcAft>
                <a:spcPts val="0"/>
              </a:spcAft>
            </a:pPr>
            <a:r>
              <a:rPr sz="1400" b="0" lang="zh-CN">
                <a:solidFill>
                  <a:srgbClr val="1E2E3B"/>
                </a:solidFill>
                <a:latin typeface="Microsoft YaHei"/>
                <a:ea typeface="Microsoft YaHei"/>
                <a:cs typeface="Microsoft YaHei"/>
              </a:rPr>
              <a:t>AQP4-IgG阴性+≥1附加条件。均须排除其他</a:t>
            </a:r>
          </a:p>
          <a:p>
            <a:pPr>
              <a:lnSpc>
                <a:spcPts val="1680"/>
              </a:lnSpc>
              <a:spcBef>
                <a:spcPts val="0"/>
              </a:spcBef>
              <a:spcAft>
                <a:spcPts val="0"/>
              </a:spcAft>
            </a:pPr>
            <a:r>
              <a:rPr sz="1400" b="0" lang="zh-CN">
                <a:solidFill>
                  <a:srgbClr val="1E2E3B"/>
                </a:solidFill>
                <a:latin typeface="Microsoft YaHei"/>
                <a:ea typeface="Microsoft YaHei"/>
                <a:cs typeface="Microsoft YaHei"/>
              </a:rPr>
              <a:t>病。</a:t>
            </a:r>
          </a:p>
        </p:txBody>
      </p:sp>
      <p:sp>
        <p:nvSpPr>
          <p:cNvPr id="30" name="2025 p710–711"/>
          <p:cNvSpPr txBox="1"/>
          <p:nvPr/>
        </p:nvSpPr>
        <p:spPr>
          <a:xfrm>
            <a:off x="5904800" y="2614826"/>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p710–711</a:t>
            </a:r>
          </a:p>
        </p:txBody>
      </p:sp>
      <p:sp>
        <p:nvSpPr>
          <p:cNvPr id="31" name="Rectangle 30"/>
          <p:cNvSpPr/>
          <p:nvPr/>
        </p:nvSpPr>
        <p:spPr>
          <a:xfrm>
            <a:off x="5765100" y="3188866"/>
            <a:ext cx="4507800" cy="1664866"/>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3  确诊急性发作：激素治疗"/>
          <p:cNvSpPr txBox="1"/>
          <p:nvPr/>
        </p:nvSpPr>
        <p:spPr>
          <a:xfrm>
            <a:off x="5904800" y="3277766"/>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95612"/>
                </a:solidFill>
                <a:latin typeface="Microsoft YaHei"/>
                <a:ea typeface="Microsoft YaHei"/>
                <a:cs typeface="Microsoft YaHei"/>
              </a:rPr>
              <a:t>3  确诊急性发作：激素治疗</a:t>
            </a:r>
          </a:p>
        </p:txBody>
      </p:sp>
      <p:sp>
        <p:nvSpPr>
          <p:cNvPr id="33" name="排除禁忌后尽早IVMP；成人1 000 mg/d×3~5 d。儿童20~30 mg·kg⁻¹·d⁻¹"/>
          <p:cNvSpPr txBox="1"/>
          <p:nvPr/>
        </p:nvSpPr>
        <p:spPr>
          <a:xfrm>
            <a:off x="5904800" y="3569866"/>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排除禁忌后尽早IVMP；成人1 000 mg/d×3~5</a:t>
            </a:r>
          </a:p>
          <a:p>
            <a:pPr>
              <a:lnSpc>
                <a:spcPts val="1680"/>
              </a:lnSpc>
              <a:spcBef>
                <a:spcPts val="0"/>
              </a:spcBef>
              <a:spcAft>
                <a:spcPts val="0"/>
              </a:spcAft>
            </a:pPr>
            <a:r>
              <a:rPr sz="1400" b="0" lang="zh-CN">
                <a:solidFill>
                  <a:srgbClr val="1E2E3B"/>
                </a:solidFill>
                <a:latin typeface="Microsoft YaHei"/>
                <a:ea typeface="Microsoft YaHei"/>
                <a:cs typeface="Microsoft YaHei"/>
              </a:rPr>
              <a:t>d。儿童20~30 mg·kg</a:t>
            </a:r>
            <a:r>
              <a:rPr sz="1400" b="0" lang="zh-CN">
                <a:solidFill>
                  <a:srgbClr val="1E2E3B"/>
                </a:solidFill>
                <a:latin typeface="Arial"/>
                <a:ea typeface="Arial"/>
                <a:cs typeface="Arial"/>
              </a:rPr>
              <a:t>⁻</a:t>
            </a:r>
            <a:r>
              <a:rPr sz="1400" b="0" lang="zh-CN">
                <a:solidFill>
                  <a:srgbClr val="1E2E3B"/>
                </a:solidFill>
                <a:latin typeface="Microsoft YaHei"/>
                <a:ea typeface="Microsoft YaHei"/>
                <a:cs typeface="Microsoft YaHei"/>
              </a:rPr>
              <a:t>¹·d</a:t>
            </a:r>
            <a:r>
              <a:rPr sz="1400" b="0" lang="zh-CN">
                <a:solidFill>
                  <a:srgbClr val="1E2E3B"/>
                </a:solidFill>
                <a:latin typeface="Arial"/>
                <a:ea typeface="Arial"/>
                <a:cs typeface="Arial"/>
              </a:rPr>
              <a:t>⁻</a:t>
            </a:r>
            <a:r>
              <a:rPr sz="1400" b="0" lang="zh-CN">
                <a:solidFill>
                  <a:srgbClr val="1E2E3B"/>
                </a:solidFill>
                <a:latin typeface="Microsoft YaHei"/>
                <a:ea typeface="Microsoft YaHei"/>
                <a:cs typeface="Microsoft YaHei"/>
              </a:rPr>
              <a:t>¹。改善→5；反应</a:t>
            </a:r>
          </a:p>
          <a:p>
            <a:pPr>
              <a:lnSpc>
                <a:spcPts val="1680"/>
              </a:lnSpc>
              <a:spcBef>
                <a:spcPts val="0"/>
              </a:spcBef>
              <a:spcAft>
                <a:spcPts val="0"/>
              </a:spcAft>
            </a:pPr>
            <a:r>
              <a:rPr sz="1400" b="0" lang="zh-CN">
                <a:solidFill>
                  <a:srgbClr val="1E2E3B"/>
                </a:solidFill>
                <a:latin typeface="Microsoft YaHei"/>
                <a:ea typeface="Microsoft YaHei"/>
                <a:cs typeface="Microsoft YaHei"/>
              </a:rPr>
              <a:t>差/危重→4。完整递减方案见提取表。</a:t>
            </a:r>
          </a:p>
        </p:txBody>
      </p:sp>
      <p:sp>
        <p:nvSpPr>
          <p:cNvPr id="34" name="2025 p712、714–715"/>
          <p:cNvSpPr txBox="1"/>
          <p:nvPr/>
        </p:nvSpPr>
        <p:spPr>
          <a:xfrm>
            <a:off x="5904800" y="4647993"/>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p712、714–715</a:t>
            </a:r>
          </a:p>
        </p:txBody>
      </p:sp>
      <p:sp>
        <p:nvSpPr>
          <p:cNvPr id="35" name="Rectangle 34"/>
          <p:cNvSpPr/>
          <p:nvPr/>
        </p:nvSpPr>
        <p:spPr>
          <a:xfrm>
            <a:off x="419100" y="3188866"/>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4  救援：IVIG或血浆置换"/>
          <p:cNvSpPr txBox="1"/>
          <p:nvPr/>
        </p:nvSpPr>
        <p:spPr>
          <a:xfrm>
            <a:off x="558800" y="3277766"/>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4  救援：IVIG或血浆置换</a:t>
            </a:r>
          </a:p>
        </p:txBody>
      </p:sp>
      <p:sp>
        <p:nvSpPr>
          <p:cNvPr id="37" name="激素反应差可考虑血浆置换5~7次，每次1.0~1.5倍血浆容量；严重发作可联合IVIG。危重者可与激"/>
          <p:cNvSpPr txBox="1"/>
          <p:nvPr/>
        </p:nvSpPr>
        <p:spPr>
          <a:xfrm>
            <a:off x="558800" y="3569866"/>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激素反应差可考虑血浆置换5~7次，每次1.0~1.5</a:t>
            </a:r>
          </a:p>
          <a:p>
            <a:pPr>
              <a:lnSpc>
                <a:spcPts val="1680"/>
              </a:lnSpc>
              <a:spcBef>
                <a:spcPts val="0"/>
              </a:spcBef>
              <a:spcAft>
                <a:spcPts val="0"/>
              </a:spcAft>
            </a:pPr>
            <a:r>
              <a:rPr sz="1400" b="0" lang="zh-CN">
                <a:solidFill>
                  <a:srgbClr val="1E2E3B"/>
                </a:solidFill>
                <a:latin typeface="Microsoft YaHei"/>
                <a:ea typeface="Microsoft YaHei"/>
                <a:cs typeface="Microsoft YaHei"/>
              </a:rPr>
              <a:t>倍血浆容量；严重发作可联合IVIG。危重者可与</a:t>
            </a:r>
          </a:p>
          <a:p>
            <a:pPr>
              <a:lnSpc>
                <a:spcPts val="1680"/>
              </a:lnSpc>
              <a:spcBef>
                <a:spcPts val="0"/>
              </a:spcBef>
              <a:spcAft>
                <a:spcPts val="0"/>
              </a:spcAft>
            </a:pPr>
            <a:r>
              <a:rPr sz="1400" b="0" lang="zh-CN">
                <a:solidFill>
                  <a:srgbClr val="1E2E3B"/>
                </a:solidFill>
                <a:latin typeface="Microsoft YaHei"/>
                <a:ea typeface="Microsoft YaHei"/>
                <a:cs typeface="Microsoft YaHei"/>
              </a:rPr>
              <a:t>激素同时启动置换；避免IVIG后立即置换。</a:t>
            </a:r>
          </a:p>
        </p:txBody>
      </p:sp>
      <p:sp>
        <p:nvSpPr>
          <p:cNvPr id="38" name="2025 p712"/>
          <p:cNvSpPr txBox="1"/>
          <p:nvPr/>
        </p:nvSpPr>
        <p:spPr>
          <a:xfrm>
            <a:off x="558800" y="4647993"/>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p712</a:t>
            </a:r>
          </a:p>
        </p:txBody>
      </p:sp>
      <p:sp>
        <p:nvSpPr>
          <p:cNvPr id="39" name="Rectangle 38"/>
          <p:cNvSpPr/>
          <p:nvPr/>
        </p:nvSpPr>
        <p:spPr>
          <a:xfrm>
            <a:off x="419100" y="5222033"/>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5  口服激素缓减与复评"/>
          <p:cNvSpPr txBox="1"/>
          <p:nvPr/>
        </p:nvSpPr>
        <p:spPr>
          <a:xfrm>
            <a:off x="558800" y="5310933"/>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5  口服激素缓减与复评</a:t>
            </a:r>
          </a:p>
        </p:txBody>
      </p:sp>
      <p:sp>
        <p:nvSpPr>
          <p:cNvPr id="41" name="口服激素减量过程≥6个月。复评发作次数及残疾：稳定无复发→临床随访；首次严重且恢复差或发作≥2次→6"/>
          <p:cNvSpPr txBox="1"/>
          <p:nvPr/>
        </p:nvSpPr>
        <p:spPr>
          <a:xfrm>
            <a:off x="558800" y="5603033"/>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口服激素减量过程≥6个月。复评发作次数及残</a:t>
            </a:r>
          </a:p>
          <a:p>
            <a:pPr>
              <a:lnSpc>
                <a:spcPts val="1680"/>
              </a:lnSpc>
              <a:spcBef>
                <a:spcPts val="0"/>
              </a:spcBef>
              <a:spcAft>
                <a:spcPts val="0"/>
              </a:spcAft>
            </a:pPr>
            <a:r>
              <a:rPr sz="1400" b="0" lang="zh-CN">
                <a:solidFill>
                  <a:srgbClr val="1E2E3B"/>
                </a:solidFill>
                <a:latin typeface="Microsoft YaHei"/>
                <a:ea typeface="Microsoft YaHei"/>
                <a:cs typeface="Microsoft YaHei"/>
              </a:rPr>
              <a:t>疾：稳定无复发→临床随访；首次严重且恢复差</a:t>
            </a:r>
          </a:p>
          <a:p>
            <a:pPr>
              <a:lnSpc>
                <a:spcPts val="1680"/>
              </a:lnSpc>
              <a:spcBef>
                <a:spcPts val="0"/>
              </a:spcBef>
              <a:spcAft>
                <a:spcPts val="0"/>
              </a:spcAft>
            </a:pPr>
            <a:r>
              <a:rPr sz="1400" b="0" lang="zh-CN">
                <a:solidFill>
                  <a:srgbClr val="1E2E3B"/>
                </a:solidFill>
                <a:latin typeface="Microsoft YaHei"/>
                <a:ea typeface="Microsoft YaHei"/>
                <a:cs typeface="Microsoft YaHei"/>
              </a:rPr>
              <a:t>或发作≥2次→6。勿按抗体滴度单独停药。</a:t>
            </a:r>
          </a:p>
        </p:txBody>
      </p:sp>
      <p:sp>
        <p:nvSpPr>
          <p:cNvPr id="42" name="2025 p708、710、712、714–715"/>
          <p:cNvSpPr txBox="1"/>
          <p:nvPr/>
        </p:nvSpPr>
        <p:spPr>
          <a:xfrm>
            <a:off x="558800" y="6681160"/>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p708、710、712、714–715</a:t>
            </a:r>
          </a:p>
        </p:txBody>
      </p:sp>
      <p:sp>
        <p:nvSpPr>
          <p:cNvPr id="43" name="Rectangle 42"/>
          <p:cNvSpPr/>
          <p:nvPr/>
        </p:nvSpPr>
        <p:spPr>
          <a:xfrm>
            <a:off x="5765100" y="5222033"/>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6  符合条件：序贯预防复发"/>
          <p:cNvSpPr txBox="1"/>
          <p:nvPr/>
        </p:nvSpPr>
        <p:spPr>
          <a:xfrm>
            <a:off x="5904800" y="5310933"/>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6  符合条件：序贯预防复发</a:t>
            </a:r>
          </a:p>
        </p:txBody>
      </p:sp>
      <p:sp>
        <p:nvSpPr>
          <p:cNvPr id="45" name="首次严重、恢复差（如EDSS仍≥2分、视力仍&lt;0.6），或发作≥2次，可考虑序贯治疗。选择免疫抑制剂"/>
          <p:cNvSpPr txBox="1"/>
          <p:nvPr/>
        </p:nvSpPr>
        <p:spPr>
          <a:xfrm>
            <a:off x="5904800" y="5603033"/>
            <a:ext cx="4228400" cy="91694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首次严重、恢复差（如EDSS仍≥2分、视力仍</a:t>
            </a:r>
          </a:p>
          <a:p>
            <a:pPr>
              <a:lnSpc>
                <a:spcPts val="1680"/>
              </a:lnSpc>
              <a:spcBef>
                <a:spcPts val="0"/>
              </a:spcBef>
              <a:spcAft>
                <a:spcPts val="0"/>
              </a:spcAft>
            </a:pPr>
            <a:r>
              <a:rPr sz="1400" b="0" lang="zh-CN">
                <a:solidFill>
                  <a:srgbClr val="1E2E3B"/>
                </a:solidFill>
                <a:latin typeface="Microsoft YaHei"/>
                <a:ea typeface="Microsoft YaHei"/>
                <a:cs typeface="Microsoft YaHei"/>
              </a:rPr>
              <a:t>&lt;0.6），或发作≥2次，可考虑序贯治疗。选择</a:t>
            </a:r>
          </a:p>
          <a:p>
            <a:pPr>
              <a:lnSpc>
                <a:spcPts val="1680"/>
              </a:lnSpc>
              <a:spcBef>
                <a:spcPts val="0"/>
              </a:spcBef>
              <a:spcAft>
                <a:spcPts val="0"/>
              </a:spcAft>
            </a:pPr>
            <a:r>
              <a:rPr sz="1400" b="0" lang="zh-CN">
                <a:solidFill>
                  <a:srgbClr val="1E2E3B"/>
                </a:solidFill>
                <a:latin typeface="Microsoft YaHei"/>
                <a:ea typeface="Microsoft YaHei"/>
                <a:cs typeface="Microsoft YaHei"/>
              </a:rPr>
              <a:t>免疫抑制剂/生物制剂/间歇IVIG，落实筛查与监</a:t>
            </a:r>
          </a:p>
          <a:p>
            <a:pPr>
              <a:lnSpc>
                <a:spcPts val="1680"/>
              </a:lnSpc>
              <a:spcBef>
                <a:spcPts val="0"/>
              </a:spcBef>
              <a:spcAft>
                <a:spcPts val="0"/>
              </a:spcAft>
            </a:pPr>
            <a:r>
              <a:rPr sz="1400" b="0" lang="zh-CN">
                <a:solidFill>
                  <a:srgbClr val="1E2E3B"/>
                </a:solidFill>
                <a:latin typeface="Microsoft YaHei"/>
                <a:ea typeface="Microsoft YaHei"/>
                <a:cs typeface="Microsoft YaHei"/>
              </a:rPr>
              <a:t>测。</a:t>
            </a:r>
          </a:p>
        </p:txBody>
      </p:sp>
      <p:sp>
        <p:nvSpPr>
          <p:cNvPr id="46" name="2025 p714–715"/>
          <p:cNvSpPr txBox="1"/>
          <p:nvPr/>
        </p:nvSpPr>
        <p:spPr>
          <a:xfrm>
            <a:off x="5904800" y="6681160"/>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p714–715</a:t>
            </a:r>
          </a:p>
        </p:txBody>
      </p:sp>
      <p:sp>
        <p:nvSpPr>
          <p:cNvPr id="47" name="跨行分支：3→5 治疗改善后"/>
          <p:cNvSpPr txBox="1"/>
          <p:nvPr/>
        </p:nvSpPr>
        <p:spPr>
          <a:xfrm>
            <a:off x="419100" y="7001200"/>
            <a:ext cx="9853800" cy="190500"/>
          </a:xfrm>
          <a:prstGeom prst="rect">
            <a:avLst/>
          </a:prstGeom>
          <a:noFill/>
        </p:spPr>
        <p:txBody>
          <a:bodyPr wrap="none" lIns="0" rIns="0" tIns="0" bIns="0" anchor="t">
            <a:noAutofit/>
          </a:bodyPr>
          <a:lstStyle/>
          <a:p>
            <a:pPr>
              <a:lnSpc>
                <a:spcPts val="1000"/>
              </a:lnSpc>
              <a:spcBef>
                <a:spcPts val="0"/>
              </a:spcBef>
              <a:spcAft>
                <a:spcPts val="0"/>
              </a:spcAft>
            </a:pPr>
            <a:r>
              <a:rPr sz="850" b="0" lang="zh-CN">
                <a:solidFill>
                  <a:srgbClr val="526578"/>
                </a:solidFill>
                <a:latin typeface="Microsoft YaHei"/>
                <a:ea typeface="Microsoft YaHei"/>
                <a:cs typeface="Microsoft YaHei"/>
              </a:rPr>
              <a:t>跨行分支：3→5 治疗改善后</a:t>
            </a:r>
          </a:p>
        </p:txBody>
      </p:sp>
      <p:sp>
        <p:nvSpPr>
          <p:cNvPr id="48" name="节点内条件优先；未列阈值不补编。完整证据、禁忌与特殊人群见提取表。"/>
          <p:cNvSpPr txBox="1"/>
          <p:nvPr/>
        </p:nvSpPr>
        <p:spPr>
          <a:xfrm>
            <a:off x="419100" y="7369500"/>
            <a:ext cx="9853800" cy="192633"/>
          </a:xfrm>
          <a:prstGeom prst="rect">
            <a:avLst/>
          </a:prstGeom>
          <a:noFill/>
        </p:spPr>
        <p:txBody>
          <a:bodyPr wrap="none" lIns="0" rIns="0" tIns="0" bIns="0" anchor="t">
            <a:noAutofit/>
          </a:bodyPr>
          <a:lstStyle/>
          <a:p>
            <a:pPr>
              <a:lnSpc>
                <a:spcPts val="1016"/>
              </a:lnSpc>
              <a:spcBef>
                <a:spcPts val="0"/>
              </a:spcBef>
              <a:spcAft>
                <a:spcPts val="0"/>
              </a:spcAft>
            </a:pPr>
            <a:r>
              <a:rPr sz="819" b="0" lang="zh-CN">
                <a:solidFill>
                  <a:srgbClr val="526578"/>
                </a:solidFill>
                <a:latin typeface="Microsoft YaHei"/>
                <a:ea typeface="Microsoft YaHei"/>
                <a:cs typeface="Microsoft YaHei"/>
              </a:rPr>
              <a:t>节点内条件优先；未列阈值不补编。完整证据、禁忌与特殊人群见提取表。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 一页流程</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